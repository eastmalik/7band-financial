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welcome, welcome. Before we start — type in the chat if you can see me and hear me. … Beautiful. Now tell me where you're watching from. City and state. … I see you. Welcome to The Flow.</a:t>
            </a:r>
          </a:p>
          <a:p/>
          <a:p>
            <a:r>
              <a:t>(Replay version only:) If you're watching the replay, welcome — the chat isn't live, but everything I share tonight and everything I offer at the end still applies to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start by saying congratulations. That's not a throwaway line. Most people think about getting their money right for years and never take one step. You blocked off this time and you showed up. That's Level 0 — and you've already cleared it.</a:t>
            </a:r>
          </a:p>
          <a:p/>
          <a:p>
            <a:r>
              <a:t>DO: Ask: "In one sentence, type what you want most out of tonight." Read five or six out 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One — grab a pen and paper, because we're going to cover a lot. Two — stay to the end. I've got a free gift for everyone still here, and I'll show you what it is in a few minutes. Three — use the chat. When I ask a question, answer it. This works better when you're in it. Four — everything tonight is education. I'm a licensed life insurance agent, and before the night is over I'm going to tell you exactly how I get paid. Nothing tonight is legal, tax or investment advice for your specific situation. Fair? Type "fair."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check-in. One to ten — one is "I don't have a plan," ten is "I've got it handled." Be honest. Nobody's grading you.</a:t>
            </a:r>
          </a:p>
          <a:p/>
          <a:p>
            <a:r>
              <a:t>DO: Read the numbers out. Then: "Most of you are under five. And that's exactly why you're here. Do you agree there's room to build? Type YES."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the number that sounds most like you right now. There's no wrong answer. This tells me who's in the room so I can make tonight useful for you.</a:t>
            </a:r>
          </a:p>
          <a:p/>
          <a:p>
            <a:r>
              <a:t>DO: Tally out loud. "Lot of twos. Lot of fours. Good — I've got something for every one of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 see over and over. Good people. Hard workers. And the money comes in as fast as it goes out. Not because they're lazy — because four things are missing. No budgeting system, so you don't know where it goes. No strong credit profile, so every loan costs you more. No business structure, so your business and your personal life share the same risk. And no generational plan, so whatever you build ends with you. Which of those four hit closest to home? Type it in the chat.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reset something. Some of you have been carrying this quietly for years — "I'm just bad with money." Hear me: you're not bad with money. Nobody handed you the map. Families that build wealth for generations don't just pass down money. They pass down a sequence. What to do first, what to do next, what to wait on. If nobody in your family had that map, you've been playing a game without the instructions. That's not a character flaw. That's a missing map. And tonight, you get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reset. A lot of you look at your credit like it's a judgment on who you are. It's not. It's a file. And federal law gives you rights over that file. Information that's inaccurate, incomplete or can't be verified — you have the right to challenge it. Information that's accurate stays for a set time and then it ages off. No one can legally delete accurate information, and anybody who promises to "delete everything" is lying to you. But a file with rules is a file you can work. That's good news.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reset. Most people think wealth is about finding the right product. The right investment, the right policy, the right card. It's not. It's about the order. Most people fail because they start in the middle — they buy a policy before their cash flow can keep it funded, or they borrow for a business that has no structure to protect them. Same pieces, wrong order, and it falls apart. Tonight is about the order.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The Flow for the ones who don't have it all together. I've been around people who do — good credit, structured businesses, money working for them. This isn't built for them. It's built for you if you're the first in your family trying to build something. If you want to actually understand a thing before you sign for it. If you're thinking about what your kids start with. If that's you, type "that's 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I'll save some of you time. This isn't for you if you want a shortcut — there isn't one. It's not for you if you're looking for somebody to delete everything off your credit, because that isn't legal and I won't pretend it is. And it's not for you if you're not willing to look at your own numbers. The Flow starts with honesty. If you're still here — good. You're in the right room.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who am I and why should you listen to me? My name is Malik East. I'm from [hometown]. [One or two sentences: how you grew up and what money looked like at home.] I went to [college], and [family — married? kids? one line]. Today I'm a licensed life insurance agent, I founded 7Band Financial Agency and Arise Credit Pro, and I've written a book I'll tell you about later. But none of that is why I do this. Let me tell you why.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2015 to 2019 I was in the band in college. Our band director, Dr. Renaldo Murry, had one thing he said before every big performance — whether we were performing for the New Orleans Saints, a home game, or a competition. "Get yo mind right." And it took me years to understand what he meant. If you don't have a why — a deep one — you'll start. You might even keep going for a while. But the first time you get tested, you fold. If your why is in front of you, you keep going through the setbacks. Everything I'm going to show you tonight takes time. So before any strategy: get your mind right. Type your why in the chat. One word is fine.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shifted for me was reading. I read everything I could find about how wealthy families actually move money. And I noticed something — a lot of what I was reading, I'd already seen in the Bible. The parable of the talents: the servant who buried what he was given lost it, and the ones who put it to work multiplied it. But I noticed something else too. Most of what I read told me what was possible and left out what it costs and what can go wrong. So I decided that when I teach this, I'd teach both.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principles that built wealth for generations aren't secret anymore. They're in books. They're online. What's missing is someone to put them in order and tell you the truth about each one — the costs, the risks, and who it isn't for. That's why I'm 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know the question in your head right now, because I had it too. "Can this work for someone like me?" That's the only question tonight is going to answer. And I promise you this — if the honest answer for you is "not yet," I'll tell you that too.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I ask your permission for something? If I help you tonight — not next week, tonight — can I take a few minutes at the end to show you how to get more help, for the people who want it? If that's fair, type YES. And if you just came to learn and do it on your own — that's completely fine. You'll leave with something real either way.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gift I mentioned. Everyone still here at the end gets The Ultimate Budget Guide — the tool I use to track income and expenses every month. It's the first thing in the Tutorial level, and it's free. Stay to the end and I'll drop the link.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we're going. Secret one: the order — why most people start in the middle and how to start at the beginning. Secret two: the foundation — how your credit file actually works, what you can challenge and what you can't. Secret three: the engine — how protection and growth work together, and how to know when something isn't a fit. Let's go.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number one. The order.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game has a tutorial before level one. So does this. Three things. Mindset — we just talked about your why. Cash flow — you can't build on money you can't see, so you track your income and expenses every month. That's what the gift is for. And a risk audit — honestly asking what you can afford to lose before you take any risk at all. You earn the right to take calculated risks. You don't skip to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Seven levels in three stages. The Foundation: your credit shield, your business firewall, and capital readiness. The Acceleration: the engine — a properly designed life insurance policy. And the Legacy: the fortress, the transfer, and the generational tree. Screenshot this. This is the whole Flow on one page.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the order matters. Each level unlocks the next — and if you skip one, the next one costs more or fails. A policy you can't keep funding because your cash flow was never fixed. A loan on a business with no structure, so the risk lands on you personally. A trust with nothing in it. I've seen every one of those. Most people don't fail at wealth. They fail at sequence. So where does everybody start? Level 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number two. The foundation. Your credit file.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credit report has four parts. Personal information — names, addresses, employers. Accounts — every card and loan and how you've paid. Public records, like bankruptcies. And inquiries — who's pulled your credit. And there are three bureaus: Equifax, Experian and TransUnion. They don't share one file. They each keep their own — and they don't always match. That matters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Fair Credit Reporting Act you have the right to dispute information that's inaccurate, incomplete or can't be verified. When you do, the bureau has to investigate — usually within thirty days — and correct or remove what it can't verify. That's not a trick. That's the law working the way it's supposed to.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 most credit companies won't tell you. Accurate negative information — a late payment that really happened, an account that really went to collections — nobody can legally remove. It ages off on a schedule. Most items, seven years. Some bankruptcies, ten. Anybody who tells you they can delete accurate information is lying to you, and probably taking your money first. What actually rebuilds a file: paying on time, keeping balances low, and time. That's not exciting. It's true. And true is what works.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come first? Because a weak file makes everything else cost more. Higher interest on every car, card and home loan. Bigger deposits on apartments and utilities. Denied applications. Go look at the interest rate on your own car loan tonight and ask yourself what you'd save at a better rate. That's what Level 1 is worth — and that's why it's Level 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number three. The engine — and how to know when it's not a fit.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Wealth is built like a pyramid. The base is protection and certainty — emergency cash, guarantees, insurance. The middle is growth and cash flow — real estate, a business. And the top is risk — stocks, speculation — and only with money you can afford to lose. Most people build it upside down. They start at the top with money they can't afford to lose, and one bad month knocks the whole thing over. Build from the bottom.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3 is capital — other people's money. And I want to be really clear here because a lot of people teach this wrong. Borrowing is a tool for building assets. It is never a way to cover your monthly bills. If you're using credit cards to get to the end of the month, the answer is Level 1 and the Tutorial, not more credit. Capital comes after your credit is strong and your business is structured — so you're fundable, and every dollar you borrow has a job.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4 is the engine. A permanent life insurance policy, designed and funded for cash value, can build a pool of money you can borrow against while you're alive — and it carries a death benefit for your family. Banks own life insurance on their own books too, within the limits their regulators set. But here's what most presentations leave out. It has real costs inside it. Loans accrue interest. If it's underfunded or over-borrowed, a policy can lapse — and that can cost you the coverage and create a tax bill. And it's for people who actually want the insurance, not just the account. If someone shows you this without showing you the costs, you already have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main engines. Whole life is the Paladin — guarantees, fixed premiums, dividends that aren't guaranteed but have a long track record, a contractual floor. It never surprises you. Indexed universal life is the Rogue — growth linked to a market index, with a cap on the upside, a floor under index losses, and flexible premiums. It trades rigidity for potential — and that flexibility cuts both ways. Neither one is the winner. Your situation and the design decide.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warning. If you put too much money in, too fast, in the first seven years, the policy fails a test called the 7-pay test and becomes a Modified Endowment Contract — an MEC. Once that happens, loans and withdrawals get taxed differently, and you can owe a penalty if you're under 59½. The concept was great. The design failed it. That's why this level isn't a do-it-yourself level.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Levels five through seven are the legacy. The Fortress: holding your business interests and assets in a structure — a holding company and a trust, drafted by an attorney, not by me and not off the internet. One thing to know: a revocable living trust avoids probate for what's titled into it, but it doesn't shield you from creditors. Different trusts do different jobs. The Transfer: choosing your beneficiaries on purpose instead of by default. And the Generational Tree: teaching the next generation the map, so they start at Level 3 instead of Level 0. That's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promised I'd tell you how I get paid. Everything I charge for is education and preparation. If a life insurance policy is right for you, the policy doesn't cost you anything extra because of me — the insurance company pays me a commission. I'll tell you how much, and I'll tell you why the design I recommend pays me less than the one somebody else might show you. You can't evaluate advice without knowing how the person giving it gets paid. Ask everybody that question. A good one will just tell you.</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I've told you a lot tonight. Now I want to show you. Because you can doubt anything I say about myself — but you can't doubt it if I actually help you, right now, on this call. Type "proof is the truth."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new tab. Go to annualcreditreport.com. That's the official site — it's free, it's federal law, and you can pull all three reports. Nobody needs to sell you this. Now check three things. One: personal information you don't recognize — names, addresses, employers. Two: accounts you don't recognize, or the same account showing up twice. Three: late payments or balances that are wrong. I'll give you five minutes. If you find one, type FOUND ONE. Don't type your actual details in the chat — just "found one."</a:t>
            </a:r>
          </a:p>
          <a:p/>
          <a:p>
            <a:r>
              <a:t>DO: Give five real minutes. Read out the FOUND ONEs. "That right there is something the law lets you challenge."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how I read a file. This is a sample report — no real person's information is on here. Every single item gets one of four labels. Verifiable. Unverifiable. Inaccurate. Or accurate — and staying. That last label is the one nobody else will give you, and it's the one that saves you the most money, because you stop paying someone to chase it.</a:t>
            </a:r>
          </a:p>
          <a:p/>
          <a:p>
            <a:r>
              <a:t>DO: Walk three or four items on the sample report and label each one out loud.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month one when I work your file. A full audit of all three bureaus, a written map of every item, and the first dispute round. Every month after: a new round based on what came back, every bureau response explained to you, and your report updated so you see what moved and what didn't. And the whole time, you're in the Academy learning how not to re-break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take it from me. [Read two or three real testimonials — with permission, about the process: being explained to, being told the truth, finally understanding the file. Not score jumps.]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book, The American Money Tree. It's a plain-language owner's manual — and a lot of it is me telling you what this industry leaves out: what the costs are, how agents get paid, and when you shouldn't buy what I sell. It's in final review now. I wrote it because I believe the person who tells you the truth is the person you should work with.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clear about who this next part is for. It's a fit if you want your file worked every month, you want every step explained, and you're willing to do your part — pay on time, keep balances down. It's not a fit if you want everything deleted, if you want a guaranteed score, or if you won't look at your own numbers. I'd rather tell you that now.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part I asked your permission for. And I want it to feel like a gift, not a grift. No pressure, no timer. Just the next step for the people who want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got two paths. Path one: do it yourself. You have everything I showed you tonight, your reports are free, and if you want the letter templates and the checklist, the Fix Your File guide is $27. Path two: have it done with you — that's the Restoration Program. Both of those are honorable. The only wrong choice is leaving tonight and doing nothing.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Restoration Program. I work your file every month, and you only pay for the month I worked. You get the full tri-bureau audit. Monthly dispute rounds — up to thirty items a cycle, across all three bureaus — drafted and submitted for you. A monitoring dashboard. A written report every month. The Financial Literacy Academy. And if you want it, a fifteen-minute check-in with me every month.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bought these separately: a full file audit runs about a hundred and fifty. The monthly dispute work, about a hundred a month. Monitoring is thirty-two eighty-six. A community like the Academy, about twenty-nine. That's about three hundred twelve the first month and a hundred sixty-one eighty-six after that. I'm not going to tell you it's worth ten thousand dollars. It's worth what it's worth.</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total cost is one fifty-two eighty-six a month, and I'm going to show you every dollar. One twenty goes to Arise Credit Pro for the work. Thirty-two eighty-six goes to IdentityIQ for credit monitoring. That monitoring is required — I can't work your file without live access to all three reports. IdentityIQ bills you directly, there's a seven-day trial for a dollar, and I want you to know I earn a commission when you sign up for it. You can cancel either one any time.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part almost nobody in this industry can say. Nothing is charged today. You're billed at the end of each month, after that month's work is done. No setup fee. No contract. Cancel any time. You'll get a written agreement and three business days to cancel before any work starts. If I didn't work your file, you don't pay for that month. That's the whole deal.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guarantee is simple. Every month you're billed, you get a dispute round submitted and a written report. If that doesn't happen, that month is free — automatically. And here's what I won't promise you: a specific score, a timeline, or deleting accurate information. Nobody can honestly promise those. The person who does is the person to walk away from.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keep [25] active files at a time, because every one gets read by me every month. When I'm at [25], you go on the waitlist. I'd rather tell you to wait than take your money and send you a template.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of you are already past Level 1 — your credit is strong and you're thinking about structure, capital or protection. For you, the next step is a free conversation with me about where you are on the map. That link is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bring it home. You learned the order — start at the beginning. You learned the foundation — your file has rules, and you can work it. You learned the engine — how protection and growth work, and when they don't fit. Level 1 starts tonight. The link is on the screen. Nothing is charged today. I'll stay right here and answer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your questions in the chat. I'll take as many as I can.</a:t>
            </a:r>
          </a:p>
          <a:p/>
          <a:p>
            <a:r>
              <a:t>DO: Keep this slide up for the whole Q&amp;A so the link stays on screen. Answer every question honestly — including "no, that's not something I can do."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showing up tonight. Here's your gift — the Ultimate Budget Guide. Start with the Tutorial this week. Get your mind right, track your money, and I'll see you on the map.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image" Target="../media/image7.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0.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0.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8.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6888936" y="5134102"/>
            <a:ext cx="36576" cy="36576"/>
          </a:xfrm>
          <a:prstGeom prst="ellipse">
            <a:avLst/>
          </a:prstGeom>
          <a:solidFill>
            <a:srgbClr val="65593A"/>
          </a:solidFill>
          <a:ln>
            <a:noFill/>
          </a:ln>
        </p:spPr>
        <p:txBody>
          <a:bodyPr rtlCol="0" anchor="ctr"/>
          <a:lstStyle/>
          <a:p/>
        </p:txBody>
      </p:sp>
      <p:sp>
        <p:nvSpPr>
          <p:cNvPr id="4" name="Oval 3"/>
          <p:cNvSpPr/>
          <p:nvPr/>
        </p:nvSpPr>
        <p:spPr>
          <a:xfrm>
            <a:off x="9086522" y="3172596"/>
            <a:ext cx="54864" cy="54864"/>
          </a:xfrm>
          <a:prstGeom prst="ellipse">
            <a:avLst/>
          </a:prstGeom>
          <a:solidFill>
            <a:srgbClr val="A2692A"/>
          </a:solidFill>
          <a:ln>
            <a:noFill/>
          </a:ln>
        </p:spPr>
        <p:txBody>
          <a:bodyPr rtlCol="0" anchor="ctr"/>
          <a:lstStyle/>
          <a:p/>
        </p:txBody>
      </p:sp>
      <p:sp>
        <p:nvSpPr>
          <p:cNvPr id="5" name="Oval 4"/>
          <p:cNvSpPr/>
          <p:nvPr/>
        </p:nvSpPr>
        <p:spPr>
          <a:xfrm>
            <a:off x="5956682" y="5675279"/>
            <a:ext cx="27432" cy="27432"/>
          </a:xfrm>
          <a:prstGeom prst="ellipse">
            <a:avLst/>
          </a:prstGeom>
          <a:solidFill>
            <a:srgbClr val="774E1F"/>
          </a:solidFill>
          <a:ln>
            <a:noFill/>
          </a:ln>
        </p:spPr>
        <p:txBody>
          <a:bodyPr rtlCol="0" anchor="ctr"/>
          <a:lstStyle/>
          <a:p/>
        </p:txBody>
      </p:sp>
      <p:sp>
        <p:nvSpPr>
          <p:cNvPr id="6" name="Oval 5"/>
          <p:cNvSpPr/>
          <p:nvPr/>
        </p:nvSpPr>
        <p:spPr>
          <a:xfrm>
            <a:off x="8340126" y="1948722"/>
            <a:ext cx="27432" cy="27432"/>
          </a:xfrm>
          <a:prstGeom prst="ellipse">
            <a:avLst/>
          </a:prstGeom>
          <a:solidFill>
            <a:srgbClr val="8F7E52"/>
          </a:solidFill>
          <a:ln>
            <a:noFill/>
          </a:ln>
        </p:spPr>
        <p:txBody>
          <a:bodyPr rtlCol="0" anchor="ctr"/>
          <a:lstStyle/>
          <a:p/>
        </p:txBody>
      </p:sp>
      <p:sp>
        <p:nvSpPr>
          <p:cNvPr id="7" name="Oval 6"/>
          <p:cNvSpPr/>
          <p:nvPr/>
        </p:nvSpPr>
        <p:spPr>
          <a:xfrm>
            <a:off x="10696276" y="547574"/>
            <a:ext cx="27432" cy="27432"/>
          </a:xfrm>
          <a:prstGeom prst="ellipse">
            <a:avLst/>
          </a:prstGeom>
          <a:solidFill>
            <a:srgbClr val="968556"/>
          </a:solidFill>
          <a:ln>
            <a:noFill/>
          </a:ln>
        </p:spPr>
        <p:txBody>
          <a:bodyPr rtlCol="0" anchor="ctr"/>
          <a:lstStyle/>
          <a:p/>
        </p:txBody>
      </p:sp>
      <p:sp>
        <p:nvSpPr>
          <p:cNvPr id="8" name="Oval 7"/>
          <p:cNvSpPr/>
          <p:nvPr/>
        </p:nvSpPr>
        <p:spPr>
          <a:xfrm>
            <a:off x="11128573" y="2631485"/>
            <a:ext cx="27432" cy="27432"/>
          </a:xfrm>
          <a:prstGeom prst="ellipse">
            <a:avLst/>
          </a:prstGeom>
          <a:solidFill>
            <a:srgbClr val="BFA96D"/>
          </a:solidFill>
          <a:ln>
            <a:noFill/>
          </a:ln>
        </p:spPr>
        <p:txBody>
          <a:bodyPr rtlCol="0" anchor="ctr"/>
          <a:lstStyle/>
          <a:p/>
        </p:txBody>
      </p:sp>
      <p:sp>
        <p:nvSpPr>
          <p:cNvPr id="9" name="Oval 8"/>
          <p:cNvSpPr/>
          <p:nvPr/>
        </p:nvSpPr>
        <p:spPr>
          <a:xfrm>
            <a:off x="6412485" y="4904893"/>
            <a:ext cx="27432" cy="27432"/>
          </a:xfrm>
          <a:prstGeom prst="ellipse">
            <a:avLst/>
          </a:prstGeom>
          <a:solidFill>
            <a:srgbClr val="865723"/>
          </a:solidFill>
          <a:ln>
            <a:noFill/>
          </a:ln>
        </p:spPr>
        <p:txBody>
          <a:bodyPr rtlCol="0" anchor="ctr"/>
          <a:lstStyle/>
          <a:p/>
        </p:txBody>
      </p:sp>
      <p:sp>
        <p:nvSpPr>
          <p:cNvPr id="10" name="Oval 9"/>
          <p:cNvSpPr/>
          <p:nvPr/>
        </p:nvSpPr>
        <p:spPr>
          <a:xfrm>
            <a:off x="3011531" y="1666106"/>
            <a:ext cx="45720" cy="45720"/>
          </a:xfrm>
          <a:prstGeom prst="ellipse">
            <a:avLst/>
          </a:prstGeom>
          <a:solidFill>
            <a:srgbClr val="B6762E"/>
          </a:solidFill>
          <a:ln>
            <a:noFill/>
          </a:ln>
        </p:spPr>
        <p:txBody>
          <a:bodyPr rtlCol="0" anchor="ctr"/>
          <a:lstStyle/>
          <a:p/>
        </p:txBody>
      </p:sp>
      <p:sp>
        <p:nvSpPr>
          <p:cNvPr id="11" name="Oval 10"/>
          <p:cNvSpPr/>
          <p:nvPr/>
        </p:nvSpPr>
        <p:spPr>
          <a:xfrm>
            <a:off x="5135255" y="5811701"/>
            <a:ext cx="27432" cy="27432"/>
          </a:xfrm>
          <a:prstGeom prst="ellipse">
            <a:avLst/>
          </a:prstGeom>
          <a:solidFill>
            <a:srgbClr val="46391B"/>
          </a:solidFill>
          <a:ln>
            <a:noFill/>
          </a:ln>
        </p:spPr>
        <p:txBody>
          <a:bodyPr rtlCol="0" anchor="ctr"/>
          <a:lstStyle/>
          <a:p/>
        </p:txBody>
      </p:sp>
      <p:sp>
        <p:nvSpPr>
          <p:cNvPr id="12" name="Oval 11"/>
          <p:cNvSpPr/>
          <p:nvPr/>
        </p:nvSpPr>
        <p:spPr>
          <a:xfrm>
            <a:off x="1751180" y="2343167"/>
            <a:ext cx="45720" cy="45720"/>
          </a:xfrm>
          <a:prstGeom prst="ellipse">
            <a:avLst/>
          </a:prstGeom>
          <a:solidFill>
            <a:srgbClr val="A0863D"/>
          </a:solidFill>
          <a:ln>
            <a:noFill/>
          </a:ln>
        </p:spPr>
        <p:txBody>
          <a:bodyPr rtlCol="0" anchor="ctr"/>
          <a:lstStyle/>
          <a:p/>
        </p:txBody>
      </p:sp>
      <p:sp>
        <p:nvSpPr>
          <p:cNvPr id="13" name="Oval 12"/>
          <p:cNvSpPr/>
          <p:nvPr/>
        </p:nvSpPr>
        <p:spPr>
          <a:xfrm>
            <a:off x="11097533" y="2874595"/>
            <a:ext cx="73152" cy="73152"/>
          </a:xfrm>
          <a:prstGeom prst="ellipse">
            <a:avLst/>
          </a:prstGeom>
          <a:solidFill>
            <a:srgbClr val="4F411F"/>
          </a:solidFill>
          <a:ln>
            <a:noFill/>
          </a:ln>
        </p:spPr>
        <p:txBody>
          <a:bodyPr rtlCol="0" anchor="ctr"/>
          <a:lstStyle/>
          <a:p/>
        </p:txBody>
      </p:sp>
      <p:sp>
        <p:nvSpPr>
          <p:cNvPr id="14" name="Oval 13"/>
          <p:cNvSpPr/>
          <p:nvPr/>
        </p:nvSpPr>
        <p:spPr>
          <a:xfrm>
            <a:off x="7099536" y="5610862"/>
            <a:ext cx="45720" cy="45720"/>
          </a:xfrm>
          <a:prstGeom prst="ellipse">
            <a:avLst/>
          </a:prstGeom>
          <a:solidFill>
            <a:srgbClr val="645327"/>
          </a:solidFill>
          <a:ln>
            <a:noFill/>
          </a:ln>
        </p:spPr>
        <p:txBody>
          <a:bodyPr rtlCol="0" anchor="ctr"/>
          <a:lstStyle/>
          <a:p/>
        </p:txBody>
      </p:sp>
      <p:sp>
        <p:nvSpPr>
          <p:cNvPr id="15" name="Oval 14"/>
          <p:cNvSpPr/>
          <p:nvPr/>
        </p:nvSpPr>
        <p:spPr>
          <a:xfrm>
            <a:off x="5869245" y="4786197"/>
            <a:ext cx="27432" cy="27432"/>
          </a:xfrm>
          <a:prstGeom prst="ellipse">
            <a:avLst/>
          </a:prstGeom>
          <a:solidFill>
            <a:srgbClr val="754C1F"/>
          </a:solidFill>
          <a:ln>
            <a:noFill/>
          </a:ln>
        </p:spPr>
        <p:txBody>
          <a:bodyPr rtlCol="0" anchor="ctr"/>
          <a:lstStyle/>
          <a:p/>
        </p:txBody>
      </p:sp>
      <p:sp>
        <p:nvSpPr>
          <p:cNvPr id="16" name="Oval 15"/>
          <p:cNvSpPr/>
          <p:nvPr/>
        </p:nvSpPr>
        <p:spPr>
          <a:xfrm>
            <a:off x="4573063" y="5612366"/>
            <a:ext cx="36576" cy="36576"/>
          </a:xfrm>
          <a:prstGeom prst="ellipse">
            <a:avLst/>
          </a:prstGeom>
          <a:solidFill>
            <a:srgbClr val="887134"/>
          </a:solidFill>
          <a:ln>
            <a:noFill/>
          </a:ln>
        </p:spPr>
        <p:txBody>
          <a:bodyPr rtlCol="0" anchor="ctr"/>
          <a:lstStyle/>
          <a:p/>
        </p:txBody>
      </p:sp>
      <p:sp>
        <p:nvSpPr>
          <p:cNvPr id="17" name="Oval 16"/>
          <p:cNvSpPr/>
          <p:nvPr/>
        </p:nvSpPr>
        <p:spPr>
          <a:xfrm>
            <a:off x="5396337" y="3387643"/>
            <a:ext cx="27432" cy="27432"/>
          </a:xfrm>
          <a:prstGeom prst="ellipse">
            <a:avLst/>
          </a:prstGeom>
          <a:solidFill>
            <a:srgbClr val="86764D"/>
          </a:solidFill>
          <a:ln>
            <a:noFill/>
          </a:ln>
        </p:spPr>
        <p:txBody>
          <a:bodyPr rtlCol="0" anchor="ctr"/>
          <a:lstStyle/>
          <a:p/>
        </p:txBody>
      </p:sp>
      <p:sp>
        <p:nvSpPr>
          <p:cNvPr id="18" name="Oval 17"/>
          <p:cNvSpPr/>
          <p:nvPr/>
        </p:nvSpPr>
        <p:spPr>
          <a:xfrm>
            <a:off x="4612014" y="4721026"/>
            <a:ext cx="54864" cy="54864"/>
          </a:xfrm>
          <a:prstGeom prst="ellipse">
            <a:avLst/>
          </a:prstGeom>
          <a:solidFill>
            <a:srgbClr val="483014"/>
          </a:solidFill>
          <a:ln>
            <a:noFill/>
          </a:ln>
        </p:spPr>
        <p:txBody>
          <a:bodyPr rtlCol="0" anchor="ctr"/>
          <a:lstStyle/>
          <a:p/>
        </p:txBody>
      </p:sp>
      <p:sp>
        <p:nvSpPr>
          <p:cNvPr id="19" name="Oval 18"/>
          <p:cNvSpPr/>
          <p:nvPr/>
        </p:nvSpPr>
        <p:spPr>
          <a:xfrm>
            <a:off x="7163749" y="2705159"/>
            <a:ext cx="73152" cy="73152"/>
          </a:xfrm>
          <a:prstGeom prst="ellipse">
            <a:avLst/>
          </a:prstGeom>
          <a:solidFill>
            <a:srgbClr val="5A4F33"/>
          </a:solidFill>
          <a:ln>
            <a:noFill/>
          </a:ln>
        </p:spPr>
        <p:txBody>
          <a:bodyPr rtlCol="0" anchor="ctr"/>
          <a:lstStyle/>
          <a:p/>
        </p:txBody>
      </p:sp>
      <p:sp>
        <p:nvSpPr>
          <p:cNvPr id="20" name="Oval 19"/>
          <p:cNvSpPr/>
          <p:nvPr/>
        </p:nvSpPr>
        <p:spPr>
          <a:xfrm>
            <a:off x="11620530" y="4945441"/>
            <a:ext cx="36576" cy="36576"/>
          </a:xfrm>
          <a:prstGeom prst="ellipse">
            <a:avLst/>
          </a:prstGeom>
          <a:solidFill>
            <a:srgbClr val="9B813B"/>
          </a:solidFill>
          <a:ln>
            <a:noFill/>
          </a:ln>
        </p:spPr>
        <p:txBody>
          <a:bodyPr rtlCol="0" anchor="ctr"/>
          <a:lstStyle/>
          <a:p/>
        </p:txBody>
      </p:sp>
      <p:sp>
        <p:nvSpPr>
          <p:cNvPr id="21" name="Oval 20"/>
          <p:cNvSpPr/>
          <p:nvPr/>
        </p:nvSpPr>
        <p:spPr>
          <a:xfrm>
            <a:off x="3026539" y="3419413"/>
            <a:ext cx="73152" cy="73152"/>
          </a:xfrm>
          <a:prstGeom prst="ellipse">
            <a:avLst/>
          </a:prstGeom>
          <a:solidFill>
            <a:srgbClr val="605025"/>
          </a:solidFill>
          <a:ln>
            <a:noFill/>
          </a:ln>
        </p:spPr>
        <p:txBody>
          <a:bodyPr rtlCol="0" anchor="ctr"/>
          <a:lstStyle/>
          <a:p/>
        </p:txBody>
      </p:sp>
      <p:sp>
        <p:nvSpPr>
          <p:cNvPr id="22" name="Oval 21"/>
          <p:cNvSpPr/>
          <p:nvPr/>
        </p:nvSpPr>
        <p:spPr>
          <a:xfrm>
            <a:off x="7920477" y="3985084"/>
            <a:ext cx="45720" cy="45720"/>
          </a:xfrm>
          <a:prstGeom prst="ellipse">
            <a:avLst/>
          </a:prstGeom>
          <a:solidFill>
            <a:srgbClr val="3C3118"/>
          </a:solidFill>
          <a:ln>
            <a:noFill/>
          </a:ln>
        </p:spPr>
        <p:txBody>
          <a:bodyPr rtlCol="0" anchor="ctr"/>
          <a:lstStyle/>
          <a:p/>
        </p:txBody>
      </p:sp>
      <p:sp>
        <p:nvSpPr>
          <p:cNvPr id="23" name="Oval 22"/>
          <p:cNvSpPr/>
          <p:nvPr/>
        </p:nvSpPr>
        <p:spPr>
          <a:xfrm>
            <a:off x="9638645" y="3448576"/>
            <a:ext cx="73152" cy="73152"/>
          </a:xfrm>
          <a:prstGeom prst="ellipse">
            <a:avLst/>
          </a:prstGeom>
          <a:solidFill>
            <a:srgbClr val="51431F"/>
          </a:solidFill>
          <a:ln>
            <a:noFill/>
          </a:ln>
        </p:spPr>
        <p:txBody>
          <a:bodyPr rtlCol="0" anchor="ctr"/>
          <a:lstStyle/>
          <a:p/>
        </p:txBody>
      </p:sp>
      <p:sp>
        <p:nvSpPr>
          <p:cNvPr id="24" name="Oval 23"/>
          <p:cNvSpPr/>
          <p:nvPr/>
        </p:nvSpPr>
        <p:spPr>
          <a:xfrm>
            <a:off x="5879271" y="2533605"/>
            <a:ext cx="27432" cy="27432"/>
          </a:xfrm>
          <a:prstGeom prst="ellipse">
            <a:avLst/>
          </a:prstGeom>
          <a:solidFill>
            <a:srgbClr val="50421F"/>
          </a:solidFill>
          <a:ln>
            <a:noFill/>
          </a:ln>
        </p:spPr>
        <p:txBody>
          <a:bodyPr rtlCol="0" anchor="ctr"/>
          <a:lstStyle/>
          <a:p/>
        </p:txBody>
      </p:sp>
      <p:sp>
        <p:nvSpPr>
          <p:cNvPr id="25" name="Oval 24"/>
          <p:cNvSpPr/>
          <p:nvPr/>
        </p:nvSpPr>
        <p:spPr>
          <a:xfrm>
            <a:off x="5103396" y="5199996"/>
            <a:ext cx="73152" cy="73152"/>
          </a:xfrm>
          <a:prstGeom prst="ellipse">
            <a:avLst/>
          </a:prstGeom>
          <a:solidFill>
            <a:srgbClr val="6D471D"/>
          </a:solidFill>
          <a:ln>
            <a:noFill/>
          </a:ln>
        </p:spPr>
        <p:txBody>
          <a:bodyPr rtlCol="0" anchor="ctr"/>
          <a:lstStyle/>
          <a:p/>
        </p:txBody>
      </p:sp>
      <p:sp>
        <p:nvSpPr>
          <p:cNvPr id="26" name="Oval 25"/>
          <p:cNvSpPr/>
          <p:nvPr/>
        </p:nvSpPr>
        <p:spPr>
          <a:xfrm>
            <a:off x="6555510" y="5040070"/>
            <a:ext cx="73152" cy="73152"/>
          </a:xfrm>
          <a:prstGeom prst="ellipse">
            <a:avLst/>
          </a:prstGeom>
          <a:solidFill>
            <a:srgbClr val="7A5020"/>
          </a:solidFill>
          <a:ln>
            <a:noFill/>
          </a:ln>
        </p:spPr>
        <p:txBody>
          <a:bodyPr rtlCol="0" anchor="ctr"/>
          <a:lstStyle/>
          <a:p/>
        </p:txBody>
      </p:sp>
      <p:sp>
        <p:nvSpPr>
          <p:cNvPr id="27" name="Oval 26"/>
          <p:cNvSpPr/>
          <p:nvPr/>
        </p:nvSpPr>
        <p:spPr>
          <a:xfrm>
            <a:off x="9586267" y="4142151"/>
            <a:ext cx="27432" cy="27432"/>
          </a:xfrm>
          <a:prstGeom prst="ellipse">
            <a:avLst/>
          </a:prstGeom>
          <a:solidFill>
            <a:srgbClr val="78642E"/>
          </a:solidFill>
          <a:ln>
            <a:noFill/>
          </a:ln>
        </p:spPr>
        <p:txBody>
          <a:bodyPr rtlCol="0" anchor="ctr"/>
          <a:lstStyle/>
          <a:p/>
        </p:txBody>
      </p:sp>
      <p:sp>
        <p:nvSpPr>
          <p:cNvPr id="28" name="Oval 27"/>
          <p:cNvSpPr/>
          <p:nvPr/>
        </p:nvSpPr>
        <p:spPr>
          <a:xfrm>
            <a:off x="9516010" y="5103389"/>
            <a:ext cx="27432" cy="27432"/>
          </a:xfrm>
          <a:prstGeom prst="ellipse">
            <a:avLst/>
          </a:prstGeom>
          <a:solidFill>
            <a:srgbClr val="472F14"/>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40.png"/>
          <p:cNvPicPr>
            <a:picLocks noChangeAspect="1"/>
          </p:cNvPicPr>
          <p:nvPr/>
        </p:nvPicPr>
        <p:blipFill>
          <a:blip r:embed="rId3"/>
          <a:stretch>
            <a:fillRect/>
          </a:stretch>
        </p:blipFill>
        <p:spPr>
          <a:xfrm>
            <a:off x="2986887" y="137159"/>
            <a:ext cx="6217920" cy="6217920"/>
          </a:xfrm>
          <a:prstGeom prst="rect">
            <a:avLst/>
          </a:prstGeom>
        </p:spPr>
      </p:pic>
      <p:sp>
        <p:nvSpPr>
          <p:cNvPr id="50" name="Oval 49"/>
          <p:cNvSpPr/>
          <p:nvPr/>
        </p:nvSpPr>
        <p:spPr>
          <a:xfrm>
            <a:off x="3489807" y="640079"/>
            <a:ext cx="5212080" cy="5212080"/>
          </a:xfrm>
          <a:prstGeom prst="ellipse">
            <a:avLst/>
          </a:prstGeom>
          <a:noFill/>
          <a:ln w="19050">
            <a:solidFill>
              <a:srgbClr val="7D6830"/>
            </a:solidFill>
          </a:ln>
        </p:spPr>
        <p:txBody>
          <a:bodyPr rtlCol="0" anchor="ctr"/>
          <a:lstStyle/>
          <a:p/>
        </p:txBody>
      </p:sp>
      <p:sp>
        <p:nvSpPr>
          <p:cNvPr id="51" name="Oval 50"/>
          <p:cNvSpPr/>
          <p:nvPr/>
        </p:nvSpPr>
        <p:spPr>
          <a:xfrm>
            <a:off x="3407511" y="557783"/>
            <a:ext cx="5376672" cy="5376672"/>
          </a:xfrm>
          <a:prstGeom prst="ellipse">
            <a:avLst/>
          </a:prstGeom>
          <a:noFill/>
          <a:ln w="6350">
            <a:solidFill>
              <a:srgbClr val="45391B"/>
            </a:solidFill>
          </a:ln>
        </p:spPr>
        <p:txBody>
          <a:bodyPr rtlCol="0" anchor="ctr"/>
          <a:lstStyle/>
          <a:p/>
        </p:txBody>
      </p:sp>
      <p:sp>
        <p:nvSpPr>
          <p:cNvPr id="52" name="Oval 51"/>
          <p:cNvSpPr/>
          <p:nvPr/>
        </p:nvSpPr>
        <p:spPr>
          <a:xfrm>
            <a:off x="5912967" y="457199"/>
            <a:ext cx="365760" cy="365760"/>
          </a:xfrm>
          <a:prstGeom prst="ellipse">
            <a:avLst/>
          </a:prstGeom>
          <a:solidFill>
            <a:srgbClr val="1A1309"/>
          </a:solidFill>
          <a:ln w="19050">
            <a:solidFill>
              <a:srgbClr val="F0D58A"/>
            </a:solidFill>
          </a:ln>
        </p:spPr>
        <p:txBody>
          <a:bodyPr rtlCol="0" anchor="ctr"/>
          <a:lstStyle/>
          <a:p/>
        </p:txBody>
      </p:sp>
      <p:sp>
        <p:nvSpPr>
          <p:cNvPr id="53" name="TextBox 52"/>
          <p:cNvSpPr txBox="1"/>
          <p:nvPr/>
        </p:nvSpPr>
        <p:spPr>
          <a:xfrm>
            <a:off x="5912967" y="457199"/>
            <a:ext cx="365760" cy="365760"/>
          </a:xfrm>
          <a:prstGeom prst="rect">
            <a:avLst/>
          </a:prstGeom>
          <a:noFill/>
        </p:spPr>
        <p:txBody>
          <a:bodyPr wrap="square" lIns="0" rIns="0" tIns="0" bIns="0" anchor="ctr">
            <a:spAutoFit/>
          </a:bodyPr>
          <a:lstStyle/>
          <a:p>
            <a:pPr algn="ctr"/>
            <a:r>
              <a:rPr sz="1200" b="1" i="0">
                <a:solidFill>
                  <a:srgbClr val="F0D58A"/>
                </a:solidFill>
                <a:latin typeface="Cinzel"/>
              </a:rPr>
              <a:t>1</a:t>
            </a:r>
          </a:p>
        </p:txBody>
      </p:sp>
      <p:sp>
        <p:nvSpPr>
          <p:cNvPr id="54" name="Oval 53"/>
          <p:cNvSpPr/>
          <p:nvPr/>
        </p:nvSpPr>
        <p:spPr>
          <a:xfrm>
            <a:off x="7950451" y="1438400"/>
            <a:ext cx="365760" cy="365760"/>
          </a:xfrm>
          <a:prstGeom prst="ellipse">
            <a:avLst/>
          </a:prstGeom>
          <a:solidFill>
            <a:srgbClr val="1A1309"/>
          </a:solidFill>
          <a:ln w="19050">
            <a:solidFill>
              <a:srgbClr val="F0D58A"/>
            </a:solidFill>
          </a:ln>
        </p:spPr>
        <p:txBody>
          <a:bodyPr rtlCol="0" anchor="ctr"/>
          <a:lstStyle/>
          <a:p/>
        </p:txBody>
      </p:sp>
      <p:sp>
        <p:nvSpPr>
          <p:cNvPr id="55" name="TextBox 54"/>
          <p:cNvSpPr txBox="1"/>
          <p:nvPr/>
        </p:nvSpPr>
        <p:spPr>
          <a:xfrm>
            <a:off x="7950451" y="1438400"/>
            <a:ext cx="365760" cy="365760"/>
          </a:xfrm>
          <a:prstGeom prst="rect">
            <a:avLst/>
          </a:prstGeom>
          <a:noFill/>
        </p:spPr>
        <p:txBody>
          <a:bodyPr wrap="square" lIns="0" rIns="0" tIns="0" bIns="0" anchor="ctr">
            <a:spAutoFit/>
          </a:bodyPr>
          <a:lstStyle/>
          <a:p>
            <a:pPr algn="ctr"/>
            <a:r>
              <a:rPr sz="1200" b="1" i="0">
                <a:solidFill>
                  <a:srgbClr val="F0D58A"/>
                </a:solidFill>
                <a:latin typeface="Cinzel"/>
              </a:rPr>
              <a:t>2</a:t>
            </a:r>
          </a:p>
        </p:txBody>
      </p:sp>
      <p:sp>
        <p:nvSpPr>
          <p:cNvPr id="56" name="Oval 55"/>
          <p:cNvSpPr/>
          <p:nvPr/>
        </p:nvSpPr>
        <p:spPr>
          <a:xfrm>
            <a:off x="8453668" y="3643138"/>
            <a:ext cx="365760" cy="365760"/>
          </a:xfrm>
          <a:prstGeom prst="ellipse">
            <a:avLst/>
          </a:prstGeom>
          <a:solidFill>
            <a:srgbClr val="1A1309"/>
          </a:solidFill>
          <a:ln w="19050">
            <a:solidFill>
              <a:srgbClr val="F0D58A"/>
            </a:solidFill>
          </a:ln>
        </p:spPr>
        <p:txBody>
          <a:bodyPr rtlCol="0" anchor="ctr"/>
          <a:lstStyle/>
          <a:p/>
        </p:txBody>
      </p:sp>
      <p:sp>
        <p:nvSpPr>
          <p:cNvPr id="57" name="TextBox 56"/>
          <p:cNvSpPr txBox="1"/>
          <p:nvPr/>
        </p:nvSpPr>
        <p:spPr>
          <a:xfrm>
            <a:off x="8453668" y="3643138"/>
            <a:ext cx="365760" cy="365760"/>
          </a:xfrm>
          <a:prstGeom prst="rect">
            <a:avLst/>
          </a:prstGeom>
          <a:noFill/>
        </p:spPr>
        <p:txBody>
          <a:bodyPr wrap="square" lIns="0" rIns="0" tIns="0" bIns="0" anchor="ctr">
            <a:spAutoFit/>
          </a:bodyPr>
          <a:lstStyle/>
          <a:p>
            <a:pPr algn="ctr"/>
            <a:r>
              <a:rPr sz="1200" b="1" i="0">
                <a:solidFill>
                  <a:srgbClr val="F0D58A"/>
                </a:solidFill>
                <a:latin typeface="Cinzel"/>
              </a:rPr>
              <a:t>3</a:t>
            </a:r>
          </a:p>
        </p:txBody>
      </p:sp>
      <p:sp>
        <p:nvSpPr>
          <p:cNvPr id="58" name="Oval 57"/>
          <p:cNvSpPr/>
          <p:nvPr/>
        </p:nvSpPr>
        <p:spPr>
          <a:xfrm>
            <a:off x="7043685" y="5411200"/>
            <a:ext cx="365760" cy="365760"/>
          </a:xfrm>
          <a:prstGeom prst="ellipse">
            <a:avLst/>
          </a:prstGeom>
          <a:solidFill>
            <a:srgbClr val="1A1309"/>
          </a:solidFill>
          <a:ln w="19050">
            <a:solidFill>
              <a:srgbClr val="F0D58A"/>
            </a:solidFill>
          </a:ln>
        </p:spPr>
        <p:txBody>
          <a:bodyPr rtlCol="0" anchor="ctr"/>
          <a:lstStyle/>
          <a:p/>
        </p:txBody>
      </p:sp>
      <p:sp>
        <p:nvSpPr>
          <p:cNvPr id="59" name="TextBox 58"/>
          <p:cNvSpPr txBox="1"/>
          <p:nvPr/>
        </p:nvSpPr>
        <p:spPr>
          <a:xfrm>
            <a:off x="7043685" y="5411200"/>
            <a:ext cx="365760" cy="365760"/>
          </a:xfrm>
          <a:prstGeom prst="rect">
            <a:avLst/>
          </a:prstGeom>
          <a:noFill/>
        </p:spPr>
        <p:txBody>
          <a:bodyPr wrap="square" lIns="0" rIns="0" tIns="0" bIns="0" anchor="ctr">
            <a:spAutoFit/>
          </a:bodyPr>
          <a:lstStyle/>
          <a:p>
            <a:pPr algn="ctr"/>
            <a:r>
              <a:rPr sz="1200" b="1" i="0">
                <a:solidFill>
                  <a:srgbClr val="F0D58A"/>
                </a:solidFill>
                <a:latin typeface="Cinzel"/>
              </a:rPr>
              <a:t>4</a:t>
            </a:r>
          </a:p>
        </p:txBody>
      </p:sp>
      <p:sp>
        <p:nvSpPr>
          <p:cNvPr id="60" name="Oval 59"/>
          <p:cNvSpPr/>
          <p:nvPr/>
        </p:nvSpPr>
        <p:spPr>
          <a:xfrm>
            <a:off x="4782249" y="5411200"/>
            <a:ext cx="365760" cy="365760"/>
          </a:xfrm>
          <a:prstGeom prst="ellipse">
            <a:avLst/>
          </a:prstGeom>
          <a:solidFill>
            <a:srgbClr val="1A1309"/>
          </a:solidFill>
          <a:ln w="19050">
            <a:solidFill>
              <a:srgbClr val="F0D58A"/>
            </a:solidFill>
          </a:ln>
        </p:spPr>
        <p:txBody>
          <a:bodyPr rtlCol="0" anchor="ctr"/>
          <a:lstStyle/>
          <a:p/>
        </p:txBody>
      </p:sp>
      <p:sp>
        <p:nvSpPr>
          <p:cNvPr id="61" name="TextBox 60"/>
          <p:cNvSpPr txBox="1"/>
          <p:nvPr/>
        </p:nvSpPr>
        <p:spPr>
          <a:xfrm>
            <a:off x="4782249" y="5411200"/>
            <a:ext cx="365760" cy="365760"/>
          </a:xfrm>
          <a:prstGeom prst="rect">
            <a:avLst/>
          </a:prstGeom>
          <a:noFill/>
        </p:spPr>
        <p:txBody>
          <a:bodyPr wrap="square" lIns="0" rIns="0" tIns="0" bIns="0" anchor="ctr">
            <a:spAutoFit/>
          </a:bodyPr>
          <a:lstStyle/>
          <a:p>
            <a:pPr algn="ctr"/>
            <a:r>
              <a:rPr sz="1200" b="1" i="0">
                <a:solidFill>
                  <a:srgbClr val="F0D58A"/>
                </a:solidFill>
                <a:latin typeface="Cinzel"/>
              </a:rPr>
              <a:t>5</a:t>
            </a:r>
          </a:p>
        </p:txBody>
      </p:sp>
      <p:sp>
        <p:nvSpPr>
          <p:cNvPr id="62" name="Oval 61"/>
          <p:cNvSpPr/>
          <p:nvPr/>
        </p:nvSpPr>
        <p:spPr>
          <a:xfrm>
            <a:off x="3372266" y="3643138"/>
            <a:ext cx="365760" cy="365760"/>
          </a:xfrm>
          <a:prstGeom prst="ellipse">
            <a:avLst/>
          </a:prstGeom>
          <a:solidFill>
            <a:srgbClr val="1A1309"/>
          </a:solidFill>
          <a:ln w="19050">
            <a:solidFill>
              <a:srgbClr val="F0D58A"/>
            </a:solidFill>
          </a:ln>
        </p:spPr>
        <p:txBody>
          <a:bodyPr rtlCol="0" anchor="ctr"/>
          <a:lstStyle/>
          <a:p/>
        </p:txBody>
      </p:sp>
      <p:sp>
        <p:nvSpPr>
          <p:cNvPr id="63" name="TextBox 62"/>
          <p:cNvSpPr txBox="1"/>
          <p:nvPr/>
        </p:nvSpPr>
        <p:spPr>
          <a:xfrm>
            <a:off x="3372266" y="3643138"/>
            <a:ext cx="365760" cy="365760"/>
          </a:xfrm>
          <a:prstGeom prst="rect">
            <a:avLst/>
          </a:prstGeom>
          <a:noFill/>
        </p:spPr>
        <p:txBody>
          <a:bodyPr wrap="square" lIns="0" rIns="0" tIns="0" bIns="0" anchor="ctr">
            <a:spAutoFit/>
          </a:bodyPr>
          <a:lstStyle/>
          <a:p>
            <a:pPr algn="ctr"/>
            <a:r>
              <a:rPr sz="1200" b="1" i="0">
                <a:solidFill>
                  <a:srgbClr val="F0D58A"/>
                </a:solidFill>
                <a:latin typeface="Cinzel"/>
              </a:rPr>
              <a:t>6</a:t>
            </a:r>
          </a:p>
        </p:txBody>
      </p:sp>
      <p:sp>
        <p:nvSpPr>
          <p:cNvPr id="64" name="Oval 63"/>
          <p:cNvSpPr/>
          <p:nvPr/>
        </p:nvSpPr>
        <p:spPr>
          <a:xfrm>
            <a:off x="3875483" y="1438400"/>
            <a:ext cx="365760" cy="365760"/>
          </a:xfrm>
          <a:prstGeom prst="ellipse">
            <a:avLst/>
          </a:prstGeom>
          <a:solidFill>
            <a:srgbClr val="1A1309"/>
          </a:solidFill>
          <a:ln w="19050">
            <a:solidFill>
              <a:srgbClr val="F0D58A"/>
            </a:solidFill>
          </a:ln>
        </p:spPr>
        <p:txBody>
          <a:bodyPr rtlCol="0" anchor="ctr"/>
          <a:lstStyle/>
          <a:p/>
        </p:txBody>
      </p:sp>
      <p:sp>
        <p:nvSpPr>
          <p:cNvPr id="65" name="TextBox 64"/>
          <p:cNvSpPr txBox="1"/>
          <p:nvPr/>
        </p:nvSpPr>
        <p:spPr>
          <a:xfrm>
            <a:off x="3875483" y="1438400"/>
            <a:ext cx="365760" cy="365760"/>
          </a:xfrm>
          <a:prstGeom prst="rect">
            <a:avLst/>
          </a:prstGeom>
          <a:noFill/>
        </p:spPr>
        <p:txBody>
          <a:bodyPr wrap="square" lIns="0" rIns="0" tIns="0" bIns="0" anchor="ctr">
            <a:spAutoFit/>
          </a:bodyPr>
          <a:lstStyle/>
          <a:p>
            <a:pPr algn="ctr"/>
            <a:r>
              <a:rPr sz="1200" b="1" i="0">
                <a:solidFill>
                  <a:srgbClr val="F0D58A"/>
                </a:solidFill>
                <a:latin typeface="Cinzel"/>
              </a:rPr>
              <a:t>7</a:t>
            </a:r>
          </a:p>
        </p:txBody>
      </p:sp>
      <p:pic>
        <p:nvPicPr>
          <p:cNvPr id="66" name="Picture 65" descr="7band-logo-clean_7b539e21.png"/>
          <p:cNvPicPr>
            <a:picLocks noChangeAspect="1"/>
          </p:cNvPicPr>
          <p:nvPr/>
        </p:nvPicPr>
        <p:blipFill>
          <a:blip r:embed="rId4"/>
          <a:stretch>
            <a:fillRect/>
          </a:stretch>
        </p:blipFill>
        <p:spPr>
          <a:xfrm>
            <a:off x="5730087" y="960120"/>
            <a:ext cx="731520" cy="731520"/>
          </a:xfrm>
          <a:prstGeom prst="rect">
            <a:avLst/>
          </a:prstGeom>
        </p:spPr>
      </p:pic>
      <p:sp>
        <p:nvSpPr>
          <p:cNvPr id="67" name="TextBox 66"/>
          <p:cNvSpPr txBox="1"/>
          <p:nvPr/>
        </p:nvSpPr>
        <p:spPr>
          <a:xfrm>
            <a:off x="3566160" y="1828800"/>
            <a:ext cx="5059375" cy="365760"/>
          </a:xfrm>
          <a:prstGeom prst="rect">
            <a:avLst/>
          </a:prstGeom>
          <a:noFill/>
        </p:spPr>
        <p:txBody>
          <a:bodyPr wrap="square" lIns="0" rIns="0" tIns="0" bIns="0" anchor="t">
            <a:spAutoFit/>
          </a:bodyPr>
          <a:lstStyle/>
          <a:p>
            <a:pPr algn="ctr"/>
            <a:r>
              <a:rPr sz="1300" b="1" i="0" spc="400">
                <a:solidFill>
                  <a:srgbClr val="F0D58A"/>
                </a:solidFill>
                <a:latin typeface="Montserrat"/>
              </a:rPr>
              <a:t>THE GENERATIONAL WEALTH QUEST</a:t>
            </a:r>
          </a:p>
        </p:txBody>
      </p:sp>
      <p:sp>
        <p:nvSpPr>
          <p:cNvPr id="68" name="TextBox 67"/>
          <p:cNvSpPr txBox="1"/>
          <p:nvPr/>
        </p:nvSpPr>
        <p:spPr>
          <a:xfrm>
            <a:off x="3291840" y="2194560"/>
            <a:ext cx="5608015" cy="1188720"/>
          </a:xfrm>
          <a:prstGeom prst="rect">
            <a:avLst/>
          </a:prstGeom>
          <a:noFill/>
        </p:spPr>
        <p:txBody>
          <a:bodyPr wrap="square" lIns="0" rIns="0" tIns="0" bIns="0" anchor="ctr">
            <a:spAutoFit/>
          </a:bodyPr>
          <a:lstStyle/>
          <a:p>
            <a:pPr algn="ctr">
              <a:lnSpc>
                <a:spcPct val="105000"/>
              </a:lnSpc>
            </a:pPr>
            <a:r>
              <a:rPr sz="8000" b="1" i="0">
                <a:solidFill>
                  <a:srgbClr val="F0D58A"/>
                </a:solidFill>
                <a:latin typeface="Cinzel"/>
              </a:rPr>
              <a:t>THE FLOW</a:t>
            </a:r>
          </a:p>
        </p:txBody>
      </p:sp>
      <p:cxnSp>
        <p:nvCxnSpPr>
          <p:cNvPr id="69" name="Connector 68"/>
          <p:cNvCxnSpPr/>
          <p:nvPr/>
        </p:nvCxnSpPr>
        <p:spPr>
          <a:xfrm>
            <a:off x="4541367" y="3520440"/>
            <a:ext cx="141732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233007" y="3520440"/>
            <a:ext cx="141732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71" name="Diamond 70"/>
          <p:cNvSpPr/>
          <p:nvPr/>
        </p:nvSpPr>
        <p:spPr>
          <a:xfrm>
            <a:off x="6031839" y="3456432"/>
            <a:ext cx="128016" cy="128016"/>
          </a:xfrm>
          <a:prstGeom prst="diamond">
            <a:avLst/>
          </a:prstGeom>
          <a:solidFill>
            <a:srgbClr val="F0D58A"/>
          </a:solidFill>
          <a:ln>
            <a:noFill/>
          </a:ln>
        </p:spPr>
        <p:txBody>
          <a:bodyPr rtlCol="0" anchor="ctr"/>
          <a:lstStyle/>
          <a:p/>
        </p:txBody>
      </p:sp>
      <p:sp>
        <p:nvSpPr>
          <p:cNvPr id="72" name="TextBox 71"/>
          <p:cNvSpPr txBox="1"/>
          <p:nvPr/>
        </p:nvSpPr>
        <p:spPr>
          <a:xfrm>
            <a:off x="3749039" y="3657600"/>
            <a:ext cx="4693615" cy="822960"/>
          </a:xfrm>
          <a:prstGeom prst="rect">
            <a:avLst/>
          </a:prstGeom>
          <a:noFill/>
        </p:spPr>
        <p:txBody>
          <a:bodyPr wrap="square" lIns="0" rIns="0" tIns="0" bIns="0" anchor="t">
            <a:spAutoFit/>
          </a:bodyPr>
          <a:lstStyle/>
          <a:p>
            <a:pPr algn="ctr">
              <a:lnSpc>
                <a:spcPct val="120000"/>
              </a:lnSpc>
            </a:pPr>
            <a:r>
              <a:rPr sz="1900" b="0" i="1">
                <a:solidFill>
                  <a:srgbClr val="EFE3C6"/>
                </a:solidFill>
                <a:latin typeface="Montserrat"/>
              </a:rPr>
              <a:t>The 7 levels every family needs —</a:t>
            </a:r>
          </a:p>
          <a:p>
            <a:pPr algn="ctr">
              <a:lnSpc>
                <a:spcPct val="120000"/>
              </a:lnSpc>
            </a:pPr>
            <a:r>
              <a:rPr sz="1900" b="0" i="1">
                <a:solidFill>
                  <a:srgbClr val="EFE3C6"/>
                </a:solidFill>
                <a:latin typeface="Montserrat"/>
              </a:rPr>
              <a:t>in the order that actually works</a:t>
            </a:r>
          </a:p>
        </p:txBody>
      </p:sp>
      <p:sp>
        <p:nvSpPr>
          <p:cNvPr id="73" name="TextBox 72"/>
          <p:cNvSpPr txBox="1"/>
          <p:nvPr/>
        </p:nvSpPr>
        <p:spPr>
          <a:xfrm>
            <a:off x="3108960" y="4526280"/>
            <a:ext cx="5973775" cy="1005840"/>
          </a:xfrm>
          <a:prstGeom prst="rect">
            <a:avLst/>
          </a:prstGeom>
          <a:noFill/>
        </p:spPr>
        <p:txBody>
          <a:bodyPr wrap="square" lIns="0" rIns="0" tIns="0" bIns="0" anchor="t">
            <a:spAutoFit/>
          </a:bodyPr>
          <a:lstStyle/>
          <a:p>
            <a:pPr algn="ctr"/>
            <a:r>
              <a:rPr sz="1900" b="1" i="0" spc="300">
                <a:solidFill>
                  <a:srgbClr val="F0D58A"/>
                </a:solidFill>
                <a:latin typeface="Cinzel"/>
              </a:rPr>
              <a:t>MALIK EAST</a:t>
            </a:r>
          </a:p>
          <a:p>
            <a:pPr algn="ctr">
              <a:lnSpc>
                <a:spcPct val="120000"/>
              </a:lnSpc>
            </a:pPr>
            <a:r>
              <a:rPr sz="1300" b="0" i="0">
                <a:solidFill>
                  <a:srgbClr val="B9A57A"/>
                </a:solidFill>
                <a:latin typeface="Montserrat"/>
              </a:rPr>
              <a:t>Licensed Life Insurance Agent</a:t>
            </a:r>
          </a:p>
          <a:p>
            <a:pPr algn="ctr">
              <a:lnSpc>
                <a:spcPct val="120000"/>
              </a:lnSpc>
            </a:pPr>
            <a:r>
              <a:rPr sz="1300" b="0" i="0">
                <a:solidFill>
                  <a:srgbClr val="B9A57A"/>
                </a:solidFill>
                <a:latin typeface="Montserrat"/>
              </a:rPr>
              <a:t>Founder, 7Band Financial Agency &amp; Arise Credit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4610744" y="2596805"/>
            <a:ext cx="36576" cy="36576"/>
          </a:xfrm>
          <a:prstGeom prst="ellipse">
            <a:avLst/>
          </a:prstGeom>
          <a:solidFill>
            <a:srgbClr val="9D8B5A"/>
          </a:solidFill>
          <a:ln>
            <a:noFill/>
          </a:ln>
        </p:spPr>
        <p:txBody>
          <a:bodyPr rtlCol="0" anchor="ctr"/>
          <a:lstStyle/>
          <a:p/>
        </p:txBody>
      </p:sp>
      <p:sp>
        <p:nvSpPr>
          <p:cNvPr id="4" name="Oval 3"/>
          <p:cNvSpPr/>
          <p:nvPr/>
        </p:nvSpPr>
        <p:spPr>
          <a:xfrm>
            <a:off x="1934004" y="5187588"/>
            <a:ext cx="27432" cy="27432"/>
          </a:xfrm>
          <a:prstGeom prst="ellipse">
            <a:avLst/>
          </a:prstGeom>
          <a:solidFill>
            <a:srgbClr val="514320"/>
          </a:solidFill>
          <a:ln>
            <a:noFill/>
          </a:ln>
        </p:spPr>
        <p:txBody>
          <a:bodyPr rtlCol="0" anchor="ctr"/>
          <a:lstStyle/>
          <a:p/>
        </p:txBody>
      </p:sp>
      <p:sp>
        <p:nvSpPr>
          <p:cNvPr id="5" name="Oval 4"/>
          <p:cNvSpPr/>
          <p:nvPr/>
        </p:nvSpPr>
        <p:spPr>
          <a:xfrm>
            <a:off x="5627513" y="3058997"/>
            <a:ext cx="27432" cy="27432"/>
          </a:xfrm>
          <a:prstGeom prst="ellipse">
            <a:avLst/>
          </a:prstGeom>
          <a:solidFill>
            <a:srgbClr val="885923"/>
          </a:solidFill>
          <a:ln>
            <a:noFill/>
          </a:ln>
        </p:spPr>
        <p:txBody>
          <a:bodyPr rtlCol="0" anchor="ctr"/>
          <a:lstStyle/>
          <a:p/>
        </p:txBody>
      </p:sp>
      <p:sp>
        <p:nvSpPr>
          <p:cNvPr id="6" name="Oval 5"/>
          <p:cNvSpPr/>
          <p:nvPr/>
        </p:nvSpPr>
        <p:spPr>
          <a:xfrm>
            <a:off x="1392197" y="1757649"/>
            <a:ext cx="54864" cy="54864"/>
          </a:xfrm>
          <a:prstGeom prst="ellipse">
            <a:avLst/>
          </a:prstGeom>
          <a:solidFill>
            <a:srgbClr val="9D8B5A"/>
          </a:solidFill>
          <a:ln>
            <a:noFill/>
          </a:ln>
        </p:spPr>
        <p:txBody>
          <a:bodyPr rtlCol="0" anchor="ctr"/>
          <a:lstStyle/>
          <a:p/>
        </p:txBody>
      </p:sp>
      <p:sp>
        <p:nvSpPr>
          <p:cNvPr id="7" name="Oval 6"/>
          <p:cNvSpPr/>
          <p:nvPr/>
        </p:nvSpPr>
        <p:spPr>
          <a:xfrm>
            <a:off x="5037659" y="5727269"/>
            <a:ext cx="73152" cy="73152"/>
          </a:xfrm>
          <a:prstGeom prst="ellipse">
            <a:avLst/>
          </a:prstGeom>
          <a:solidFill>
            <a:srgbClr val="9B6528"/>
          </a:solidFill>
          <a:ln>
            <a:noFill/>
          </a:ln>
        </p:spPr>
        <p:txBody>
          <a:bodyPr rtlCol="0" anchor="ctr"/>
          <a:lstStyle/>
          <a:p/>
        </p:txBody>
      </p:sp>
      <p:sp>
        <p:nvSpPr>
          <p:cNvPr id="8" name="Oval 7"/>
          <p:cNvSpPr/>
          <p:nvPr/>
        </p:nvSpPr>
        <p:spPr>
          <a:xfrm>
            <a:off x="1479313" y="5205232"/>
            <a:ext cx="45720" cy="45720"/>
          </a:xfrm>
          <a:prstGeom prst="ellipse">
            <a:avLst/>
          </a:prstGeom>
          <a:solidFill>
            <a:srgbClr val="8E5C25"/>
          </a:solidFill>
          <a:ln>
            <a:noFill/>
          </a:ln>
        </p:spPr>
        <p:txBody>
          <a:bodyPr rtlCol="0" anchor="ctr"/>
          <a:lstStyle/>
          <a:p/>
        </p:txBody>
      </p:sp>
      <p:sp>
        <p:nvSpPr>
          <p:cNvPr id="9" name="Oval 8"/>
          <p:cNvSpPr/>
          <p:nvPr/>
        </p:nvSpPr>
        <p:spPr>
          <a:xfrm>
            <a:off x="1600352" y="710811"/>
            <a:ext cx="54864" cy="54864"/>
          </a:xfrm>
          <a:prstGeom prst="ellipse">
            <a:avLst/>
          </a:prstGeom>
          <a:solidFill>
            <a:srgbClr val="9C8A59"/>
          </a:solidFill>
          <a:ln>
            <a:noFill/>
          </a:ln>
        </p:spPr>
        <p:txBody>
          <a:bodyPr rtlCol="0" anchor="ctr"/>
          <a:lstStyle/>
          <a:p/>
        </p:txBody>
      </p:sp>
      <p:sp>
        <p:nvSpPr>
          <p:cNvPr id="10" name="Oval 9"/>
          <p:cNvSpPr/>
          <p:nvPr/>
        </p:nvSpPr>
        <p:spPr>
          <a:xfrm>
            <a:off x="10718790" y="3437478"/>
            <a:ext cx="54864" cy="54864"/>
          </a:xfrm>
          <a:prstGeom prst="ellipse">
            <a:avLst/>
          </a:prstGeom>
          <a:solidFill>
            <a:srgbClr val="8E7D51"/>
          </a:solidFill>
          <a:ln>
            <a:noFill/>
          </a:ln>
        </p:spPr>
        <p:txBody>
          <a:bodyPr rtlCol="0" anchor="ctr"/>
          <a:lstStyle/>
          <a:p/>
        </p:txBody>
      </p:sp>
      <p:sp>
        <p:nvSpPr>
          <p:cNvPr id="11" name="Oval 10"/>
          <p:cNvSpPr/>
          <p:nvPr/>
        </p:nvSpPr>
        <p:spPr>
          <a:xfrm>
            <a:off x="7318837" y="3573615"/>
            <a:ext cx="36576" cy="36576"/>
          </a:xfrm>
          <a:prstGeom prst="ellipse">
            <a:avLst/>
          </a:prstGeom>
          <a:solidFill>
            <a:srgbClr val="82734A"/>
          </a:solidFill>
          <a:ln>
            <a:noFill/>
          </a:ln>
        </p:spPr>
        <p:txBody>
          <a:bodyPr rtlCol="0" anchor="ctr"/>
          <a:lstStyle/>
          <a:p/>
        </p:txBody>
      </p:sp>
      <p:sp>
        <p:nvSpPr>
          <p:cNvPr id="12" name="Oval 11"/>
          <p:cNvSpPr/>
          <p:nvPr/>
        </p:nvSpPr>
        <p:spPr>
          <a:xfrm>
            <a:off x="2064247" y="5479113"/>
            <a:ext cx="36576" cy="36576"/>
          </a:xfrm>
          <a:prstGeom prst="ellipse">
            <a:avLst/>
          </a:prstGeom>
          <a:solidFill>
            <a:srgbClr val="9B6528"/>
          </a:solidFill>
          <a:ln>
            <a:noFill/>
          </a:ln>
        </p:spPr>
        <p:txBody>
          <a:bodyPr rtlCol="0" anchor="ctr"/>
          <a:lstStyle/>
          <a:p/>
        </p:txBody>
      </p:sp>
      <p:sp>
        <p:nvSpPr>
          <p:cNvPr id="13" name="Oval 12"/>
          <p:cNvSpPr/>
          <p:nvPr/>
        </p:nvSpPr>
        <p:spPr>
          <a:xfrm>
            <a:off x="3639396" y="2485822"/>
            <a:ext cx="54864" cy="54864"/>
          </a:xfrm>
          <a:prstGeom prst="ellipse">
            <a:avLst/>
          </a:prstGeom>
          <a:solidFill>
            <a:srgbClr val="533717"/>
          </a:solidFill>
          <a:ln>
            <a:noFill/>
          </a:ln>
        </p:spPr>
        <p:txBody>
          <a:bodyPr rtlCol="0" anchor="ctr"/>
          <a:lstStyle/>
          <a:p/>
        </p:txBody>
      </p:sp>
      <p:sp>
        <p:nvSpPr>
          <p:cNvPr id="14" name="Oval 13"/>
          <p:cNvSpPr/>
          <p:nvPr/>
        </p:nvSpPr>
        <p:spPr>
          <a:xfrm>
            <a:off x="1484462" y="4467921"/>
            <a:ext cx="73152" cy="73152"/>
          </a:xfrm>
          <a:prstGeom prst="ellipse">
            <a:avLst/>
          </a:prstGeom>
          <a:solidFill>
            <a:srgbClr val="605025"/>
          </a:solidFill>
          <a:ln>
            <a:noFill/>
          </a:ln>
        </p:spPr>
        <p:txBody>
          <a:bodyPr rtlCol="0" anchor="ctr"/>
          <a:lstStyle/>
          <a:p/>
        </p:txBody>
      </p:sp>
      <p:sp>
        <p:nvSpPr>
          <p:cNvPr id="15" name="Oval 14"/>
          <p:cNvSpPr/>
          <p:nvPr/>
        </p:nvSpPr>
        <p:spPr>
          <a:xfrm>
            <a:off x="6137349" y="1540501"/>
            <a:ext cx="54864" cy="54864"/>
          </a:xfrm>
          <a:prstGeom prst="ellipse">
            <a:avLst/>
          </a:prstGeom>
          <a:solidFill>
            <a:srgbClr val="726441"/>
          </a:solidFill>
          <a:ln>
            <a:noFill/>
          </a:ln>
        </p:spPr>
        <p:txBody>
          <a:bodyPr rtlCol="0" anchor="ctr"/>
          <a:lstStyle/>
          <a:p/>
        </p:txBody>
      </p:sp>
      <p:sp>
        <p:nvSpPr>
          <p:cNvPr id="16" name="Oval 15"/>
          <p:cNvSpPr/>
          <p:nvPr/>
        </p:nvSpPr>
        <p:spPr>
          <a:xfrm>
            <a:off x="6208052" y="790256"/>
            <a:ext cx="45720" cy="45720"/>
          </a:xfrm>
          <a:prstGeom prst="ellipse">
            <a:avLst/>
          </a:prstGeom>
          <a:solidFill>
            <a:srgbClr val="9A813B"/>
          </a:solidFill>
          <a:ln>
            <a:noFill/>
          </a:ln>
        </p:spPr>
        <p:txBody>
          <a:bodyPr rtlCol="0" anchor="ctr"/>
          <a:lstStyle/>
          <a:p/>
        </p:txBody>
      </p:sp>
      <p:sp>
        <p:nvSpPr>
          <p:cNvPr id="17" name="Oval 16"/>
          <p:cNvSpPr/>
          <p:nvPr/>
        </p:nvSpPr>
        <p:spPr>
          <a:xfrm>
            <a:off x="2886483" y="1815322"/>
            <a:ext cx="73152" cy="73152"/>
          </a:xfrm>
          <a:prstGeom prst="ellipse">
            <a:avLst/>
          </a:prstGeom>
          <a:solidFill>
            <a:srgbClr val="6A5D3C"/>
          </a:solidFill>
          <a:ln>
            <a:noFill/>
          </a:ln>
        </p:spPr>
        <p:txBody>
          <a:bodyPr rtlCol="0" anchor="ctr"/>
          <a:lstStyle/>
          <a:p/>
        </p:txBody>
      </p:sp>
      <p:sp>
        <p:nvSpPr>
          <p:cNvPr id="18" name="Oval 17"/>
          <p:cNvSpPr/>
          <p:nvPr/>
        </p:nvSpPr>
        <p:spPr>
          <a:xfrm>
            <a:off x="3423819" y="2882291"/>
            <a:ext cx="36576" cy="36576"/>
          </a:xfrm>
          <a:prstGeom prst="ellipse">
            <a:avLst/>
          </a:prstGeom>
          <a:solidFill>
            <a:srgbClr val="67431C"/>
          </a:solidFill>
          <a:ln>
            <a:noFill/>
          </a:ln>
        </p:spPr>
        <p:txBody>
          <a:bodyPr rtlCol="0" anchor="ctr"/>
          <a:lstStyle/>
          <a:p/>
        </p:txBody>
      </p:sp>
      <p:sp>
        <p:nvSpPr>
          <p:cNvPr id="19" name="Oval 18"/>
          <p:cNvSpPr/>
          <p:nvPr/>
        </p:nvSpPr>
        <p:spPr>
          <a:xfrm>
            <a:off x="2374167" y="2720994"/>
            <a:ext cx="54864" cy="54864"/>
          </a:xfrm>
          <a:prstGeom prst="ellipse">
            <a:avLst/>
          </a:prstGeom>
          <a:solidFill>
            <a:srgbClr val="BAA56B"/>
          </a:solidFill>
          <a:ln>
            <a:noFill/>
          </a:ln>
        </p:spPr>
        <p:txBody>
          <a:bodyPr rtlCol="0" anchor="ctr"/>
          <a:lstStyle/>
          <a:p/>
        </p:txBody>
      </p:sp>
      <p:sp>
        <p:nvSpPr>
          <p:cNvPr id="20" name="Oval 19"/>
          <p:cNvSpPr/>
          <p:nvPr/>
        </p:nvSpPr>
        <p:spPr>
          <a:xfrm>
            <a:off x="2678518" y="4921379"/>
            <a:ext cx="27432" cy="27432"/>
          </a:xfrm>
          <a:prstGeom prst="ellipse">
            <a:avLst/>
          </a:prstGeom>
          <a:solidFill>
            <a:srgbClr val="513516"/>
          </a:solidFill>
          <a:ln>
            <a:noFill/>
          </a:ln>
        </p:spPr>
        <p:txBody>
          <a:bodyPr rtlCol="0" anchor="ctr"/>
          <a:lstStyle/>
          <a:p/>
        </p:txBody>
      </p:sp>
      <p:sp>
        <p:nvSpPr>
          <p:cNvPr id="21" name="Oval 20"/>
          <p:cNvSpPr/>
          <p:nvPr/>
        </p:nvSpPr>
        <p:spPr>
          <a:xfrm>
            <a:off x="4283030" y="1377105"/>
            <a:ext cx="54864" cy="54864"/>
          </a:xfrm>
          <a:prstGeom prst="ellipse">
            <a:avLst/>
          </a:prstGeom>
          <a:solidFill>
            <a:srgbClr val="B1722D"/>
          </a:solidFill>
          <a:ln>
            <a:noFill/>
          </a:ln>
        </p:spPr>
        <p:txBody>
          <a:bodyPr rtlCol="0" anchor="ctr"/>
          <a:lstStyle/>
          <a:p/>
        </p:txBody>
      </p:sp>
      <p:sp>
        <p:nvSpPr>
          <p:cNvPr id="22" name="Oval 21"/>
          <p:cNvSpPr/>
          <p:nvPr/>
        </p:nvSpPr>
        <p:spPr>
          <a:xfrm>
            <a:off x="5065589" y="3016922"/>
            <a:ext cx="36576" cy="36576"/>
          </a:xfrm>
          <a:prstGeom prst="ellipse">
            <a:avLst/>
          </a:prstGeom>
          <a:solidFill>
            <a:srgbClr val="4D3215"/>
          </a:solidFill>
          <a:ln>
            <a:noFill/>
          </a:ln>
        </p:spPr>
        <p:txBody>
          <a:bodyPr rtlCol="0" anchor="ctr"/>
          <a:lstStyle/>
          <a:p/>
        </p:txBody>
      </p:sp>
      <p:sp>
        <p:nvSpPr>
          <p:cNvPr id="23" name="Oval 22"/>
          <p:cNvSpPr/>
          <p:nvPr/>
        </p:nvSpPr>
        <p:spPr>
          <a:xfrm>
            <a:off x="3674820" y="931066"/>
            <a:ext cx="27432" cy="27432"/>
          </a:xfrm>
          <a:prstGeom prst="ellipse">
            <a:avLst/>
          </a:prstGeom>
          <a:solidFill>
            <a:srgbClr val="988657"/>
          </a:solidFill>
          <a:ln>
            <a:noFill/>
          </a:ln>
        </p:spPr>
        <p:txBody>
          <a:bodyPr rtlCol="0" anchor="ctr"/>
          <a:lstStyle/>
          <a:p/>
        </p:txBody>
      </p:sp>
      <p:sp>
        <p:nvSpPr>
          <p:cNvPr id="24" name="Oval 23"/>
          <p:cNvSpPr/>
          <p:nvPr/>
        </p:nvSpPr>
        <p:spPr>
          <a:xfrm>
            <a:off x="6408527" y="1279032"/>
            <a:ext cx="73152" cy="73152"/>
          </a:xfrm>
          <a:prstGeom prst="ellipse">
            <a:avLst/>
          </a:prstGeom>
          <a:solidFill>
            <a:srgbClr val="6E5B2A"/>
          </a:solidFill>
          <a:ln>
            <a:noFill/>
          </a:ln>
        </p:spPr>
        <p:txBody>
          <a:bodyPr rtlCol="0" anchor="ctr"/>
          <a:lstStyle/>
          <a:p/>
        </p:txBody>
      </p:sp>
      <p:sp>
        <p:nvSpPr>
          <p:cNvPr id="25" name="Oval 24"/>
          <p:cNvSpPr/>
          <p:nvPr/>
        </p:nvSpPr>
        <p:spPr>
          <a:xfrm>
            <a:off x="11597551" y="740051"/>
            <a:ext cx="36576" cy="36576"/>
          </a:xfrm>
          <a:prstGeom prst="ellipse">
            <a:avLst/>
          </a:prstGeom>
          <a:solidFill>
            <a:srgbClr val="B7A269"/>
          </a:solidFill>
          <a:ln>
            <a:noFill/>
          </a:ln>
        </p:spPr>
        <p:txBody>
          <a:bodyPr rtlCol="0" anchor="ctr"/>
          <a:lstStyle/>
          <a:p/>
        </p:txBody>
      </p:sp>
      <p:sp>
        <p:nvSpPr>
          <p:cNvPr id="26" name="Oval 25"/>
          <p:cNvSpPr/>
          <p:nvPr/>
        </p:nvSpPr>
        <p:spPr>
          <a:xfrm>
            <a:off x="4793203" y="3775431"/>
            <a:ext cx="45720" cy="45720"/>
          </a:xfrm>
          <a:prstGeom prst="ellipse">
            <a:avLst/>
          </a:prstGeom>
          <a:solidFill>
            <a:srgbClr val="5A4B23"/>
          </a:solidFill>
          <a:ln>
            <a:noFill/>
          </a:ln>
        </p:spPr>
        <p:txBody>
          <a:bodyPr rtlCol="0" anchor="ctr"/>
          <a:lstStyle/>
          <a:p/>
        </p:txBody>
      </p:sp>
      <p:sp>
        <p:nvSpPr>
          <p:cNvPr id="27" name="Oval 26"/>
          <p:cNvSpPr/>
          <p:nvPr/>
        </p:nvSpPr>
        <p:spPr>
          <a:xfrm>
            <a:off x="11424394" y="383235"/>
            <a:ext cx="45720" cy="45720"/>
          </a:xfrm>
          <a:prstGeom prst="ellipse">
            <a:avLst/>
          </a:prstGeom>
          <a:solidFill>
            <a:srgbClr val="5C3D19"/>
          </a:solidFill>
          <a:ln>
            <a:noFill/>
          </a:ln>
        </p:spPr>
        <p:txBody>
          <a:bodyPr rtlCol="0" anchor="ctr"/>
          <a:lstStyle/>
          <a:p/>
        </p:txBody>
      </p:sp>
      <p:sp>
        <p:nvSpPr>
          <p:cNvPr id="28" name="Oval 27"/>
          <p:cNvSpPr/>
          <p:nvPr/>
        </p:nvSpPr>
        <p:spPr>
          <a:xfrm>
            <a:off x="745337" y="6102301"/>
            <a:ext cx="73152" cy="73152"/>
          </a:xfrm>
          <a:prstGeom prst="ellipse">
            <a:avLst/>
          </a:prstGeom>
          <a:solidFill>
            <a:srgbClr val="4D401E"/>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616805" y="2104644"/>
            <a:ext cx="2958084" cy="329184"/>
          </a:xfrm>
          <a:prstGeom prst="rect">
            <a:avLst/>
          </a:prstGeom>
          <a:noFill/>
        </p:spPr>
        <p:txBody>
          <a:bodyPr wrap="square" lIns="0" rIns="0" tIns="0" bIns="0" anchor="ctr">
            <a:spAutoFit/>
          </a:bodyPr>
          <a:lstStyle/>
          <a:p>
            <a:pPr algn="ctr"/>
            <a:r>
              <a:rPr sz="1300" b="1" i="0" spc="400">
                <a:solidFill>
                  <a:srgbClr val="C9A84C"/>
                </a:solidFill>
                <a:latin typeface="Montserrat"/>
              </a:rPr>
              <a:t>LEVEL 0 · CLEARED</a:t>
            </a:r>
          </a:p>
        </p:txBody>
      </p:sp>
      <p:cxnSp>
        <p:nvCxnSpPr>
          <p:cNvPr id="51" name="Connector 50"/>
          <p:cNvCxnSpPr/>
          <p:nvPr/>
        </p:nvCxnSpPr>
        <p:spPr>
          <a:xfrm>
            <a:off x="3245205" y="226923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194913" y="2218944"/>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712049" y="226923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896197" y="2218944"/>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671572"/>
            <a:ext cx="9814255" cy="944880"/>
          </a:xfrm>
          <a:prstGeom prst="rect">
            <a:avLst/>
          </a:prstGeom>
          <a:noFill/>
        </p:spPr>
        <p:txBody>
          <a:bodyPr wrap="square" lIns="0" rIns="0" tIns="0" bIns="0" anchor="b">
            <a:spAutoFit/>
          </a:bodyPr>
          <a:lstStyle/>
          <a:p>
            <a:pPr algn="ctr">
              <a:lnSpc>
                <a:spcPct val="105000"/>
              </a:lnSpc>
            </a:pPr>
            <a:r>
              <a:rPr sz="6400" b="1" i="0">
                <a:solidFill>
                  <a:srgbClr val="F0D58A"/>
                </a:solidFill>
                <a:latin typeface="Cinzel"/>
              </a:rPr>
              <a:t>You showed up.</a:t>
            </a:r>
          </a:p>
        </p:txBody>
      </p:sp>
      <p:cxnSp>
        <p:nvCxnSpPr>
          <p:cNvPr id="56" name="Connector 55"/>
          <p:cNvCxnSpPr/>
          <p:nvPr/>
        </p:nvCxnSpPr>
        <p:spPr>
          <a:xfrm>
            <a:off x="4632807" y="379933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379933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735324"/>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3982212"/>
            <a:ext cx="9448495" cy="1072896"/>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Most people only think about changing their money.</a:t>
            </a:r>
          </a:p>
          <a:p>
            <a:pPr algn="ctr">
              <a:lnSpc>
                <a:spcPct val="120000"/>
              </a:lnSpc>
              <a:spcAft>
                <a:spcPts val="800"/>
              </a:spcAft>
            </a:pPr>
            <a:r>
              <a:rPr sz="2000" b="0" i="0">
                <a:solidFill>
                  <a:srgbClr val="B9A57A"/>
                </a:solidFill>
                <a:latin typeface="Montserrat"/>
              </a:rPr>
              <a:t>You're here. That's Level 0 — and you've already cleared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293204" y="2496751"/>
            <a:ext cx="73152" cy="73152"/>
          </a:xfrm>
          <a:prstGeom prst="ellipse">
            <a:avLst/>
          </a:prstGeom>
          <a:solidFill>
            <a:srgbClr val="9D833C"/>
          </a:solidFill>
          <a:ln>
            <a:noFill/>
          </a:ln>
        </p:spPr>
        <p:txBody>
          <a:bodyPr rtlCol="0" anchor="ctr"/>
          <a:lstStyle/>
          <a:p/>
        </p:txBody>
      </p:sp>
      <p:sp>
        <p:nvSpPr>
          <p:cNvPr id="4" name="Oval 3"/>
          <p:cNvSpPr/>
          <p:nvPr/>
        </p:nvSpPr>
        <p:spPr>
          <a:xfrm>
            <a:off x="698164" y="3133234"/>
            <a:ext cx="73152" cy="73152"/>
          </a:xfrm>
          <a:prstGeom prst="ellipse">
            <a:avLst/>
          </a:prstGeom>
          <a:solidFill>
            <a:srgbClr val="968556"/>
          </a:solidFill>
          <a:ln>
            <a:noFill/>
          </a:ln>
        </p:spPr>
        <p:txBody>
          <a:bodyPr rtlCol="0" anchor="ctr"/>
          <a:lstStyle/>
          <a:p/>
        </p:txBody>
      </p:sp>
      <p:sp>
        <p:nvSpPr>
          <p:cNvPr id="5" name="Oval 4"/>
          <p:cNvSpPr/>
          <p:nvPr/>
        </p:nvSpPr>
        <p:spPr>
          <a:xfrm>
            <a:off x="1663120" y="3153718"/>
            <a:ext cx="36576" cy="36576"/>
          </a:xfrm>
          <a:prstGeom prst="ellipse">
            <a:avLst/>
          </a:prstGeom>
          <a:solidFill>
            <a:srgbClr val="756743"/>
          </a:solidFill>
          <a:ln>
            <a:noFill/>
          </a:ln>
        </p:spPr>
        <p:txBody>
          <a:bodyPr rtlCol="0" anchor="ctr"/>
          <a:lstStyle/>
          <a:p/>
        </p:txBody>
      </p:sp>
      <p:sp>
        <p:nvSpPr>
          <p:cNvPr id="6" name="Oval 5"/>
          <p:cNvSpPr/>
          <p:nvPr/>
        </p:nvSpPr>
        <p:spPr>
          <a:xfrm>
            <a:off x="6943226" y="443705"/>
            <a:ext cx="27432" cy="27432"/>
          </a:xfrm>
          <a:prstGeom prst="ellipse">
            <a:avLst/>
          </a:prstGeom>
          <a:solidFill>
            <a:srgbClr val="786A45"/>
          </a:solidFill>
          <a:ln>
            <a:noFill/>
          </a:ln>
        </p:spPr>
        <p:txBody>
          <a:bodyPr rtlCol="0" anchor="ctr"/>
          <a:lstStyle/>
          <a:p/>
        </p:txBody>
      </p:sp>
      <p:sp>
        <p:nvSpPr>
          <p:cNvPr id="7" name="Oval 6"/>
          <p:cNvSpPr/>
          <p:nvPr/>
        </p:nvSpPr>
        <p:spPr>
          <a:xfrm>
            <a:off x="10867238" y="4916925"/>
            <a:ext cx="36576" cy="36576"/>
          </a:xfrm>
          <a:prstGeom prst="ellipse">
            <a:avLst/>
          </a:prstGeom>
          <a:solidFill>
            <a:srgbClr val="A5915E"/>
          </a:solidFill>
          <a:ln>
            <a:noFill/>
          </a:ln>
        </p:spPr>
        <p:txBody>
          <a:bodyPr rtlCol="0" anchor="ctr"/>
          <a:lstStyle/>
          <a:p/>
        </p:txBody>
      </p:sp>
      <p:sp>
        <p:nvSpPr>
          <p:cNvPr id="8" name="Oval 7"/>
          <p:cNvSpPr/>
          <p:nvPr/>
        </p:nvSpPr>
        <p:spPr>
          <a:xfrm>
            <a:off x="1956058" y="4035650"/>
            <a:ext cx="27432" cy="27432"/>
          </a:xfrm>
          <a:prstGeom prst="ellipse">
            <a:avLst/>
          </a:prstGeom>
          <a:solidFill>
            <a:srgbClr val="564B31"/>
          </a:solidFill>
          <a:ln>
            <a:noFill/>
          </a:ln>
        </p:spPr>
        <p:txBody>
          <a:bodyPr rtlCol="0" anchor="ctr"/>
          <a:lstStyle/>
          <a:p/>
        </p:txBody>
      </p:sp>
      <p:sp>
        <p:nvSpPr>
          <p:cNvPr id="9" name="Oval 8"/>
          <p:cNvSpPr/>
          <p:nvPr/>
        </p:nvSpPr>
        <p:spPr>
          <a:xfrm>
            <a:off x="2766166" y="1646493"/>
            <a:ext cx="27432" cy="27432"/>
          </a:xfrm>
          <a:prstGeom prst="ellipse">
            <a:avLst/>
          </a:prstGeom>
          <a:solidFill>
            <a:srgbClr val="B29E66"/>
          </a:solidFill>
          <a:ln>
            <a:noFill/>
          </a:ln>
        </p:spPr>
        <p:txBody>
          <a:bodyPr rtlCol="0" anchor="ctr"/>
          <a:lstStyle/>
          <a:p/>
        </p:txBody>
      </p:sp>
      <p:sp>
        <p:nvSpPr>
          <p:cNvPr id="10" name="Oval 9"/>
          <p:cNvSpPr/>
          <p:nvPr/>
        </p:nvSpPr>
        <p:spPr>
          <a:xfrm>
            <a:off x="3960259" y="1547878"/>
            <a:ext cx="45720" cy="45720"/>
          </a:xfrm>
          <a:prstGeom prst="ellipse">
            <a:avLst/>
          </a:prstGeom>
          <a:solidFill>
            <a:srgbClr val="7C6730"/>
          </a:solidFill>
          <a:ln>
            <a:noFill/>
          </a:ln>
        </p:spPr>
        <p:txBody>
          <a:bodyPr rtlCol="0" anchor="ctr"/>
          <a:lstStyle/>
          <a:p/>
        </p:txBody>
      </p:sp>
      <p:sp>
        <p:nvSpPr>
          <p:cNvPr id="11" name="Oval 10"/>
          <p:cNvSpPr/>
          <p:nvPr/>
        </p:nvSpPr>
        <p:spPr>
          <a:xfrm>
            <a:off x="11149509" y="4470659"/>
            <a:ext cx="36576" cy="36576"/>
          </a:xfrm>
          <a:prstGeom prst="ellipse">
            <a:avLst/>
          </a:prstGeom>
          <a:solidFill>
            <a:srgbClr val="67431C"/>
          </a:solidFill>
          <a:ln>
            <a:noFill/>
          </a:ln>
        </p:spPr>
        <p:txBody>
          <a:bodyPr rtlCol="0" anchor="ctr"/>
          <a:lstStyle/>
          <a:p/>
        </p:txBody>
      </p:sp>
      <p:sp>
        <p:nvSpPr>
          <p:cNvPr id="12" name="Oval 11"/>
          <p:cNvSpPr/>
          <p:nvPr/>
        </p:nvSpPr>
        <p:spPr>
          <a:xfrm>
            <a:off x="5120663" y="5927737"/>
            <a:ext cx="45720" cy="45720"/>
          </a:xfrm>
          <a:prstGeom prst="ellipse">
            <a:avLst/>
          </a:prstGeom>
          <a:solidFill>
            <a:srgbClr val="4B3115"/>
          </a:solidFill>
          <a:ln>
            <a:noFill/>
          </a:ln>
        </p:spPr>
        <p:txBody>
          <a:bodyPr rtlCol="0" anchor="ctr"/>
          <a:lstStyle/>
          <a:p/>
        </p:txBody>
      </p:sp>
      <p:sp>
        <p:nvSpPr>
          <p:cNvPr id="13" name="Oval 12"/>
          <p:cNvSpPr/>
          <p:nvPr/>
        </p:nvSpPr>
        <p:spPr>
          <a:xfrm>
            <a:off x="9733310" y="3849549"/>
            <a:ext cx="45720" cy="45720"/>
          </a:xfrm>
          <a:prstGeom prst="ellipse">
            <a:avLst/>
          </a:prstGeom>
          <a:solidFill>
            <a:srgbClr val="826C32"/>
          </a:solidFill>
          <a:ln>
            <a:noFill/>
          </a:ln>
        </p:spPr>
        <p:txBody>
          <a:bodyPr rtlCol="0" anchor="ctr"/>
          <a:lstStyle/>
          <a:p/>
        </p:txBody>
      </p:sp>
      <p:sp>
        <p:nvSpPr>
          <p:cNvPr id="14" name="Oval 13"/>
          <p:cNvSpPr/>
          <p:nvPr/>
        </p:nvSpPr>
        <p:spPr>
          <a:xfrm>
            <a:off x="1122388" y="2477826"/>
            <a:ext cx="45720" cy="45720"/>
          </a:xfrm>
          <a:prstGeom prst="ellipse">
            <a:avLst/>
          </a:prstGeom>
          <a:solidFill>
            <a:srgbClr val="7D5221"/>
          </a:solidFill>
          <a:ln>
            <a:noFill/>
          </a:ln>
        </p:spPr>
        <p:txBody>
          <a:bodyPr rtlCol="0" anchor="ctr"/>
          <a:lstStyle/>
          <a:p/>
        </p:txBody>
      </p:sp>
      <p:sp>
        <p:nvSpPr>
          <p:cNvPr id="15" name="Oval 14"/>
          <p:cNvSpPr/>
          <p:nvPr/>
        </p:nvSpPr>
        <p:spPr>
          <a:xfrm>
            <a:off x="2483293" y="3174338"/>
            <a:ext cx="45720" cy="45720"/>
          </a:xfrm>
          <a:prstGeom prst="ellipse">
            <a:avLst/>
          </a:prstGeom>
          <a:solidFill>
            <a:srgbClr val="4C422B"/>
          </a:solidFill>
          <a:ln>
            <a:noFill/>
          </a:ln>
        </p:spPr>
        <p:txBody>
          <a:bodyPr rtlCol="0" anchor="ctr"/>
          <a:lstStyle/>
          <a:p/>
        </p:txBody>
      </p:sp>
      <p:sp>
        <p:nvSpPr>
          <p:cNvPr id="16" name="Oval 15"/>
          <p:cNvSpPr/>
          <p:nvPr/>
        </p:nvSpPr>
        <p:spPr>
          <a:xfrm>
            <a:off x="11243992" y="2491453"/>
            <a:ext cx="27432" cy="27432"/>
          </a:xfrm>
          <a:prstGeom prst="ellipse">
            <a:avLst/>
          </a:prstGeom>
          <a:solidFill>
            <a:srgbClr val="452E14"/>
          </a:solidFill>
          <a:ln>
            <a:noFill/>
          </a:ln>
        </p:spPr>
        <p:txBody>
          <a:bodyPr rtlCol="0" anchor="ctr"/>
          <a:lstStyle/>
          <a:p/>
        </p:txBody>
      </p:sp>
      <p:sp>
        <p:nvSpPr>
          <p:cNvPr id="17" name="Oval 16"/>
          <p:cNvSpPr/>
          <p:nvPr/>
        </p:nvSpPr>
        <p:spPr>
          <a:xfrm>
            <a:off x="4562298" y="3804244"/>
            <a:ext cx="54864" cy="54864"/>
          </a:xfrm>
          <a:prstGeom prst="ellipse">
            <a:avLst/>
          </a:prstGeom>
          <a:solidFill>
            <a:srgbClr val="7E6F48"/>
          </a:solidFill>
          <a:ln>
            <a:noFill/>
          </a:ln>
        </p:spPr>
        <p:txBody>
          <a:bodyPr rtlCol="0" anchor="ctr"/>
          <a:lstStyle/>
          <a:p/>
        </p:txBody>
      </p:sp>
      <p:sp>
        <p:nvSpPr>
          <p:cNvPr id="18" name="Oval 17"/>
          <p:cNvSpPr/>
          <p:nvPr/>
        </p:nvSpPr>
        <p:spPr>
          <a:xfrm>
            <a:off x="7513620" y="6038299"/>
            <a:ext cx="36576" cy="36576"/>
          </a:xfrm>
          <a:prstGeom prst="ellipse">
            <a:avLst/>
          </a:prstGeom>
          <a:solidFill>
            <a:srgbClr val="A4915E"/>
          </a:solidFill>
          <a:ln>
            <a:noFill/>
          </a:ln>
        </p:spPr>
        <p:txBody>
          <a:bodyPr rtlCol="0" anchor="ctr"/>
          <a:lstStyle/>
          <a:p/>
        </p:txBody>
      </p:sp>
      <p:sp>
        <p:nvSpPr>
          <p:cNvPr id="19" name="Oval 18"/>
          <p:cNvSpPr/>
          <p:nvPr/>
        </p:nvSpPr>
        <p:spPr>
          <a:xfrm>
            <a:off x="4312435" y="2474508"/>
            <a:ext cx="54864" cy="54864"/>
          </a:xfrm>
          <a:prstGeom prst="ellipse">
            <a:avLst/>
          </a:prstGeom>
          <a:solidFill>
            <a:srgbClr val="554721"/>
          </a:solidFill>
          <a:ln>
            <a:noFill/>
          </a:ln>
        </p:spPr>
        <p:txBody>
          <a:bodyPr rtlCol="0" anchor="ctr"/>
          <a:lstStyle/>
          <a:p/>
        </p:txBody>
      </p:sp>
      <p:sp>
        <p:nvSpPr>
          <p:cNvPr id="20" name="Oval 19"/>
          <p:cNvSpPr/>
          <p:nvPr/>
        </p:nvSpPr>
        <p:spPr>
          <a:xfrm>
            <a:off x="1604064" y="4813938"/>
            <a:ext cx="54864" cy="54864"/>
          </a:xfrm>
          <a:prstGeom prst="ellipse">
            <a:avLst/>
          </a:prstGeom>
          <a:solidFill>
            <a:srgbClr val="AB6F2C"/>
          </a:solidFill>
          <a:ln>
            <a:noFill/>
          </a:ln>
        </p:spPr>
        <p:txBody>
          <a:bodyPr rtlCol="0" anchor="ctr"/>
          <a:lstStyle/>
          <a:p/>
        </p:txBody>
      </p:sp>
      <p:sp>
        <p:nvSpPr>
          <p:cNvPr id="21" name="Oval 20"/>
          <p:cNvSpPr/>
          <p:nvPr/>
        </p:nvSpPr>
        <p:spPr>
          <a:xfrm>
            <a:off x="5327748" y="6180630"/>
            <a:ext cx="27432" cy="27432"/>
          </a:xfrm>
          <a:prstGeom prst="ellipse">
            <a:avLst/>
          </a:prstGeom>
          <a:solidFill>
            <a:srgbClr val="706240"/>
          </a:solidFill>
          <a:ln>
            <a:noFill/>
          </a:ln>
        </p:spPr>
        <p:txBody>
          <a:bodyPr rtlCol="0" anchor="ctr"/>
          <a:lstStyle/>
          <a:p/>
        </p:txBody>
      </p:sp>
      <p:sp>
        <p:nvSpPr>
          <p:cNvPr id="22" name="Oval 21"/>
          <p:cNvSpPr/>
          <p:nvPr/>
        </p:nvSpPr>
        <p:spPr>
          <a:xfrm>
            <a:off x="4521511" y="1246575"/>
            <a:ext cx="73152" cy="73152"/>
          </a:xfrm>
          <a:prstGeom prst="ellipse">
            <a:avLst/>
          </a:prstGeom>
          <a:solidFill>
            <a:srgbClr val="B3742D"/>
          </a:solidFill>
          <a:ln>
            <a:noFill/>
          </a:ln>
        </p:spPr>
        <p:txBody>
          <a:bodyPr rtlCol="0" anchor="ctr"/>
          <a:lstStyle/>
          <a:p/>
        </p:txBody>
      </p:sp>
      <p:sp>
        <p:nvSpPr>
          <p:cNvPr id="23" name="Oval 22"/>
          <p:cNvSpPr/>
          <p:nvPr/>
        </p:nvSpPr>
        <p:spPr>
          <a:xfrm>
            <a:off x="1420936" y="4442866"/>
            <a:ext cx="73152" cy="73152"/>
          </a:xfrm>
          <a:prstGeom prst="ellipse">
            <a:avLst/>
          </a:prstGeom>
          <a:solidFill>
            <a:srgbClr val="583A18"/>
          </a:solidFill>
          <a:ln>
            <a:noFill/>
          </a:ln>
        </p:spPr>
        <p:txBody>
          <a:bodyPr rtlCol="0" anchor="ctr"/>
          <a:lstStyle/>
          <a:p/>
        </p:txBody>
      </p:sp>
      <p:sp>
        <p:nvSpPr>
          <p:cNvPr id="24" name="Oval 23"/>
          <p:cNvSpPr/>
          <p:nvPr/>
        </p:nvSpPr>
        <p:spPr>
          <a:xfrm>
            <a:off x="7549063" y="4651898"/>
            <a:ext cx="27432" cy="27432"/>
          </a:xfrm>
          <a:prstGeom prst="ellipse">
            <a:avLst/>
          </a:prstGeom>
          <a:solidFill>
            <a:srgbClr val="BC7A30"/>
          </a:solidFill>
          <a:ln>
            <a:noFill/>
          </a:ln>
        </p:spPr>
        <p:txBody>
          <a:bodyPr rtlCol="0" anchor="ctr"/>
          <a:lstStyle/>
          <a:p/>
        </p:txBody>
      </p:sp>
      <p:sp>
        <p:nvSpPr>
          <p:cNvPr id="25" name="Oval 24"/>
          <p:cNvSpPr/>
          <p:nvPr/>
        </p:nvSpPr>
        <p:spPr>
          <a:xfrm>
            <a:off x="8618562" y="846943"/>
            <a:ext cx="36576" cy="36576"/>
          </a:xfrm>
          <a:prstGeom prst="ellipse">
            <a:avLst/>
          </a:prstGeom>
          <a:solidFill>
            <a:srgbClr val="735F2C"/>
          </a:solidFill>
          <a:ln>
            <a:noFill/>
          </a:ln>
        </p:spPr>
        <p:txBody>
          <a:bodyPr rtlCol="0" anchor="ctr"/>
          <a:lstStyle/>
          <a:p/>
        </p:txBody>
      </p:sp>
      <p:sp>
        <p:nvSpPr>
          <p:cNvPr id="26" name="Oval 25"/>
          <p:cNvSpPr/>
          <p:nvPr/>
        </p:nvSpPr>
        <p:spPr>
          <a:xfrm>
            <a:off x="730497" y="4767343"/>
            <a:ext cx="54864" cy="54864"/>
          </a:xfrm>
          <a:prstGeom prst="ellipse">
            <a:avLst/>
          </a:prstGeom>
          <a:solidFill>
            <a:srgbClr val="A76C2B"/>
          </a:solidFill>
          <a:ln>
            <a:noFill/>
          </a:ln>
        </p:spPr>
        <p:txBody>
          <a:bodyPr rtlCol="0" anchor="ctr"/>
          <a:lstStyle/>
          <a:p/>
        </p:txBody>
      </p:sp>
      <p:sp>
        <p:nvSpPr>
          <p:cNvPr id="27" name="Oval 26"/>
          <p:cNvSpPr/>
          <p:nvPr/>
        </p:nvSpPr>
        <p:spPr>
          <a:xfrm>
            <a:off x="7825949" y="1231320"/>
            <a:ext cx="54864" cy="54864"/>
          </a:xfrm>
          <a:prstGeom prst="ellipse">
            <a:avLst/>
          </a:prstGeom>
          <a:solidFill>
            <a:srgbClr val="3F3419"/>
          </a:solidFill>
          <a:ln>
            <a:noFill/>
          </a:ln>
        </p:spPr>
        <p:txBody>
          <a:bodyPr rtlCol="0" anchor="ctr"/>
          <a:lstStyle/>
          <a:p/>
        </p:txBody>
      </p:sp>
      <p:sp>
        <p:nvSpPr>
          <p:cNvPr id="28" name="Oval 27"/>
          <p:cNvSpPr/>
          <p:nvPr/>
        </p:nvSpPr>
        <p:spPr>
          <a:xfrm>
            <a:off x="4195582" y="1596441"/>
            <a:ext cx="54864" cy="54864"/>
          </a:xfrm>
          <a:prstGeom prst="ellipse">
            <a:avLst/>
          </a:prstGeom>
          <a:solidFill>
            <a:srgbClr val="76622D"/>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758537" y="1347215"/>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BEFORE WE BEGIN</a:t>
            </a:r>
          </a:p>
        </p:txBody>
      </p:sp>
      <p:cxnSp>
        <p:nvCxnSpPr>
          <p:cNvPr id="50" name="Connector 49"/>
          <p:cNvCxnSpPr/>
          <p:nvPr/>
        </p:nvCxnSpPr>
        <p:spPr>
          <a:xfrm>
            <a:off x="3386937" y="1511807"/>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336645" y="1461515"/>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570317" y="1511807"/>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754465" y="1461515"/>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740407"/>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Rules of the Quest</a:t>
            </a:r>
          </a:p>
        </p:txBody>
      </p:sp>
      <p:sp>
        <p:nvSpPr>
          <p:cNvPr id="55" name="Rounded Rectangle 54"/>
          <p:cNvSpPr/>
          <p:nvPr/>
        </p:nvSpPr>
        <p:spPr>
          <a:xfrm>
            <a:off x="1523847" y="2548127"/>
            <a:ext cx="9144000" cy="2679192"/>
          </a:xfrm>
          <a:prstGeom prst="roundRect">
            <a:avLst>
              <a:gd name="adj" fmla="val 6000"/>
            </a:avLst>
          </a:prstGeom>
          <a:solidFill>
            <a:srgbClr val="100D07"/>
          </a:solidFill>
          <a:ln w="15875">
            <a:solidFill>
              <a:srgbClr val="877034"/>
            </a:solidFill>
          </a:ln>
        </p:spPr>
        <p:txBody>
          <a:bodyPr rtlCol="0" anchor="ctr"/>
          <a:lstStyle/>
          <a:p/>
        </p:txBody>
      </p:sp>
      <p:sp>
        <p:nvSpPr>
          <p:cNvPr id="56" name="Oval 55"/>
          <p:cNvSpPr/>
          <p:nvPr/>
        </p:nvSpPr>
        <p:spPr>
          <a:xfrm>
            <a:off x="1853031" y="2718815"/>
            <a:ext cx="438912" cy="438912"/>
          </a:xfrm>
          <a:prstGeom prst="ellipse">
            <a:avLst/>
          </a:prstGeom>
          <a:solidFill>
            <a:srgbClr val="1A1309"/>
          </a:solidFill>
          <a:ln w="25400">
            <a:solidFill>
              <a:srgbClr val="F0D58A"/>
            </a:solidFill>
          </a:ln>
        </p:spPr>
        <p:txBody>
          <a:bodyPr rtlCol="0" anchor="ctr"/>
          <a:lstStyle/>
          <a:p/>
        </p:txBody>
      </p:sp>
      <p:sp>
        <p:nvSpPr>
          <p:cNvPr id="57" name="Oval 56"/>
          <p:cNvSpPr/>
          <p:nvPr/>
        </p:nvSpPr>
        <p:spPr>
          <a:xfrm>
            <a:off x="1907895" y="2773679"/>
            <a:ext cx="329184" cy="329184"/>
          </a:xfrm>
          <a:prstGeom prst="ellipse">
            <a:avLst/>
          </a:prstGeom>
          <a:noFill/>
          <a:ln w="9525">
            <a:solidFill>
              <a:srgbClr val="7D6830"/>
            </a:solidFill>
          </a:ln>
        </p:spPr>
        <p:txBody>
          <a:bodyPr rtlCol="0" anchor="ctr"/>
          <a:lstStyle/>
          <a:p/>
        </p:txBody>
      </p:sp>
      <p:sp>
        <p:nvSpPr>
          <p:cNvPr id="58" name="TextBox 57"/>
          <p:cNvSpPr txBox="1"/>
          <p:nvPr/>
        </p:nvSpPr>
        <p:spPr>
          <a:xfrm>
            <a:off x="1853031" y="2718815"/>
            <a:ext cx="438912" cy="438912"/>
          </a:xfrm>
          <a:prstGeom prst="rect">
            <a:avLst/>
          </a:prstGeom>
          <a:noFill/>
        </p:spPr>
        <p:txBody>
          <a:bodyPr wrap="square" lIns="0" rIns="0" tIns="0" bIns="0" anchor="ctr">
            <a:spAutoFit/>
          </a:bodyPr>
          <a:lstStyle/>
          <a:p>
            <a:pPr algn="ctr"/>
            <a:r>
              <a:rPr sz="1400" b="1" i="0">
                <a:solidFill>
                  <a:srgbClr val="F0D58A"/>
                </a:solidFill>
                <a:latin typeface="Cinzel"/>
              </a:rPr>
              <a:t>1</a:t>
            </a:r>
          </a:p>
        </p:txBody>
      </p:sp>
      <p:sp>
        <p:nvSpPr>
          <p:cNvPr id="59" name="TextBox 58"/>
          <p:cNvSpPr txBox="1"/>
          <p:nvPr/>
        </p:nvSpPr>
        <p:spPr>
          <a:xfrm>
            <a:off x="2529687" y="2749295"/>
            <a:ext cx="7772400"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Grab a pen and paper</a:t>
            </a:r>
          </a:p>
        </p:txBody>
      </p:sp>
      <p:sp>
        <p:nvSpPr>
          <p:cNvPr id="60" name="Oval 59"/>
          <p:cNvSpPr/>
          <p:nvPr/>
        </p:nvSpPr>
        <p:spPr>
          <a:xfrm>
            <a:off x="1853031" y="3285743"/>
            <a:ext cx="438912" cy="438912"/>
          </a:xfrm>
          <a:prstGeom prst="ellipse">
            <a:avLst/>
          </a:prstGeom>
          <a:solidFill>
            <a:srgbClr val="1A1309"/>
          </a:solidFill>
          <a:ln w="25400">
            <a:solidFill>
              <a:srgbClr val="F0D58A"/>
            </a:solidFill>
          </a:ln>
        </p:spPr>
        <p:txBody>
          <a:bodyPr rtlCol="0" anchor="ctr"/>
          <a:lstStyle/>
          <a:p/>
        </p:txBody>
      </p:sp>
      <p:sp>
        <p:nvSpPr>
          <p:cNvPr id="61" name="Oval 60"/>
          <p:cNvSpPr/>
          <p:nvPr/>
        </p:nvSpPr>
        <p:spPr>
          <a:xfrm>
            <a:off x="1907895" y="3340607"/>
            <a:ext cx="329184" cy="329184"/>
          </a:xfrm>
          <a:prstGeom prst="ellipse">
            <a:avLst/>
          </a:prstGeom>
          <a:noFill/>
          <a:ln w="9525">
            <a:solidFill>
              <a:srgbClr val="7D6830"/>
            </a:solidFill>
          </a:ln>
        </p:spPr>
        <p:txBody>
          <a:bodyPr rtlCol="0" anchor="ctr"/>
          <a:lstStyle/>
          <a:p/>
        </p:txBody>
      </p:sp>
      <p:sp>
        <p:nvSpPr>
          <p:cNvPr id="62" name="TextBox 61"/>
          <p:cNvSpPr txBox="1"/>
          <p:nvPr/>
        </p:nvSpPr>
        <p:spPr>
          <a:xfrm>
            <a:off x="1853031" y="3285743"/>
            <a:ext cx="438912" cy="438912"/>
          </a:xfrm>
          <a:prstGeom prst="rect">
            <a:avLst/>
          </a:prstGeom>
          <a:noFill/>
        </p:spPr>
        <p:txBody>
          <a:bodyPr wrap="square" lIns="0" rIns="0" tIns="0" bIns="0" anchor="ctr">
            <a:spAutoFit/>
          </a:bodyPr>
          <a:lstStyle/>
          <a:p>
            <a:pPr algn="ctr"/>
            <a:r>
              <a:rPr sz="1400" b="1" i="0">
                <a:solidFill>
                  <a:srgbClr val="F0D58A"/>
                </a:solidFill>
                <a:latin typeface="Cinzel"/>
              </a:rPr>
              <a:t>2</a:t>
            </a:r>
          </a:p>
        </p:txBody>
      </p:sp>
      <p:sp>
        <p:nvSpPr>
          <p:cNvPr id="63" name="TextBox 62"/>
          <p:cNvSpPr txBox="1"/>
          <p:nvPr/>
        </p:nvSpPr>
        <p:spPr>
          <a:xfrm>
            <a:off x="2529687" y="3316224"/>
            <a:ext cx="7772400"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Stay to the end — there's a gift</a:t>
            </a:r>
          </a:p>
        </p:txBody>
      </p:sp>
      <p:sp>
        <p:nvSpPr>
          <p:cNvPr id="64" name="Oval 63"/>
          <p:cNvSpPr/>
          <p:nvPr/>
        </p:nvSpPr>
        <p:spPr>
          <a:xfrm>
            <a:off x="1853031" y="3852671"/>
            <a:ext cx="438912" cy="438912"/>
          </a:xfrm>
          <a:prstGeom prst="ellipse">
            <a:avLst/>
          </a:prstGeom>
          <a:solidFill>
            <a:srgbClr val="1A1309"/>
          </a:solidFill>
          <a:ln w="25400">
            <a:solidFill>
              <a:srgbClr val="F0D58A"/>
            </a:solidFill>
          </a:ln>
        </p:spPr>
        <p:txBody>
          <a:bodyPr rtlCol="0" anchor="ctr"/>
          <a:lstStyle/>
          <a:p/>
        </p:txBody>
      </p:sp>
      <p:sp>
        <p:nvSpPr>
          <p:cNvPr id="65" name="Oval 64"/>
          <p:cNvSpPr/>
          <p:nvPr/>
        </p:nvSpPr>
        <p:spPr>
          <a:xfrm>
            <a:off x="1907895" y="3907535"/>
            <a:ext cx="329184" cy="329184"/>
          </a:xfrm>
          <a:prstGeom prst="ellipse">
            <a:avLst/>
          </a:prstGeom>
          <a:noFill/>
          <a:ln w="9525">
            <a:solidFill>
              <a:srgbClr val="7D6830"/>
            </a:solidFill>
          </a:ln>
        </p:spPr>
        <p:txBody>
          <a:bodyPr rtlCol="0" anchor="ctr"/>
          <a:lstStyle/>
          <a:p/>
        </p:txBody>
      </p:sp>
      <p:sp>
        <p:nvSpPr>
          <p:cNvPr id="66" name="TextBox 65"/>
          <p:cNvSpPr txBox="1"/>
          <p:nvPr/>
        </p:nvSpPr>
        <p:spPr>
          <a:xfrm>
            <a:off x="1853031" y="3852671"/>
            <a:ext cx="438912" cy="438912"/>
          </a:xfrm>
          <a:prstGeom prst="rect">
            <a:avLst/>
          </a:prstGeom>
          <a:noFill/>
        </p:spPr>
        <p:txBody>
          <a:bodyPr wrap="square" lIns="0" rIns="0" tIns="0" bIns="0" anchor="ctr">
            <a:spAutoFit/>
          </a:bodyPr>
          <a:lstStyle/>
          <a:p>
            <a:pPr algn="ctr"/>
            <a:r>
              <a:rPr sz="1400" b="1" i="0">
                <a:solidFill>
                  <a:srgbClr val="F0D58A"/>
                </a:solidFill>
                <a:latin typeface="Cinzel"/>
              </a:rPr>
              <a:t>3</a:t>
            </a:r>
          </a:p>
        </p:txBody>
      </p:sp>
      <p:sp>
        <p:nvSpPr>
          <p:cNvPr id="67" name="TextBox 66"/>
          <p:cNvSpPr txBox="1"/>
          <p:nvPr/>
        </p:nvSpPr>
        <p:spPr>
          <a:xfrm>
            <a:off x="2529687" y="3883151"/>
            <a:ext cx="7772400"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Use the chat — this is interactive</a:t>
            </a:r>
          </a:p>
        </p:txBody>
      </p:sp>
      <p:sp>
        <p:nvSpPr>
          <p:cNvPr id="68" name="Oval 67"/>
          <p:cNvSpPr/>
          <p:nvPr/>
        </p:nvSpPr>
        <p:spPr>
          <a:xfrm>
            <a:off x="1853031" y="4419600"/>
            <a:ext cx="438912" cy="438912"/>
          </a:xfrm>
          <a:prstGeom prst="ellipse">
            <a:avLst/>
          </a:prstGeom>
          <a:solidFill>
            <a:srgbClr val="1A1309"/>
          </a:solidFill>
          <a:ln w="25400">
            <a:solidFill>
              <a:srgbClr val="F0D58A"/>
            </a:solidFill>
          </a:ln>
        </p:spPr>
        <p:txBody>
          <a:bodyPr rtlCol="0" anchor="ctr"/>
          <a:lstStyle/>
          <a:p/>
        </p:txBody>
      </p:sp>
      <p:sp>
        <p:nvSpPr>
          <p:cNvPr id="69" name="Oval 68"/>
          <p:cNvSpPr/>
          <p:nvPr/>
        </p:nvSpPr>
        <p:spPr>
          <a:xfrm>
            <a:off x="1907895" y="4474463"/>
            <a:ext cx="329184" cy="329184"/>
          </a:xfrm>
          <a:prstGeom prst="ellipse">
            <a:avLst/>
          </a:prstGeom>
          <a:noFill/>
          <a:ln w="9525">
            <a:solidFill>
              <a:srgbClr val="7D6830"/>
            </a:solidFill>
          </a:ln>
        </p:spPr>
        <p:txBody>
          <a:bodyPr rtlCol="0" anchor="ctr"/>
          <a:lstStyle/>
          <a:p/>
        </p:txBody>
      </p:sp>
      <p:sp>
        <p:nvSpPr>
          <p:cNvPr id="70" name="TextBox 69"/>
          <p:cNvSpPr txBox="1"/>
          <p:nvPr/>
        </p:nvSpPr>
        <p:spPr>
          <a:xfrm>
            <a:off x="1853031" y="4419600"/>
            <a:ext cx="438912" cy="438912"/>
          </a:xfrm>
          <a:prstGeom prst="rect">
            <a:avLst/>
          </a:prstGeom>
          <a:noFill/>
        </p:spPr>
        <p:txBody>
          <a:bodyPr wrap="square" lIns="0" rIns="0" tIns="0" bIns="0" anchor="ctr">
            <a:spAutoFit/>
          </a:bodyPr>
          <a:lstStyle/>
          <a:p>
            <a:pPr algn="ctr"/>
            <a:r>
              <a:rPr sz="1400" b="1" i="0">
                <a:solidFill>
                  <a:srgbClr val="F0D58A"/>
                </a:solidFill>
                <a:latin typeface="Cinzel"/>
              </a:rPr>
              <a:t>4</a:t>
            </a:r>
          </a:p>
        </p:txBody>
      </p:sp>
      <p:sp>
        <p:nvSpPr>
          <p:cNvPr id="71" name="TextBox 70"/>
          <p:cNvSpPr txBox="1"/>
          <p:nvPr/>
        </p:nvSpPr>
        <p:spPr>
          <a:xfrm>
            <a:off x="2529687" y="4450080"/>
            <a:ext cx="7772400"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This is education, not personal advice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9190" y="3233913"/>
            <a:ext cx="73152" cy="73152"/>
          </a:xfrm>
          <a:prstGeom prst="ellipse">
            <a:avLst/>
          </a:prstGeom>
          <a:solidFill>
            <a:srgbClr val="5F5336"/>
          </a:solidFill>
          <a:ln>
            <a:noFill/>
          </a:ln>
        </p:spPr>
        <p:txBody>
          <a:bodyPr rtlCol="0" anchor="ctr"/>
          <a:lstStyle/>
          <a:p/>
        </p:txBody>
      </p:sp>
      <p:sp>
        <p:nvSpPr>
          <p:cNvPr id="4" name="Oval 3"/>
          <p:cNvSpPr/>
          <p:nvPr/>
        </p:nvSpPr>
        <p:spPr>
          <a:xfrm>
            <a:off x="9804232" y="4249739"/>
            <a:ext cx="54864" cy="54864"/>
          </a:xfrm>
          <a:prstGeom prst="ellipse">
            <a:avLst/>
          </a:prstGeom>
          <a:solidFill>
            <a:srgbClr val="494029"/>
          </a:solidFill>
          <a:ln>
            <a:noFill/>
          </a:ln>
        </p:spPr>
        <p:txBody>
          <a:bodyPr rtlCol="0" anchor="ctr"/>
          <a:lstStyle/>
          <a:p/>
        </p:txBody>
      </p:sp>
      <p:sp>
        <p:nvSpPr>
          <p:cNvPr id="5" name="Oval 4"/>
          <p:cNvSpPr/>
          <p:nvPr/>
        </p:nvSpPr>
        <p:spPr>
          <a:xfrm>
            <a:off x="4122093" y="1851640"/>
            <a:ext cx="54864" cy="54864"/>
          </a:xfrm>
          <a:prstGeom prst="ellipse">
            <a:avLst/>
          </a:prstGeom>
          <a:solidFill>
            <a:srgbClr val="A3883E"/>
          </a:solidFill>
          <a:ln>
            <a:noFill/>
          </a:ln>
        </p:spPr>
        <p:txBody>
          <a:bodyPr rtlCol="0" anchor="ctr"/>
          <a:lstStyle/>
          <a:p/>
        </p:txBody>
      </p:sp>
      <p:sp>
        <p:nvSpPr>
          <p:cNvPr id="6" name="Oval 5"/>
          <p:cNvSpPr/>
          <p:nvPr/>
        </p:nvSpPr>
        <p:spPr>
          <a:xfrm>
            <a:off x="5183574" y="1190073"/>
            <a:ext cx="27432" cy="27432"/>
          </a:xfrm>
          <a:prstGeom prst="ellipse">
            <a:avLst/>
          </a:prstGeom>
          <a:solidFill>
            <a:srgbClr val="714A1E"/>
          </a:solidFill>
          <a:ln>
            <a:noFill/>
          </a:ln>
        </p:spPr>
        <p:txBody>
          <a:bodyPr rtlCol="0" anchor="ctr"/>
          <a:lstStyle/>
          <a:p/>
        </p:txBody>
      </p:sp>
      <p:sp>
        <p:nvSpPr>
          <p:cNvPr id="7" name="Oval 6"/>
          <p:cNvSpPr/>
          <p:nvPr/>
        </p:nvSpPr>
        <p:spPr>
          <a:xfrm>
            <a:off x="9841585" y="1924891"/>
            <a:ext cx="45720" cy="45720"/>
          </a:xfrm>
          <a:prstGeom prst="ellipse">
            <a:avLst/>
          </a:prstGeom>
          <a:solidFill>
            <a:srgbClr val="9B8959"/>
          </a:solidFill>
          <a:ln>
            <a:noFill/>
          </a:ln>
        </p:spPr>
        <p:txBody>
          <a:bodyPr rtlCol="0" anchor="ctr"/>
          <a:lstStyle/>
          <a:p/>
        </p:txBody>
      </p:sp>
      <p:sp>
        <p:nvSpPr>
          <p:cNvPr id="8" name="Oval 7"/>
          <p:cNvSpPr/>
          <p:nvPr/>
        </p:nvSpPr>
        <p:spPr>
          <a:xfrm>
            <a:off x="1889712" y="4929480"/>
            <a:ext cx="45720" cy="45720"/>
          </a:xfrm>
          <a:prstGeom prst="ellipse">
            <a:avLst/>
          </a:prstGeom>
          <a:solidFill>
            <a:srgbClr val="BFA96D"/>
          </a:solidFill>
          <a:ln>
            <a:noFill/>
          </a:ln>
        </p:spPr>
        <p:txBody>
          <a:bodyPr rtlCol="0" anchor="ctr"/>
          <a:lstStyle/>
          <a:p/>
        </p:txBody>
      </p:sp>
      <p:sp>
        <p:nvSpPr>
          <p:cNvPr id="9" name="Oval 8"/>
          <p:cNvSpPr/>
          <p:nvPr/>
        </p:nvSpPr>
        <p:spPr>
          <a:xfrm>
            <a:off x="4666110" y="3830471"/>
            <a:ext cx="73152" cy="73152"/>
          </a:xfrm>
          <a:prstGeom prst="ellipse">
            <a:avLst/>
          </a:prstGeom>
          <a:solidFill>
            <a:srgbClr val="564B31"/>
          </a:solidFill>
          <a:ln>
            <a:noFill/>
          </a:ln>
        </p:spPr>
        <p:txBody>
          <a:bodyPr rtlCol="0" anchor="ctr"/>
          <a:lstStyle/>
          <a:p/>
        </p:txBody>
      </p:sp>
      <p:sp>
        <p:nvSpPr>
          <p:cNvPr id="10" name="Oval 9"/>
          <p:cNvSpPr/>
          <p:nvPr/>
        </p:nvSpPr>
        <p:spPr>
          <a:xfrm>
            <a:off x="6512369" y="4954548"/>
            <a:ext cx="45720" cy="45720"/>
          </a:xfrm>
          <a:prstGeom prst="ellipse">
            <a:avLst/>
          </a:prstGeom>
          <a:solidFill>
            <a:srgbClr val="6C5F3E"/>
          </a:solidFill>
          <a:ln>
            <a:noFill/>
          </a:ln>
        </p:spPr>
        <p:txBody>
          <a:bodyPr rtlCol="0" anchor="ctr"/>
          <a:lstStyle/>
          <a:p/>
        </p:txBody>
      </p:sp>
      <p:sp>
        <p:nvSpPr>
          <p:cNvPr id="11" name="Oval 10"/>
          <p:cNvSpPr/>
          <p:nvPr/>
        </p:nvSpPr>
        <p:spPr>
          <a:xfrm>
            <a:off x="5529978" y="3159097"/>
            <a:ext cx="73152" cy="73152"/>
          </a:xfrm>
          <a:prstGeom prst="ellipse">
            <a:avLst/>
          </a:prstGeom>
          <a:solidFill>
            <a:srgbClr val="78642E"/>
          </a:solidFill>
          <a:ln>
            <a:noFill/>
          </a:ln>
        </p:spPr>
        <p:txBody>
          <a:bodyPr rtlCol="0" anchor="ctr"/>
          <a:lstStyle/>
          <a:p/>
        </p:txBody>
      </p:sp>
      <p:sp>
        <p:nvSpPr>
          <p:cNvPr id="12" name="Oval 11"/>
          <p:cNvSpPr/>
          <p:nvPr/>
        </p:nvSpPr>
        <p:spPr>
          <a:xfrm>
            <a:off x="2158348" y="1698903"/>
            <a:ext cx="73152" cy="73152"/>
          </a:xfrm>
          <a:prstGeom prst="ellipse">
            <a:avLst/>
          </a:prstGeom>
          <a:solidFill>
            <a:srgbClr val="603F1A"/>
          </a:solidFill>
          <a:ln>
            <a:noFill/>
          </a:ln>
        </p:spPr>
        <p:txBody>
          <a:bodyPr rtlCol="0" anchor="ctr"/>
          <a:lstStyle/>
          <a:p/>
        </p:txBody>
      </p:sp>
      <p:sp>
        <p:nvSpPr>
          <p:cNvPr id="13" name="Oval 12"/>
          <p:cNvSpPr/>
          <p:nvPr/>
        </p:nvSpPr>
        <p:spPr>
          <a:xfrm>
            <a:off x="6056923" y="5227522"/>
            <a:ext cx="27432" cy="27432"/>
          </a:xfrm>
          <a:prstGeom prst="ellipse">
            <a:avLst/>
          </a:prstGeom>
          <a:solidFill>
            <a:srgbClr val="43371A"/>
          </a:solidFill>
          <a:ln>
            <a:noFill/>
          </a:ln>
        </p:spPr>
        <p:txBody>
          <a:bodyPr rtlCol="0" anchor="ctr"/>
          <a:lstStyle/>
          <a:p/>
        </p:txBody>
      </p:sp>
      <p:sp>
        <p:nvSpPr>
          <p:cNvPr id="14" name="Oval 13"/>
          <p:cNvSpPr/>
          <p:nvPr/>
        </p:nvSpPr>
        <p:spPr>
          <a:xfrm>
            <a:off x="2081212" y="3737180"/>
            <a:ext cx="27432" cy="27432"/>
          </a:xfrm>
          <a:prstGeom prst="ellipse">
            <a:avLst/>
          </a:prstGeom>
          <a:solidFill>
            <a:srgbClr val="B1732D"/>
          </a:solidFill>
          <a:ln>
            <a:noFill/>
          </a:ln>
        </p:spPr>
        <p:txBody>
          <a:bodyPr rtlCol="0" anchor="ctr"/>
          <a:lstStyle/>
          <a:p/>
        </p:txBody>
      </p:sp>
      <p:sp>
        <p:nvSpPr>
          <p:cNvPr id="15" name="Oval 14"/>
          <p:cNvSpPr/>
          <p:nvPr/>
        </p:nvSpPr>
        <p:spPr>
          <a:xfrm>
            <a:off x="1659793" y="4975097"/>
            <a:ext cx="36576" cy="36576"/>
          </a:xfrm>
          <a:prstGeom prst="ellipse">
            <a:avLst/>
          </a:prstGeom>
          <a:solidFill>
            <a:srgbClr val="7C6E47"/>
          </a:solidFill>
          <a:ln>
            <a:noFill/>
          </a:ln>
        </p:spPr>
        <p:txBody>
          <a:bodyPr rtlCol="0" anchor="ctr"/>
          <a:lstStyle/>
          <a:p/>
        </p:txBody>
      </p:sp>
      <p:sp>
        <p:nvSpPr>
          <p:cNvPr id="16" name="Oval 15"/>
          <p:cNvSpPr/>
          <p:nvPr/>
        </p:nvSpPr>
        <p:spPr>
          <a:xfrm>
            <a:off x="11226498" y="2940714"/>
            <a:ext cx="36576" cy="36576"/>
          </a:xfrm>
          <a:prstGeom prst="ellipse">
            <a:avLst/>
          </a:prstGeom>
          <a:solidFill>
            <a:srgbClr val="794F20"/>
          </a:solidFill>
          <a:ln>
            <a:noFill/>
          </a:ln>
        </p:spPr>
        <p:txBody>
          <a:bodyPr rtlCol="0" anchor="ctr"/>
          <a:lstStyle/>
          <a:p/>
        </p:txBody>
      </p:sp>
      <p:sp>
        <p:nvSpPr>
          <p:cNvPr id="17" name="Oval 16"/>
          <p:cNvSpPr/>
          <p:nvPr/>
        </p:nvSpPr>
        <p:spPr>
          <a:xfrm>
            <a:off x="2010446" y="3467468"/>
            <a:ext cx="45720" cy="45720"/>
          </a:xfrm>
          <a:prstGeom prst="ellipse">
            <a:avLst/>
          </a:prstGeom>
          <a:solidFill>
            <a:srgbClr val="665A3A"/>
          </a:solidFill>
          <a:ln>
            <a:noFill/>
          </a:ln>
        </p:spPr>
        <p:txBody>
          <a:bodyPr rtlCol="0" anchor="ctr"/>
          <a:lstStyle/>
          <a:p/>
        </p:txBody>
      </p:sp>
      <p:sp>
        <p:nvSpPr>
          <p:cNvPr id="18" name="Oval 17"/>
          <p:cNvSpPr/>
          <p:nvPr/>
        </p:nvSpPr>
        <p:spPr>
          <a:xfrm>
            <a:off x="2255976" y="4221520"/>
            <a:ext cx="45720" cy="45720"/>
          </a:xfrm>
          <a:prstGeom prst="ellipse">
            <a:avLst/>
          </a:prstGeom>
          <a:solidFill>
            <a:srgbClr val="A6935F"/>
          </a:solidFill>
          <a:ln>
            <a:noFill/>
          </a:ln>
        </p:spPr>
        <p:txBody>
          <a:bodyPr rtlCol="0" anchor="ctr"/>
          <a:lstStyle/>
          <a:p/>
        </p:txBody>
      </p:sp>
      <p:sp>
        <p:nvSpPr>
          <p:cNvPr id="19" name="Oval 18"/>
          <p:cNvSpPr/>
          <p:nvPr/>
        </p:nvSpPr>
        <p:spPr>
          <a:xfrm>
            <a:off x="9222748" y="2315640"/>
            <a:ext cx="54864" cy="54864"/>
          </a:xfrm>
          <a:prstGeom prst="ellipse">
            <a:avLst/>
          </a:prstGeom>
          <a:solidFill>
            <a:srgbClr val="463D27"/>
          </a:solidFill>
          <a:ln>
            <a:noFill/>
          </a:ln>
        </p:spPr>
        <p:txBody>
          <a:bodyPr rtlCol="0" anchor="ctr"/>
          <a:lstStyle/>
          <a:p/>
        </p:txBody>
      </p:sp>
      <p:sp>
        <p:nvSpPr>
          <p:cNvPr id="20" name="Oval 19"/>
          <p:cNvSpPr/>
          <p:nvPr/>
        </p:nvSpPr>
        <p:spPr>
          <a:xfrm>
            <a:off x="4166609" y="2264283"/>
            <a:ext cx="27432" cy="27432"/>
          </a:xfrm>
          <a:prstGeom prst="ellipse">
            <a:avLst/>
          </a:prstGeom>
          <a:solidFill>
            <a:srgbClr val="66593A"/>
          </a:solidFill>
          <a:ln>
            <a:noFill/>
          </a:ln>
        </p:spPr>
        <p:txBody>
          <a:bodyPr rtlCol="0" anchor="ctr"/>
          <a:lstStyle/>
          <a:p/>
        </p:txBody>
      </p:sp>
      <p:sp>
        <p:nvSpPr>
          <p:cNvPr id="21" name="Oval 20"/>
          <p:cNvSpPr/>
          <p:nvPr/>
        </p:nvSpPr>
        <p:spPr>
          <a:xfrm>
            <a:off x="7045311" y="2687252"/>
            <a:ext cx="54864" cy="54864"/>
          </a:xfrm>
          <a:prstGeom prst="ellipse">
            <a:avLst/>
          </a:prstGeom>
          <a:solidFill>
            <a:srgbClr val="946026"/>
          </a:solidFill>
          <a:ln>
            <a:noFill/>
          </a:ln>
        </p:spPr>
        <p:txBody>
          <a:bodyPr rtlCol="0" anchor="ctr"/>
          <a:lstStyle/>
          <a:p/>
        </p:txBody>
      </p:sp>
      <p:sp>
        <p:nvSpPr>
          <p:cNvPr id="22" name="Oval 21"/>
          <p:cNvSpPr/>
          <p:nvPr/>
        </p:nvSpPr>
        <p:spPr>
          <a:xfrm>
            <a:off x="8804125" y="6263423"/>
            <a:ext cx="36576" cy="36576"/>
          </a:xfrm>
          <a:prstGeom prst="ellipse">
            <a:avLst/>
          </a:prstGeom>
          <a:solidFill>
            <a:srgbClr val="825522"/>
          </a:solidFill>
          <a:ln>
            <a:noFill/>
          </a:ln>
        </p:spPr>
        <p:txBody>
          <a:bodyPr rtlCol="0" anchor="ctr"/>
          <a:lstStyle/>
          <a:p/>
        </p:txBody>
      </p:sp>
      <p:sp>
        <p:nvSpPr>
          <p:cNvPr id="23" name="Oval 22"/>
          <p:cNvSpPr/>
          <p:nvPr/>
        </p:nvSpPr>
        <p:spPr>
          <a:xfrm>
            <a:off x="6094472" y="1354234"/>
            <a:ext cx="73152" cy="73152"/>
          </a:xfrm>
          <a:prstGeom prst="ellipse">
            <a:avLst/>
          </a:prstGeom>
          <a:solidFill>
            <a:srgbClr val="6B5929"/>
          </a:solidFill>
          <a:ln>
            <a:noFill/>
          </a:ln>
        </p:spPr>
        <p:txBody>
          <a:bodyPr rtlCol="0" anchor="ctr"/>
          <a:lstStyle/>
          <a:p/>
        </p:txBody>
      </p:sp>
      <p:sp>
        <p:nvSpPr>
          <p:cNvPr id="24" name="Oval 23"/>
          <p:cNvSpPr/>
          <p:nvPr/>
        </p:nvSpPr>
        <p:spPr>
          <a:xfrm>
            <a:off x="1921599" y="3582986"/>
            <a:ext cx="54864" cy="54864"/>
          </a:xfrm>
          <a:prstGeom prst="ellipse">
            <a:avLst/>
          </a:prstGeom>
          <a:solidFill>
            <a:srgbClr val="845622"/>
          </a:solidFill>
          <a:ln>
            <a:noFill/>
          </a:ln>
        </p:spPr>
        <p:txBody>
          <a:bodyPr rtlCol="0" anchor="ctr"/>
          <a:lstStyle/>
          <a:p/>
        </p:txBody>
      </p:sp>
      <p:sp>
        <p:nvSpPr>
          <p:cNvPr id="25" name="Oval 24"/>
          <p:cNvSpPr/>
          <p:nvPr/>
        </p:nvSpPr>
        <p:spPr>
          <a:xfrm>
            <a:off x="8408001" y="3686568"/>
            <a:ext cx="54864" cy="54864"/>
          </a:xfrm>
          <a:prstGeom prst="ellipse">
            <a:avLst/>
          </a:prstGeom>
          <a:solidFill>
            <a:srgbClr val="BEA96D"/>
          </a:solidFill>
          <a:ln>
            <a:noFill/>
          </a:ln>
        </p:spPr>
        <p:txBody>
          <a:bodyPr rtlCol="0" anchor="ctr"/>
          <a:lstStyle/>
          <a:p/>
        </p:txBody>
      </p:sp>
      <p:sp>
        <p:nvSpPr>
          <p:cNvPr id="26" name="Oval 25"/>
          <p:cNvSpPr/>
          <p:nvPr/>
        </p:nvSpPr>
        <p:spPr>
          <a:xfrm>
            <a:off x="9867007" y="5548659"/>
            <a:ext cx="54864" cy="54864"/>
          </a:xfrm>
          <a:prstGeom prst="ellipse">
            <a:avLst/>
          </a:prstGeom>
          <a:solidFill>
            <a:srgbClr val="845622"/>
          </a:solidFill>
          <a:ln>
            <a:noFill/>
          </a:ln>
        </p:spPr>
        <p:txBody>
          <a:bodyPr rtlCol="0" anchor="ctr"/>
          <a:lstStyle/>
          <a:p/>
        </p:txBody>
      </p:sp>
      <p:sp>
        <p:nvSpPr>
          <p:cNvPr id="27" name="Oval 26"/>
          <p:cNvSpPr/>
          <p:nvPr/>
        </p:nvSpPr>
        <p:spPr>
          <a:xfrm>
            <a:off x="4372672" y="1269258"/>
            <a:ext cx="27432" cy="27432"/>
          </a:xfrm>
          <a:prstGeom prst="ellipse">
            <a:avLst/>
          </a:prstGeom>
          <a:solidFill>
            <a:srgbClr val="6A5829"/>
          </a:solidFill>
          <a:ln>
            <a:noFill/>
          </a:ln>
        </p:spPr>
        <p:txBody>
          <a:bodyPr rtlCol="0" anchor="ctr"/>
          <a:lstStyle/>
          <a:p/>
        </p:txBody>
      </p:sp>
      <p:sp>
        <p:nvSpPr>
          <p:cNvPr id="28" name="Oval 27"/>
          <p:cNvSpPr/>
          <p:nvPr/>
        </p:nvSpPr>
        <p:spPr>
          <a:xfrm>
            <a:off x="1962158" y="5489360"/>
            <a:ext cx="54864" cy="54864"/>
          </a:xfrm>
          <a:prstGeom prst="ellipse">
            <a:avLst/>
          </a:prstGeom>
          <a:solidFill>
            <a:srgbClr val="9B813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758537" y="1487042"/>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PLAYER CHECK-IN</a:t>
            </a:r>
          </a:p>
        </p:txBody>
      </p:sp>
      <p:cxnSp>
        <p:nvCxnSpPr>
          <p:cNvPr id="51" name="Connector 50"/>
          <p:cNvCxnSpPr/>
          <p:nvPr/>
        </p:nvCxnSpPr>
        <p:spPr>
          <a:xfrm>
            <a:off x="3386937" y="1651634"/>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336645" y="1601342"/>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570317" y="1651634"/>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754465" y="1601342"/>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053970"/>
            <a:ext cx="9814255" cy="1771650"/>
          </a:xfrm>
          <a:prstGeom prst="rect">
            <a:avLst/>
          </a:prstGeom>
          <a:noFill/>
        </p:spPr>
        <p:txBody>
          <a:bodyPr wrap="square" lIns="0" rIns="0" tIns="0" bIns="0" anchor="b">
            <a:spAutoFit/>
          </a:bodyPr>
          <a:lstStyle/>
          <a:p>
            <a:pPr algn="ctr">
              <a:lnSpc>
                <a:spcPct val="105000"/>
              </a:lnSpc>
            </a:pPr>
            <a:r>
              <a:rPr sz="4200" b="1" i="0">
                <a:solidFill>
                  <a:srgbClr val="F0D58A"/>
                </a:solidFill>
                <a:latin typeface="Cinzel"/>
              </a:rPr>
              <a:t>How confident are you in your financial plan right now?</a:t>
            </a:r>
          </a:p>
        </p:txBody>
      </p:sp>
      <p:cxnSp>
        <p:nvCxnSpPr>
          <p:cNvPr id="56" name="Connector 55"/>
          <p:cNvCxnSpPr/>
          <p:nvPr/>
        </p:nvCxnSpPr>
        <p:spPr>
          <a:xfrm>
            <a:off x="4632807" y="4008501"/>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4008501"/>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944493"/>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191381"/>
            <a:ext cx="9448495" cy="658368"/>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Type a number from 1 to 10 in the chat.</a:t>
            </a:r>
          </a:p>
        </p:txBody>
      </p:sp>
      <p:sp>
        <p:nvSpPr>
          <p:cNvPr id="60" name="Oval 59"/>
          <p:cNvSpPr/>
          <p:nvPr/>
        </p:nvSpPr>
        <p:spPr>
          <a:xfrm>
            <a:off x="2304287" y="5005196"/>
            <a:ext cx="512064" cy="512064"/>
          </a:xfrm>
          <a:prstGeom prst="ellipse">
            <a:avLst/>
          </a:prstGeom>
          <a:solidFill>
            <a:srgbClr val="1A1309"/>
          </a:solidFill>
          <a:ln w="25400">
            <a:solidFill>
              <a:srgbClr val="F0D58A"/>
            </a:solidFill>
          </a:ln>
        </p:spPr>
        <p:txBody>
          <a:bodyPr rtlCol="0" anchor="ctr"/>
          <a:lstStyle/>
          <a:p/>
        </p:txBody>
      </p:sp>
      <p:sp>
        <p:nvSpPr>
          <p:cNvPr id="61" name="Oval 60"/>
          <p:cNvSpPr/>
          <p:nvPr/>
        </p:nvSpPr>
        <p:spPr>
          <a:xfrm>
            <a:off x="2359151" y="5060060"/>
            <a:ext cx="402336" cy="402336"/>
          </a:xfrm>
          <a:prstGeom prst="ellipse">
            <a:avLst/>
          </a:prstGeom>
          <a:noFill/>
          <a:ln w="9525">
            <a:solidFill>
              <a:srgbClr val="7D6830"/>
            </a:solidFill>
          </a:ln>
        </p:spPr>
        <p:txBody>
          <a:bodyPr rtlCol="0" anchor="ctr"/>
          <a:lstStyle/>
          <a:p/>
        </p:txBody>
      </p:sp>
      <p:sp>
        <p:nvSpPr>
          <p:cNvPr id="62" name="TextBox 61"/>
          <p:cNvSpPr txBox="1"/>
          <p:nvPr/>
        </p:nvSpPr>
        <p:spPr>
          <a:xfrm>
            <a:off x="2304287"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1</a:t>
            </a:r>
          </a:p>
        </p:txBody>
      </p:sp>
      <p:sp>
        <p:nvSpPr>
          <p:cNvPr id="63" name="Oval 62"/>
          <p:cNvSpPr/>
          <p:nvPr/>
        </p:nvSpPr>
        <p:spPr>
          <a:xfrm>
            <a:off x="3090672" y="5005196"/>
            <a:ext cx="512064" cy="512064"/>
          </a:xfrm>
          <a:prstGeom prst="ellipse">
            <a:avLst/>
          </a:prstGeom>
          <a:solidFill>
            <a:srgbClr val="1A1309"/>
          </a:solidFill>
          <a:ln w="25400">
            <a:solidFill>
              <a:srgbClr val="F0D58A"/>
            </a:solidFill>
          </a:ln>
        </p:spPr>
        <p:txBody>
          <a:bodyPr rtlCol="0" anchor="ctr"/>
          <a:lstStyle/>
          <a:p/>
        </p:txBody>
      </p:sp>
      <p:sp>
        <p:nvSpPr>
          <p:cNvPr id="64" name="Oval 63"/>
          <p:cNvSpPr/>
          <p:nvPr/>
        </p:nvSpPr>
        <p:spPr>
          <a:xfrm>
            <a:off x="3145536" y="5060060"/>
            <a:ext cx="402336" cy="402336"/>
          </a:xfrm>
          <a:prstGeom prst="ellipse">
            <a:avLst/>
          </a:prstGeom>
          <a:noFill/>
          <a:ln w="9525">
            <a:solidFill>
              <a:srgbClr val="7D6830"/>
            </a:solidFill>
          </a:ln>
        </p:spPr>
        <p:txBody>
          <a:bodyPr rtlCol="0" anchor="ctr"/>
          <a:lstStyle/>
          <a:p/>
        </p:txBody>
      </p:sp>
      <p:sp>
        <p:nvSpPr>
          <p:cNvPr id="65" name="TextBox 64"/>
          <p:cNvSpPr txBox="1"/>
          <p:nvPr/>
        </p:nvSpPr>
        <p:spPr>
          <a:xfrm>
            <a:off x="3090672"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2</a:t>
            </a:r>
          </a:p>
        </p:txBody>
      </p:sp>
      <p:sp>
        <p:nvSpPr>
          <p:cNvPr id="66" name="Oval 65"/>
          <p:cNvSpPr/>
          <p:nvPr/>
        </p:nvSpPr>
        <p:spPr>
          <a:xfrm>
            <a:off x="3877055" y="5005196"/>
            <a:ext cx="512064" cy="512064"/>
          </a:xfrm>
          <a:prstGeom prst="ellipse">
            <a:avLst/>
          </a:prstGeom>
          <a:solidFill>
            <a:srgbClr val="1A1309"/>
          </a:solidFill>
          <a:ln w="25400">
            <a:solidFill>
              <a:srgbClr val="F0D58A"/>
            </a:solidFill>
          </a:ln>
        </p:spPr>
        <p:txBody>
          <a:bodyPr rtlCol="0" anchor="ctr"/>
          <a:lstStyle/>
          <a:p/>
        </p:txBody>
      </p:sp>
      <p:sp>
        <p:nvSpPr>
          <p:cNvPr id="67" name="Oval 66"/>
          <p:cNvSpPr/>
          <p:nvPr/>
        </p:nvSpPr>
        <p:spPr>
          <a:xfrm>
            <a:off x="3931919" y="5060060"/>
            <a:ext cx="402336" cy="402336"/>
          </a:xfrm>
          <a:prstGeom prst="ellipse">
            <a:avLst/>
          </a:prstGeom>
          <a:noFill/>
          <a:ln w="9525">
            <a:solidFill>
              <a:srgbClr val="7D6830"/>
            </a:solidFill>
          </a:ln>
        </p:spPr>
        <p:txBody>
          <a:bodyPr rtlCol="0" anchor="ctr"/>
          <a:lstStyle/>
          <a:p/>
        </p:txBody>
      </p:sp>
      <p:sp>
        <p:nvSpPr>
          <p:cNvPr id="68" name="TextBox 67"/>
          <p:cNvSpPr txBox="1"/>
          <p:nvPr/>
        </p:nvSpPr>
        <p:spPr>
          <a:xfrm>
            <a:off x="3877055"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3</a:t>
            </a:r>
          </a:p>
        </p:txBody>
      </p:sp>
      <p:sp>
        <p:nvSpPr>
          <p:cNvPr id="69" name="Oval 68"/>
          <p:cNvSpPr/>
          <p:nvPr/>
        </p:nvSpPr>
        <p:spPr>
          <a:xfrm>
            <a:off x="4663440" y="5005196"/>
            <a:ext cx="512064" cy="512064"/>
          </a:xfrm>
          <a:prstGeom prst="ellipse">
            <a:avLst/>
          </a:prstGeom>
          <a:solidFill>
            <a:srgbClr val="1A1309"/>
          </a:solidFill>
          <a:ln w="25400">
            <a:solidFill>
              <a:srgbClr val="F0D58A"/>
            </a:solidFill>
          </a:ln>
        </p:spPr>
        <p:txBody>
          <a:bodyPr rtlCol="0" anchor="ctr"/>
          <a:lstStyle/>
          <a:p/>
        </p:txBody>
      </p:sp>
      <p:sp>
        <p:nvSpPr>
          <p:cNvPr id="70" name="Oval 69"/>
          <p:cNvSpPr/>
          <p:nvPr/>
        </p:nvSpPr>
        <p:spPr>
          <a:xfrm>
            <a:off x="4718303" y="5060060"/>
            <a:ext cx="402336" cy="402336"/>
          </a:xfrm>
          <a:prstGeom prst="ellipse">
            <a:avLst/>
          </a:prstGeom>
          <a:noFill/>
          <a:ln w="9525">
            <a:solidFill>
              <a:srgbClr val="7D6830"/>
            </a:solidFill>
          </a:ln>
        </p:spPr>
        <p:txBody>
          <a:bodyPr rtlCol="0" anchor="ctr"/>
          <a:lstStyle/>
          <a:p/>
        </p:txBody>
      </p:sp>
      <p:sp>
        <p:nvSpPr>
          <p:cNvPr id="71" name="TextBox 70"/>
          <p:cNvSpPr txBox="1"/>
          <p:nvPr/>
        </p:nvSpPr>
        <p:spPr>
          <a:xfrm>
            <a:off x="4663440"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4</a:t>
            </a:r>
          </a:p>
        </p:txBody>
      </p:sp>
      <p:sp>
        <p:nvSpPr>
          <p:cNvPr id="72" name="Oval 71"/>
          <p:cNvSpPr/>
          <p:nvPr/>
        </p:nvSpPr>
        <p:spPr>
          <a:xfrm>
            <a:off x="5449824" y="5005196"/>
            <a:ext cx="512064" cy="512064"/>
          </a:xfrm>
          <a:prstGeom prst="ellipse">
            <a:avLst/>
          </a:prstGeom>
          <a:solidFill>
            <a:srgbClr val="1A1309"/>
          </a:solidFill>
          <a:ln w="25400">
            <a:solidFill>
              <a:srgbClr val="F0D58A"/>
            </a:solidFill>
          </a:ln>
        </p:spPr>
        <p:txBody>
          <a:bodyPr rtlCol="0" anchor="ctr"/>
          <a:lstStyle/>
          <a:p/>
        </p:txBody>
      </p:sp>
      <p:sp>
        <p:nvSpPr>
          <p:cNvPr id="73" name="Oval 72"/>
          <p:cNvSpPr/>
          <p:nvPr/>
        </p:nvSpPr>
        <p:spPr>
          <a:xfrm>
            <a:off x="5504688" y="5060060"/>
            <a:ext cx="402336" cy="402336"/>
          </a:xfrm>
          <a:prstGeom prst="ellipse">
            <a:avLst/>
          </a:prstGeom>
          <a:noFill/>
          <a:ln w="9525">
            <a:solidFill>
              <a:srgbClr val="7D6830"/>
            </a:solidFill>
          </a:ln>
        </p:spPr>
        <p:txBody>
          <a:bodyPr rtlCol="0" anchor="ctr"/>
          <a:lstStyle/>
          <a:p/>
        </p:txBody>
      </p:sp>
      <p:sp>
        <p:nvSpPr>
          <p:cNvPr id="74" name="TextBox 73"/>
          <p:cNvSpPr txBox="1"/>
          <p:nvPr/>
        </p:nvSpPr>
        <p:spPr>
          <a:xfrm>
            <a:off x="5449824"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5</a:t>
            </a:r>
          </a:p>
        </p:txBody>
      </p:sp>
      <p:sp>
        <p:nvSpPr>
          <p:cNvPr id="75" name="Oval 74"/>
          <p:cNvSpPr/>
          <p:nvPr/>
        </p:nvSpPr>
        <p:spPr>
          <a:xfrm>
            <a:off x="6236207" y="5005196"/>
            <a:ext cx="512064" cy="512064"/>
          </a:xfrm>
          <a:prstGeom prst="ellipse">
            <a:avLst/>
          </a:prstGeom>
          <a:solidFill>
            <a:srgbClr val="1A1309"/>
          </a:solidFill>
          <a:ln w="25400">
            <a:solidFill>
              <a:srgbClr val="F0D58A"/>
            </a:solidFill>
          </a:ln>
        </p:spPr>
        <p:txBody>
          <a:bodyPr rtlCol="0" anchor="ctr"/>
          <a:lstStyle/>
          <a:p/>
        </p:txBody>
      </p:sp>
      <p:sp>
        <p:nvSpPr>
          <p:cNvPr id="76" name="Oval 75"/>
          <p:cNvSpPr/>
          <p:nvPr/>
        </p:nvSpPr>
        <p:spPr>
          <a:xfrm>
            <a:off x="6291071" y="5060060"/>
            <a:ext cx="402336" cy="402336"/>
          </a:xfrm>
          <a:prstGeom prst="ellipse">
            <a:avLst/>
          </a:prstGeom>
          <a:noFill/>
          <a:ln w="9525">
            <a:solidFill>
              <a:srgbClr val="7D6830"/>
            </a:solidFill>
          </a:ln>
        </p:spPr>
        <p:txBody>
          <a:bodyPr rtlCol="0" anchor="ctr"/>
          <a:lstStyle/>
          <a:p/>
        </p:txBody>
      </p:sp>
      <p:sp>
        <p:nvSpPr>
          <p:cNvPr id="77" name="TextBox 76"/>
          <p:cNvSpPr txBox="1"/>
          <p:nvPr/>
        </p:nvSpPr>
        <p:spPr>
          <a:xfrm>
            <a:off x="6236207"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6</a:t>
            </a:r>
          </a:p>
        </p:txBody>
      </p:sp>
      <p:sp>
        <p:nvSpPr>
          <p:cNvPr id="78" name="Oval 77"/>
          <p:cNvSpPr/>
          <p:nvPr/>
        </p:nvSpPr>
        <p:spPr>
          <a:xfrm>
            <a:off x="7022592" y="5005196"/>
            <a:ext cx="512064" cy="512064"/>
          </a:xfrm>
          <a:prstGeom prst="ellipse">
            <a:avLst/>
          </a:prstGeom>
          <a:solidFill>
            <a:srgbClr val="1A1309"/>
          </a:solidFill>
          <a:ln w="25400">
            <a:solidFill>
              <a:srgbClr val="F0D58A"/>
            </a:solidFill>
          </a:ln>
        </p:spPr>
        <p:txBody>
          <a:bodyPr rtlCol="0" anchor="ctr"/>
          <a:lstStyle/>
          <a:p/>
        </p:txBody>
      </p:sp>
      <p:sp>
        <p:nvSpPr>
          <p:cNvPr id="79" name="Oval 78"/>
          <p:cNvSpPr/>
          <p:nvPr/>
        </p:nvSpPr>
        <p:spPr>
          <a:xfrm>
            <a:off x="7077455" y="5060060"/>
            <a:ext cx="402336" cy="402336"/>
          </a:xfrm>
          <a:prstGeom prst="ellipse">
            <a:avLst/>
          </a:prstGeom>
          <a:noFill/>
          <a:ln w="9525">
            <a:solidFill>
              <a:srgbClr val="7D6830"/>
            </a:solidFill>
          </a:ln>
        </p:spPr>
        <p:txBody>
          <a:bodyPr rtlCol="0" anchor="ctr"/>
          <a:lstStyle/>
          <a:p/>
        </p:txBody>
      </p:sp>
      <p:sp>
        <p:nvSpPr>
          <p:cNvPr id="80" name="TextBox 79"/>
          <p:cNvSpPr txBox="1"/>
          <p:nvPr/>
        </p:nvSpPr>
        <p:spPr>
          <a:xfrm>
            <a:off x="7022592"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7</a:t>
            </a:r>
          </a:p>
        </p:txBody>
      </p:sp>
      <p:sp>
        <p:nvSpPr>
          <p:cNvPr id="81" name="Oval 80"/>
          <p:cNvSpPr/>
          <p:nvPr/>
        </p:nvSpPr>
        <p:spPr>
          <a:xfrm>
            <a:off x="7808976" y="5005196"/>
            <a:ext cx="512064" cy="512064"/>
          </a:xfrm>
          <a:prstGeom prst="ellipse">
            <a:avLst/>
          </a:prstGeom>
          <a:solidFill>
            <a:srgbClr val="1A1309"/>
          </a:solidFill>
          <a:ln w="25400">
            <a:solidFill>
              <a:srgbClr val="F0D58A"/>
            </a:solidFill>
          </a:ln>
        </p:spPr>
        <p:txBody>
          <a:bodyPr rtlCol="0" anchor="ctr"/>
          <a:lstStyle/>
          <a:p/>
        </p:txBody>
      </p:sp>
      <p:sp>
        <p:nvSpPr>
          <p:cNvPr id="82" name="Oval 81"/>
          <p:cNvSpPr/>
          <p:nvPr/>
        </p:nvSpPr>
        <p:spPr>
          <a:xfrm>
            <a:off x="7863840" y="5060060"/>
            <a:ext cx="402336" cy="402336"/>
          </a:xfrm>
          <a:prstGeom prst="ellipse">
            <a:avLst/>
          </a:prstGeom>
          <a:noFill/>
          <a:ln w="9525">
            <a:solidFill>
              <a:srgbClr val="7D6830"/>
            </a:solidFill>
          </a:ln>
        </p:spPr>
        <p:txBody>
          <a:bodyPr rtlCol="0" anchor="ctr"/>
          <a:lstStyle/>
          <a:p/>
        </p:txBody>
      </p:sp>
      <p:sp>
        <p:nvSpPr>
          <p:cNvPr id="83" name="TextBox 82"/>
          <p:cNvSpPr txBox="1"/>
          <p:nvPr/>
        </p:nvSpPr>
        <p:spPr>
          <a:xfrm>
            <a:off x="7808976"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8</a:t>
            </a:r>
          </a:p>
        </p:txBody>
      </p:sp>
      <p:sp>
        <p:nvSpPr>
          <p:cNvPr id="84" name="Oval 83"/>
          <p:cNvSpPr/>
          <p:nvPr/>
        </p:nvSpPr>
        <p:spPr>
          <a:xfrm>
            <a:off x="8595360" y="5005196"/>
            <a:ext cx="512064" cy="512064"/>
          </a:xfrm>
          <a:prstGeom prst="ellipse">
            <a:avLst/>
          </a:prstGeom>
          <a:solidFill>
            <a:srgbClr val="1A1309"/>
          </a:solidFill>
          <a:ln w="25400">
            <a:solidFill>
              <a:srgbClr val="F0D58A"/>
            </a:solidFill>
          </a:ln>
        </p:spPr>
        <p:txBody>
          <a:bodyPr rtlCol="0" anchor="ctr"/>
          <a:lstStyle/>
          <a:p/>
        </p:txBody>
      </p:sp>
      <p:sp>
        <p:nvSpPr>
          <p:cNvPr id="85" name="Oval 84"/>
          <p:cNvSpPr/>
          <p:nvPr/>
        </p:nvSpPr>
        <p:spPr>
          <a:xfrm>
            <a:off x="8650224" y="5060060"/>
            <a:ext cx="402336" cy="402336"/>
          </a:xfrm>
          <a:prstGeom prst="ellipse">
            <a:avLst/>
          </a:prstGeom>
          <a:noFill/>
          <a:ln w="9525">
            <a:solidFill>
              <a:srgbClr val="7D6830"/>
            </a:solidFill>
          </a:ln>
        </p:spPr>
        <p:txBody>
          <a:bodyPr rtlCol="0" anchor="ctr"/>
          <a:lstStyle/>
          <a:p/>
        </p:txBody>
      </p:sp>
      <p:sp>
        <p:nvSpPr>
          <p:cNvPr id="86" name="TextBox 85"/>
          <p:cNvSpPr txBox="1"/>
          <p:nvPr/>
        </p:nvSpPr>
        <p:spPr>
          <a:xfrm>
            <a:off x="8595360"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9</a:t>
            </a:r>
          </a:p>
        </p:txBody>
      </p:sp>
      <p:sp>
        <p:nvSpPr>
          <p:cNvPr id="87" name="Oval 86"/>
          <p:cNvSpPr/>
          <p:nvPr/>
        </p:nvSpPr>
        <p:spPr>
          <a:xfrm>
            <a:off x="9381744" y="5005196"/>
            <a:ext cx="512064" cy="512064"/>
          </a:xfrm>
          <a:prstGeom prst="ellipse">
            <a:avLst/>
          </a:prstGeom>
          <a:solidFill>
            <a:srgbClr val="1A1309"/>
          </a:solidFill>
          <a:ln w="25400">
            <a:solidFill>
              <a:srgbClr val="F0D58A"/>
            </a:solidFill>
          </a:ln>
        </p:spPr>
        <p:txBody>
          <a:bodyPr rtlCol="0" anchor="ctr"/>
          <a:lstStyle/>
          <a:p/>
        </p:txBody>
      </p:sp>
      <p:sp>
        <p:nvSpPr>
          <p:cNvPr id="88" name="Oval 87"/>
          <p:cNvSpPr/>
          <p:nvPr/>
        </p:nvSpPr>
        <p:spPr>
          <a:xfrm>
            <a:off x="9436608" y="5060060"/>
            <a:ext cx="402336" cy="402336"/>
          </a:xfrm>
          <a:prstGeom prst="ellipse">
            <a:avLst/>
          </a:prstGeom>
          <a:noFill/>
          <a:ln w="9525">
            <a:solidFill>
              <a:srgbClr val="7D6830"/>
            </a:solidFill>
          </a:ln>
        </p:spPr>
        <p:txBody>
          <a:bodyPr rtlCol="0" anchor="ctr"/>
          <a:lstStyle/>
          <a:p/>
        </p:txBody>
      </p:sp>
      <p:sp>
        <p:nvSpPr>
          <p:cNvPr id="89" name="TextBox 88"/>
          <p:cNvSpPr txBox="1"/>
          <p:nvPr/>
        </p:nvSpPr>
        <p:spPr>
          <a:xfrm>
            <a:off x="9381744" y="5005196"/>
            <a:ext cx="512064" cy="512064"/>
          </a:xfrm>
          <a:prstGeom prst="rect">
            <a:avLst/>
          </a:prstGeom>
          <a:noFill/>
        </p:spPr>
        <p:txBody>
          <a:bodyPr wrap="square" lIns="0" rIns="0" tIns="0" bIns="0" anchor="ctr">
            <a:spAutoFit/>
          </a:bodyPr>
          <a:lstStyle/>
          <a:p>
            <a:pPr algn="ctr"/>
            <a:r>
              <a:rPr sz="1500" b="1" i="0">
                <a:solidFill>
                  <a:srgbClr val="F0D58A"/>
                </a:solidFill>
                <a:latin typeface="Cinzel"/>
              </a:rPr>
              <a:t>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1228463" y="2712432"/>
            <a:ext cx="45720" cy="45720"/>
          </a:xfrm>
          <a:prstGeom prst="ellipse">
            <a:avLst/>
          </a:prstGeom>
          <a:solidFill>
            <a:srgbClr val="4E442C"/>
          </a:solidFill>
          <a:ln>
            <a:noFill/>
          </a:ln>
        </p:spPr>
        <p:txBody>
          <a:bodyPr rtlCol="0" anchor="ctr"/>
          <a:lstStyle/>
          <a:p/>
        </p:txBody>
      </p:sp>
      <p:sp>
        <p:nvSpPr>
          <p:cNvPr id="4" name="Oval 3"/>
          <p:cNvSpPr/>
          <p:nvPr/>
        </p:nvSpPr>
        <p:spPr>
          <a:xfrm>
            <a:off x="1444506" y="3829618"/>
            <a:ext cx="73152" cy="73152"/>
          </a:xfrm>
          <a:prstGeom prst="ellipse">
            <a:avLst/>
          </a:prstGeom>
          <a:solidFill>
            <a:srgbClr val="524420"/>
          </a:solidFill>
          <a:ln>
            <a:noFill/>
          </a:ln>
        </p:spPr>
        <p:txBody>
          <a:bodyPr rtlCol="0" anchor="ctr"/>
          <a:lstStyle/>
          <a:p/>
        </p:txBody>
      </p:sp>
      <p:sp>
        <p:nvSpPr>
          <p:cNvPr id="5" name="Oval 4"/>
          <p:cNvSpPr/>
          <p:nvPr/>
        </p:nvSpPr>
        <p:spPr>
          <a:xfrm>
            <a:off x="5335415" y="780952"/>
            <a:ext cx="27432" cy="27432"/>
          </a:xfrm>
          <a:prstGeom prst="ellipse">
            <a:avLst/>
          </a:prstGeom>
          <a:solidFill>
            <a:srgbClr val="8A7A4F"/>
          </a:solidFill>
          <a:ln>
            <a:noFill/>
          </a:ln>
        </p:spPr>
        <p:txBody>
          <a:bodyPr rtlCol="0" anchor="ctr"/>
          <a:lstStyle/>
          <a:p/>
        </p:txBody>
      </p:sp>
      <p:sp>
        <p:nvSpPr>
          <p:cNvPr id="6" name="Oval 5"/>
          <p:cNvSpPr/>
          <p:nvPr/>
        </p:nvSpPr>
        <p:spPr>
          <a:xfrm>
            <a:off x="9841630" y="1101589"/>
            <a:ext cx="27432" cy="27432"/>
          </a:xfrm>
          <a:prstGeom prst="ellipse">
            <a:avLst/>
          </a:prstGeom>
          <a:solidFill>
            <a:srgbClr val="948355"/>
          </a:solidFill>
          <a:ln>
            <a:noFill/>
          </a:ln>
        </p:spPr>
        <p:txBody>
          <a:bodyPr rtlCol="0" anchor="ctr"/>
          <a:lstStyle/>
          <a:p/>
        </p:txBody>
      </p:sp>
      <p:sp>
        <p:nvSpPr>
          <p:cNvPr id="7" name="Oval 6"/>
          <p:cNvSpPr/>
          <p:nvPr/>
        </p:nvSpPr>
        <p:spPr>
          <a:xfrm>
            <a:off x="11226670" y="3795829"/>
            <a:ext cx="73152" cy="73152"/>
          </a:xfrm>
          <a:prstGeom prst="ellipse">
            <a:avLst/>
          </a:prstGeom>
          <a:solidFill>
            <a:srgbClr val="493014"/>
          </a:solidFill>
          <a:ln>
            <a:noFill/>
          </a:ln>
        </p:spPr>
        <p:txBody>
          <a:bodyPr rtlCol="0" anchor="ctr"/>
          <a:lstStyle/>
          <a:p/>
        </p:txBody>
      </p:sp>
      <p:sp>
        <p:nvSpPr>
          <p:cNvPr id="8" name="Oval 7"/>
          <p:cNvSpPr/>
          <p:nvPr/>
        </p:nvSpPr>
        <p:spPr>
          <a:xfrm>
            <a:off x="899605" y="5468153"/>
            <a:ext cx="36576" cy="36576"/>
          </a:xfrm>
          <a:prstGeom prst="ellipse">
            <a:avLst/>
          </a:prstGeom>
          <a:solidFill>
            <a:srgbClr val="764D1F"/>
          </a:solidFill>
          <a:ln>
            <a:noFill/>
          </a:ln>
        </p:spPr>
        <p:txBody>
          <a:bodyPr rtlCol="0" anchor="ctr"/>
          <a:lstStyle/>
          <a:p/>
        </p:txBody>
      </p:sp>
      <p:sp>
        <p:nvSpPr>
          <p:cNvPr id="9" name="Oval 8"/>
          <p:cNvSpPr/>
          <p:nvPr/>
        </p:nvSpPr>
        <p:spPr>
          <a:xfrm>
            <a:off x="1715679" y="2199252"/>
            <a:ext cx="73152" cy="73152"/>
          </a:xfrm>
          <a:prstGeom prst="ellipse">
            <a:avLst/>
          </a:prstGeom>
          <a:solidFill>
            <a:srgbClr val="4E411E"/>
          </a:solidFill>
          <a:ln>
            <a:noFill/>
          </a:ln>
        </p:spPr>
        <p:txBody>
          <a:bodyPr rtlCol="0" anchor="ctr"/>
          <a:lstStyle/>
          <a:p/>
        </p:txBody>
      </p:sp>
      <p:sp>
        <p:nvSpPr>
          <p:cNvPr id="10" name="Oval 9"/>
          <p:cNvSpPr/>
          <p:nvPr/>
        </p:nvSpPr>
        <p:spPr>
          <a:xfrm>
            <a:off x="6911862" y="1482390"/>
            <a:ext cx="73152" cy="73152"/>
          </a:xfrm>
          <a:prstGeom prst="ellipse">
            <a:avLst/>
          </a:prstGeom>
          <a:solidFill>
            <a:srgbClr val="8A794F"/>
          </a:solidFill>
          <a:ln>
            <a:noFill/>
          </a:ln>
        </p:spPr>
        <p:txBody>
          <a:bodyPr rtlCol="0" anchor="ctr"/>
          <a:lstStyle/>
          <a:p/>
        </p:txBody>
      </p:sp>
      <p:sp>
        <p:nvSpPr>
          <p:cNvPr id="11" name="Oval 10"/>
          <p:cNvSpPr/>
          <p:nvPr/>
        </p:nvSpPr>
        <p:spPr>
          <a:xfrm>
            <a:off x="6833519" y="4044905"/>
            <a:ext cx="27432" cy="27432"/>
          </a:xfrm>
          <a:prstGeom prst="ellipse">
            <a:avLst/>
          </a:prstGeom>
          <a:solidFill>
            <a:srgbClr val="956126"/>
          </a:solidFill>
          <a:ln>
            <a:noFill/>
          </a:ln>
        </p:spPr>
        <p:txBody>
          <a:bodyPr rtlCol="0" anchor="ctr"/>
          <a:lstStyle/>
          <a:p/>
        </p:txBody>
      </p:sp>
      <p:sp>
        <p:nvSpPr>
          <p:cNvPr id="12" name="Oval 11"/>
          <p:cNvSpPr/>
          <p:nvPr/>
        </p:nvSpPr>
        <p:spPr>
          <a:xfrm>
            <a:off x="9272937" y="3133111"/>
            <a:ext cx="54864" cy="54864"/>
          </a:xfrm>
          <a:prstGeom prst="ellipse">
            <a:avLst/>
          </a:prstGeom>
          <a:solidFill>
            <a:srgbClr val="6F481D"/>
          </a:solidFill>
          <a:ln>
            <a:noFill/>
          </a:ln>
        </p:spPr>
        <p:txBody>
          <a:bodyPr rtlCol="0" anchor="ctr"/>
          <a:lstStyle/>
          <a:p/>
        </p:txBody>
      </p:sp>
      <p:sp>
        <p:nvSpPr>
          <p:cNvPr id="13" name="Oval 12"/>
          <p:cNvSpPr/>
          <p:nvPr/>
        </p:nvSpPr>
        <p:spPr>
          <a:xfrm>
            <a:off x="9469488" y="4520303"/>
            <a:ext cx="36576" cy="36576"/>
          </a:xfrm>
          <a:prstGeom prst="ellipse">
            <a:avLst/>
          </a:prstGeom>
          <a:solidFill>
            <a:srgbClr val="4F452D"/>
          </a:solidFill>
          <a:ln>
            <a:noFill/>
          </a:ln>
        </p:spPr>
        <p:txBody>
          <a:bodyPr rtlCol="0" anchor="ctr"/>
          <a:lstStyle/>
          <a:p/>
        </p:txBody>
      </p:sp>
      <p:sp>
        <p:nvSpPr>
          <p:cNvPr id="14" name="Oval 13"/>
          <p:cNvSpPr/>
          <p:nvPr/>
        </p:nvSpPr>
        <p:spPr>
          <a:xfrm>
            <a:off x="6384603" y="5567227"/>
            <a:ext cx="45720" cy="45720"/>
          </a:xfrm>
          <a:prstGeom prst="ellipse">
            <a:avLst/>
          </a:prstGeom>
          <a:solidFill>
            <a:srgbClr val="6A5829"/>
          </a:solidFill>
          <a:ln>
            <a:noFill/>
          </a:ln>
        </p:spPr>
        <p:txBody>
          <a:bodyPr rtlCol="0" anchor="ctr"/>
          <a:lstStyle/>
          <a:p/>
        </p:txBody>
      </p:sp>
      <p:sp>
        <p:nvSpPr>
          <p:cNvPr id="15" name="Oval 14"/>
          <p:cNvSpPr/>
          <p:nvPr/>
        </p:nvSpPr>
        <p:spPr>
          <a:xfrm>
            <a:off x="11598735" y="1067495"/>
            <a:ext cx="73152" cy="73152"/>
          </a:xfrm>
          <a:prstGeom prst="ellipse">
            <a:avLst/>
          </a:prstGeom>
          <a:solidFill>
            <a:srgbClr val="573918"/>
          </a:solidFill>
          <a:ln>
            <a:noFill/>
          </a:ln>
        </p:spPr>
        <p:txBody>
          <a:bodyPr rtlCol="0" anchor="ctr"/>
          <a:lstStyle/>
          <a:p/>
        </p:txBody>
      </p:sp>
      <p:sp>
        <p:nvSpPr>
          <p:cNvPr id="16" name="Oval 15"/>
          <p:cNvSpPr/>
          <p:nvPr/>
        </p:nvSpPr>
        <p:spPr>
          <a:xfrm>
            <a:off x="2107529" y="3271961"/>
            <a:ext cx="45720" cy="45720"/>
          </a:xfrm>
          <a:prstGeom prst="ellipse">
            <a:avLst/>
          </a:prstGeom>
          <a:solidFill>
            <a:srgbClr val="BEA86D"/>
          </a:solidFill>
          <a:ln>
            <a:noFill/>
          </a:ln>
        </p:spPr>
        <p:txBody>
          <a:bodyPr rtlCol="0" anchor="ctr"/>
          <a:lstStyle/>
          <a:p/>
        </p:txBody>
      </p:sp>
      <p:sp>
        <p:nvSpPr>
          <p:cNvPr id="17" name="Oval 16"/>
          <p:cNvSpPr/>
          <p:nvPr/>
        </p:nvSpPr>
        <p:spPr>
          <a:xfrm>
            <a:off x="9127876" y="3771596"/>
            <a:ext cx="27432" cy="27432"/>
          </a:xfrm>
          <a:prstGeom prst="ellipse">
            <a:avLst/>
          </a:prstGeom>
          <a:solidFill>
            <a:srgbClr val="6C471D"/>
          </a:solidFill>
          <a:ln>
            <a:noFill/>
          </a:ln>
        </p:spPr>
        <p:txBody>
          <a:bodyPr rtlCol="0" anchor="ctr"/>
          <a:lstStyle/>
          <a:p/>
        </p:txBody>
      </p:sp>
      <p:sp>
        <p:nvSpPr>
          <p:cNvPr id="18" name="Oval 17"/>
          <p:cNvSpPr/>
          <p:nvPr/>
        </p:nvSpPr>
        <p:spPr>
          <a:xfrm>
            <a:off x="7177342" y="3812425"/>
            <a:ext cx="45720" cy="45720"/>
          </a:xfrm>
          <a:prstGeom prst="ellipse">
            <a:avLst/>
          </a:prstGeom>
          <a:solidFill>
            <a:srgbClr val="4B3215"/>
          </a:solidFill>
          <a:ln>
            <a:noFill/>
          </a:ln>
        </p:spPr>
        <p:txBody>
          <a:bodyPr rtlCol="0" anchor="ctr"/>
          <a:lstStyle/>
          <a:p/>
        </p:txBody>
      </p:sp>
      <p:sp>
        <p:nvSpPr>
          <p:cNvPr id="19" name="Oval 18"/>
          <p:cNvSpPr/>
          <p:nvPr/>
        </p:nvSpPr>
        <p:spPr>
          <a:xfrm>
            <a:off x="11191970" y="3183610"/>
            <a:ext cx="27432" cy="27432"/>
          </a:xfrm>
          <a:prstGeom prst="ellipse">
            <a:avLst/>
          </a:prstGeom>
          <a:solidFill>
            <a:srgbClr val="42361A"/>
          </a:solidFill>
          <a:ln>
            <a:noFill/>
          </a:ln>
        </p:spPr>
        <p:txBody>
          <a:bodyPr rtlCol="0" anchor="ctr"/>
          <a:lstStyle/>
          <a:p/>
        </p:txBody>
      </p:sp>
      <p:sp>
        <p:nvSpPr>
          <p:cNvPr id="20" name="Oval 19"/>
          <p:cNvSpPr/>
          <p:nvPr/>
        </p:nvSpPr>
        <p:spPr>
          <a:xfrm>
            <a:off x="7781970" y="6268325"/>
            <a:ext cx="45720" cy="45720"/>
          </a:xfrm>
          <a:prstGeom prst="ellipse">
            <a:avLst/>
          </a:prstGeom>
          <a:solidFill>
            <a:srgbClr val="65421B"/>
          </a:solidFill>
          <a:ln>
            <a:noFill/>
          </a:ln>
        </p:spPr>
        <p:txBody>
          <a:bodyPr rtlCol="0" anchor="ctr"/>
          <a:lstStyle/>
          <a:p/>
        </p:txBody>
      </p:sp>
      <p:sp>
        <p:nvSpPr>
          <p:cNvPr id="21" name="Oval 20"/>
          <p:cNvSpPr/>
          <p:nvPr/>
        </p:nvSpPr>
        <p:spPr>
          <a:xfrm>
            <a:off x="10531397" y="2428220"/>
            <a:ext cx="54864" cy="54864"/>
          </a:xfrm>
          <a:prstGeom prst="ellipse">
            <a:avLst/>
          </a:prstGeom>
          <a:solidFill>
            <a:srgbClr val="6E481D"/>
          </a:solidFill>
          <a:ln>
            <a:noFill/>
          </a:ln>
        </p:spPr>
        <p:txBody>
          <a:bodyPr rtlCol="0" anchor="ctr"/>
          <a:lstStyle/>
          <a:p/>
        </p:txBody>
      </p:sp>
      <p:sp>
        <p:nvSpPr>
          <p:cNvPr id="22" name="Oval 21"/>
          <p:cNvSpPr/>
          <p:nvPr/>
        </p:nvSpPr>
        <p:spPr>
          <a:xfrm>
            <a:off x="1707698" y="716161"/>
            <a:ext cx="73152" cy="73152"/>
          </a:xfrm>
          <a:prstGeom prst="ellipse">
            <a:avLst/>
          </a:prstGeom>
          <a:solidFill>
            <a:srgbClr val="533617"/>
          </a:solidFill>
          <a:ln>
            <a:noFill/>
          </a:ln>
        </p:spPr>
        <p:txBody>
          <a:bodyPr rtlCol="0" anchor="ctr"/>
          <a:lstStyle/>
          <a:p/>
        </p:txBody>
      </p:sp>
      <p:sp>
        <p:nvSpPr>
          <p:cNvPr id="23" name="Oval 22"/>
          <p:cNvSpPr/>
          <p:nvPr/>
        </p:nvSpPr>
        <p:spPr>
          <a:xfrm>
            <a:off x="4925737" y="5814948"/>
            <a:ext cx="36576" cy="36576"/>
          </a:xfrm>
          <a:prstGeom prst="ellipse">
            <a:avLst/>
          </a:prstGeom>
          <a:solidFill>
            <a:srgbClr val="4D3215"/>
          </a:solidFill>
          <a:ln>
            <a:noFill/>
          </a:ln>
        </p:spPr>
        <p:txBody>
          <a:bodyPr rtlCol="0" anchor="ctr"/>
          <a:lstStyle/>
          <a:p/>
        </p:txBody>
      </p:sp>
      <p:sp>
        <p:nvSpPr>
          <p:cNvPr id="24" name="Oval 23"/>
          <p:cNvSpPr/>
          <p:nvPr/>
        </p:nvSpPr>
        <p:spPr>
          <a:xfrm>
            <a:off x="4968673" y="2017124"/>
            <a:ext cx="54864" cy="54864"/>
          </a:xfrm>
          <a:prstGeom prst="ellipse">
            <a:avLst/>
          </a:prstGeom>
          <a:solidFill>
            <a:srgbClr val="AC9862"/>
          </a:solidFill>
          <a:ln>
            <a:noFill/>
          </a:ln>
        </p:spPr>
        <p:txBody>
          <a:bodyPr rtlCol="0" anchor="ctr"/>
          <a:lstStyle/>
          <a:p/>
        </p:txBody>
      </p:sp>
      <p:sp>
        <p:nvSpPr>
          <p:cNvPr id="25" name="Oval 24"/>
          <p:cNvSpPr/>
          <p:nvPr/>
        </p:nvSpPr>
        <p:spPr>
          <a:xfrm>
            <a:off x="3556514" y="2834116"/>
            <a:ext cx="73152" cy="73152"/>
          </a:xfrm>
          <a:prstGeom prst="ellipse">
            <a:avLst/>
          </a:prstGeom>
          <a:solidFill>
            <a:srgbClr val="966127"/>
          </a:solidFill>
          <a:ln>
            <a:noFill/>
          </a:ln>
        </p:spPr>
        <p:txBody>
          <a:bodyPr rtlCol="0" anchor="ctr"/>
          <a:lstStyle/>
          <a:p/>
        </p:txBody>
      </p:sp>
      <p:sp>
        <p:nvSpPr>
          <p:cNvPr id="26" name="Oval 25"/>
          <p:cNvSpPr/>
          <p:nvPr/>
        </p:nvSpPr>
        <p:spPr>
          <a:xfrm>
            <a:off x="11341527" y="1262773"/>
            <a:ext cx="54864" cy="54864"/>
          </a:xfrm>
          <a:prstGeom prst="ellipse">
            <a:avLst/>
          </a:prstGeom>
          <a:solidFill>
            <a:srgbClr val="584D32"/>
          </a:solidFill>
          <a:ln>
            <a:noFill/>
          </a:ln>
        </p:spPr>
        <p:txBody>
          <a:bodyPr rtlCol="0" anchor="ctr"/>
          <a:lstStyle/>
          <a:p/>
        </p:txBody>
      </p:sp>
      <p:sp>
        <p:nvSpPr>
          <p:cNvPr id="27" name="Oval 26"/>
          <p:cNvSpPr/>
          <p:nvPr/>
        </p:nvSpPr>
        <p:spPr>
          <a:xfrm>
            <a:off x="504004" y="5305447"/>
            <a:ext cx="36576" cy="36576"/>
          </a:xfrm>
          <a:prstGeom prst="ellipse">
            <a:avLst/>
          </a:prstGeom>
          <a:solidFill>
            <a:srgbClr val="66593A"/>
          </a:solidFill>
          <a:ln>
            <a:noFill/>
          </a:ln>
        </p:spPr>
        <p:txBody>
          <a:bodyPr rtlCol="0" anchor="ctr"/>
          <a:lstStyle/>
          <a:p/>
        </p:txBody>
      </p:sp>
      <p:sp>
        <p:nvSpPr>
          <p:cNvPr id="28" name="Oval 27"/>
          <p:cNvSpPr/>
          <p:nvPr/>
        </p:nvSpPr>
        <p:spPr>
          <a:xfrm>
            <a:off x="2035236" y="3543154"/>
            <a:ext cx="27432" cy="27432"/>
          </a:xfrm>
          <a:prstGeom prst="ellipse">
            <a:avLst/>
          </a:prstGeom>
          <a:solidFill>
            <a:srgbClr val="76622D"/>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758537" y="934211"/>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PLAYER CHECK-IN</a:t>
            </a:r>
          </a:p>
        </p:txBody>
      </p:sp>
      <p:cxnSp>
        <p:nvCxnSpPr>
          <p:cNvPr id="50" name="Connector 49"/>
          <p:cNvCxnSpPr/>
          <p:nvPr/>
        </p:nvCxnSpPr>
        <p:spPr>
          <a:xfrm>
            <a:off x="3386937" y="1098803"/>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336645" y="1048511"/>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570317" y="1098803"/>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754465" y="1048511"/>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327403"/>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Where are you on the map?</a:t>
            </a:r>
          </a:p>
        </p:txBody>
      </p:sp>
      <p:sp>
        <p:nvSpPr>
          <p:cNvPr id="55" name="TextBox 54"/>
          <p:cNvSpPr txBox="1"/>
          <p:nvPr/>
        </p:nvSpPr>
        <p:spPr>
          <a:xfrm>
            <a:off x="1371600" y="2043683"/>
            <a:ext cx="9448495" cy="457200"/>
          </a:xfrm>
          <a:prstGeom prst="rect">
            <a:avLst/>
          </a:prstGeom>
          <a:noFill/>
        </p:spPr>
        <p:txBody>
          <a:bodyPr wrap="square" lIns="0" rIns="0" tIns="0" bIns="0" anchor="t">
            <a:spAutoFit/>
          </a:bodyPr>
          <a:lstStyle/>
          <a:p>
            <a:pPr algn="ctr">
              <a:lnSpc>
                <a:spcPct val="120000"/>
              </a:lnSpc>
            </a:pPr>
            <a:r>
              <a:rPr sz="2000" b="0" i="1">
                <a:solidFill>
                  <a:srgbClr val="B9A57A"/>
                </a:solidFill>
                <a:latin typeface="Montserrat"/>
              </a:rPr>
              <a:t>Type your number in the chat</a:t>
            </a:r>
          </a:p>
        </p:txBody>
      </p:sp>
      <p:sp>
        <p:nvSpPr>
          <p:cNvPr id="56" name="Rounded Rectangle 55"/>
          <p:cNvSpPr/>
          <p:nvPr/>
        </p:nvSpPr>
        <p:spPr>
          <a:xfrm>
            <a:off x="1523847" y="2546603"/>
            <a:ext cx="9144000" cy="3093720"/>
          </a:xfrm>
          <a:prstGeom prst="roundRect">
            <a:avLst>
              <a:gd name="adj" fmla="val 6000"/>
            </a:avLst>
          </a:prstGeom>
          <a:solidFill>
            <a:srgbClr val="100D07"/>
          </a:solidFill>
          <a:ln w="15875">
            <a:solidFill>
              <a:srgbClr val="877034"/>
            </a:solidFill>
          </a:ln>
        </p:spPr>
        <p:txBody>
          <a:bodyPr rtlCol="0" anchor="ctr"/>
          <a:lstStyle/>
          <a:p/>
        </p:txBody>
      </p:sp>
      <p:sp>
        <p:nvSpPr>
          <p:cNvPr id="57" name="Oval 56"/>
          <p:cNvSpPr/>
          <p:nvPr/>
        </p:nvSpPr>
        <p:spPr>
          <a:xfrm>
            <a:off x="1853031" y="2701544"/>
            <a:ext cx="438912" cy="438912"/>
          </a:xfrm>
          <a:prstGeom prst="ellipse">
            <a:avLst/>
          </a:prstGeom>
          <a:solidFill>
            <a:srgbClr val="1A1309"/>
          </a:solidFill>
          <a:ln w="25400">
            <a:solidFill>
              <a:srgbClr val="F0D58A"/>
            </a:solidFill>
          </a:ln>
        </p:spPr>
        <p:txBody>
          <a:bodyPr rtlCol="0" anchor="ctr"/>
          <a:lstStyle/>
          <a:p/>
        </p:txBody>
      </p:sp>
      <p:sp>
        <p:nvSpPr>
          <p:cNvPr id="58" name="Oval 57"/>
          <p:cNvSpPr/>
          <p:nvPr/>
        </p:nvSpPr>
        <p:spPr>
          <a:xfrm>
            <a:off x="1907895" y="2756408"/>
            <a:ext cx="329184" cy="329184"/>
          </a:xfrm>
          <a:prstGeom prst="ellipse">
            <a:avLst/>
          </a:prstGeom>
          <a:noFill/>
          <a:ln w="9525">
            <a:solidFill>
              <a:srgbClr val="7D6830"/>
            </a:solidFill>
          </a:ln>
        </p:spPr>
        <p:txBody>
          <a:bodyPr rtlCol="0" anchor="ctr"/>
          <a:lstStyle/>
          <a:p/>
        </p:txBody>
      </p:sp>
      <p:sp>
        <p:nvSpPr>
          <p:cNvPr id="59" name="TextBox 58"/>
          <p:cNvSpPr txBox="1"/>
          <p:nvPr/>
        </p:nvSpPr>
        <p:spPr>
          <a:xfrm>
            <a:off x="1853031" y="2701544"/>
            <a:ext cx="438912" cy="438912"/>
          </a:xfrm>
          <a:prstGeom prst="rect">
            <a:avLst/>
          </a:prstGeom>
          <a:noFill/>
        </p:spPr>
        <p:txBody>
          <a:bodyPr wrap="square" lIns="0" rIns="0" tIns="0" bIns="0" anchor="ctr">
            <a:spAutoFit/>
          </a:bodyPr>
          <a:lstStyle/>
          <a:p>
            <a:pPr algn="ctr"/>
            <a:r>
              <a:rPr sz="1400" b="1" i="0">
                <a:solidFill>
                  <a:srgbClr val="F0D58A"/>
                </a:solidFill>
                <a:latin typeface="Cinzel"/>
              </a:rPr>
              <a:t>1</a:t>
            </a:r>
          </a:p>
        </p:txBody>
      </p:sp>
      <p:sp>
        <p:nvSpPr>
          <p:cNvPr id="60" name="TextBox 59"/>
          <p:cNvSpPr txBox="1"/>
          <p:nvPr/>
        </p:nvSpPr>
        <p:spPr>
          <a:xfrm>
            <a:off x="2529687" y="2747772"/>
            <a:ext cx="7772400"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I don't really track my money</a:t>
            </a:r>
          </a:p>
        </p:txBody>
      </p:sp>
      <p:sp>
        <p:nvSpPr>
          <p:cNvPr id="61" name="Oval 60"/>
          <p:cNvSpPr/>
          <p:nvPr/>
        </p:nvSpPr>
        <p:spPr>
          <a:xfrm>
            <a:off x="1853031" y="3237992"/>
            <a:ext cx="438912" cy="438912"/>
          </a:xfrm>
          <a:prstGeom prst="ellipse">
            <a:avLst/>
          </a:prstGeom>
          <a:solidFill>
            <a:srgbClr val="1A1309"/>
          </a:solidFill>
          <a:ln w="25400">
            <a:solidFill>
              <a:srgbClr val="F0D58A"/>
            </a:solidFill>
          </a:ln>
        </p:spPr>
        <p:txBody>
          <a:bodyPr rtlCol="0" anchor="ctr"/>
          <a:lstStyle/>
          <a:p/>
        </p:txBody>
      </p:sp>
      <p:sp>
        <p:nvSpPr>
          <p:cNvPr id="62" name="Oval 61"/>
          <p:cNvSpPr/>
          <p:nvPr/>
        </p:nvSpPr>
        <p:spPr>
          <a:xfrm>
            <a:off x="1907895" y="3292856"/>
            <a:ext cx="329184" cy="329184"/>
          </a:xfrm>
          <a:prstGeom prst="ellipse">
            <a:avLst/>
          </a:prstGeom>
          <a:noFill/>
          <a:ln w="9525">
            <a:solidFill>
              <a:srgbClr val="7D6830"/>
            </a:solidFill>
          </a:ln>
        </p:spPr>
        <p:txBody>
          <a:bodyPr rtlCol="0" anchor="ctr"/>
          <a:lstStyle/>
          <a:p/>
        </p:txBody>
      </p:sp>
      <p:sp>
        <p:nvSpPr>
          <p:cNvPr id="63" name="TextBox 62"/>
          <p:cNvSpPr txBox="1"/>
          <p:nvPr/>
        </p:nvSpPr>
        <p:spPr>
          <a:xfrm>
            <a:off x="1853031" y="3237992"/>
            <a:ext cx="438912" cy="438912"/>
          </a:xfrm>
          <a:prstGeom prst="rect">
            <a:avLst/>
          </a:prstGeom>
          <a:noFill/>
        </p:spPr>
        <p:txBody>
          <a:bodyPr wrap="square" lIns="0" rIns="0" tIns="0" bIns="0" anchor="ctr">
            <a:spAutoFit/>
          </a:bodyPr>
          <a:lstStyle/>
          <a:p>
            <a:pPr algn="ctr"/>
            <a:r>
              <a:rPr sz="1400" b="1" i="0">
                <a:solidFill>
                  <a:srgbClr val="F0D58A"/>
                </a:solidFill>
                <a:latin typeface="Cinzel"/>
              </a:rPr>
              <a:t>2</a:t>
            </a:r>
          </a:p>
        </p:txBody>
      </p:sp>
      <p:sp>
        <p:nvSpPr>
          <p:cNvPr id="64" name="TextBox 63"/>
          <p:cNvSpPr txBox="1"/>
          <p:nvPr/>
        </p:nvSpPr>
        <p:spPr>
          <a:xfrm>
            <a:off x="2529687" y="3284220"/>
            <a:ext cx="7772400"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My credit is holding me back</a:t>
            </a:r>
          </a:p>
        </p:txBody>
      </p:sp>
      <p:sp>
        <p:nvSpPr>
          <p:cNvPr id="65" name="Oval 64"/>
          <p:cNvSpPr/>
          <p:nvPr/>
        </p:nvSpPr>
        <p:spPr>
          <a:xfrm>
            <a:off x="1853031" y="3774440"/>
            <a:ext cx="438912" cy="438912"/>
          </a:xfrm>
          <a:prstGeom prst="ellipse">
            <a:avLst/>
          </a:prstGeom>
          <a:solidFill>
            <a:srgbClr val="1A1309"/>
          </a:solidFill>
          <a:ln w="25400">
            <a:solidFill>
              <a:srgbClr val="F0D58A"/>
            </a:solidFill>
          </a:ln>
        </p:spPr>
        <p:txBody>
          <a:bodyPr rtlCol="0" anchor="ctr"/>
          <a:lstStyle/>
          <a:p/>
        </p:txBody>
      </p:sp>
      <p:sp>
        <p:nvSpPr>
          <p:cNvPr id="66" name="Oval 65"/>
          <p:cNvSpPr/>
          <p:nvPr/>
        </p:nvSpPr>
        <p:spPr>
          <a:xfrm>
            <a:off x="1907895" y="3829304"/>
            <a:ext cx="329184" cy="329184"/>
          </a:xfrm>
          <a:prstGeom prst="ellipse">
            <a:avLst/>
          </a:prstGeom>
          <a:noFill/>
          <a:ln w="9525">
            <a:solidFill>
              <a:srgbClr val="7D6830"/>
            </a:solidFill>
          </a:ln>
        </p:spPr>
        <p:txBody>
          <a:bodyPr rtlCol="0" anchor="ctr"/>
          <a:lstStyle/>
          <a:p/>
        </p:txBody>
      </p:sp>
      <p:sp>
        <p:nvSpPr>
          <p:cNvPr id="67" name="TextBox 66"/>
          <p:cNvSpPr txBox="1"/>
          <p:nvPr/>
        </p:nvSpPr>
        <p:spPr>
          <a:xfrm>
            <a:off x="1853031" y="3774440"/>
            <a:ext cx="438912" cy="438912"/>
          </a:xfrm>
          <a:prstGeom prst="rect">
            <a:avLst/>
          </a:prstGeom>
          <a:noFill/>
        </p:spPr>
        <p:txBody>
          <a:bodyPr wrap="square" lIns="0" rIns="0" tIns="0" bIns="0" anchor="ctr">
            <a:spAutoFit/>
          </a:bodyPr>
          <a:lstStyle/>
          <a:p>
            <a:pPr algn="ctr"/>
            <a:r>
              <a:rPr sz="1400" b="1" i="0">
                <a:solidFill>
                  <a:srgbClr val="F0D58A"/>
                </a:solidFill>
                <a:latin typeface="Cinzel"/>
              </a:rPr>
              <a:t>3</a:t>
            </a:r>
          </a:p>
        </p:txBody>
      </p:sp>
      <p:sp>
        <p:nvSpPr>
          <p:cNvPr id="68" name="TextBox 67"/>
          <p:cNvSpPr txBox="1"/>
          <p:nvPr/>
        </p:nvSpPr>
        <p:spPr>
          <a:xfrm>
            <a:off x="2529687" y="3820668"/>
            <a:ext cx="7772400"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I have a business but no structure</a:t>
            </a:r>
          </a:p>
        </p:txBody>
      </p:sp>
      <p:sp>
        <p:nvSpPr>
          <p:cNvPr id="69" name="Oval 68"/>
          <p:cNvSpPr/>
          <p:nvPr/>
        </p:nvSpPr>
        <p:spPr>
          <a:xfrm>
            <a:off x="1853031" y="4310888"/>
            <a:ext cx="438912" cy="438912"/>
          </a:xfrm>
          <a:prstGeom prst="ellipse">
            <a:avLst/>
          </a:prstGeom>
          <a:solidFill>
            <a:srgbClr val="1A1309"/>
          </a:solidFill>
          <a:ln w="25400">
            <a:solidFill>
              <a:srgbClr val="F0D58A"/>
            </a:solidFill>
          </a:ln>
        </p:spPr>
        <p:txBody>
          <a:bodyPr rtlCol="0" anchor="ctr"/>
          <a:lstStyle/>
          <a:p/>
        </p:txBody>
      </p:sp>
      <p:sp>
        <p:nvSpPr>
          <p:cNvPr id="70" name="Oval 69"/>
          <p:cNvSpPr/>
          <p:nvPr/>
        </p:nvSpPr>
        <p:spPr>
          <a:xfrm>
            <a:off x="1907895" y="4365752"/>
            <a:ext cx="329184" cy="329184"/>
          </a:xfrm>
          <a:prstGeom prst="ellipse">
            <a:avLst/>
          </a:prstGeom>
          <a:noFill/>
          <a:ln w="9525">
            <a:solidFill>
              <a:srgbClr val="7D6830"/>
            </a:solidFill>
          </a:ln>
        </p:spPr>
        <p:txBody>
          <a:bodyPr rtlCol="0" anchor="ctr"/>
          <a:lstStyle/>
          <a:p/>
        </p:txBody>
      </p:sp>
      <p:sp>
        <p:nvSpPr>
          <p:cNvPr id="71" name="TextBox 70"/>
          <p:cNvSpPr txBox="1"/>
          <p:nvPr/>
        </p:nvSpPr>
        <p:spPr>
          <a:xfrm>
            <a:off x="1853031" y="4310888"/>
            <a:ext cx="438912" cy="438912"/>
          </a:xfrm>
          <a:prstGeom prst="rect">
            <a:avLst/>
          </a:prstGeom>
          <a:noFill/>
        </p:spPr>
        <p:txBody>
          <a:bodyPr wrap="square" lIns="0" rIns="0" tIns="0" bIns="0" anchor="ctr">
            <a:spAutoFit/>
          </a:bodyPr>
          <a:lstStyle/>
          <a:p>
            <a:pPr algn="ctr"/>
            <a:r>
              <a:rPr sz="1400" b="1" i="0">
                <a:solidFill>
                  <a:srgbClr val="F0D58A"/>
                </a:solidFill>
                <a:latin typeface="Cinzel"/>
              </a:rPr>
              <a:t>4</a:t>
            </a:r>
          </a:p>
        </p:txBody>
      </p:sp>
      <p:sp>
        <p:nvSpPr>
          <p:cNvPr id="72" name="TextBox 71"/>
          <p:cNvSpPr txBox="1"/>
          <p:nvPr/>
        </p:nvSpPr>
        <p:spPr>
          <a:xfrm>
            <a:off x="2529687" y="4357116"/>
            <a:ext cx="7772400"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I'm stable, but my money isn't growing</a:t>
            </a:r>
          </a:p>
        </p:txBody>
      </p:sp>
      <p:sp>
        <p:nvSpPr>
          <p:cNvPr id="73" name="Oval 72"/>
          <p:cNvSpPr/>
          <p:nvPr/>
        </p:nvSpPr>
        <p:spPr>
          <a:xfrm>
            <a:off x="1853031" y="4847336"/>
            <a:ext cx="438912" cy="438912"/>
          </a:xfrm>
          <a:prstGeom prst="ellipse">
            <a:avLst/>
          </a:prstGeom>
          <a:solidFill>
            <a:srgbClr val="1A1309"/>
          </a:solidFill>
          <a:ln w="25400">
            <a:solidFill>
              <a:srgbClr val="F0D58A"/>
            </a:solidFill>
          </a:ln>
        </p:spPr>
        <p:txBody>
          <a:bodyPr rtlCol="0" anchor="ctr"/>
          <a:lstStyle/>
          <a:p/>
        </p:txBody>
      </p:sp>
      <p:sp>
        <p:nvSpPr>
          <p:cNvPr id="74" name="Oval 73"/>
          <p:cNvSpPr/>
          <p:nvPr/>
        </p:nvSpPr>
        <p:spPr>
          <a:xfrm>
            <a:off x="1907895" y="4902200"/>
            <a:ext cx="329184" cy="329184"/>
          </a:xfrm>
          <a:prstGeom prst="ellipse">
            <a:avLst/>
          </a:prstGeom>
          <a:noFill/>
          <a:ln w="9525">
            <a:solidFill>
              <a:srgbClr val="7D6830"/>
            </a:solidFill>
          </a:ln>
        </p:spPr>
        <p:txBody>
          <a:bodyPr rtlCol="0" anchor="ctr"/>
          <a:lstStyle/>
          <a:p/>
        </p:txBody>
      </p:sp>
      <p:sp>
        <p:nvSpPr>
          <p:cNvPr id="75" name="TextBox 74"/>
          <p:cNvSpPr txBox="1"/>
          <p:nvPr/>
        </p:nvSpPr>
        <p:spPr>
          <a:xfrm>
            <a:off x="1853031" y="4847336"/>
            <a:ext cx="438912" cy="438912"/>
          </a:xfrm>
          <a:prstGeom prst="rect">
            <a:avLst/>
          </a:prstGeom>
          <a:noFill/>
        </p:spPr>
        <p:txBody>
          <a:bodyPr wrap="square" lIns="0" rIns="0" tIns="0" bIns="0" anchor="ctr">
            <a:spAutoFit/>
          </a:bodyPr>
          <a:lstStyle/>
          <a:p>
            <a:pPr algn="ctr"/>
            <a:r>
              <a:rPr sz="1400" b="1" i="0">
                <a:solidFill>
                  <a:srgbClr val="F0D58A"/>
                </a:solidFill>
                <a:latin typeface="Cinzel"/>
              </a:rPr>
              <a:t>5</a:t>
            </a:r>
          </a:p>
        </p:txBody>
      </p:sp>
      <p:sp>
        <p:nvSpPr>
          <p:cNvPr id="76" name="TextBox 75"/>
          <p:cNvSpPr txBox="1"/>
          <p:nvPr/>
        </p:nvSpPr>
        <p:spPr>
          <a:xfrm>
            <a:off x="2529687" y="4893564"/>
            <a:ext cx="7772400"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I want to leave something behind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9190" y="3233913"/>
            <a:ext cx="73152" cy="73152"/>
          </a:xfrm>
          <a:prstGeom prst="ellipse">
            <a:avLst/>
          </a:prstGeom>
          <a:solidFill>
            <a:srgbClr val="5F5336"/>
          </a:solidFill>
          <a:ln>
            <a:noFill/>
          </a:ln>
        </p:spPr>
        <p:txBody>
          <a:bodyPr rtlCol="0" anchor="ctr"/>
          <a:lstStyle/>
          <a:p/>
        </p:txBody>
      </p:sp>
      <p:sp>
        <p:nvSpPr>
          <p:cNvPr id="4" name="Oval 3"/>
          <p:cNvSpPr/>
          <p:nvPr/>
        </p:nvSpPr>
        <p:spPr>
          <a:xfrm>
            <a:off x="9804232" y="4249739"/>
            <a:ext cx="54864" cy="54864"/>
          </a:xfrm>
          <a:prstGeom prst="ellipse">
            <a:avLst/>
          </a:prstGeom>
          <a:solidFill>
            <a:srgbClr val="494029"/>
          </a:solidFill>
          <a:ln>
            <a:noFill/>
          </a:ln>
        </p:spPr>
        <p:txBody>
          <a:bodyPr rtlCol="0" anchor="ctr"/>
          <a:lstStyle/>
          <a:p/>
        </p:txBody>
      </p:sp>
      <p:sp>
        <p:nvSpPr>
          <p:cNvPr id="5" name="Oval 4"/>
          <p:cNvSpPr/>
          <p:nvPr/>
        </p:nvSpPr>
        <p:spPr>
          <a:xfrm>
            <a:off x="4122093" y="1851640"/>
            <a:ext cx="54864" cy="54864"/>
          </a:xfrm>
          <a:prstGeom prst="ellipse">
            <a:avLst/>
          </a:prstGeom>
          <a:solidFill>
            <a:srgbClr val="A3883E"/>
          </a:solidFill>
          <a:ln>
            <a:noFill/>
          </a:ln>
        </p:spPr>
        <p:txBody>
          <a:bodyPr rtlCol="0" anchor="ctr"/>
          <a:lstStyle/>
          <a:p/>
        </p:txBody>
      </p:sp>
      <p:sp>
        <p:nvSpPr>
          <p:cNvPr id="6" name="Oval 5"/>
          <p:cNvSpPr/>
          <p:nvPr/>
        </p:nvSpPr>
        <p:spPr>
          <a:xfrm>
            <a:off x="5183574" y="1190073"/>
            <a:ext cx="27432" cy="27432"/>
          </a:xfrm>
          <a:prstGeom prst="ellipse">
            <a:avLst/>
          </a:prstGeom>
          <a:solidFill>
            <a:srgbClr val="714A1E"/>
          </a:solidFill>
          <a:ln>
            <a:noFill/>
          </a:ln>
        </p:spPr>
        <p:txBody>
          <a:bodyPr rtlCol="0" anchor="ctr"/>
          <a:lstStyle/>
          <a:p/>
        </p:txBody>
      </p:sp>
      <p:sp>
        <p:nvSpPr>
          <p:cNvPr id="7" name="Oval 6"/>
          <p:cNvSpPr/>
          <p:nvPr/>
        </p:nvSpPr>
        <p:spPr>
          <a:xfrm>
            <a:off x="9841585" y="1924891"/>
            <a:ext cx="45720" cy="45720"/>
          </a:xfrm>
          <a:prstGeom prst="ellipse">
            <a:avLst/>
          </a:prstGeom>
          <a:solidFill>
            <a:srgbClr val="9B8959"/>
          </a:solidFill>
          <a:ln>
            <a:noFill/>
          </a:ln>
        </p:spPr>
        <p:txBody>
          <a:bodyPr rtlCol="0" anchor="ctr"/>
          <a:lstStyle/>
          <a:p/>
        </p:txBody>
      </p:sp>
      <p:sp>
        <p:nvSpPr>
          <p:cNvPr id="8" name="Oval 7"/>
          <p:cNvSpPr/>
          <p:nvPr/>
        </p:nvSpPr>
        <p:spPr>
          <a:xfrm>
            <a:off x="1889712" y="4929480"/>
            <a:ext cx="45720" cy="45720"/>
          </a:xfrm>
          <a:prstGeom prst="ellipse">
            <a:avLst/>
          </a:prstGeom>
          <a:solidFill>
            <a:srgbClr val="BFA96D"/>
          </a:solidFill>
          <a:ln>
            <a:noFill/>
          </a:ln>
        </p:spPr>
        <p:txBody>
          <a:bodyPr rtlCol="0" anchor="ctr"/>
          <a:lstStyle/>
          <a:p/>
        </p:txBody>
      </p:sp>
      <p:sp>
        <p:nvSpPr>
          <p:cNvPr id="9" name="Oval 8"/>
          <p:cNvSpPr/>
          <p:nvPr/>
        </p:nvSpPr>
        <p:spPr>
          <a:xfrm>
            <a:off x="4666110" y="3830471"/>
            <a:ext cx="73152" cy="73152"/>
          </a:xfrm>
          <a:prstGeom prst="ellipse">
            <a:avLst/>
          </a:prstGeom>
          <a:solidFill>
            <a:srgbClr val="564B31"/>
          </a:solidFill>
          <a:ln>
            <a:noFill/>
          </a:ln>
        </p:spPr>
        <p:txBody>
          <a:bodyPr rtlCol="0" anchor="ctr"/>
          <a:lstStyle/>
          <a:p/>
        </p:txBody>
      </p:sp>
      <p:sp>
        <p:nvSpPr>
          <p:cNvPr id="10" name="Oval 9"/>
          <p:cNvSpPr/>
          <p:nvPr/>
        </p:nvSpPr>
        <p:spPr>
          <a:xfrm>
            <a:off x="6512369" y="4954548"/>
            <a:ext cx="45720" cy="45720"/>
          </a:xfrm>
          <a:prstGeom prst="ellipse">
            <a:avLst/>
          </a:prstGeom>
          <a:solidFill>
            <a:srgbClr val="6C5F3E"/>
          </a:solidFill>
          <a:ln>
            <a:noFill/>
          </a:ln>
        </p:spPr>
        <p:txBody>
          <a:bodyPr rtlCol="0" anchor="ctr"/>
          <a:lstStyle/>
          <a:p/>
        </p:txBody>
      </p:sp>
      <p:sp>
        <p:nvSpPr>
          <p:cNvPr id="11" name="Oval 10"/>
          <p:cNvSpPr/>
          <p:nvPr/>
        </p:nvSpPr>
        <p:spPr>
          <a:xfrm>
            <a:off x="5529978" y="3159097"/>
            <a:ext cx="73152" cy="73152"/>
          </a:xfrm>
          <a:prstGeom prst="ellipse">
            <a:avLst/>
          </a:prstGeom>
          <a:solidFill>
            <a:srgbClr val="78642E"/>
          </a:solidFill>
          <a:ln>
            <a:noFill/>
          </a:ln>
        </p:spPr>
        <p:txBody>
          <a:bodyPr rtlCol="0" anchor="ctr"/>
          <a:lstStyle/>
          <a:p/>
        </p:txBody>
      </p:sp>
      <p:sp>
        <p:nvSpPr>
          <p:cNvPr id="12" name="Oval 11"/>
          <p:cNvSpPr/>
          <p:nvPr/>
        </p:nvSpPr>
        <p:spPr>
          <a:xfrm>
            <a:off x="2158348" y="1698903"/>
            <a:ext cx="73152" cy="73152"/>
          </a:xfrm>
          <a:prstGeom prst="ellipse">
            <a:avLst/>
          </a:prstGeom>
          <a:solidFill>
            <a:srgbClr val="603F1A"/>
          </a:solidFill>
          <a:ln>
            <a:noFill/>
          </a:ln>
        </p:spPr>
        <p:txBody>
          <a:bodyPr rtlCol="0" anchor="ctr"/>
          <a:lstStyle/>
          <a:p/>
        </p:txBody>
      </p:sp>
      <p:sp>
        <p:nvSpPr>
          <p:cNvPr id="13" name="Oval 12"/>
          <p:cNvSpPr/>
          <p:nvPr/>
        </p:nvSpPr>
        <p:spPr>
          <a:xfrm>
            <a:off x="6056923" y="5227522"/>
            <a:ext cx="27432" cy="27432"/>
          </a:xfrm>
          <a:prstGeom prst="ellipse">
            <a:avLst/>
          </a:prstGeom>
          <a:solidFill>
            <a:srgbClr val="43371A"/>
          </a:solidFill>
          <a:ln>
            <a:noFill/>
          </a:ln>
        </p:spPr>
        <p:txBody>
          <a:bodyPr rtlCol="0" anchor="ctr"/>
          <a:lstStyle/>
          <a:p/>
        </p:txBody>
      </p:sp>
      <p:sp>
        <p:nvSpPr>
          <p:cNvPr id="14" name="Oval 13"/>
          <p:cNvSpPr/>
          <p:nvPr/>
        </p:nvSpPr>
        <p:spPr>
          <a:xfrm>
            <a:off x="2081212" y="3737180"/>
            <a:ext cx="27432" cy="27432"/>
          </a:xfrm>
          <a:prstGeom prst="ellipse">
            <a:avLst/>
          </a:prstGeom>
          <a:solidFill>
            <a:srgbClr val="B1732D"/>
          </a:solidFill>
          <a:ln>
            <a:noFill/>
          </a:ln>
        </p:spPr>
        <p:txBody>
          <a:bodyPr rtlCol="0" anchor="ctr"/>
          <a:lstStyle/>
          <a:p/>
        </p:txBody>
      </p:sp>
      <p:sp>
        <p:nvSpPr>
          <p:cNvPr id="15" name="Oval 14"/>
          <p:cNvSpPr/>
          <p:nvPr/>
        </p:nvSpPr>
        <p:spPr>
          <a:xfrm>
            <a:off x="1659793" y="4975097"/>
            <a:ext cx="36576" cy="36576"/>
          </a:xfrm>
          <a:prstGeom prst="ellipse">
            <a:avLst/>
          </a:prstGeom>
          <a:solidFill>
            <a:srgbClr val="7C6E47"/>
          </a:solidFill>
          <a:ln>
            <a:noFill/>
          </a:ln>
        </p:spPr>
        <p:txBody>
          <a:bodyPr rtlCol="0" anchor="ctr"/>
          <a:lstStyle/>
          <a:p/>
        </p:txBody>
      </p:sp>
      <p:sp>
        <p:nvSpPr>
          <p:cNvPr id="16" name="Oval 15"/>
          <p:cNvSpPr/>
          <p:nvPr/>
        </p:nvSpPr>
        <p:spPr>
          <a:xfrm>
            <a:off x="11226498" y="2940714"/>
            <a:ext cx="36576" cy="36576"/>
          </a:xfrm>
          <a:prstGeom prst="ellipse">
            <a:avLst/>
          </a:prstGeom>
          <a:solidFill>
            <a:srgbClr val="794F20"/>
          </a:solidFill>
          <a:ln>
            <a:noFill/>
          </a:ln>
        </p:spPr>
        <p:txBody>
          <a:bodyPr rtlCol="0" anchor="ctr"/>
          <a:lstStyle/>
          <a:p/>
        </p:txBody>
      </p:sp>
      <p:sp>
        <p:nvSpPr>
          <p:cNvPr id="17" name="Oval 16"/>
          <p:cNvSpPr/>
          <p:nvPr/>
        </p:nvSpPr>
        <p:spPr>
          <a:xfrm>
            <a:off x="2010446" y="3467468"/>
            <a:ext cx="45720" cy="45720"/>
          </a:xfrm>
          <a:prstGeom prst="ellipse">
            <a:avLst/>
          </a:prstGeom>
          <a:solidFill>
            <a:srgbClr val="665A3A"/>
          </a:solidFill>
          <a:ln>
            <a:noFill/>
          </a:ln>
        </p:spPr>
        <p:txBody>
          <a:bodyPr rtlCol="0" anchor="ctr"/>
          <a:lstStyle/>
          <a:p/>
        </p:txBody>
      </p:sp>
      <p:sp>
        <p:nvSpPr>
          <p:cNvPr id="18" name="Oval 17"/>
          <p:cNvSpPr/>
          <p:nvPr/>
        </p:nvSpPr>
        <p:spPr>
          <a:xfrm>
            <a:off x="2255976" y="4221520"/>
            <a:ext cx="45720" cy="45720"/>
          </a:xfrm>
          <a:prstGeom prst="ellipse">
            <a:avLst/>
          </a:prstGeom>
          <a:solidFill>
            <a:srgbClr val="A6935F"/>
          </a:solidFill>
          <a:ln>
            <a:noFill/>
          </a:ln>
        </p:spPr>
        <p:txBody>
          <a:bodyPr rtlCol="0" anchor="ctr"/>
          <a:lstStyle/>
          <a:p/>
        </p:txBody>
      </p:sp>
      <p:sp>
        <p:nvSpPr>
          <p:cNvPr id="19" name="Oval 18"/>
          <p:cNvSpPr/>
          <p:nvPr/>
        </p:nvSpPr>
        <p:spPr>
          <a:xfrm>
            <a:off x="9222748" y="2315640"/>
            <a:ext cx="54864" cy="54864"/>
          </a:xfrm>
          <a:prstGeom prst="ellipse">
            <a:avLst/>
          </a:prstGeom>
          <a:solidFill>
            <a:srgbClr val="463D27"/>
          </a:solidFill>
          <a:ln>
            <a:noFill/>
          </a:ln>
        </p:spPr>
        <p:txBody>
          <a:bodyPr rtlCol="0" anchor="ctr"/>
          <a:lstStyle/>
          <a:p/>
        </p:txBody>
      </p:sp>
      <p:sp>
        <p:nvSpPr>
          <p:cNvPr id="20" name="Oval 19"/>
          <p:cNvSpPr/>
          <p:nvPr/>
        </p:nvSpPr>
        <p:spPr>
          <a:xfrm>
            <a:off x="4166609" y="2264283"/>
            <a:ext cx="27432" cy="27432"/>
          </a:xfrm>
          <a:prstGeom prst="ellipse">
            <a:avLst/>
          </a:prstGeom>
          <a:solidFill>
            <a:srgbClr val="66593A"/>
          </a:solidFill>
          <a:ln>
            <a:noFill/>
          </a:ln>
        </p:spPr>
        <p:txBody>
          <a:bodyPr rtlCol="0" anchor="ctr"/>
          <a:lstStyle/>
          <a:p/>
        </p:txBody>
      </p:sp>
      <p:sp>
        <p:nvSpPr>
          <p:cNvPr id="21" name="Oval 20"/>
          <p:cNvSpPr/>
          <p:nvPr/>
        </p:nvSpPr>
        <p:spPr>
          <a:xfrm>
            <a:off x="7045311" y="2687252"/>
            <a:ext cx="54864" cy="54864"/>
          </a:xfrm>
          <a:prstGeom prst="ellipse">
            <a:avLst/>
          </a:prstGeom>
          <a:solidFill>
            <a:srgbClr val="946026"/>
          </a:solidFill>
          <a:ln>
            <a:noFill/>
          </a:ln>
        </p:spPr>
        <p:txBody>
          <a:bodyPr rtlCol="0" anchor="ctr"/>
          <a:lstStyle/>
          <a:p/>
        </p:txBody>
      </p:sp>
      <p:sp>
        <p:nvSpPr>
          <p:cNvPr id="22" name="Oval 21"/>
          <p:cNvSpPr/>
          <p:nvPr/>
        </p:nvSpPr>
        <p:spPr>
          <a:xfrm>
            <a:off x="8804125" y="6263423"/>
            <a:ext cx="36576" cy="36576"/>
          </a:xfrm>
          <a:prstGeom prst="ellipse">
            <a:avLst/>
          </a:prstGeom>
          <a:solidFill>
            <a:srgbClr val="825522"/>
          </a:solidFill>
          <a:ln>
            <a:noFill/>
          </a:ln>
        </p:spPr>
        <p:txBody>
          <a:bodyPr rtlCol="0" anchor="ctr"/>
          <a:lstStyle/>
          <a:p/>
        </p:txBody>
      </p:sp>
      <p:sp>
        <p:nvSpPr>
          <p:cNvPr id="23" name="Oval 22"/>
          <p:cNvSpPr/>
          <p:nvPr/>
        </p:nvSpPr>
        <p:spPr>
          <a:xfrm>
            <a:off x="6094472" y="1354234"/>
            <a:ext cx="73152" cy="73152"/>
          </a:xfrm>
          <a:prstGeom prst="ellipse">
            <a:avLst/>
          </a:prstGeom>
          <a:solidFill>
            <a:srgbClr val="6B5929"/>
          </a:solidFill>
          <a:ln>
            <a:noFill/>
          </a:ln>
        </p:spPr>
        <p:txBody>
          <a:bodyPr rtlCol="0" anchor="ctr"/>
          <a:lstStyle/>
          <a:p/>
        </p:txBody>
      </p:sp>
      <p:sp>
        <p:nvSpPr>
          <p:cNvPr id="24" name="Oval 23"/>
          <p:cNvSpPr/>
          <p:nvPr/>
        </p:nvSpPr>
        <p:spPr>
          <a:xfrm>
            <a:off x="1921599" y="3582986"/>
            <a:ext cx="54864" cy="54864"/>
          </a:xfrm>
          <a:prstGeom prst="ellipse">
            <a:avLst/>
          </a:prstGeom>
          <a:solidFill>
            <a:srgbClr val="845622"/>
          </a:solidFill>
          <a:ln>
            <a:noFill/>
          </a:ln>
        </p:spPr>
        <p:txBody>
          <a:bodyPr rtlCol="0" anchor="ctr"/>
          <a:lstStyle/>
          <a:p/>
        </p:txBody>
      </p:sp>
      <p:sp>
        <p:nvSpPr>
          <p:cNvPr id="25" name="Oval 24"/>
          <p:cNvSpPr/>
          <p:nvPr/>
        </p:nvSpPr>
        <p:spPr>
          <a:xfrm>
            <a:off x="8408001" y="3686568"/>
            <a:ext cx="54864" cy="54864"/>
          </a:xfrm>
          <a:prstGeom prst="ellipse">
            <a:avLst/>
          </a:prstGeom>
          <a:solidFill>
            <a:srgbClr val="BEA96D"/>
          </a:solidFill>
          <a:ln>
            <a:noFill/>
          </a:ln>
        </p:spPr>
        <p:txBody>
          <a:bodyPr rtlCol="0" anchor="ctr"/>
          <a:lstStyle/>
          <a:p/>
        </p:txBody>
      </p:sp>
      <p:sp>
        <p:nvSpPr>
          <p:cNvPr id="26" name="Oval 25"/>
          <p:cNvSpPr/>
          <p:nvPr/>
        </p:nvSpPr>
        <p:spPr>
          <a:xfrm>
            <a:off x="9867007" y="5548659"/>
            <a:ext cx="54864" cy="54864"/>
          </a:xfrm>
          <a:prstGeom prst="ellipse">
            <a:avLst/>
          </a:prstGeom>
          <a:solidFill>
            <a:srgbClr val="845622"/>
          </a:solidFill>
          <a:ln>
            <a:noFill/>
          </a:ln>
        </p:spPr>
        <p:txBody>
          <a:bodyPr rtlCol="0" anchor="ctr"/>
          <a:lstStyle/>
          <a:p/>
        </p:txBody>
      </p:sp>
      <p:sp>
        <p:nvSpPr>
          <p:cNvPr id="27" name="Oval 26"/>
          <p:cNvSpPr/>
          <p:nvPr/>
        </p:nvSpPr>
        <p:spPr>
          <a:xfrm>
            <a:off x="4372672" y="1269258"/>
            <a:ext cx="27432" cy="27432"/>
          </a:xfrm>
          <a:prstGeom prst="ellipse">
            <a:avLst/>
          </a:prstGeom>
          <a:solidFill>
            <a:srgbClr val="6A5829"/>
          </a:solidFill>
          <a:ln>
            <a:noFill/>
          </a:ln>
        </p:spPr>
        <p:txBody>
          <a:bodyPr rtlCol="0" anchor="ctr"/>
          <a:lstStyle/>
          <a:p/>
        </p:txBody>
      </p:sp>
      <p:sp>
        <p:nvSpPr>
          <p:cNvPr id="28" name="Oval 27"/>
          <p:cNvSpPr/>
          <p:nvPr/>
        </p:nvSpPr>
        <p:spPr>
          <a:xfrm>
            <a:off x="1962158" y="5489360"/>
            <a:ext cx="54864" cy="54864"/>
          </a:xfrm>
          <a:prstGeom prst="ellipse">
            <a:avLst/>
          </a:prstGeom>
          <a:solidFill>
            <a:srgbClr val="9B813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5042001" y="862393"/>
            <a:ext cx="2107692" cy="329184"/>
          </a:xfrm>
          <a:prstGeom prst="rect">
            <a:avLst/>
          </a:prstGeom>
          <a:noFill/>
        </p:spPr>
        <p:txBody>
          <a:bodyPr wrap="square" lIns="0" rIns="0" tIns="0" bIns="0" anchor="ctr">
            <a:spAutoFit/>
          </a:bodyPr>
          <a:lstStyle/>
          <a:p>
            <a:pPr algn="ctr"/>
            <a:r>
              <a:rPr sz="1300" b="1" i="0" spc="400">
                <a:solidFill>
                  <a:srgbClr val="C9A84C"/>
                </a:solidFill>
                <a:latin typeface="Montserrat"/>
              </a:rPr>
              <a:t>THE PROBLEM</a:t>
            </a:r>
          </a:p>
        </p:txBody>
      </p:sp>
      <p:cxnSp>
        <p:nvCxnSpPr>
          <p:cNvPr id="50" name="Connector 49"/>
          <p:cNvCxnSpPr/>
          <p:nvPr/>
        </p:nvCxnSpPr>
        <p:spPr>
          <a:xfrm>
            <a:off x="3670401" y="1026985"/>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620109" y="976693"/>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286853" y="1026985"/>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471001" y="976693"/>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255585"/>
            <a:ext cx="10362895" cy="1051560"/>
          </a:xfrm>
          <a:prstGeom prst="rect">
            <a:avLst/>
          </a:prstGeom>
          <a:noFill/>
        </p:spPr>
        <p:txBody>
          <a:bodyPr wrap="square" lIns="0" rIns="0" tIns="0" bIns="0" anchor="ctr">
            <a:spAutoFit/>
          </a:bodyPr>
          <a:lstStyle/>
          <a:p>
            <a:pPr algn="ctr">
              <a:lnSpc>
                <a:spcPct val="105000"/>
              </a:lnSpc>
            </a:pPr>
            <a:r>
              <a:rPr sz="3600" b="1" i="0">
                <a:solidFill>
                  <a:srgbClr val="F0D58A"/>
                </a:solidFill>
                <a:latin typeface="Cinzel"/>
              </a:rPr>
              <a:t>You work hard. True wealth stays locked. Why?</a:t>
            </a:r>
          </a:p>
        </p:txBody>
      </p:sp>
      <p:sp>
        <p:nvSpPr>
          <p:cNvPr id="55" name="Rounded Rectangle 54"/>
          <p:cNvSpPr/>
          <p:nvPr/>
        </p:nvSpPr>
        <p:spPr>
          <a:xfrm>
            <a:off x="914400" y="2490025"/>
            <a:ext cx="2350693" cy="3222117"/>
          </a:xfrm>
          <a:prstGeom prst="roundRect">
            <a:avLst>
              <a:gd name="adj" fmla="val 6000"/>
            </a:avLst>
          </a:prstGeom>
          <a:solidFill>
            <a:srgbClr val="100D07"/>
          </a:solidFill>
          <a:ln w="15875">
            <a:solidFill>
              <a:srgbClr val="877034"/>
            </a:solidFill>
          </a:ln>
        </p:spPr>
        <p:txBody>
          <a:bodyPr rtlCol="0" anchor="ctr"/>
          <a:lstStyle/>
          <a:p/>
        </p:txBody>
      </p:sp>
      <p:sp>
        <p:nvSpPr>
          <p:cNvPr id="56" name="Oval 55"/>
          <p:cNvSpPr/>
          <p:nvPr/>
        </p:nvSpPr>
        <p:spPr>
          <a:xfrm>
            <a:off x="1778850" y="2736913"/>
            <a:ext cx="621792" cy="621792"/>
          </a:xfrm>
          <a:prstGeom prst="ellipse">
            <a:avLst/>
          </a:prstGeom>
          <a:solidFill>
            <a:srgbClr val="1A1309"/>
          </a:solidFill>
          <a:ln w="25400">
            <a:solidFill>
              <a:srgbClr val="F0D58A"/>
            </a:solidFill>
          </a:ln>
        </p:spPr>
        <p:txBody>
          <a:bodyPr rtlCol="0" anchor="ctr"/>
          <a:lstStyle/>
          <a:p/>
        </p:txBody>
      </p:sp>
      <p:sp>
        <p:nvSpPr>
          <p:cNvPr id="57" name="Oval 56"/>
          <p:cNvSpPr/>
          <p:nvPr/>
        </p:nvSpPr>
        <p:spPr>
          <a:xfrm>
            <a:off x="1833714" y="2791777"/>
            <a:ext cx="512064" cy="512064"/>
          </a:xfrm>
          <a:prstGeom prst="ellipse">
            <a:avLst/>
          </a:prstGeom>
          <a:noFill/>
          <a:ln w="9525">
            <a:solidFill>
              <a:srgbClr val="7D6830"/>
            </a:solidFill>
          </a:ln>
        </p:spPr>
        <p:txBody>
          <a:bodyPr rtlCol="0" anchor="ctr"/>
          <a:lstStyle/>
          <a:p/>
        </p:txBody>
      </p:sp>
      <p:sp>
        <p:nvSpPr>
          <p:cNvPr id="58" name="TextBox 57"/>
          <p:cNvSpPr txBox="1"/>
          <p:nvPr/>
        </p:nvSpPr>
        <p:spPr>
          <a:xfrm>
            <a:off x="1778850" y="2736913"/>
            <a:ext cx="621792" cy="621792"/>
          </a:xfrm>
          <a:prstGeom prst="rect">
            <a:avLst/>
          </a:prstGeom>
          <a:noFill/>
        </p:spPr>
        <p:txBody>
          <a:bodyPr wrap="square" lIns="0" rIns="0" tIns="0" bIns="0" anchor="ctr">
            <a:spAutoFit/>
          </a:bodyPr>
          <a:lstStyle/>
          <a:p>
            <a:pPr algn="ctr"/>
            <a:r>
              <a:rPr sz="1900" b="1" i="0">
                <a:solidFill>
                  <a:srgbClr val="F0D58A"/>
                </a:solidFill>
                <a:latin typeface="Cinzel"/>
              </a:rPr>
              <a:t>1</a:t>
            </a:r>
          </a:p>
        </p:txBody>
      </p:sp>
      <p:sp>
        <p:nvSpPr>
          <p:cNvPr id="59" name="TextBox 58"/>
          <p:cNvSpPr txBox="1"/>
          <p:nvPr/>
        </p:nvSpPr>
        <p:spPr>
          <a:xfrm>
            <a:off x="1097280" y="3587305"/>
            <a:ext cx="1984933" cy="680085"/>
          </a:xfrm>
          <a:prstGeom prst="rect">
            <a:avLst/>
          </a:prstGeom>
          <a:noFill/>
        </p:spPr>
        <p:txBody>
          <a:bodyPr wrap="square" lIns="0" rIns="0" tIns="0" bIns="0" anchor="ctr">
            <a:spAutoFit/>
          </a:bodyPr>
          <a:lstStyle/>
          <a:p>
            <a:pPr algn="ctr">
              <a:lnSpc>
                <a:spcPct val="105000"/>
              </a:lnSpc>
            </a:pPr>
            <a:r>
              <a:rPr sz="1700" b="1" i="0">
                <a:solidFill>
                  <a:srgbClr val="F0D58A"/>
                </a:solidFill>
                <a:latin typeface="Cinzel"/>
              </a:rPr>
              <a:t>No budgeting system</a:t>
            </a:r>
          </a:p>
        </p:txBody>
      </p:sp>
      <p:sp>
        <p:nvSpPr>
          <p:cNvPr id="60" name="TextBox 59"/>
          <p:cNvSpPr txBox="1"/>
          <p:nvPr/>
        </p:nvSpPr>
        <p:spPr>
          <a:xfrm>
            <a:off x="1143000" y="4450270"/>
            <a:ext cx="1893493"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You don't know where it goes</a:t>
            </a:r>
          </a:p>
        </p:txBody>
      </p:sp>
      <p:sp>
        <p:nvSpPr>
          <p:cNvPr id="61" name="Rounded Rectangle 60"/>
          <p:cNvSpPr/>
          <p:nvPr/>
        </p:nvSpPr>
        <p:spPr>
          <a:xfrm>
            <a:off x="3585133" y="2490025"/>
            <a:ext cx="2350693" cy="3222117"/>
          </a:xfrm>
          <a:prstGeom prst="roundRect">
            <a:avLst>
              <a:gd name="adj" fmla="val 6000"/>
            </a:avLst>
          </a:prstGeom>
          <a:solidFill>
            <a:srgbClr val="100D07"/>
          </a:solidFill>
          <a:ln w="15875">
            <a:solidFill>
              <a:srgbClr val="877034"/>
            </a:solidFill>
          </a:ln>
        </p:spPr>
        <p:txBody>
          <a:bodyPr rtlCol="0" anchor="ctr"/>
          <a:lstStyle/>
          <a:p/>
        </p:txBody>
      </p:sp>
      <p:sp>
        <p:nvSpPr>
          <p:cNvPr id="62" name="Oval 61"/>
          <p:cNvSpPr/>
          <p:nvPr/>
        </p:nvSpPr>
        <p:spPr>
          <a:xfrm>
            <a:off x="4449584" y="2736913"/>
            <a:ext cx="621792" cy="621792"/>
          </a:xfrm>
          <a:prstGeom prst="ellipse">
            <a:avLst/>
          </a:prstGeom>
          <a:solidFill>
            <a:srgbClr val="1A1309"/>
          </a:solidFill>
          <a:ln w="25400">
            <a:solidFill>
              <a:srgbClr val="F0D58A"/>
            </a:solidFill>
          </a:ln>
        </p:spPr>
        <p:txBody>
          <a:bodyPr rtlCol="0" anchor="ctr"/>
          <a:lstStyle/>
          <a:p/>
        </p:txBody>
      </p:sp>
      <p:sp>
        <p:nvSpPr>
          <p:cNvPr id="63" name="Oval 62"/>
          <p:cNvSpPr/>
          <p:nvPr/>
        </p:nvSpPr>
        <p:spPr>
          <a:xfrm>
            <a:off x="4504448" y="2791777"/>
            <a:ext cx="512064" cy="512064"/>
          </a:xfrm>
          <a:prstGeom prst="ellipse">
            <a:avLst/>
          </a:prstGeom>
          <a:noFill/>
          <a:ln w="9525">
            <a:solidFill>
              <a:srgbClr val="7D6830"/>
            </a:solidFill>
          </a:ln>
        </p:spPr>
        <p:txBody>
          <a:bodyPr rtlCol="0" anchor="ctr"/>
          <a:lstStyle/>
          <a:p/>
        </p:txBody>
      </p:sp>
      <p:sp>
        <p:nvSpPr>
          <p:cNvPr id="64" name="TextBox 63"/>
          <p:cNvSpPr txBox="1"/>
          <p:nvPr/>
        </p:nvSpPr>
        <p:spPr>
          <a:xfrm>
            <a:off x="4449584" y="2736913"/>
            <a:ext cx="621792" cy="621792"/>
          </a:xfrm>
          <a:prstGeom prst="rect">
            <a:avLst/>
          </a:prstGeom>
          <a:noFill/>
        </p:spPr>
        <p:txBody>
          <a:bodyPr wrap="square" lIns="0" rIns="0" tIns="0" bIns="0" anchor="ctr">
            <a:spAutoFit/>
          </a:bodyPr>
          <a:lstStyle/>
          <a:p>
            <a:pPr algn="ctr"/>
            <a:r>
              <a:rPr sz="1900" b="1" i="0">
                <a:solidFill>
                  <a:srgbClr val="F0D58A"/>
                </a:solidFill>
                <a:latin typeface="Cinzel"/>
              </a:rPr>
              <a:t>2</a:t>
            </a:r>
          </a:p>
        </p:txBody>
      </p:sp>
      <p:sp>
        <p:nvSpPr>
          <p:cNvPr id="65" name="TextBox 64"/>
          <p:cNvSpPr txBox="1"/>
          <p:nvPr/>
        </p:nvSpPr>
        <p:spPr>
          <a:xfrm>
            <a:off x="3768013" y="3587305"/>
            <a:ext cx="1984933" cy="680085"/>
          </a:xfrm>
          <a:prstGeom prst="rect">
            <a:avLst/>
          </a:prstGeom>
          <a:noFill/>
        </p:spPr>
        <p:txBody>
          <a:bodyPr wrap="square" lIns="0" rIns="0" tIns="0" bIns="0" anchor="ctr">
            <a:spAutoFit/>
          </a:bodyPr>
          <a:lstStyle/>
          <a:p>
            <a:pPr algn="ctr">
              <a:lnSpc>
                <a:spcPct val="105000"/>
              </a:lnSpc>
            </a:pPr>
            <a:r>
              <a:rPr sz="1700" b="1" i="0">
                <a:solidFill>
                  <a:srgbClr val="F0D58A"/>
                </a:solidFill>
                <a:latin typeface="Cinzel"/>
              </a:rPr>
              <a:t>No strong credit profile</a:t>
            </a:r>
          </a:p>
        </p:txBody>
      </p:sp>
      <p:sp>
        <p:nvSpPr>
          <p:cNvPr id="66" name="TextBox 65"/>
          <p:cNvSpPr txBox="1"/>
          <p:nvPr/>
        </p:nvSpPr>
        <p:spPr>
          <a:xfrm>
            <a:off x="3813733" y="4450270"/>
            <a:ext cx="1893493"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Every loan costs you more</a:t>
            </a:r>
          </a:p>
        </p:txBody>
      </p:sp>
      <p:sp>
        <p:nvSpPr>
          <p:cNvPr id="67" name="Rounded Rectangle 66"/>
          <p:cNvSpPr/>
          <p:nvPr/>
        </p:nvSpPr>
        <p:spPr>
          <a:xfrm>
            <a:off x="6255867" y="2490025"/>
            <a:ext cx="2350693" cy="3222117"/>
          </a:xfrm>
          <a:prstGeom prst="roundRect">
            <a:avLst>
              <a:gd name="adj" fmla="val 6000"/>
            </a:avLst>
          </a:prstGeom>
          <a:solidFill>
            <a:srgbClr val="100D07"/>
          </a:solidFill>
          <a:ln w="15875">
            <a:solidFill>
              <a:srgbClr val="877034"/>
            </a:solidFill>
          </a:ln>
        </p:spPr>
        <p:txBody>
          <a:bodyPr rtlCol="0" anchor="ctr"/>
          <a:lstStyle/>
          <a:p/>
        </p:txBody>
      </p:sp>
      <p:sp>
        <p:nvSpPr>
          <p:cNvPr id="68" name="Oval 67"/>
          <p:cNvSpPr/>
          <p:nvPr/>
        </p:nvSpPr>
        <p:spPr>
          <a:xfrm>
            <a:off x="7120318" y="2736913"/>
            <a:ext cx="621792" cy="621792"/>
          </a:xfrm>
          <a:prstGeom prst="ellipse">
            <a:avLst/>
          </a:prstGeom>
          <a:solidFill>
            <a:srgbClr val="1A1309"/>
          </a:solidFill>
          <a:ln w="25400">
            <a:solidFill>
              <a:srgbClr val="F0D58A"/>
            </a:solidFill>
          </a:ln>
        </p:spPr>
        <p:txBody>
          <a:bodyPr rtlCol="0" anchor="ctr"/>
          <a:lstStyle/>
          <a:p/>
        </p:txBody>
      </p:sp>
      <p:sp>
        <p:nvSpPr>
          <p:cNvPr id="69" name="Oval 68"/>
          <p:cNvSpPr/>
          <p:nvPr/>
        </p:nvSpPr>
        <p:spPr>
          <a:xfrm>
            <a:off x="7175182" y="2791777"/>
            <a:ext cx="512064" cy="512064"/>
          </a:xfrm>
          <a:prstGeom prst="ellipse">
            <a:avLst/>
          </a:prstGeom>
          <a:noFill/>
          <a:ln w="9525">
            <a:solidFill>
              <a:srgbClr val="7D6830"/>
            </a:solidFill>
          </a:ln>
        </p:spPr>
        <p:txBody>
          <a:bodyPr rtlCol="0" anchor="ctr"/>
          <a:lstStyle/>
          <a:p/>
        </p:txBody>
      </p:sp>
      <p:sp>
        <p:nvSpPr>
          <p:cNvPr id="70" name="TextBox 69"/>
          <p:cNvSpPr txBox="1"/>
          <p:nvPr/>
        </p:nvSpPr>
        <p:spPr>
          <a:xfrm>
            <a:off x="7120318" y="2736913"/>
            <a:ext cx="621792" cy="621792"/>
          </a:xfrm>
          <a:prstGeom prst="rect">
            <a:avLst/>
          </a:prstGeom>
          <a:noFill/>
        </p:spPr>
        <p:txBody>
          <a:bodyPr wrap="square" lIns="0" rIns="0" tIns="0" bIns="0" anchor="ctr">
            <a:spAutoFit/>
          </a:bodyPr>
          <a:lstStyle/>
          <a:p>
            <a:pPr algn="ctr"/>
            <a:r>
              <a:rPr sz="1900" b="1" i="0">
                <a:solidFill>
                  <a:srgbClr val="F0D58A"/>
                </a:solidFill>
                <a:latin typeface="Cinzel"/>
              </a:rPr>
              <a:t>3</a:t>
            </a:r>
          </a:p>
        </p:txBody>
      </p:sp>
      <p:sp>
        <p:nvSpPr>
          <p:cNvPr id="71" name="TextBox 70"/>
          <p:cNvSpPr txBox="1"/>
          <p:nvPr/>
        </p:nvSpPr>
        <p:spPr>
          <a:xfrm>
            <a:off x="6438747" y="3587305"/>
            <a:ext cx="1984933" cy="680085"/>
          </a:xfrm>
          <a:prstGeom prst="rect">
            <a:avLst/>
          </a:prstGeom>
          <a:noFill/>
        </p:spPr>
        <p:txBody>
          <a:bodyPr wrap="square" lIns="0" rIns="0" tIns="0" bIns="0" anchor="ctr">
            <a:spAutoFit/>
          </a:bodyPr>
          <a:lstStyle/>
          <a:p>
            <a:pPr algn="ctr">
              <a:lnSpc>
                <a:spcPct val="105000"/>
              </a:lnSpc>
            </a:pPr>
            <a:r>
              <a:rPr sz="1700" b="1" i="0">
                <a:solidFill>
                  <a:srgbClr val="F0D58A"/>
                </a:solidFill>
                <a:latin typeface="Cinzel"/>
              </a:rPr>
              <a:t>No business structure</a:t>
            </a:r>
          </a:p>
        </p:txBody>
      </p:sp>
      <p:sp>
        <p:nvSpPr>
          <p:cNvPr id="72" name="TextBox 71"/>
          <p:cNvSpPr txBox="1"/>
          <p:nvPr/>
        </p:nvSpPr>
        <p:spPr>
          <a:xfrm>
            <a:off x="6484467" y="4450270"/>
            <a:ext cx="1893493"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Business risk lands on you personally</a:t>
            </a:r>
          </a:p>
        </p:txBody>
      </p:sp>
      <p:sp>
        <p:nvSpPr>
          <p:cNvPr id="73" name="Rounded Rectangle 72"/>
          <p:cNvSpPr/>
          <p:nvPr/>
        </p:nvSpPr>
        <p:spPr>
          <a:xfrm>
            <a:off x="8926601" y="2490025"/>
            <a:ext cx="2350693" cy="3222117"/>
          </a:xfrm>
          <a:prstGeom prst="roundRect">
            <a:avLst>
              <a:gd name="adj" fmla="val 6000"/>
            </a:avLst>
          </a:prstGeom>
          <a:solidFill>
            <a:srgbClr val="100D07"/>
          </a:solidFill>
          <a:ln w="15875">
            <a:solidFill>
              <a:srgbClr val="877034"/>
            </a:solidFill>
          </a:ln>
        </p:spPr>
        <p:txBody>
          <a:bodyPr rtlCol="0" anchor="ctr"/>
          <a:lstStyle/>
          <a:p/>
        </p:txBody>
      </p:sp>
      <p:sp>
        <p:nvSpPr>
          <p:cNvPr id="74" name="Oval 73"/>
          <p:cNvSpPr/>
          <p:nvPr/>
        </p:nvSpPr>
        <p:spPr>
          <a:xfrm>
            <a:off x="9791052" y="2736913"/>
            <a:ext cx="621792" cy="621792"/>
          </a:xfrm>
          <a:prstGeom prst="ellipse">
            <a:avLst/>
          </a:prstGeom>
          <a:solidFill>
            <a:srgbClr val="1A1309"/>
          </a:solidFill>
          <a:ln w="25400">
            <a:solidFill>
              <a:srgbClr val="F0D58A"/>
            </a:solidFill>
          </a:ln>
        </p:spPr>
        <p:txBody>
          <a:bodyPr rtlCol="0" anchor="ctr"/>
          <a:lstStyle/>
          <a:p/>
        </p:txBody>
      </p:sp>
      <p:sp>
        <p:nvSpPr>
          <p:cNvPr id="75" name="Oval 74"/>
          <p:cNvSpPr/>
          <p:nvPr/>
        </p:nvSpPr>
        <p:spPr>
          <a:xfrm>
            <a:off x="9845916" y="2791777"/>
            <a:ext cx="512064" cy="512064"/>
          </a:xfrm>
          <a:prstGeom prst="ellipse">
            <a:avLst/>
          </a:prstGeom>
          <a:noFill/>
          <a:ln w="9525">
            <a:solidFill>
              <a:srgbClr val="7D6830"/>
            </a:solidFill>
          </a:ln>
        </p:spPr>
        <p:txBody>
          <a:bodyPr rtlCol="0" anchor="ctr"/>
          <a:lstStyle/>
          <a:p/>
        </p:txBody>
      </p:sp>
      <p:sp>
        <p:nvSpPr>
          <p:cNvPr id="76" name="TextBox 75"/>
          <p:cNvSpPr txBox="1"/>
          <p:nvPr/>
        </p:nvSpPr>
        <p:spPr>
          <a:xfrm>
            <a:off x="9791052" y="2736913"/>
            <a:ext cx="621792" cy="621792"/>
          </a:xfrm>
          <a:prstGeom prst="rect">
            <a:avLst/>
          </a:prstGeom>
          <a:noFill/>
        </p:spPr>
        <p:txBody>
          <a:bodyPr wrap="square" lIns="0" rIns="0" tIns="0" bIns="0" anchor="ctr">
            <a:spAutoFit/>
          </a:bodyPr>
          <a:lstStyle/>
          <a:p>
            <a:pPr algn="ctr"/>
            <a:r>
              <a:rPr sz="1900" b="1" i="0">
                <a:solidFill>
                  <a:srgbClr val="F0D58A"/>
                </a:solidFill>
                <a:latin typeface="Cinzel"/>
              </a:rPr>
              <a:t>4</a:t>
            </a:r>
          </a:p>
        </p:txBody>
      </p:sp>
      <p:sp>
        <p:nvSpPr>
          <p:cNvPr id="77" name="TextBox 76"/>
          <p:cNvSpPr txBox="1"/>
          <p:nvPr/>
        </p:nvSpPr>
        <p:spPr>
          <a:xfrm>
            <a:off x="9109481" y="3587305"/>
            <a:ext cx="1984933" cy="680085"/>
          </a:xfrm>
          <a:prstGeom prst="rect">
            <a:avLst/>
          </a:prstGeom>
          <a:noFill/>
        </p:spPr>
        <p:txBody>
          <a:bodyPr wrap="square" lIns="0" rIns="0" tIns="0" bIns="0" anchor="ctr">
            <a:spAutoFit/>
          </a:bodyPr>
          <a:lstStyle/>
          <a:p>
            <a:pPr algn="ctr">
              <a:lnSpc>
                <a:spcPct val="105000"/>
              </a:lnSpc>
            </a:pPr>
            <a:r>
              <a:rPr sz="1700" b="1" i="0">
                <a:solidFill>
                  <a:srgbClr val="F0D58A"/>
                </a:solidFill>
                <a:latin typeface="Cinzel"/>
              </a:rPr>
              <a:t>No generational plan</a:t>
            </a:r>
          </a:p>
        </p:txBody>
      </p:sp>
      <p:sp>
        <p:nvSpPr>
          <p:cNvPr id="78" name="TextBox 77"/>
          <p:cNvSpPr txBox="1"/>
          <p:nvPr/>
        </p:nvSpPr>
        <p:spPr>
          <a:xfrm>
            <a:off x="9155201" y="4450270"/>
            <a:ext cx="1893493"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What you build ends with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697894" y="5771702"/>
            <a:ext cx="45720" cy="45720"/>
          </a:xfrm>
          <a:prstGeom prst="ellipse">
            <a:avLst/>
          </a:prstGeom>
          <a:solidFill>
            <a:srgbClr val="978556"/>
          </a:solidFill>
          <a:ln>
            <a:noFill/>
          </a:ln>
        </p:spPr>
        <p:txBody>
          <a:bodyPr rtlCol="0" anchor="ctr"/>
          <a:lstStyle/>
          <a:p/>
        </p:txBody>
      </p:sp>
      <p:sp>
        <p:nvSpPr>
          <p:cNvPr id="4" name="Oval 3"/>
          <p:cNvSpPr/>
          <p:nvPr/>
        </p:nvSpPr>
        <p:spPr>
          <a:xfrm>
            <a:off x="10327299" y="4175353"/>
            <a:ext cx="36576" cy="36576"/>
          </a:xfrm>
          <a:prstGeom prst="ellipse">
            <a:avLst/>
          </a:prstGeom>
          <a:solidFill>
            <a:srgbClr val="554B30"/>
          </a:solidFill>
          <a:ln>
            <a:noFill/>
          </a:ln>
        </p:spPr>
        <p:txBody>
          <a:bodyPr rtlCol="0" anchor="ctr"/>
          <a:lstStyle/>
          <a:p/>
        </p:txBody>
      </p:sp>
      <p:sp>
        <p:nvSpPr>
          <p:cNvPr id="5" name="Oval 4"/>
          <p:cNvSpPr/>
          <p:nvPr/>
        </p:nvSpPr>
        <p:spPr>
          <a:xfrm>
            <a:off x="10058668" y="4791912"/>
            <a:ext cx="73152" cy="73152"/>
          </a:xfrm>
          <a:prstGeom prst="ellipse">
            <a:avLst/>
          </a:prstGeom>
          <a:solidFill>
            <a:srgbClr val="7B6C46"/>
          </a:solidFill>
          <a:ln>
            <a:noFill/>
          </a:ln>
        </p:spPr>
        <p:txBody>
          <a:bodyPr rtlCol="0" anchor="ctr"/>
          <a:lstStyle/>
          <a:p/>
        </p:txBody>
      </p:sp>
      <p:sp>
        <p:nvSpPr>
          <p:cNvPr id="6" name="Oval 5"/>
          <p:cNvSpPr/>
          <p:nvPr/>
        </p:nvSpPr>
        <p:spPr>
          <a:xfrm>
            <a:off x="11803092" y="6267607"/>
            <a:ext cx="73152" cy="73152"/>
          </a:xfrm>
          <a:prstGeom prst="ellipse">
            <a:avLst/>
          </a:prstGeom>
          <a:solidFill>
            <a:srgbClr val="50462D"/>
          </a:solidFill>
          <a:ln>
            <a:noFill/>
          </a:ln>
        </p:spPr>
        <p:txBody>
          <a:bodyPr rtlCol="0" anchor="ctr"/>
          <a:lstStyle/>
          <a:p/>
        </p:txBody>
      </p:sp>
      <p:sp>
        <p:nvSpPr>
          <p:cNvPr id="7" name="Oval 6"/>
          <p:cNvSpPr/>
          <p:nvPr/>
        </p:nvSpPr>
        <p:spPr>
          <a:xfrm>
            <a:off x="9836051" y="4792257"/>
            <a:ext cx="45720" cy="45720"/>
          </a:xfrm>
          <a:prstGeom prst="ellipse">
            <a:avLst/>
          </a:prstGeom>
          <a:solidFill>
            <a:srgbClr val="A99561"/>
          </a:solidFill>
          <a:ln>
            <a:noFill/>
          </a:ln>
        </p:spPr>
        <p:txBody>
          <a:bodyPr rtlCol="0" anchor="ctr"/>
          <a:lstStyle/>
          <a:p/>
        </p:txBody>
      </p:sp>
      <p:sp>
        <p:nvSpPr>
          <p:cNvPr id="8" name="Oval 7"/>
          <p:cNvSpPr/>
          <p:nvPr/>
        </p:nvSpPr>
        <p:spPr>
          <a:xfrm>
            <a:off x="4442570" y="1756727"/>
            <a:ext cx="45720" cy="45720"/>
          </a:xfrm>
          <a:prstGeom prst="ellipse">
            <a:avLst/>
          </a:prstGeom>
          <a:solidFill>
            <a:srgbClr val="76622D"/>
          </a:solidFill>
          <a:ln>
            <a:noFill/>
          </a:ln>
        </p:spPr>
        <p:txBody>
          <a:bodyPr rtlCol="0" anchor="ctr"/>
          <a:lstStyle/>
          <a:p/>
        </p:txBody>
      </p:sp>
      <p:sp>
        <p:nvSpPr>
          <p:cNvPr id="9" name="Oval 8"/>
          <p:cNvSpPr/>
          <p:nvPr/>
        </p:nvSpPr>
        <p:spPr>
          <a:xfrm>
            <a:off x="8052424" y="5647417"/>
            <a:ext cx="54864" cy="54864"/>
          </a:xfrm>
          <a:prstGeom prst="ellipse">
            <a:avLst/>
          </a:prstGeom>
          <a:solidFill>
            <a:srgbClr val="5C4C24"/>
          </a:solidFill>
          <a:ln>
            <a:noFill/>
          </a:ln>
        </p:spPr>
        <p:txBody>
          <a:bodyPr rtlCol="0" anchor="ctr"/>
          <a:lstStyle/>
          <a:p/>
        </p:txBody>
      </p:sp>
      <p:sp>
        <p:nvSpPr>
          <p:cNvPr id="10" name="Oval 9"/>
          <p:cNvSpPr/>
          <p:nvPr/>
        </p:nvSpPr>
        <p:spPr>
          <a:xfrm>
            <a:off x="4330742" y="3900271"/>
            <a:ext cx="27432" cy="27432"/>
          </a:xfrm>
          <a:prstGeom prst="ellipse">
            <a:avLst/>
          </a:prstGeom>
          <a:solidFill>
            <a:srgbClr val="A2873D"/>
          </a:solidFill>
          <a:ln>
            <a:noFill/>
          </a:ln>
        </p:spPr>
        <p:txBody>
          <a:bodyPr rtlCol="0" anchor="ctr"/>
          <a:lstStyle/>
          <a:p/>
        </p:txBody>
      </p:sp>
      <p:sp>
        <p:nvSpPr>
          <p:cNvPr id="11" name="Oval 10"/>
          <p:cNvSpPr/>
          <p:nvPr/>
        </p:nvSpPr>
        <p:spPr>
          <a:xfrm>
            <a:off x="6717291" y="4814018"/>
            <a:ext cx="54864" cy="54864"/>
          </a:xfrm>
          <a:prstGeom prst="ellipse">
            <a:avLst/>
          </a:prstGeom>
          <a:solidFill>
            <a:srgbClr val="7C6D47"/>
          </a:solidFill>
          <a:ln>
            <a:noFill/>
          </a:ln>
        </p:spPr>
        <p:txBody>
          <a:bodyPr rtlCol="0" anchor="ctr"/>
          <a:lstStyle/>
          <a:p/>
        </p:txBody>
      </p:sp>
      <p:sp>
        <p:nvSpPr>
          <p:cNvPr id="12" name="Oval 11"/>
          <p:cNvSpPr/>
          <p:nvPr/>
        </p:nvSpPr>
        <p:spPr>
          <a:xfrm>
            <a:off x="6508138" y="2109063"/>
            <a:ext cx="54864" cy="54864"/>
          </a:xfrm>
          <a:prstGeom prst="ellipse">
            <a:avLst/>
          </a:prstGeom>
          <a:solidFill>
            <a:srgbClr val="87774D"/>
          </a:solidFill>
          <a:ln>
            <a:noFill/>
          </a:ln>
        </p:spPr>
        <p:txBody>
          <a:bodyPr rtlCol="0" anchor="ctr"/>
          <a:lstStyle/>
          <a:p/>
        </p:txBody>
      </p:sp>
      <p:sp>
        <p:nvSpPr>
          <p:cNvPr id="13" name="Oval 12"/>
          <p:cNvSpPr/>
          <p:nvPr/>
        </p:nvSpPr>
        <p:spPr>
          <a:xfrm>
            <a:off x="4618775" y="1921570"/>
            <a:ext cx="45720" cy="45720"/>
          </a:xfrm>
          <a:prstGeom prst="ellipse">
            <a:avLst/>
          </a:prstGeom>
          <a:solidFill>
            <a:srgbClr val="734B1E"/>
          </a:solidFill>
          <a:ln>
            <a:noFill/>
          </a:ln>
        </p:spPr>
        <p:txBody>
          <a:bodyPr rtlCol="0" anchor="ctr"/>
          <a:lstStyle/>
          <a:p/>
        </p:txBody>
      </p:sp>
      <p:sp>
        <p:nvSpPr>
          <p:cNvPr id="14" name="Oval 13"/>
          <p:cNvSpPr/>
          <p:nvPr/>
        </p:nvSpPr>
        <p:spPr>
          <a:xfrm>
            <a:off x="6980601" y="3634897"/>
            <a:ext cx="36576" cy="36576"/>
          </a:xfrm>
          <a:prstGeom prst="ellipse">
            <a:avLst/>
          </a:prstGeom>
          <a:solidFill>
            <a:srgbClr val="544521"/>
          </a:solidFill>
          <a:ln>
            <a:noFill/>
          </a:ln>
        </p:spPr>
        <p:txBody>
          <a:bodyPr rtlCol="0" anchor="ctr"/>
          <a:lstStyle/>
          <a:p/>
        </p:txBody>
      </p:sp>
      <p:sp>
        <p:nvSpPr>
          <p:cNvPr id="15" name="Oval 14"/>
          <p:cNvSpPr/>
          <p:nvPr/>
        </p:nvSpPr>
        <p:spPr>
          <a:xfrm>
            <a:off x="8405604" y="1144974"/>
            <a:ext cx="36576" cy="36576"/>
          </a:xfrm>
          <a:prstGeom prst="ellipse">
            <a:avLst/>
          </a:prstGeom>
          <a:solidFill>
            <a:srgbClr val="925F26"/>
          </a:solidFill>
          <a:ln>
            <a:noFill/>
          </a:ln>
        </p:spPr>
        <p:txBody>
          <a:bodyPr rtlCol="0" anchor="ctr"/>
          <a:lstStyle/>
          <a:p/>
        </p:txBody>
      </p:sp>
      <p:sp>
        <p:nvSpPr>
          <p:cNvPr id="16" name="Oval 15"/>
          <p:cNvSpPr/>
          <p:nvPr/>
        </p:nvSpPr>
        <p:spPr>
          <a:xfrm>
            <a:off x="4831661" y="4638506"/>
            <a:ext cx="54864" cy="54864"/>
          </a:xfrm>
          <a:prstGeom prst="ellipse">
            <a:avLst/>
          </a:prstGeom>
          <a:solidFill>
            <a:srgbClr val="615537"/>
          </a:solidFill>
          <a:ln>
            <a:noFill/>
          </a:ln>
        </p:spPr>
        <p:txBody>
          <a:bodyPr rtlCol="0" anchor="ctr"/>
          <a:lstStyle/>
          <a:p/>
        </p:txBody>
      </p:sp>
      <p:sp>
        <p:nvSpPr>
          <p:cNvPr id="17" name="Oval 16"/>
          <p:cNvSpPr/>
          <p:nvPr/>
        </p:nvSpPr>
        <p:spPr>
          <a:xfrm>
            <a:off x="9603753" y="5347360"/>
            <a:ext cx="54864" cy="54864"/>
          </a:xfrm>
          <a:prstGeom prst="ellipse">
            <a:avLst/>
          </a:prstGeom>
          <a:solidFill>
            <a:srgbClr val="564721"/>
          </a:solidFill>
          <a:ln>
            <a:noFill/>
          </a:ln>
        </p:spPr>
        <p:txBody>
          <a:bodyPr rtlCol="0" anchor="ctr"/>
          <a:lstStyle/>
          <a:p/>
        </p:txBody>
      </p:sp>
      <p:sp>
        <p:nvSpPr>
          <p:cNvPr id="18" name="Oval 17"/>
          <p:cNvSpPr/>
          <p:nvPr/>
        </p:nvSpPr>
        <p:spPr>
          <a:xfrm>
            <a:off x="8803375" y="1859254"/>
            <a:ext cx="54864" cy="54864"/>
          </a:xfrm>
          <a:prstGeom prst="ellipse">
            <a:avLst/>
          </a:prstGeom>
          <a:solidFill>
            <a:srgbClr val="5C3C19"/>
          </a:solidFill>
          <a:ln>
            <a:noFill/>
          </a:ln>
        </p:spPr>
        <p:txBody>
          <a:bodyPr rtlCol="0" anchor="ctr"/>
          <a:lstStyle/>
          <a:p/>
        </p:txBody>
      </p:sp>
      <p:sp>
        <p:nvSpPr>
          <p:cNvPr id="19" name="Oval 18"/>
          <p:cNvSpPr/>
          <p:nvPr/>
        </p:nvSpPr>
        <p:spPr>
          <a:xfrm>
            <a:off x="6329098" y="4269871"/>
            <a:ext cx="45720" cy="45720"/>
          </a:xfrm>
          <a:prstGeom prst="ellipse">
            <a:avLst/>
          </a:prstGeom>
          <a:solidFill>
            <a:srgbClr val="7A662F"/>
          </a:solidFill>
          <a:ln>
            <a:noFill/>
          </a:ln>
        </p:spPr>
        <p:txBody>
          <a:bodyPr rtlCol="0" anchor="ctr"/>
          <a:lstStyle/>
          <a:p/>
        </p:txBody>
      </p:sp>
      <p:sp>
        <p:nvSpPr>
          <p:cNvPr id="20" name="Oval 19"/>
          <p:cNvSpPr/>
          <p:nvPr/>
        </p:nvSpPr>
        <p:spPr>
          <a:xfrm>
            <a:off x="2792058" y="4034390"/>
            <a:ext cx="54864" cy="54864"/>
          </a:xfrm>
          <a:prstGeom prst="ellipse">
            <a:avLst/>
          </a:prstGeom>
          <a:solidFill>
            <a:srgbClr val="846E33"/>
          </a:solidFill>
          <a:ln>
            <a:noFill/>
          </a:ln>
        </p:spPr>
        <p:txBody>
          <a:bodyPr rtlCol="0" anchor="ctr"/>
          <a:lstStyle/>
          <a:p/>
        </p:txBody>
      </p:sp>
      <p:sp>
        <p:nvSpPr>
          <p:cNvPr id="21" name="Oval 20"/>
          <p:cNvSpPr/>
          <p:nvPr/>
        </p:nvSpPr>
        <p:spPr>
          <a:xfrm>
            <a:off x="4483987" y="4690879"/>
            <a:ext cx="27432" cy="27432"/>
          </a:xfrm>
          <a:prstGeom prst="ellipse">
            <a:avLst/>
          </a:prstGeom>
          <a:solidFill>
            <a:srgbClr val="593A18"/>
          </a:solidFill>
          <a:ln>
            <a:noFill/>
          </a:ln>
        </p:spPr>
        <p:txBody>
          <a:bodyPr rtlCol="0" anchor="ctr"/>
          <a:lstStyle/>
          <a:p/>
        </p:txBody>
      </p:sp>
      <p:sp>
        <p:nvSpPr>
          <p:cNvPr id="22" name="Oval 21"/>
          <p:cNvSpPr/>
          <p:nvPr/>
        </p:nvSpPr>
        <p:spPr>
          <a:xfrm>
            <a:off x="2250768" y="4431368"/>
            <a:ext cx="36576" cy="36576"/>
          </a:xfrm>
          <a:prstGeom prst="ellipse">
            <a:avLst/>
          </a:prstGeom>
          <a:solidFill>
            <a:srgbClr val="B6A168"/>
          </a:solidFill>
          <a:ln>
            <a:noFill/>
          </a:ln>
        </p:spPr>
        <p:txBody>
          <a:bodyPr rtlCol="0" anchor="ctr"/>
          <a:lstStyle/>
          <a:p/>
        </p:txBody>
      </p:sp>
      <p:sp>
        <p:nvSpPr>
          <p:cNvPr id="23" name="Oval 22"/>
          <p:cNvSpPr/>
          <p:nvPr/>
        </p:nvSpPr>
        <p:spPr>
          <a:xfrm>
            <a:off x="1158161" y="4190625"/>
            <a:ext cx="36576" cy="36576"/>
          </a:xfrm>
          <a:prstGeom prst="ellipse">
            <a:avLst/>
          </a:prstGeom>
          <a:solidFill>
            <a:srgbClr val="8F7737"/>
          </a:solidFill>
          <a:ln>
            <a:noFill/>
          </a:ln>
        </p:spPr>
        <p:txBody>
          <a:bodyPr rtlCol="0" anchor="ctr"/>
          <a:lstStyle/>
          <a:p/>
        </p:txBody>
      </p:sp>
      <p:sp>
        <p:nvSpPr>
          <p:cNvPr id="24" name="Oval 23"/>
          <p:cNvSpPr/>
          <p:nvPr/>
        </p:nvSpPr>
        <p:spPr>
          <a:xfrm>
            <a:off x="11494812" y="5271348"/>
            <a:ext cx="27432" cy="27432"/>
          </a:xfrm>
          <a:prstGeom prst="ellipse">
            <a:avLst/>
          </a:prstGeom>
          <a:solidFill>
            <a:srgbClr val="45391B"/>
          </a:solidFill>
          <a:ln>
            <a:noFill/>
          </a:ln>
        </p:spPr>
        <p:txBody>
          <a:bodyPr rtlCol="0" anchor="ctr"/>
          <a:lstStyle/>
          <a:p/>
        </p:txBody>
      </p:sp>
      <p:sp>
        <p:nvSpPr>
          <p:cNvPr id="25" name="Oval 24"/>
          <p:cNvSpPr/>
          <p:nvPr/>
        </p:nvSpPr>
        <p:spPr>
          <a:xfrm>
            <a:off x="1815294" y="2211762"/>
            <a:ext cx="27432" cy="27432"/>
          </a:xfrm>
          <a:prstGeom prst="ellipse">
            <a:avLst/>
          </a:prstGeom>
          <a:solidFill>
            <a:srgbClr val="67441C"/>
          </a:solidFill>
          <a:ln>
            <a:noFill/>
          </a:ln>
        </p:spPr>
        <p:txBody>
          <a:bodyPr rtlCol="0" anchor="ctr"/>
          <a:lstStyle/>
          <a:p/>
        </p:txBody>
      </p:sp>
      <p:sp>
        <p:nvSpPr>
          <p:cNvPr id="26" name="Oval 25"/>
          <p:cNvSpPr/>
          <p:nvPr/>
        </p:nvSpPr>
        <p:spPr>
          <a:xfrm>
            <a:off x="6841238" y="4520383"/>
            <a:ext cx="45720" cy="45720"/>
          </a:xfrm>
          <a:prstGeom prst="ellipse">
            <a:avLst/>
          </a:prstGeom>
          <a:solidFill>
            <a:srgbClr val="825522"/>
          </a:solidFill>
          <a:ln>
            <a:noFill/>
          </a:ln>
        </p:spPr>
        <p:txBody>
          <a:bodyPr rtlCol="0" anchor="ctr"/>
          <a:lstStyle/>
          <a:p/>
        </p:txBody>
      </p:sp>
      <p:sp>
        <p:nvSpPr>
          <p:cNvPr id="27" name="Oval 26"/>
          <p:cNvSpPr/>
          <p:nvPr/>
        </p:nvSpPr>
        <p:spPr>
          <a:xfrm>
            <a:off x="431266" y="2355396"/>
            <a:ext cx="27432" cy="27432"/>
          </a:xfrm>
          <a:prstGeom prst="ellipse">
            <a:avLst/>
          </a:prstGeom>
          <a:solidFill>
            <a:srgbClr val="875823"/>
          </a:solidFill>
          <a:ln>
            <a:noFill/>
          </a:ln>
        </p:spPr>
        <p:txBody>
          <a:bodyPr rtlCol="0" anchor="ctr"/>
          <a:lstStyle/>
          <a:p/>
        </p:txBody>
      </p:sp>
      <p:sp>
        <p:nvSpPr>
          <p:cNvPr id="28" name="Oval 27"/>
          <p:cNvSpPr/>
          <p:nvPr/>
        </p:nvSpPr>
        <p:spPr>
          <a:xfrm>
            <a:off x="6287078" y="3184347"/>
            <a:ext cx="73152" cy="73152"/>
          </a:xfrm>
          <a:prstGeom prst="ellipse">
            <a:avLst/>
          </a:prstGeom>
          <a:solidFill>
            <a:srgbClr val="51431F"/>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758537" y="1757934"/>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BELIEF RESET #1</a:t>
            </a:r>
          </a:p>
        </p:txBody>
      </p:sp>
      <p:cxnSp>
        <p:nvCxnSpPr>
          <p:cNvPr id="51" name="Connector 50"/>
          <p:cNvCxnSpPr/>
          <p:nvPr/>
        </p:nvCxnSpPr>
        <p:spPr>
          <a:xfrm>
            <a:off x="3386937" y="192252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336645" y="1872234"/>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570317" y="192252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754465" y="1872234"/>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324862"/>
            <a:ext cx="9814255" cy="1638300"/>
          </a:xfrm>
          <a:prstGeom prst="rect">
            <a:avLst/>
          </a:prstGeom>
          <a:noFill/>
        </p:spPr>
        <p:txBody>
          <a:bodyPr wrap="square" lIns="0" rIns="0" tIns="0" bIns="0" anchor="b">
            <a:spAutoFit/>
          </a:bodyPr>
          <a:lstStyle/>
          <a:p>
            <a:pPr algn="ctr">
              <a:lnSpc>
                <a:spcPct val="105000"/>
              </a:lnSpc>
            </a:pPr>
            <a:r>
              <a:rPr sz="5800" b="1" i="0">
                <a:solidFill>
                  <a:srgbClr val="F0D58A"/>
                </a:solidFill>
                <a:latin typeface="Cinzel"/>
              </a:rPr>
              <a:t>You're not bad with money.</a:t>
            </a:r>
          </a:p>
        </p:txBody>
      </p:sp>
      <p:cxnSp>
        <p:nvCxnSpPr>
          <p:cNvPr id="56" name="Connector 55"/>
          <p:cNvCxnSpPr/>
          <p:nvPr/>
        </p:nvCxnSpPr>
        <p:spPr>
          <a:xfrm>
            <a:off x="4632807" y="414604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414604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4082033"/>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328922"/>
            <a:ext cx="9448495" cy="1072896"/>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Nobody handed you the map.</a:t>
            </a:r>
          </a:p>
          <a:p>
            <a:pPr algn="ctr">
              <a:lnSpc>
                <a:spcPct val="120000"/>
              </a:lnSpc>
              <a:spcAft>
                <a:spcPts val="800"/>
              </a:spcAft>
            </a:pPr>
            <a:r>
              <a:rPr sz="2000" b="0" i="0">
                <a:solidFill>
                  <a:srgbClr val="B9A57A"/>
                </a:solidFill>
                <a:latin typeface="Montserrat"/>
              </a:rPr>
              <a:t>Wealthy families pass down a sequence — not just money.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423836" y="4854397"/>
            <a:ext cx="27432" cy="27432"/>
          </a:xfrm>
          <a:prstGeom prst="ellipse">
            <a:avLst/>
          </a:prstGeom>
          <a:solidFill>
            <a:srgbClr val="9D833C"/>
          </a:solidFill>
          <a:ln>
            <a:noFill/>
          </a:ln>
        </p:spPr>
        <p:txBody>
          <a:bodyPr rtlCol="0" anchor="ctr"/>
          <a:lstStyle/>
          <a:p/>
        </p:txBody>
      </p:sp>
      <p:sp>
        <p:nvSpPr>
          <p:cNvPr id="4" name="Oval 3"/>
          <p:cNvSpPr/>
          <p:nvPr/>
        </p:nvSpPr>
        <p:spPr>
          <a:xfrm>
            <a:off x="8790499" y="2095442"/>
            <a:ext cx="45720" cy="45720"/>
          </a:xfrm>
          <a:prstGeom prst="ellipse">
            <a:avLst/>
          </a:prstGeom>
          <a:solidFill>
            <a:srgbClr val="988657"/>
          </a:solidFill>
          <a:ln>
            <a:noFill/>
          </a:ln>
        </p:spPr>
        <p:txBody>
          <a:bodyPr rtlCol="0" anchor="ctr"/>
          <a:lstStyle/>
          <a:p/>
        </p:txBody>
      </p:sp>
      <p:sp>
        <p:nvSpPr>
          <p:cNvPr id="5" name="Oval 4"/>
          <p:cNvSpPr/>
          <p:nvPr/>
        </p:nvSpPr>
        <p:spPr>
          <a:xfrm>
            <a:off x="5713288" y="5553464"/>
            <a:ext cx="45720" cy="45720"/>
          </a:xfrm>
          <a:prstGeom prst="ellipse">
            <a:avLst/>
          </a:prstGeom>
          <a:solidFill>
            <a:srgbClr val="A16929"/>
          </a:solidFill>
          <a:ln>
            <a:noFill/>
          </a:ln>
        </p:spPr>
        <p:txBody>
          <a:bodyPr rtlCol="0" anchor="ctr"/>
          <a:lstStyle/>
          <a:p/>
        </p:txBody>
      </p:sp>
      <p:sp>
        <p:nvSpPr>
          <p:cNvPr id="6" name="Oval 5"/>
          <p:cNvSpPr/>
          <p:nvPr/>
        </p:nvSpPr>
        <p:spPr>
          <a:xfrm>
            <a:off x="3385704" y="5541529"/>
            <a:ext cx="27432" cy="27432"/>
          </a:xfrm>
          <a:prstGeom prst="ellipse">
            <a:avLst/>
          </a:prstGeom>
          <a:solidFill>
            <a:srgbClr val="6E481D"/>
          </a:solidFill>
          <a:ln>
            <a:noFill/>
          </a:ln>
        </p:spPr>
        <p:txBody>
          <a:bodyPr rtlCol="0" anchor="ctr"/>
          <a:lstStyle/>
          <a:p/>
        </p:txBody>
      </p:sp>
      <p:sp>
        <p:nvSpPr>
          <p:cNvPr id="7" name="Oval 6"/>
          <p:cNvSpPr/>
          <p:nvPr/>
        </p:nvSpPr>
        <p:spPr>
          <a:xfrm>
            <a:off x="4499102" y="4126444"/>
            <a:ext cx="45720" cy="45720"/>
          </a:xfrm>
          <a:prstGeom prst="ellipse">
            <a:avLst/>
          </a:prstGeom>
          <a:solidFill>
            <a:srgbClr val="4B3E1D"/>
          </a:solidFill>
          <a:ln>
            <a:noFill/>
          </a:ln>
        </p:spPr>
        <p:txBody>
          <a:bodyPr rtlCol="0" anchor="ctr"/>
          <a:lstStyle/>
          <a:p/>
        </p:txBody>
      </p:sp>
      <p:sp>
        <p:nvSpPr>
          <p:cNvPr id="8" name="Oval 7"/>
          <p:cNvSpPr/>
          <p:nvPr/>
        </p:nvSpPr>
        <p:spPr>
          <a:xfrm>
            <a:off x="7991728" y="2002211"/>
            <a:ext cx="73152" cy="73152"/>
          </a:xfrm>
          <a:prstGeom prst="ellipse">
            <a:avLst/>
          </a:prstGeom>
          <a:solidFill>
            <a:srgbClr val="978556"/>
          </a:solidFill>
          <a:ln>
            <a:noFill/>
          </a:ln>
        </p:spPr>
        <p:txBody>
          <a:bodyPr rtlCol="0" anchor="ctr"/>
          <a:lstStyle/>
          <a:p/>
        </p:txBody>
      </p:sp>
      <p:sp>
        <p:nvSpPr>
          <p:cNvPr id="9" name="Oval 8"/>
          <p:cNvSpPr/>
          <p:nvPr/>
        </p:nvSpPr>
        <p:spPr>
          <a:xfrm>
            <a:off x="7182552" y="530917"/>
            <a:ext cx="27432" cy="27432"/>
          </a:xfrm>
          <a:prstGeom prst="ellipse">
            <a:avLst/>
          </a:prstGeom>
          <a:solidFill>
            <a:srgbClr val="5C3C19"/>
          </a:solidFill>
          <a:ln>
            <a:noFill/>
          </a:ln>
        </p:spPr>
        <p:txBody>
          <a:bodyPr rtlCol="0" anchor="ctr"/>
          <a:lstStyle/>
          <a:p/>
        </p:txBody>
      </p:sp>
      <p:sp>
        <p:nvSpPr>
          <p:cNvPr id="10" name="Oval 9"/>
          <p:cNvSpPr/>
          <p:nvPr/>
        </p:nvSpPr>
        <p:spPr>
          <a:xfrm>
            <a:off x="4991955" y="6252495"/>
            <a:ext cx="54864" cy="54864"/>
          </a:xfrm>
          <a:prstGeom prst="ellipse">
            <a:avLst/>
          </a:prstGeom>
          <a:solidFill>
            <a:srgbClr val="AF722D"/>
          </a:solidFill>
          <a:ln>
            <a:noFill/>
          </a:ln>
        </p:spPr>
        <p:txBody>
          <a:bodyPr rtlCol="0" anchor="ctr"/>
          <a:lstStyle/>
          <a:p/>
        </p:txBody>
      </p:sp>
      <p:sp>
        <p:nvSpPr>
          <p:cNvPr id="11" name="Oval 10"/>
          <p:cNvSpPr/>
          <p:nvPr/>
        </p:nvSpPr>
        <p:spPr>
          <a:xfrm>
            <a:off x="10365855" y="4448320"/>
            <a:ext cx="27432" cy="27432"/>
          </a:xfrm>
          <a:prstGeom prst="ellipse">
            <a:avLst/>
          </a:prstGeom>
          <a:solidFill>
            <a:srgbClr val="8E7D51"/>
          </a:solidFill>
          <a:ln>
            <a:noFill/>
          </a:ln>
        </p:spPr>
        <p:txBody>
          <a:bodyPr rtlCol="0" anchor="ctr"/>
          <a:lstStyle/>
          <a:p/>
        </p:txBody>
      </p:sp>
      <p:sp>
        <p:nvSpPr>
          <p:cNvPr id="12" name="Oval 11"/>
          <p:cNvSpPr/>
          <p:nvPr/>
        </p:nvSpPr>
        <p:spPr>
          <a:xfrm>
            <a:off x="2442321" y="928455"/>
            <a:ext cx="45720" cy="45720"/>
          </a:xfrm>
          <a:prstGeom prst="ellipse">
            <a:avLst/>
          </a:prstGeom>
          <a:solidFill>
            <a:srgbClr val="815422"/>
          </a:solidFill>
          <a:ln>
            <a:noFill/>
          </a:ln>
        </p:spPr>
        <p:txBody>
          <a:bodyPr rtlCol="0" anchor="ctr"/>
          <a:lstStyle/>
          <a:p/>
        </p:txBody>
      </p:sp>
      <p:sp>
        <p:nvSpPr>
          <p:cNvPr id="13" name="Oval 12"/>
          <p:cNvSpPr/>
          <p:nvPr/>
        </p:nvSpPr>
        <p:spPr>
          <a:xfrm>
            <a:off x="3469528" y="4075262"/>
            <a:ext cx="36576" cy="36576"/>
          </a:xfrm>
          <a:prstGeom prst="ellipse">
            <a:avLst/>
          </a:prstGeom>
          <a:solidFill>
            <a:srgbClr val="A46A2A"/>
          </a:solidFill>
          <a:ln>
            <a:noFill/>
          </a:ln>
        </p:spPr>
        <p:txBody>
          <a:bodyPr rtlCol="0" anchor="ctr"/>
          <a:lstStyle/>
          <a:p/>
        </p:txBody>
      </p:sp>
      <p:sp>
        <p:nvSpPr>
          <p:cNvPr id="14" name="Oval 13"/>
          <p:cNvSpPr/>
          <p:nvPr/>
        </p:nvSpPr>
        <p:spPr>
          <a:xfrm>
            <a:off x="3283754" y="1086033"/>
            <a:ext cx="73152" cy="73152"/>
          </a:xfrm>
          <a:prstGeom prst="ellipse">
            <a:avLst/>
          </a:prstGeom>
          <a:solidFill>
            <a:srgbClr val="685B3B"/>
          </a:solidFill>
          <a:ln>
            <a:noFill/>
          </a:ln>
        </p:spPr>
        <p:txBody>
          <a:bodyPr rtlCol="0" anchor="ctr"/>
          <a:lstStyle/>
          <a:p/>
        </p:txBody>
      </p:sp>
      <p:sp>
        <p:nvSpPr>
          <p:cNvPr id="15" name="Oval 14"/>
          <p:cNvSpPr/>
          <p:nvPr/>
        </p:nvSpPr>
        <p:spPr>
          <a:xfrm>
            <a:off x="686615" y="4766052"/>
            <a:ext cx="27432" cy="27432"/>
          </a:xfrm>
          <a:prstGeom prst="ellipse">
            <a:avLst/>
          </a:prstGeom>
          <a:solidFill>
            <a:srgbClr val="9B8959"/>
          </a:solidFill>
          <a:ln>
            <a:noFill/>
          </a:ln>
        </p:spPr>
        <p:txBody>
          <a:bodyPr rtlCol="0" anchor="ctr"/>
          <a:lstStyle/>
          <a:p/>
        </p:txBody>
      </p:sp>
      <p:sp>
        <p:nvSpPr>
          <p:cNvPr id="16" name="Oval 15"/>
          <p:cNvSpPr/>
          <p:nvPr/>
        </p:nvSpPr>
        <p:spPr>
          <a:xfrm>
            <a:off x="1431369" y="3221287"/>
            <a:ext cx="73152" cy="73152"/>
          </a:xfrm>
          <a:prstGeom prst="ellipse">
            <a:avLst/>
          </a:prstGeom>
          <a:solidFill>
            <a:srgbClr val="4D3F1E"/>
          </a:solidFill>
          <a:ln>
            <a:noFill/>
          </a:ln>
        </p:spPr>
        <p:txBody>
          <a:bodyPr rtlCol="0" anchor="ctr"/>
          <a:lstStyle/>
          <a:p/>
        </p:txBody>
      </p:sp>
      <p:sp>
        <p:nvSpPr>
          <p:cNvPr id="17" name="Oval 16"/>
          <p:cNvSpPr/>
          <p:nvPr/>
        </p:nvSpPr>
        <p:spPr>
          <a:xfrm>
            <a:off x="5582052" y="3247638"/>
            <a:ext cx="54864" cy="54864"/>
          </a:xfrm>
          <a:prstGeom prst="ellipse">
            <a:avLst/>
          </a:prstGeom>
          <a:solidFill>
            <a:srgbClr val="764D1F"/>
          </a:solidFill>
          <a:ln>
            <a:noFill/>
          </a:ln>
        </p:spPr>
        <p:txBody>
          <a:bodyPr rtlCol="0" anchor="ctr"/>
          <a:lstStyle/>
          <a:p/>
        </p:txBody>
      </p:sp>
      <p:sp>
        <p:nvSpPr>
          <p:cNvPr id="18" name="Oval 17"/>
          <p:cNvSpPr/>
          <p:nvPr/>
        </p:nvSpPr>
        <p:spPr>
          <a:xfrm>
            <a:off x="3303902" y="2708000"/>
            <a:ext cx="27432" cy="27432"/>
          </a:xfrm>
          <a:prstGeom prst="ellipse">
            <a:avLst/>
          </a:prstGeom>
          <a:solidFill>
            <a:srgbClr val="AC6F2C"/>
          </a:solidFill>
          <a:ln>
            <a:noFill/>
          </a:ln>
        </p:spPr>
        <p:txBody>
          <a:bodyPr rtlCol="0" anchor="ctr"/>
          <a:lstStyle/>
          <a:p/>
        </p:txBody>
      </p:sp>
      <p:sp>
        <p:nvSpPr>
          <p:cNvPr id="19" name="Oval 18"/>
          <p:cNvSpPr/>
          <p:nvPr/>
        </p:nvSpPr>
        <p:spPr>
          <a:xfrm>
            <a:off x="1127274" y="1217459"/>
            <a:ext cx="54864" cy="54864"/>
          </a:xfrm>
          <a:prstGeom prst="ellipse">
            <a:avLst/>
          </a:prstGeom>
          <a:solidFill>
            <a:srgbClr val="574822"/>
          </a:solidFill>
          <a:ln>
            <a:noFill/>
          </a:ln>
        </p:spPr>
        <p:txBody>
          <a:bodyPr rtlCol="0" anchor="ctr"/>
          <a:lstStyle/>
          <a:p/>
        </p:txBody>
      </p:sp>
      <p:sp>
        <p:nvSpPr>
          <p:cNvPr id="20" name="Oval 19"/>
          <p:cNvSpPr/>
          <p:nvPr/>
        </p:nvSpPr>
        <p:spPr>
          <a:xfrm>
            <a:off x="584718" y="4555365"/>
            <a:ext cx="54864" cy="54864"/>
          </a:xfrm>
          <a:prstGeom prst="ellipse">
            <a:avLst/>
          </a:prstGeom>
          <a:solidFill>
            <a:srgbClr val="462E14"/>
          </a:solidFill>
          <a:ln>
            <a:noFill/>
          </a:ln>
        </p:spPr>
        <p:txBody>
          <a:bodyPr rtlCol="0" anchor="ctr"/>
          <a:lstStyle/>
          <a:p/>
        </p:txBody>
      </p:sp>
      <p:sp>
        <p:nvSpPr>
          <p:cNvPr id="21" name="Oval 20"/>
          <p:cNvSpPr/>
          <p:nvPr/>
        </p:nvSpPr>
        <p:spPr>
          <a:xfrm>
            <a:off x="4582547" y="3165456"/>
            <a:ext cx="73152" cy="73152"/>
          </a:xfrm>
          <a:prstGeom prst="ellipse">
            <a:avLst/>
          </a:prstGeom>
          <a:solidFill>
            <a:srgbClr val="68441C"/>
          </a:solidFill>
          <a:ln>
            <a:noFill/>
          </a:ln>
        </p:spPr>
        <p:txBody>
          <a:bodyPr rtlCol="0" anchor="ctr"/>
          <a:lstStyle/>
          <a:p/>
        </p:txBody>
      </p:sp>
      <p:sp>
        <p:nvSpPr>
          <p:cNvPr id="22" name="Oval 21"/>
          <p:cNvSpPr/>
          <p:nvPr/>
        </p:nvSpPr>
        <p:spPr>
          <a:xfrm>
            <a:off x="856204" y="3693479"/>
            <a:ext cx="36576" cy="36576"/>
          </a:xfrm>
          <a:prstGeom prst="ellipse">
            <a:avLst/>
          </a:prstGeom>
          <a:solidFill>
            <a:srgbClr val="4F3416"/>
          </a:solidFill>
          <a:ln>
            <a:noFill/>
          </a:ln>
        </p:spPr>
        <p:txBody>
          <a:bodyPr rtlCol="0" anchor="ctr"/>
          <a:lstStyle/>
          <a:p/>
        </p:txBody>
      </p:sp>
      <p:sp>
        <p:nvSpPr>
          <p:cNvPr id="23" name="Oval 22"/>
          <p:cNvSpPr/>
          <p:nvPr/>
        </p:nvSpPr>
        <p:spPr>
          <a:xfrm>
            <a:off x="764331" y="2222831"/>
            <a:ext cx="27432" cy="27432"/>
          </a:xfrm>
          <a:prstGeom prst="ellipse">
            <a:avLst/>
          </a:prstGeom>
          <a:solidFill>
            <a:srgbClr val="8E7E52"/>
          </a:solidFill>
          <a:ln>
            <a:noFill/>
          </a:ln>
        </p:spPr>
        <p:txBody>
          <a:bodyPr rtlCol="0" anchor="ctr"/>
          <a:lstStyle/>
          <a:p/>
        </p:txBody>
      </p:sp>
      <p:sp>
        <p:nvSpPr>
          <p:cNvPr id="24" name="Oval 23"/>
          <p:cNvSpPr/>
          <p:nvPr/>
        </p:nvSpPr>
        <p:spPr>
          <a:xfrm>
            <a:off x="6343072" y="5148065"/>
            <a:ext cx="45720" cy="45720"/>
          </a:xfrm>
          <a:prstGeom prst="ellipse">
            <a:avLst/>
          </a:prstGeom>
          <a:solidFill>
            <a:srgbClr val="513516"/>
          </a:solidFill>
          <a:ln>
            <a:noFill/>
          </a:ln>
        </p:spPr>
        <p:txBody>
          <a:bodyPr rtlCol="0" anchor="ctr"/>
          <a:lstStyle/>
          <a:p/>
        </p:txBody>
      </p:sp>
      <p:sp>
        <p:nvSpPr>
          <p:cNvPr id="25" name="Oval 24"/>
          <p:cNvSpPr/>
          <p:nvPr/>
        </p:nvSpPr>
        <p:spPr>
          <a:xfrm>
            <a:off x="9246846" y="376348"/>
            <a:ext cx="36576" cy="36576"/>
          </a:xfrm>
          <a:prstGeom prst="ellipse">
            <a:avLst/>
          </a:prstGeom>
          <a:solidFill>
            <a:srgbClr val="AD702C"/>
          </a:solidFill>
          <a:ln>
            <a:noFill/>
          </a:ln>
        </p:spPr>
        <p:txBody>
          <a:bodyPr rtlCol="0" anchor="ctr"/>
          <a:lstStyle/>
          <a:p/>
        </p:txBody>
      </p:sp>
      <p:sp>
        <p:nvSpPr>
          <p:cNvPr id="26" name="Oval 25"/>
          <p:cNvSpPr/>
          <p:nvPr/>
        </p:nvSpPr>
        <p:spPr>
          <a:xfrm>
            <a:off x="2456115" y="1601149"/>
            <a:ext cx="45720" cy="45720"/>
          </a:xfrm>
          <a:prstGeom prst="ellipse">
            <a:avLst/>
          </a:prstGeom>
          <a:solidFill>
            <a:srgbClr val="9B813B"/>
          </a:solidFill>
          <a:ln>
            <a:noFill/>
          </a:ln>
        </p:spPr>
        <p:txBody>
          <a:bodyPr rtlCol="0" anchor="ctr"/>
          <a:lstStyle/>
          <a:p/>
        </p:txBody>
      </p:sp>
      <p:sp>
        <p:nvSpPr>
          <p:cNvPr id="27" name="Oval 26"/>
          <p:cNvSpPr/>
          <p:nvPr/>
        </p:nvSpPr>
        <p:spPr>
          <a:xfrm>
            <a:off x="8633294" y="5688545"/>
            <a:ext cx="45720" cy="45720"/>
          </a:xfrm>
          <a:prstGeom prst="ellipse">
            <a:avLst/>
          </a:prstGeom>
          <a:solidFill>
            <a:srgbClr val="8B7B50"/>
          </a:solidFill>
          <a:ln>
            <a:noFill/>
          </a:ln>
        </p:spPr>
        <p:txBody>
          <a:bodyPr rtlCol="0" anchor="ctr"/>
          <a:lstStyle/>
          <a:p/>
        </p:txBody>
      </p:sp>
      <p:sp>
        <p:nvSpPr>
          <p:cNvPr id="28" name="Oval 27"/>
          <p:cNvSpPr/>
          <p:nvPr/>
        </p:nvSpPr>
        <p:spPr>
          <a:xfrm>
            <a:off x="8860737" y="5044188"/>
            <a:ext cx="73152" cy="73152"/>
          </a:xfrm>
          <a:prstGeom prst="ellipse">
            <a:avLst/>
          </a:prstGeom>
          <a:solidFill>
            <a:srgbClr val="85754C"/>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758537" y="1685544"/>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BELIEF RESET #2</a:t>
            </a:r>
          </a:p>
        </p:txBody>
      </p:sp>
      <p:cxnSp>
        <p:nvCxnSpPr>
          <p:cNvPr id="51" name="Connector 50"/>
          <p:cNvCxnSpPr/>
          <p:nvPr/>
        </p:nvCxnSpPr>
        <p:spPr>
          <a:xfrm>
            <a:off x="3386937" y="185013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336645" y="1799844"/>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570317" y="185013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754465" y="1799844"/>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252472"/>
            <a:ext cx="9814255" cy="1478280"/>
          </a:xfrm>
          <a:prstGeom prst="rect">
            <a:avLst/>
          </a:prstGeom>
          <a:noFill/>
        </p:spPr>
        <p:txBody>
          <a:bodyPr wrap="square" lIns="0" rIns="0" tIns="0" bIns="0" anchor="b">
            <a:spAutoFit/>
          </a:bodyPr>
          <a:lstStyle/>
          <a:p>
            <a:pPr algn="ctr">
              <a:lnSpc>
                <a:spcPct val="105000"/>
              </a:lnSpc>
            </a:pPr>
            <a:r>
              <a:rPr sz="5200" b="1" i="0">
                <a:solidFill>
                  <a:srgbClr val="F0D58A"/>
                </a:solidFill>
                <a:latin typeface="Cinzel"/>
              </a:rPr>
              <a:t>Your credit report is not a verdict.</a:t>
            </a:r>
          </a:p>
        </p:txBody>
      </p:sp>
      <p:cxnSp>
        <p:nvCxnSpPr>
          <p:cNvPr id="56" name="Connector 55"/>
          <p:cNvCxnSpPr/>
          <p:nvPr/>
        </p:nvCxnSpPr>
        <p:spPr>
          <a:xfrm>
            <a:off x="4632807" y="391363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391363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849624"/>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096512"/>
            <a:ext cx="9448495" cy="1377696"/>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It's a file — and files have rules.</a:t>
            </a:r>
          </a:p>
          <a:p>
            <a:pPr algn="ctr">
              <a:lnSpc>
                <a:spcPct val="120000"/>
              </a:lnSpc>
              <a:spcAft>
                <a:spcPts val="800"/>
              </a:spcAft>
            </a:pPr>
            <a:r>
              <a:rPr sz="2000" b="0" i="0">
                <a:solidFill>
                  <a:srgbClr val="B9A57A"/>
                </a:solidFill>
                <a:latin typeface="Montserrat"/>
              </a:rPr>
              <a:t>What's wrong can be challenged. What's accurate ages off. Nobody can legally delete the truth.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499324" y="4740199"/>
            <a:ext cx="36576" cy="36576"/>
          </a:xfrm>
          <a:prstGeom prst="ellipse">
            <a:avLst/>
          </a:prstGeom>
          <a:solidFill>
            <a:srgbClr val="B7A269"/>
          </a:solidFill>
          <a:ln>
            <a:noFill/>
          </a:ln>
        </p:spPr>
        <p:txBody>
          <a:bodyPr rtlCol="0" anchor="ctr"/>
          <a:lstStyle/>
          <a:p/>
        </p:txBody>
      </p:sp>
      <p:sp>
        <p:nvSpPr>
          <p:cNvPr id="4" name="Oval 3"/>
          <p:cNvSpPr/>
          <p:nvPr/>
        </p:nvSpPr>
        <p:spPr>
          <a:xfrm>
            <a:off x="559215" y="5593104"/>
            <a:ext cx="36576" cy="36576"/>
          </a:xfrm>
          <a:prstGeom prst="ellipse">
            <a:avLst/>
          </a:prstGeom>
          <a:solidFill>
            <a:srgbClr val="4B3E1D"/>
          </a:solidFill>
          <a:ln>
            <a:noFill/>
          </a:ln>
        </p:spPr>
        <p:txBody>
          <a:bodyPr rtlCol="0" anchor="ctr"/>
          <a:lstStyle/>
          <a:p/>
        </p:txBody>
      </p:sp>
      <p:sp>
        <p:nvSpPr>
          <p:cNvPr id="5" name="Oval 4"/>
          <p:cNvSpPr/>
          <p:nvPr/>
        </p:nvSpPr>
        <p:spPr>
          <a:xfrm>
            <a:off x="3112937" y="2375158"/>
            <a:ext cx="45720" cy="45720"/>
          </a:xfrm>
          <a:prstGeom prst="ellipse">
            <a:avLst/>
          </a:prstGeom>
          <a:solidFill>
            <a:srgbClr val="605025"/>
          </a:solidFill>
          <a:ln>
            <a:noFill/>
          </a:ln>
        </p:spPr>
        <p:txBody>
          <a:bodyPr rtlCol="0" anchor="ctr"/>
          <a:lstStyle/>
          <a:p/>
        </p:txBody>
      </p:sp>
      <p:sp>
        <p:nvSpPr>
          <p:cNvPr id="6" name="Oval 5"/>
          <p:cNvSpPr/>
          <p:nvPr/>
        </p:nvSpPr>
        <p:spPr>
          <a:xfrm>
            <a:off x="3383387" y="1724524"/>
            <a:ext cx="54864" cy="54864"/>
          </a:xfrm>
          <a:prstGeom prst="ellipse">
            <a:avLst/>
          </a:prstGeom>
          <a:solidFill>
            <a:srgbClr val="B39E66"/>
          </a:solidFill>
          <a:ln>
            <a:noFill/>
          </a:ln>
        </p:spPr>
        <p:txBody>
          <a:bodyPr rtlCol="0" anchor="ctr"/>
          <a:lstStyle/>
          <a:p/>
        </p:txBody>
      </p:sp>
      <p:sp>
        <p:nvSpPr>
          <p:cNvPr id="7" name="Oval 6"/>
          <p:cNvSpPr/>
          <p:nvPr/>
        </p:nvSpPr>
        <p:spPr>
          <a:xfrm>
            <a:off x="2925862" y="5862628"/>
            <a:ext cx="45720" cy="45720"/>
          </a:xfrm>
          <a:prstGeom prst="ellipse">
            <a:avLst/>
          </a:prstGeom>
          <a:solidFill>
            <a:srgbClr val="675628"/>
          </a:solidFill>
          <a:ln>
            <a:noFill/>
          </a:ln>
        </p:spPr>
        <p:txBody>
          <a:bodyPr rtlCol="0" anchor="ctr"/>
          <a:lstStyle/>
          <a:p/>
        </p:txBody>
      </p:sp>
      <p:sp>
        <p:nvSpPr>
          <p:cNvPr id="8" name="Oval 7"/>
          <p:cNvSpPr/>
          <p:nvPr/>
        </p:nvSpPr>
        <p:spPr>
          <a:xfrm>
            <a:off x="5586291" y="2861330"/>
            <a:ext cx="73152" cy="73152"/>
          </a:xfrm>
          <a:prstGeom prst="ellipse">
            <a:avLst/>
          </a:prstGeom>
          <a:solidFill>
            <a:srgbClr val="7F7048"/>
          </a:solidFill>
          <a:ln>
            <a:noFill/>
          </a:ln>
        </p:spPr>
        <p:txBody>
          <a:bodyPr rtlCol="0" anchor="ctr"/>
          <a:lstStyle/>
          <a:p/>
        </p:txBody>
      </p:sp>
      <p:sp>
        <p:nvSpPr>
          <p:cNvPr id="9" name="Oval 8"/>
          <p:cNvSpPr/>
          <p:nvPr/>
        </p:nvSpPr>
        <p:spPr>
          <a:xfrm>
            <a:off x="5400243" y="2238915"/>
            <a:ext cx="45720" cy="45720"/>
          </a:xfrm>
          <a:prstGeom prst="ellipse">
            <a:avLst/>
          </a:prstGeom>
          <a:solidFill>
            <a:srgbClr val="7E6930"/>
          </a:solidFill>
          <a:ln>
            <a:noFill/>
          </a:ln>
        </p:spPr>
        <p:txBody>
          <a:bodyPr rtlCol="0" anchor="ctr"/>
          <a:lstStyle/>
          <a:p/>
        </p:txBody>
      </p:sp>
      <p:sp>
        <p:nvSpPr>
          <p:cNvPr id="10" name="Oval 9"/>
          <p:cNvSpPr/>
          <p:nvPr/>
        </p:nvSpPr>
        <p:spPr>
          <a:xfrm>
            <a:off x="9269041" y="5177848"/>
            <a:ext cx="54864" cy="54864"/>
          </a:xfrm>
          <a:prstGeom prst="ellipse">
            <a:avLst/>
          </a:prstGeom>
          <a:solidFill>
            <a:srgbClr val="82734B"/>
          </a:solidFill>
          <a:ln>
            <a:noFill/>
          </a:ln>
        </p:spPr>
        <p:txBody>
          <a:bodyPr rtlCol="0" anchor="ctr"/>
          <a:lstStyle/>
          <a:p/>
        </p:txBody>
      </p:sp>
      <p:sp>
        <p:nvSpPr>
          <p:cNvPr id="11" name="Oval 10"/>
          <p:cNvSpPr/>
          <p:nvPr/>
        </p:nvSpPr>
        <p:spPr>
          <a:xfrm>
            <a:off x="2608637" y="3539270"/>
            <a:ext cx="27432" cy="27432"/>
          </a:xfrm>
          <a:prstGeom prst="ellipse">
            <a:avLst/>
          </a:prstGeom>
          <a:solidFill>
            <a:srgbClr val="9D833C"/>
          </a:solidFill>
          <a:ln>
            <a:noFill/>
          </a:ln>
        </p:spPr>
        <p:txBody>
          <a:bodyPr rtlCol="0" anchor="ctr"/>
          <a:lstStyle/>
          <a:p/>
        </p:txBody>
      </p:sp>
      <p:sp>
        <p:nvSpPr>
          <p:cNvPr id="12" name="Oval 11"/>
          <p:cNvSpPr/>
          <p:nvPr/>
        </p:nvSpPr>
        <p:spPr>
          <a:xfrm>
            <a:off x="3650442" y="3307753"/>
            <a:ext cx="27432" cy="27432"/>
          </a:xfrm>
          <a:prstGeom prst="ellipse">
            <a:avLst/>
          </a:prstGeom>
          <a:solidFill>
            <a:srgbClr val="B5A068"/>
          </a:solidFill>
          <a:ln>
            <a:noFill/>
          </a:ln>
        </p:spPr>
        <p:txBody>
          <a:bodyPr rtlCol="0" anchor="ctr"/>
          <a:lstStyle/>
          <a:p/>
        </p:txBody>
      </p:sp>
      <p:sp>
        <p:nvSpPr>
          <p:cNvPr id="13" name="Oval 12"/>
          <p:cNvSpPr/>
          <p:nvPr/>
        </p:nvSpPr>
        <p:spPr>
          <a:xfrm>
            <a:off x="909157" y="3151297"/>
            <a:ext cx="54864" cy="54864"/>
          </a:xfrm>
          <a:prstGeom prst="ellipse">
            <a:avLst/>
          </a:prstGeom>
          <a:solidFill>
            <a:srgbClr val="5A4B23"/>
          </a:solidFill>
          <a:ln>
            <a:noFill/>
          </a:ln>
        </p:spPr>
        <p:txBody>
          <a:bodyPr rtlCol="0" anchor="ctr"/>
          <a:lstStyle/>
          <a:p/>
        </p:txBody>
      </p:sp>
      <p:sp>
        <p:nvSpPr>
          <p:cNvPr id="14" name="Oval 13"/>
          <p:cNvSpPr/>
          <p:nvPr/>
        </p:nvSpPr>
        <p:spPr>
          <a:xfrm>
            <a:off x="3028743" y="3597253"/>
            <a:ext cx="73152" cy="73152"/>
          </a:xfrm>
          <a:prstGeom prst="ellipse">
            <a:avLst/>
          </a:prstGeom>
          <a:solidFill>
            <a:srgbClr val="605025"/>
          </a:solidFill>
          <a:ln>
            <a:noFill/>
          </a:ln>
        </p:spPr>
        <p:txBody>
          <a:bodyPr rtlCol="0" anchor="ctr"/>
          <a:lstStyle/>
          <a:p/>
        </p:txBody>
      </p:sp>
      <p:sp>
        <p:nvSpPr>
          <p:cNvPr id="15" name="Oval 14"/>
          <p:cNvSpPr/>
          <p:nvPr/>
        </p:nvSpPr>
        <p:spPr>
          <a:xfrm>
            <a:off x="3919742" y="1343752"/>
            <a:ext cx="36576" cy="36576"/>
          </a:xfrm>
          <a:prstGeom prst="ellipse">
            <a:avLst/>
          </a:prstGeom>
          <a:solidFill>
            <a:srgbClr val="5C4D24"/>
          </a:solidFill>
          <a:ln>
            <a:noFill/>
          </a:ln>
        </p:spPr>
        <p:txBody>
          <a:bodyPr rtlCol="0" anchor="ctr"/>
          <a:lstStyle/>
          <a:p/>
        </p:txBody>
      </p:sp>
      <p:sp>
        <p:nvSpPr>
          <p:cNvPr id="16" name="Oval 15"/>
          <p:cNvSpPr/>
          <p:nvPr/>
        </p:nvSpPr>
        <p:spPr>
          <a:xfrm>
            <a:off x="4218412" y="2990147"/>
            <a:ext cx="54864" cy="54864"/>
          </a:xfrm>
          <a:prstGeom prst="ellipse">
            <a:avLst/>
          </a:prstGeom>
          <a:solidFill>
            <a:srgbClr val="A4915E"/>
          </a:solidFill>
          <a:ln>
            <a:noFill/>
          </a:ln>
        </p:spPr>
        <p:txBody>
          <a:bodyPr rtlCol="0" anchor="ctr"/>
          <a:lstStyle/>
          <a:p/>
        </p:txBody>
      </p:sp>
      <p:sp>
        <p:nvSpPr>
          <p:cNvPr id="17" name="Oval 16"/>
          <p:cNvSpPr/>
          <p:nvPr/>
        </p:nvSpPr>
        <p:spPr>
          <a:xfrm>
            <a:off x="5803003" y="1051654"/>
            <a:ext cx="45720" cy="45720"/>
          </a:xfrm>
          <a:prstGeom prst="ellipse">
            <a:avLst/>
          </a:prstGeom>
          <a:solidFill>
            <a:srgbClr val="724A1E"/>
          </a:solidFill>
          <a:ln>
            <a:noFill/>
          </a:ln>
        </p:spPr>
        <p:txBody>
          <a:bodyPr rtlCol="0" anchor="ctr"/>
          <a:lstStyle/>
          <a:p/>
        </p:txBody>
      </p:sp>
      <p:sp>
        <p:nvSpPr>
          <p:cNvPr id="18" name="Oval 17"/>
          <p:cNvSpPr/>
          <p:nvPr/>
        </p:nvSpPr>
        <p:spPr>
          <a:xfrm>
            <a:off x="9992338" y="5881320"/>
            <a:ext cx="27432" cy="27432"/>
          </a:xfrm>
          <a:prstGeom prst="ellipse">
            <a:avLst/>
          </a:prstGeom>
          <a:solidFill>
            <a:srgbClr val="45391B"/>
          </a:solidFill>
          <a:ln>
            <a:noFill/>
          </a:ln>
        </p:spPr>
        <p:txBody>
          <a:bodyPr rtlCol="0" anchor="ctr"/>
          <a:lstStyle/>
          <a:p/>
        </p:txBody>
      </p:sp>
      <p:sp>
        <p:nvSpPr>
          <p:cNvPr id="19" name="Oval 18"/>
          <p:cNvSpPr/>
          <p:nvPr/>
        </p:nvSpPr>
        <p:spPr>
          <a:xfrm>
            <a:off x="839968" y="5678981"/>
            <a:ext cx="27432" cy="27432"/>
          </a:xfrm>
          <a:prstGeom prst="ellipse">
            <a:avLst/>
          </a:prstGeom>
          <a:solidFill>
            <a:srgbClr val="563918"/>
          </a:solidFill>
          <a:ln>
            <a:noFill/>
          </a:ln>
        </p:spPr>
        <p:txBody>
          <a:bodyPr rtlCol="0" anchor="ctr"/>
          <a:lstStyle/>
          <a:p/>
        </p:txBody>
      </p:sp>
      <p:sp>
        <p:nvSpPr>
          <p:cNvPr id="20" name="Oval 19"/>
          <p:cNvSpPr/>
          <p:nvPr/>
        </p:nvSpPr>
        <p:spPr>
          <a:xfrm>
            <a:off x="6840942" y="5551498"/>
            <a:ext cx="54864" cy="54864"/>
          </a:xfrm>
          <a:prstGeom prst="ellipse">
            <a:avLst/>
          </a:prstGeom>
          <a:solidFill>
            <a:srgbClr val="483014"/>
          </a:solidFill>
          <a:ln>
            <a:noFill/>
          </a:ln>
        </p:spPr>
        <p:txBody>
          <a:bodyPr rtlCol="0" anchor="ctr"/>
          <a:lstStyle/>
          <a:p/>
        </p:txBody>
      </p:sp>
      <p:sp>
        <p:nvSpPr>
          <p:cNvPr id="21" name="Oval 20"/>
          <p:cNvSpPr/>
          <p:nvPr/>
        </p:nvSpPr>
        <p:spPr>
          <a:xfrm>
            <a:off x="5803194" y="851486"/>
            <a:ext cx="27432" cy="27432"/>
          </a:xfrm>
          <a:prstGeom prst="ellipse">
            <a:avLst/>
          </a:prstGeom>
          <a:solidFill>
            <a:srgbClr val="5F3E1A"/>
          </a:solidFill>
          <a:ln>
            <a:noFill/>
          </a:ln>
        </p:spPr>
        <p:txBody>
          <a:bodyPr rtlCol="0" anchor="ctr"/>
          <a:lstStyle/>
          <a:p/>
        </p:txBody>
      </p:sp>
      <p:sp>
        <p:nvSpPr>
          <p:cNvPr id="22" name="Oval 21"/>
          <p:cNvSpPr/>
          <p:nvPr/>
        </p:nvSpPr>
        <p:spPr>
          <a:xfrm>
            <a:off x="5512739" y="4650581"/>
            <a:ext cx="73152" cy="73152"/>
          </a:xfrm>
          <a:prstGeom prst="ellipse">
            <a:avLst/>
          </a:prstGeom>
          <a:solidFill>
            <a:srgbClr val="44381B"/>
          </a:solidFill>
          <a:ln>
            <a:noFill/>
          </a:ln>
        </p:spPr>
        <p:txBody>
          <a:bodyPr rtlCol="0" anchor="ctr"/>
          <a:lstStyle/>
          <a:p/>
        </p:txBody>
      </p:sp>
      <p:sp>
        <p:nvSpPr>
          <p:cNvPr id="23" name="Oval 22"/>
          <p:cNvSpPr/>
          <p:nvPr/>
        </p:nvSpPr>
        <p:spPr>
          <a:xfrm>
            <a:off x="1012222" y="4845495"/>
            <a:ext cx="27432" cy="27432"/>
          </a:xfrm>
          <a:prstGeom prst="ellipse">
            <a:avLst/>
          </a:prstGeom>
          <a:solidFill>
            <a:srgbClr val="774E1F"/>
          </a:solidFill>
          <a:ln>
            <a:noFill/>
          </a:ln>
        </p:spPr>
        <p:txBody>
          <a:bodyPr rtlCol="0" anchor="ctr"/>
          <a:lstStyle/>
          <a:p/>
        </p:txBody>
      </p:sp>
      <p:sp>
        <p:nvSpPr>
          <p:cNvPr id="24" name="Oval 23"/>
          <p:cNvSpPr/>
          <p:nvPr/>
        </p:nvSpPr>
        <p:spPr>
          <a:xfrm>
            <a:off x="7454505" y="4557191"/>
            <a:ext cx="27432" cy="27432"/>
          </a:xfrm>
          <a:prstGeom prst="ellipse">
            <a:avLst/>
          </a:prstGeom>
          <a:solidFill>
            <a:srgbClr val="6A5829"/>
          </a:solidFill>
          <a:ln>
            <a:noFill/>
          </a:ln>
        </p:spPr>
        <p:txBody>
          <a:bodyPr rtlCol="0" anchor="ctr"/>
          <a:lstStyle/>
          <a:p/>
        </p:txBody>
      </p:sp>
      <p:sp>
        <p:nvSpPr>
          <p:cNvPr id="25" name="Oval 24"/>
          <p:cNvSpPr/>
          <p:nvPr/>
        </p:nvSpPr>
        <p:spPr>
          <a:xfrm>
            <a:off x="9783072" y="5124824"/>
            <a:ext cx="73152" cy="73152"/>
          </a:xfrm>
          <a:prstGeom prst="ellipse">
            <a:avLst/>
          </a:prstGeom>
          <a:solidFill>
            <a:srgbClr val="452D13"/>
          </a:solidFill>
          <a:ln>
            <a:noFill/>
          </a:ln>
        </p:spPr>
        <p:txBody>
          <a:bodyPr rtlCol="0" anchor="ctr"/>
          <a:lstStyle/>
          <a:p/>
        </p:txBody>
      </p:sp>
      <p:sp>
        <p:nvSpPr>
          <p:cNvPr id="26" name="Oval 25"/>
          <p:cNvSpPr/>
          <p:nvPr/>
        </p:nvSpPr>
        <p:spPr>
          <a:xfrm>
            <a:off x="7430439" y="5766946"/>
            <a:ext cx="45720" cy="45720"/>
          </a:xfrm>
          <a:prstGeom prst="ellipse">
            <a:avLst/>
          </a:prstGeom>
          <a:solidFill>
            <a:srgbClr val="574C31"/>
          </a:solidFill>
          <a:ln>
            <a:noFill/>
          </a:ln>
        </p:spPr>
        <p:txBody>
          <a:bodyPr rtlCol="0" anchor="ctr"/>
          <a:lstStyle/>
          <a:p/>
        </p:txBody>
      </p:sp>
      <p:sp>
        <p:nvSpPr>
          <p:cNvPr id="27" name="Oval 26"/>
          <p:cNvSpPr/>
          <p:nvPr/>
        </p:nvSpPr>
        <p:spPr>
          <a:xfrm>
            <a:off x="6084555" y="3412291"/>
            <a:ext cx="36576" cy="36576"/>
          </a:xfrm>
          <a:prstGeom prst="ellipse">
            <a:avLst/>
          </a:prstGeom>
          <a:solidFill>
            <a:srgbClr val="B1732D"/>
          </a:solidFill>
          <a:ln>
            <a:noFill/>
          </a:ln>
        </p:spPr>
        <p:txBody>
          <a:bodyPr rtlCol="0" anchor="ctr"/>
          <a:lstStyle/>
          <a:p/>
        </p:txBody>
      </p:sp>
      <p:sp>
        <p:nvSpPr>
          <p:cNvPr id="28" name="Oval 27"/>
          <p:cNvSpPr/>
          <p:nvPr/>
        </p:nvSpPr>
        <p:spPr>
          <a:xfrm>
            <a:off x="3973609" y="2260006"/>
            <a:ext cx="73152" cy="73152"/>
          </a:xfrm>
          <a:prstGeom prst="ellipse">
            <a:avLst/>
          </a:prstGeom>
          <a:solidFill>
            <a:srgbClr val="605025"/>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758537" y="1757934"/>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BELIEF RESET #3</a:t>
            </a:r>
          </a:p>
        </p:txBody>
      </p:sp>
      <p:cxnSp>
        <p:nvCxnSpPr>
          <p:cNvPr id="51" name="Connector 50"/>
          <p:cNvCxnSpPr/>
          <p:nvPr/>
        </p:nvCxnSpPr>
        <p:spPr>
          <a:xfrm>
            <a:off x="3386937" y="192252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336645" y="1872234"/>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570317" y="192252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754465" y="1872234"/>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324862"/>
            <a:ext cx="9814255" cy="1638300"/>
          </a:xfrm>
          <a:prstGeom prst="rect">
            <a:avLst/>
          </a:prstGeom>
          <a:noFill/>
        </p:spPr>
        <p:txBody>
          <a:bodyPr wrap="square" lIns="0" rIns="0" tIns="0" bIns="0" anchor="b">
            <a:spAutoFit/>
          </a:bodyPr>
          <a:lstStyle/>
          <a:p>
            <a:pPr algn="ctr">
              <a:lnSpc>
                <a:spcPct val="105000"/>
              </a:lnSpc>
            </a:pPr>
            <a:r>
              <a:rPr sz="5800" b="1" i="0">
                <a:solidFill>
                  <a:srgbClr val="F0D58A"/>
                </a:solidFill>
                <a:latin typeface="Cinzel"/>
              </a:rPr>
              <a:t>Wealth is not a product.</a:t>
            </a:r>
          </a:p>
        </p:txBody>
      </p:sp>
      <p:cxnSp>
        <p:nvCxnSpPr>
          <p:cNvPr id="56" name="Connector 55"/>
          <p:cNvCxnSpPr/>
          <p:nvPr/>
        </p:nvCxnSpPr>
        <p:spPr>
          <a:xfrm>
            <a:off x="4632807" y="414604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414604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4082033"/>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328922"/>
            <a:ext cx="9448495" cy="1072896"/>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It's an order of operations.</a:t>
            </a:r>
          </a:p>
          <a:p>
            <a:pPr algn="ctr">
              <a:lnSpc>
                <a:spcPct val="120000"/>
              </a:lnSpc>
              <a:spcAft>
                <a:spcPts val="800"/>
              </a:spcAft>
            </a:pPr>
            <a:r>
              <a:rPr sz="2000" b="0" i="0">
                <a:solidFill>
                  <a:srgbClr val="B9A57A"/>
                </a:solidFill>
                <a:latin typeface="Montserrat"/>
              </a:rPr>
              <a:t>Most people fail because they start in the middle.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448489" y="3510701"/>
            <a:ext cx="54864" cy="54864"/>
          </a:xfrm>
          <a:prstGeom prst="ellipse">
            <a:avLst/>
          </a:prstGeom>
          <a:solidFill>
            <a:srgbClr val="543717"/>
          </a:solidFill>
          <a:ln>
            <a:noFill/>
          </a:ln>
        </p:spPr>
        <p:txBody>
          <a:bodyPr rtlCol="0" anchor="ctr"/>
          <a:lstStyle/>
          <a:p/>
        </p:txBody>
      </p:sp>
      <p:sp>
        <p:nvSpPr>
          <p:cNvPr id="4" name="Oval 3"/>
          <p:cNvSpPr/>
          <p:nvPr/>
        </p:nvSpPr>
        <p:spPr>
          <a:xfrm>
            <a:off x="11787225" y="3233777"/>
            <a:ext cx="27432" cy="27432"/>
          </a:xfrm>
          <a:prstGeom prst="ellipse">
            <a:avLst/>
          </a:prstGeom>
          <a:solidFill>
            <a:srgbClr val="8F7837"/>
          </a:solidFill>
          <a:ln>
            <a:noFill/>
          </a:ln>
        </p:spPr>
        <p:txBody>
          <a:bodyPr rtlCol="0" anchor="ctr"/>
          <a:lstStyle/>
          <a:p/>
        </p:txBody>
      </p:sp>
      <p:sp>
        <p:nvSpPr>
          <p:cNvPr id="5" name="Oval 4"/>
          <p:cNvSpPr/>
          <p:nvPr/>
        </p:nvSpPr>
        <p:spPr>
          <a:xfrm>
            <a:off x="2974604" y="375661"/>
            <a:ext cx="73152" cy="73152"/>
          </a:xfrm>
          <a:prstGeom prst="ellipse">
            <a:avLst/>
          </a:prstGeom>
          <a:solidFill>
            <a:srgbClr val="4A3D1D"/>
          </a:solidFill>
          <a:ln>
            <a:noFill/>
          </a:ln>
        </p:spPr>
        <p:txBody>
          <a:bodyPr rtlCol="0" anchor="ctr"/>
          <a:lstStyle/>
          <a:p/>
        </p:txBody>
      </p:sp>
      <p:sp>
        <p:nvSpPr>
          <p:cNvPr id="6" name="Oval 5"/>
          <p:cNvSpPr/>
          <p:nvPr/>
        </p:nvSpPr>
        <p:spPr>
          <a:xfrm>
            <a:off x="4579154" y="2384683"/>
            <a:ext cx="54864" cy="54864"/>
          </a:xfrm>
          <a:prstGeom prst="ellipse">
            <a:avLst/>
          </a:prstGeom>
          <a:solidFill>
            <a:srgbClr val="4C432B"/>
          </a:solidFill>
          <a:ln>
            <a:noFill/>
          </a:ln>
        </p:spPr>
        <p:txBody>
          <a:bodyPr rtlCol="0" anchor="ctr"/>
          <a:lstStyle/>
          <a:p/>
        </p:txBody>
      </p:sp>
      <p:sp>
        <p:nvSpPr>
          <p:cNvPr id="7" name="Oval 6"/>
          <p:cNvSpPr/>
          <p:nvPr/>
        </p:nvSpPr>
        <p:spPr>
          <a:xfrm>
            <a:off x="1220799" y="4448689"/>
            <a:ext cx="36576" cy="36576"/>
          </a:xfrm>
          <a:prstGeom prst="ellipse">
            <a:avLst/>
          </a:prstGeom>
          <a:solidFill>
            <a:srgbClr val="956126"/>
          </a:solidFill>
          <a:ln>
            <a:noFill/>
          </a:ln>
        </p:spPr>
        <p:txBody>
          <a:bodyPr rtlCol="0" anchor="ctr"/>
          <a:lstStyle/>
          <a:p/>
        </p:txBody>
      </p:sp>
      <p:sp>
        <p:nvSpPr>
          <p:cNvPr id="8" name="Oval 7"/>
          <p:cNvSpPr/>
          <p:nvPr/>
        </p:nvSpPr>
        <p:spPr>
          <a:xfrm>
            <a:off x="578968" y="727039"/>
            <a:ext cx="27432" cy="27432"/>
          </a:xfrm>
          <a:prstGeom prst="ellipse">
            <a:avLst/>
          </a:prstGeom>
          <a:solidFill>
            <a:srgbClr val="705D2B"/>
          </a:solidFill>
          <a:ln>
            <a:noFill/>
          </a:ln>
        </p:spPr>
        <p:txBody>
          <a:bodyPr rtlCol="0" anchor="ctr"/>
          <a:lstStyle/>
          <a:p/>
        </p:txBody>
      </p:sp>
      <p:sp>
        <p:nvSpPr>
          <p:cNvPr id="9" name="Oval 8"/>
          <p:cNvSpPr/>
          <p:nvPr/>
        </p:nvSpPr>
        <p:spPr>
          <a:xfrm>
            <a:off x="11705052" y="2884713"/>
            <a:ext cx="27432" cy="27432"/>
          </a:xfrm>
          <a:prstGeom prst="ellipse">
            <a:avLst/>
          </a:prstGeom>
          <a:solidFill>
            <a:srgbClr val="513516"/>
          </a:solidFill>
          <a:ln>
            <a:noFill/>
          </a:ln>
        </p:spPr>
        <p:txBody>
          <a:bodyPr rtlCol="0" anchor="ctr"/>
          <a:lstStyle/>
          <a:p/>
        </p:txBody>
      </p:sp>
      <p:sp>
        <p:nvSpPr>
          <p:cNvPr id="10" name="Oval 9"/>
          <p:cNvSpPr/>
          <p:nvPr/>
        </p:nvSpPr>
        <p:spPr>
          <a:xfrm>
            <a:off x="11497273" y="3572276"/>
            <a:ext cx="54864" cy="54864"/>
          </a:xfrm>
          <a:prstGeom prst="ellipse">
            <a:avLst/>
          </a:prstGeom>
          <a:solidFill>
            <a:srgbClr val="75622D"/>
          </a:solidFill>
          <a:ln>
            <a:noFill/>
          </a:ln>
        </p:spPr>
        <p:txBody>
          <a:bodyPr rtlCol="0" anchor="ctr"/>
          <a:lstStyle/>
          <a:p/>
        </p:txBody>
      </p:sp>
      <p:sp>
        <p:nvSpPr>
          <p:cNvPr id="11" name="Oval 10"/>
          <p:cNvSpPr/>
          <p:nvPr/>
        </p:nvSpPr>
        <p:spPr>
          <a:xfrm>
            <a:off x="6727880" y="3380637"/>
            <a:ext cx="27432" cy="27432"/>
          </a:xfrm>
          <a:prstGeom prst="ellipse">
            <a:avLst/>
          </a:prstGeom>
          <a:solidFill>
            <a:srgbClr val="776944"/>
          </a:solidFill>
          <a:ln>
            <a:noFill/>
          </a:ln>
        </p:spPr>
        <p:txBody>
          <a:bodyPr rtlCol="0" anchor="ctr"/>
          <a:lstStyle/>
          <a:p/>
        </p:txBody>
      </p:sp>
      <p:sp>
        <p:nvSpPr>
          <p:cNvPr id="12" name="Oval 11"/>
          <p:cNvSpPr/>
          <p:nvPr/>
        </p:nvSpPr>
        <p:spPr>
          <a:xfrm>
            <a:off x="8022863" y="3156815"/>
            <a:ext cx="54864" cy="54864"/>
          </a:xfrm>
          <a:prstGeom prst="ellipse">
            <a:avLst/>
          </a:prstGeom>
          <a:solidFill>
            <a:srgbClr val="635226"/>
          </a:solidFill>
          <a:ln>
            <a:noFill/>
          </a:ln>
        </p:spPr>
        <p:txBody>
          <a:bodyPr rtlCol="0" anchor="ctr"/>
          <a:lstStyle/>
          <a:p/>
        </p:txBody>
      </p:sp>
      <p:sp>
        <p:nvSpPr>
          <p:cNvPr id="13" name="Oval 12"/>
          <p:cNvSpPr/>
          <p:nvPr/>
        </p:nvSpPr>
        <p:spPr>
          <a:xfrm>
            <a:off x="7708614" y="857080"/>
            <a:ext cx="27432" cy="27432"/>
          </a:xfrm>
          <a:prstGeom prst="ellipse">
            <a:avLst/>
          </a:prstGeom>
          <a:solidFill>
            <a:srgbClr val="BFAA6E"/>
          </a:solidFill>
          <a:ln>
            <a:noFill/>
          </a:ln>
        </p:spPr>
        <p:txBody>
          <a:bodyPr rtlCol="0" anchor="ctr"/>
          <a:lstStyle/>
          <a:p/>
        </p:txBody>
      </p:sp>
      <p:sp>
        <p:nvSpPr>
          <p:cNvPr id="14" name="Oval 13"/>
          <p:cNvSpPr/>
          <p:nvPr/>
        </p:nvSpPr>
        <p:spPr>
          <a:xfrm>
            <a:off x="4449538" y="2524050"/>
            <a:ext cx="45720" cy="45720"/>
          </a:xfrm>
          <a:prstGeom prst="ellipse">
            <a:avLst/>
          </a:prstGeom>
          <a:solidFill>
            <a:srgbClr val="635226"/>
          </a:solidFill>
          <a:ln>
            <a:noFill/>
          </a:ln>
        </p:spPr>
        <p:txBody>
          <a:bodyPr rtlCol="0" anchor="ctr"/>
          <a:lstStyle/>
          <a:p/>
        </p:txBody>
      </p:sp>
      <p:sp>
        <p:nvSpPr>
          <p:cNvPr id="15" name="Oval 14"/>
          <p:cNvSpPr/>
          <p:nvPr/>
        </p:nvSpPr>
        <p:spPr>
          <a:xfrm>
            <a:off x="1670299" y="1762342"/>
            <a:ext cx="45720" cy="45720"/>
          </a:xfrm>
          <a:prstGeom prst="ellipse">
            <a:avLst/>
          </a:prstGeom>
          <a:solidFill>
            <a:srgbClr val="70491E"/>
          </a:solidFill>
          <a:ln>
            <a:noFill/>
          </a:ln>
        </p:spPr>
        <p:txBody>
          <a:bodyPr rtlCol="0" anchor="ctr"/>
          <a:lstStyle/>
          <a:p/>
        </p:txBody>
      </p:sp>
      <p:sp>
        <p:nvSpPr>
          <p:cNvPr id="16" name="Oval 15"/>
          <p:cNvSpPr/>
          <p:nvPr/>
        </p:nvSpPr>
        <p:spPr>
          <a:xfrm>
            <a:off x="9649728" y="3337632"/>
            <a:ext cx="73152" cy="73152"/>
          </a:xfrm>
          <a:prstGeom prst="ellipse">
            <a:avLst/>
          </a:prstGeom>
          <a:solidFill>
            <a:srgbClr val="756743"/>
          </a:solidFill>
          <a:ln>
            <a:noFill/>
          </a:ln>
        </p:spPr>
        <p:txBody>
          <a:bodyPr rtlCol="0" anchor="ctr"/>
          <a:lstStyle/>
          <a:p/>
        </p:txBody>
      </p:sp>
      <p:sp>
        <p:nvSpPr>
          <p:cNvPr id="17" name="Oval 16"/>
          <p:cNvSpPr/>
          <p:nvPr/>
        </p:nvSpPr>
        <p:spPr>
          <a:xfrm>
            <a:off x="740677" y="518753"/>
            <a:ext cx="54864" cy="54864"/>
          </a:xfrm>
          <a:prstGeom prst="ellipse">
            <a:avLst/>
          </a:prstGeom>
          <a:solidFill>
            <a:srgbClr val="685628"/>
          </a:solidFill>
          <a:ln>
            <a:noFill/>
          </a:ln>
        </p:spPr>
        <p:txBody>
          <a:bodyPr rtlCol="0" anchor="ctr"/>
          <a:lstStyle/>
          <a:p/>
        </p:txBody>
      </p:sp>
      <p:sp>
        <p:nvSpPr>
          <p:cNvPr id="18" name="Oval 17"/>
          <p:cNvSpPr/>
          <p:nvPr/>
        </p:nvSpPr>
        <p:spPr>
          <a:xfrm>
            <a:off x="2708280" y="3975239"/>
            <a:ext cx="54864" cy="54864"/>
          </a:xfrm>
          <a:prstGeom prst="ellipse">
            <a:avLst/>
          </a:prstGeom>
          <a:solidFill>
            <a:srgbClr val="524420"/>
          </a:solidFill>
          <a:ln>
            <a:noFill/>
          </a:ln>
        </p:spPr>
        <p:txBody>
          <a:bodyPr rtlCol="0" anchor="ctr"/>
          <a:lstStyle/>
          <a:p/>
        </p:txBody>
      </p:sp>
      <p:sp>
        <p:nvSpPr>
          <p:cNvPr id="19" name="Oval 18"/>
          <p:cNvSpPr/>
          <p:nvPr/>
        </p:nvSpPr>
        <p:spPr>
          <a:xfrm>
            <a:off x="8340844" y="584758"/>
            <a:ext cx="27432" cy="27432"/>
          </a:xfrm>
          <a:prstGeom prst="ellipse">
            <a:avLst/>
          </a:prstGeom>
          <a:solidFill>
            <a:srgbClr val="7F5321"/>
          </a:solidFill>
          <a:ln>
            <a:noFill/>
          </a:ln>
        </p:spPr>
        <p:txBody>
          <a:bodyPr rtlCol="0" anchor="ctr"/>
          <a:lstStyle/>
          <a:p/>
        </p:txBody>
      </p:sp>
      <p:sp>
        <p:nvSpPr>
          <p:cNvPr id="20" name="Oval 19"/>
          <p:cNvSpPr/>
          <p:nvPr/>
        </p:nvSpPr>
        <p:spPr>
          <a:xfrm>
            <a:off x="7665085" y="675176"/>
            <a:ext cx="73152" cy="73152"/>
          </a:xfrm>
          <a:prstGeom prst="ellipse">
            <a:avLst/>
          </a:prstGeom>
          <a:solidFill>
            <a:srgbClr val="70491E"/>
          </a:solidFill>
          <a:ln>
            <a:noFill/>
          </a:ln>
        </p:spPr>
        <p:txBody>
          <a:bodyPr rtlCol="0" anchor="ctr"/>
          <a:lstStyle/>
          <a:p/>
        </p:txBody>
      </p:sp>
      <p:sp>
        <p:nvSpPr>
          <p:cNvPr id="21" name="Oval 20"/>
          <p:cNvSpPr/>
          <p:nvPr/>
        </p:nvSpPr>
        <p:spPr>
          <a:xfrm>
            <a:off x="3596335" y="3196473"/>
            <a:ext cx="45720" cy="45720"/>
          </a:xfrm>
          <a:prstGeom prst="ellipse">
            <a:avLst/>
          </a:prstGeom>
          <a:solidFill>
            <a:srgbClr val="603F1A"/>
          </a:solidFill>
          <a:ln>
            <a:noFill/>
          </a:ln>
        </p:spPr>
        <p:txBody>
          <a:bodyPr rtlCol="0" anchor="ctr"/>
          <a:lstStyle/>
          <a:p/>
        </p:txBody>
      </p:sp>
      <p:sp>
        <p:nvSpPr>
          <p:cNvPr id="22" name="Oval 21"/>
          <p:cNvSpPr/>
          <p:nvPr/>
        </p:nvSpPr>
        <p:spPr>
          <a:xfrm>
            <a:off x="5691617" y="3627944"/>
            <a:ext cx="36576" cy="36576"/>
          </a:xfrm>
          <a:prstGeom prst="ellipse">
            <a:avLst/>
          </a:prstGeom>
          <a:solidFill>
            <a:srgbClr val="5D5135"/>
          </a:solidFill>
          <a:ln>
            <a:noFill/>
          </a:ln>
        </p:spPr>
        <p:txBody>
          <a:bodyPr rtlCol="0" anchor="ctr"/>
          <a:lstStyle/>
          <a:p/>
        </p:txBody>
      </p:sp>
      <p:sp>
        <p:nvSpPr>
          <p:cNvPr id="23" name="Oval 22"/>
          <p:cNvSpPr/>
          <p:nvPr/>
        </p:nvSpPr>
        <p:spPr>
          <a:xfrm>
            <a:off x="10817919" y="405429"/>
            <a:ext cx="36576" cy="36576"/>
          </a:xfrm>
          <a:prstGeom prst="ellipse">
            <a:avLst/>
          </a:prstGeom>
          <a:solidFill>
            <a:srgbClr val="B2732D"/>
          </a:solidFill>
          <a:ln>
            <a:noFill/>
          </a:ln>
        </p:spPr>
        <p:txBody>
          <a:bodyPr rtlCol="0" anchor="ctr"/>
          <a:lstStyle/>
          <a:p/>
        </p:txBody>
      </p:sp>
      <p:sp>
        <p:nvSpPr>
          <p:cNvPr id="24" name="Oval 23"/>
          <p:cNvSpPr/>
          <p:nvPr/>
        </p:nvSpPr>
        <p:spPr>
          <a:xfrm>
            <a:off x="2423319" y="5090600"/>
            <a:ext cx="45720" cy="45720"/>
          </a:xfrm>
          <a:prstGeom prst="ellipse">
            <a:avLst/>
          </a:prstGeom>
          <a:solidFill>
            <a:srgbClr val="3F3419"/>
          </a:solidFill>
          <a:ln>
            <a:noFill/>
          </a:ln>
        </p:spPr>
        <p:txBody>
          <a:bodyPr rtlCol="0" anchor="ctr"/>
          <a:lstStyle/>
          <a:p/>
        </p:txBody>
      </p:sp>
      <p:sp>
        <p:nvSpPr>
          <p:cNvPr id="25" name="Oval 24"/>
          <p:cNvSpPr/>
          <p:nvPr/>
        </p:nvSpPr>
        <p:spPr>
          <a:xfrm>
            <a:off x="1695810" y="2511115"/>
            <a:ext cx="73152" cy="73152"/>
          </a:xfrm>
          <a:prstGeom prst="ellipse">
            <a:avLst/>
          </a:prstGeom>
          <a:solidFill>
            <a:srgbClr val="705D2B"/>
          </a:solidFill>
          <a:ln>
            <a:noFill/>
          </a:ln>
        </p:spPr>
        <p:txBody>
          <a:bodyPr rtlCol="0" anchor="ctr"/>
          <a:lstStyle/>
          <a:p/>
        </p:txBody>
      </p:sp>
      <p:sp>
        <p:nvSpPr>
          <p:cNvPr id="26" name="Oval 25"/>
          <p:cNvSpPr/>
          <p:nvPr/>
        </p:nvSpPr>
        <p:spPr>
          <a:xfrm>
            <a:off x="10995153" y="5607811"/>
            <a:ext cx="27432" cy="27432"/>
          </a:xfrm>
          <a:prstGeom prst="ellipse">
            <a:avLst/>
          </a:prstGeom>
          <a:solidFill>
            <a:srgbClr val="927A38"/>
          </a:solidFill>
          <a:ln>
            <a:noFill/>
          </a:ln>
        </p:spPr>
        <p:txBody>
          <a:bodyPr rtlCol="0" anchor="ctr"/>
          <a:lstStyle/>
          <a:p/>
        </p:txBody>
      </p:sp>
      <p:sp>
        <p:nvSpPr>
          <p:cNvPr id="27" name="Oval 26"/>
          <p:cNvSpPr/>
          <p:nvPr/>
        </p:nvSpPr>
        <p:spPr>
          <a:xfrm>
            <a:off x="2996033" y="3499446"/>
            <a:ext cx="27432" cy="27432"/>
          </a:xfrm>
          <a:prstGeom prst="ellipse">
            <a:avLst/>
          </a:prstGeom>
          <a:solidFill>
            <a:srgbClr val="7E5221"/>
          </a:solidFill>
          <a:ln>
            <a:noFill/>
          </a:ln>
        </p:spPr>
        <p:txBody>
          <a:bodyPr rtlCol="0" anchor="ctr"/>
          <a:lstStyle/>
          <a:p/>
        </p:txBody>
      </p:sp>
      <p:sp>
        <p:nvSpPr>
          <p:cNvPr id="28" name="Oval 27"/>
          <p:cNvSpPr/>
          <p:nvPr/>
        </p:nvSpPr>
        <p:spPr>
          <a:xfrm>
            <a:off x="3376096" y="5992431"/>
            <a:ext cx="45720" cy="45720"/>
          </a:xfrm>
          <a:prstGeom prst="ellipse">
            <a:avLst/>
          </a:prstGeom>
          <a:solidFill>
            <a:srgbClr val="4C3F1E"/>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758537" y="1051559"/>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WHO THIS IS FOR</a:t>
            </a:r>
          </a:p>
        </p:txBody>
      </p:sp>
      <p:cxnSp>
        <p:nvCxnSpPr>
          <p:cNvPr id="50" name="Connector 49"/>
          <p:cNvCxnSpPr/>
          <p:nvPr/>
        </p:nvCxnSpPr>
        <p:spPr>
          <a:xfrm>
            <a:off x="3386937" y="121615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336645" y="1165859"/>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570317" y="121615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754465" y="1165859"/>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444751"/>
            <a:ext cx="10362895" cy="1051560"/>
          </a:xfrm>
          <a:prstGeom prst="rect">
            <a:avLst/>
          </a:prstGeom>
          <a:noFill/>
        </p:spPr>
        <p:txBody>
          <a:bodyPr wrap="square" lIns="0" rIns="0" tIns="0" bIns="0" anchor="ctr">
            <a:spAutoFit/>
          </a:bodyPr>
          <a:lstStyle/>
          <a:p>
            <a:pPr algn="ctr">
              <a:lnSpc>
                <a:spcPct val="105000"/>
              </a:lnSpc>
            </a:pPr>
            <a:r>
              <a:rPr sz="3600" b="1" i="0">
                <a:solidFill>
                  <a:srgbClr val="F0D58A"/>
                </a:solidFill>
                <a:latin typeface="Cinzel"/>
              </a:rPr>
              <a:t>The Flow is for the ones who don't have it all together.</a:t>
            </a:r>
          </a:p>
        </p:txBody>
      </p:sp>
      <p:sp>
        <p:nvSpPr>
          <p:cNvPr id="55" name="Rounded Rectangle 54"/>
          <p:cNvSpPr/>
          <p:nvPr/>
        </p:nvSpPr>
        <p:spPr>
          <a:xfrm>
            <a:off x="1523847" y="2679191"/>
            <a:ext cx="9144000" cy="2843784"/>
          </a:xfrm>
          <a:prstGeom prst="roundRect">
            <a:avLst>
              <a:gd name="adj" fmla="val 6000"/>
            </a:avLst>
          </a:prstGeom>
          <a:solidFill>
            <a:srgbClr val="100D07"/>
          </a:solidFill>
          <a:ln w="15875">
            <a:solidFill>
              <a:srgbClr val="877034"/>
            </a:solidFill>
          </a:ln>
        </p:spPr>
        <p:txBody>
          <a:bodyPr rtlCol="0" anchor="ctr"/>
          <a:lstStyle/>
          <a:p/>
        </p:txBody>
      </p:sp>
      <p:sp>
        <p:nvSpPr>
          <p:cNvPr id="56" name="Diamond 55"/>
          <p:cNvSpPr/>
          <p:nvPr/>
        </p:nvSpPr>
        <p:spPr>
          <a:xfrm>
            <a:off x="2026767" y="3008376"/>
            <a:ext cx="137160" cy="137160"/>
          </a:xfrm>
          <a:prstGeom prst="diamond">
            <a:avLst/>
          </a:prstGeom>
          <a:solidFill>
            <a:srgbClr val="F0D58A"/>
          </a:solidFill>
          <a:ln>
            <a:noFill/>
          </a:ln>
        </p:spPr>
        <p:txBody>
          <a:bodyPr rtlCol="0" anchor="ctr"/>
          <a:lstStyle/>
          <a:p/>
        </p:txBody>
      </p:sp>
      <p:sp>
        <p:nvSpPr>
          <p:cNvPr id="57" name="TextBox 56"/>
          <p:cNvSpPr txBox="1"/>
          <p:nvPr/>
        </p:nvSpPr>
        <p:spPr>
          <a:xfrm>
            <a:off x="2346807" y="2880360"/>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First in your family to build</a:t>
            </a:r>
          </a:p>
        </p:txBody>
      </p:sp>
      <p:sp>
        <p:nvSpPr>
          <p:cNvPr id="58" name="Diamond 57"/>
          <p:cNvSpPr/>
          <p:nvPr/>
        </p:nvSpPr>
        <p:spPr>
          <a:xfrm>
            <a:off x="2026767" y="3575304"/>
            <a:ext cx="137160" cy="137160"/>
          </a:xfrm>
          <a:prstGeom prst="diamond">
            <a:avLst/>
          </a:prstGeom>
          <a:solidFill>
            <a:srgbClr val="F0D58A"/>
          </a:solidFill>
          <a:ln>
            <a:noFill/>
          </a:ln>
        </p:spPr>
        <p:txBody>
          <a:bodyPr rtlCol="0" anchor="ctr"/>
          <a:lstStyle/>
          <a:p/>
        </p:txBody>
      </p:sp>
      <p:sp>
        <p:nvSpPr>
          <p:cNvPr id="59" name="TextBox 58"/>
          <p:cNvSpPr txBox="1"/>
          <p:nvPr/>
        </p:nvSpPr>
        <p:spPr>
          <a:xfrm>
            <a:off x="2346807" y="3447288"/>
            <a:ext cx="7955279" cy="93268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You want to understand before you sign anything</a:t>
            </a:r>
          </a:p>
        </p:txBody>
      </p:sp>
      <p:sp>
        <p:nvSpPr>
          <p:cNvPr id="60" name="Diamond 59"/>
          <p:cNvSpPr/>
          <p:nvPr/>
        </p:nvSpPr>
        <p:spPr>
          <a:xfrm>
            <a:off x="2026767" y="4507992"/>
            <a:ext cx="137160" cy="137160"/>
          </a:xfrm>
          <a:prstGeom prst="diamond">
            <a:avLst/>
          </a:prstGeom>
          <a:solidFill>
            <a:srgbClr val="F0D58A"/>
          </a:solidFill>
          <a:ln>
            <a:noFill/>
          </a:ln>
        </p:spPr>
        <p:txBody>
          <a:bodyPr rtlCol="0" anchor="ctr"/>
          <a:lstStyle/>
          <a:p/>
        </p:txBody>
      </p:sp>
      <p:sp>
        <p:nvSpPr>
          <p:cNvPr id="61" name="TextBox 60"/>
          <p:cNvSpPr txBox="1"/>
          <p:nvPr/>
        </p:nvSpPr>
        <p:spPr>
          <a:xfrm>
            <a:off x="2346807" y="4379976"/>
            <a:ext cx="7955279" cy="93268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You're thinking about what you'll leave behind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697894" y="5771702"/>
            <a:ext cx="45720" cy="45720"/>
          </a:xfrm>
          <a:prstGeom prst="ellipse">
            <a:avLst/>
          </a:prstGeom>
          <a:solidFill>
            <a:srgbClr val="978556"/>
          </a:solidFill>
          <a:ln>
            <a:noFill/>
          </a:ln>
        </p:spPr>
        <p:txBody>
          <a:bodyPr rtlCol="0" anchor="ctr"/>
          <a:lstStyle/>
          <a:p/>
        </p:txBody>
      </p:sp>
      <p:sp>
        <p:nvSpPr>
          <p:cNvPr id="4" name="Oval 3"/>
          <p:cNvSpPr/>
          <p:nvPr/>
        </p:nvSpPr>
        <p:spPr>
          <a:xfrm>
            <a:off x="10327299" y="4175353"/>
            <a:ext cx="36576" cy="36576"/>
          </a:xfrm>
          <a:prstGeom prst="ellipse">
            <a:avLst/>
          </a:prstGeom>
          <a:solidFill>
            <a:srgbClr val="554B30"/>
          </a:solidFill>
          <a:ln>
            <a:noFill/>
          </a:ln>
        </p:spPr>
        <p:txBody>
          <a:bodyPr rtlCol="0" anchor="ctr"/>
          <a:lstStyle/>
          <a:p/>
        </p:txBody>
      </p:sp>
      <p:sp>
        <p:nvSpPr>
          <p:cNvPr id="5" name="Oval 4"/>
          <p:cNvSpPr/>
          <p:nvPr/>
        </p:nvSpPr>
        <p:spPr>
          <a:xfrm>
            <a:off x="10058668" y="4791912"/>
            <a:ext cx="73152" cy="73152"/>
          </a:xfrm>
          <a:prstGeom prst="ellipse">
            <a:avLst/>
          </a:prstGeom>
          <a:solidFill>
            <a:srgbClr val="7B6C46"/>
          </a:solidFill>
          <a:ln>
            <a:noFill/>
          </a:ln>
        </p:spPr>
        <p:txBody>
          <a:bodyPr rtlCol="0" anchor="ctr"/>
          <a:lstStyle/>
          <a:p/>
        </p:txBody>
      </p:sp>
      <p:sp>
        <p:nvSpPr>
          <p:cNvPr id="6" name="Oval 5"/>
          <p:cNvSpPr/>
          <p:nvPr/>
        </p:nvSpPr>
        <p:spPr>
          <a:xfrm>
            <a:off x="11803092" y="6267607"/>
            <a:ext cx="73152" cy="73152"/>
          </a:xfrm>
          <a:prstGeom prst="ellipse">
            <a:avLst/>
          </a:prstGeom>
          <a:solidFill>
            <a:srgbClr val="50462D"/>
          </a:solidFill>
          <a:ln>
            <a:noFill/>
          </a:ln>
        </p:spPr>
        <p:txBody>
          <a:bodyPr rtlCol="0" anchor="ctr"/>
          <a:lstStyle/>
          <a:p/>
        </p:txBody>
      </p:sp>
      <p:sp>
        <p:nvSpPr>
          <p:cNvPr id="7" name="Oval 6"/>
          <p:cNvSpPr/>
          <p:nvPr/>
        </p:nvSpPr>
        <p:spPr>
          <a:xfrm>
            <a:off x="9836051" y="4792257"/>
            <a:ext cx="45720" cy="45720"/>
          </a:xfrm>
          <a:prstGeom prst="ellipse">
            <a:avLst/>
          </a:prstGeom>
          <a:solidFill>
            <a:srgbClr val="A99561"/>
          </a:solidFill>
          <a:ln>
            <a:noFill/>
          </a:ln>
        </p:spPr>
        <p:txBody>
          <a:bodyPr rtlCol="0" anchor="ctr"/>
          <a:lstStyle/>
          <a:p/>
        </p:txBody>
      </p:sp>
      <p:sp>
        <p:nvSpPr>
          <p:cNvPr id="8" name="Oval 7"/>
          <p:cNvSpPr/>
          <p:nvPr/>
        </p:nvSpPr>
        <p:spPr>
          <a:xfrm>
            <a:off x="4442570" y="1756727"/>
            <a:ext cx="45720" cy="45720"/>
          </a:xfrm>
          <a:prstGeom prst="ellipse">
            <a:avLst/>
          </a:prstGeom>
          <a:solidFill>
            <a:srgbClr val="76622D"/>
          </a:solidFill>
          <a:ln>
            <a:noFill/>
          </a:ln>
        </p:spPr>
        <p:txBody>
          <a:bodyPr rtlCol="0" anchor="ctr"/>
          <a:lstStyle/>
          <a:p/>
        </p:txBody>
      </p:sp>
      <p:sp>
        <p:nvSpPr>
          <p:cNvPr id="9" name="Oval 8"/>
          <p:cNvSpPr/>
          <p:nvPr/>
        </p:nvSpPr>
        <p:spPr>
          <a:xfrm>
            <a:off x="8052424" y="5647417"/>
            <a:ext cx="54864" cy="54864"/>
          </a:xfrm>
          <a:prstGeom prst="ellipse">
            <a:avLst/>
          </a:prstGeom>
          <a:solidFill>
            <a:srgbClr val="5C4C24"/>
          </a:solidFill>
          <a:ln>
            <a:noFill/>
          </a:ln>
        </p:spPr>
        <p:txBody>
          <a:bodyPr rtlCol="0" anchor="ctr"/>
          <a:lstStyle/>
          <a:p/>
        </p:txBody>
      </p:sp>
      <p:sp>
        <p:nvSpPr>
          <p:cNvPr id="10" name="Oval 9"/>
          <p:cNvSpPr/>
          <p:nvPr/>
        </p:nvSpPr>
        <p:spPr>
          <a:xfrm>
            <a:off x="4330742" y="3900271"/>
            <a:ext cx="27432" cy="27432"/>
          </a:xfrm>
          <a:prstGeom prst="ellipse">
            <a:avLst/>
          </a:prstGeom>
          <a:solidFill>
            <a:srgbClr val="A2873D"/>
          </a:solidFill>
          <a:ln>
            <a:noFill/>
          </a:ln>
        </p:spPr>
        <p:txBody>
          <a:bodyPr rtlCol="0" anchor="ctr"/>
          <a:lstStyle/>
          <a:p/>
        </p:txBody>
      </p:sp>
      <p:sp>
        <p:nvSpPr>
          <p:cNvPr id="11" name="Oval 10"/>
          <p:cNvSpPr/>
          <p:nvPr/>
        </p:nvSpPr>
        <p:spPr>
          <a:xfrm>
            <a:off x="6717291" y="4814018"/>
            <a:ext cx="54864" cy="54864"/>
          </a:xfrm>
          <a:prstGeom prst="ellipse">
            <a:avLst/>
          </a:prstGeom>
          <a:solidFill>
            <a:srgbClr val="7C6D47"/>
          </a:solidFill>
          <a:ln>
            <a:noFill/>
          </a:ln>
        </p:spPr>
        <p:txBody>
          <a:bodyPr rtlCol="0" anchor="ctr"/>
          <a:lstStyle/>
          <a:p/>
        </p:txBody>
      </p:sp>
      <p:sp>
        <p:nvSpPr>
          <p:cNvPr id="12" name="Oval 11"/>
          <p:cNvSpPr/>
          <p:nvPr/>
        </p:nvSpPr>
        <p:spPr>
          <a:xfrm>
            <a:off x="6508138" y="2109063"/>
            <a:ext cx="54864" cy="54864"/>
          </a:xfrm>
          <a:prstGeom prst="ellipse">
            <a:avLst/>
          </a:prstGeom>
          <a:solidFill>
            <a:srgbClr val="87774D"/>
          </a:solidFill>
          <a:ln>
            <a:noFill/>
          </a:ln>
        </p:spPr>
        <p:txBody>
          <a:bodyPr rtlCol="0" anchor="ctr"/>
          <a:lstStyle/>
          <a:p/>
        </p:txBody>
      </p:sp>
      <p:sp>
        <p:nvSpPr>
          <p:cNvPr id="13" name="Oval 12"/>
          <p:cNvSpPr/>
          <p:nvPr/>
        </p:nvSpPr>
        <p:spPr>
          <a:xfrm>
            <a:off x="4618775" y="1921570"/>
            <a:ext cx="45720" cy="45720"/>
          </a:xfrm>
          <a:prstGeom prst="ellipse">
            <a:avLst/>
          </a:prstGeom>
          <a:solidFill>
            <a:srgbClr val="734B1E"/>
          </a:solidFill>
          <a:ln>
            <a:noFill/>
          </a:ln>
        </p:spPr>
        <p:txBody>
          <a:bodyPr rtlCol="0" anchor="ctr"/>
          <a:lstStyle/>
          <a:p/>
        </p:txBody>
      </p:sp>
      <p:sp>
        <p:nvSpPr>
          <p:cNvPr id="14" name="Oval 13"/>
          <p:cNvSpPr/>
          <p:nvPr/>
        </p:nvSpPr>
        <p:spPr>
          <a:xfrm>
            <a:off x="6980601" y="3634897"/>
            <a:ext cx="36576" cy="36576"/>
          </a:xfrm>
          <a:prstGeom prst="ellipse">
            <a:avLst/>
          </a:prstGeom>
          <a:solidFill>
            <a:srgbClr val="544521"/>
          </a:solidFill>
          <a:ln>
            <a:noFill/>
          </a:ln>
        </p:spPr>
        <p:txBody>
          <a:bodyPr rtlCol="0" anchor="ctr"/>
          <a:lstStyle/>
          <a:p/>
        </p:txBody>
      </p:sp>
      <p:sp>
        <p:nvSpPr>
          <p:cNvPr id="15" name="Oval 14"/>
          <p:cNvSpPr/>
          <p:nvPr/>
        </p:nvSpPr>
        <p:spPr>
          <a:xfrm>
            <a:off x="8405604" y="1144974"/>
            <a:ext cx="36576" cy="36576"/>
          </a:xfrm>
          <a:prstGeom prst="ellipse">
            <a:avLst/>
          </a:prstGeom>
          <a:solidFill>
            <a:srgbClr val="925F26"/>
          </a:solidFill>
          <a:ln>
            <a:noFill/>
          </a:ln>
        </p:spPr>
        <p:txBody>
          <a:bodyPr rtlCol="0" anchor="ctr"/>
          <a:lstStyle/>
          <a:p/>
        </p:txBody>
      </p:sp>
      <p:sp>
        <p:nvSpPr>
          <p:cNvPr id="16" name="Oval 15"/>
          <p:cNvSpPr/>
          <p:nvPr/>
        </p:nvSpPr>
        <p:spPr>
          <a:xfrm>
            <a:off x="4831661" y="4638506"/>
            <a:ext cx="54864" cy="54864"/>
          </a:xfrm>
          <a:prstGeom prst="ellipse">
            <a:avLst/>
          </a:prstGeom>
          <a:solidFill>
            <a:srgbClr val="615537"/>
          </a:solidFill>
          <a:ln>
            <a:noFill/>
          </a:ln>
        </p:spPr>
        <p:txBody>
          <a:bodyPr rtlCol="0" anchor="ctr"/>
          <a:lstStyle/>
          <a:p/>
        </p:txBody>
      </p:sp>
      <p:sp>
        <p:nvSpPr>
          <p:cNvPr id="17" name="Oval 16"/>
          <p:cNvSpPr/>
          <p:nvPr/>
        </p:nvSpPr>
        <p:spPr>
          <a:xfrm>
            <a:off x="9603753" y="5347360"/>
            <a:ext cx="54864" cy="54864"/>
          </a:xfrm>
          <a:prstGeom prst="ellipse">
            <a:avLst/>
          </a:prstGeom>
          <a:solidFill>
            <a:srgbClr val="564721"/>
          </a:solidFill>
          <a:ln>
            <a:noFill/>
          </a:ln>
        </p:spPr>
        <p:txBody>
          <a:bodyPr rtlCol="0" anchor="ctr"/>
          <a:lstStyle/>
          <a:p/>
        </p:txBody>
      </p:sp>
      <p:sp>
        <p:nvSpPr>
          <p:cNvPr id="18" name="Oval 17"/>
          <p:cNvSpPr/>
          <p:nvPr/>
        </p:nvSpPr>
        <p:spPr>
          <a:xfrm>
            <a:off x="8803375" y="1859254"/>
            <a:ext cx="54864" cy="54864"/>
          </a:xfrm>
          <a:prstGeom prst="ellipse">
            <a:avLst/>
          </a:prstGeom>
          <a:solidFill>
            <a:srgbClr val="5C3C19"/>
          </a:solidFill>
          <a:ln>
            <a:noFill/>
          </a:ln>
        </p:spPr>
        <p:txBody>
          <a:bodyPr rtlCol="0" anchor="ctr"/>
          <a:lstStyle/>
          <a:p/>
        </p:txBody>
      </p:sp>
      <p:sp>
        <p:nvSpPr>
          <p:cNvPr id="19" name="Oval 18"/>
          <p:cNvSpPr/>
          <p:nvPr/>
        </p:nvSpPr>
        <p:spPr>
          <a:xfrm>
            <a:off x="6329098" y="4269871"/>
            <a:ext cx="45720" cy="45720"/>
          </a:xfrm>
          <a:prstGeom prst="ellipse">
            <a:avLst/>
          </a:prstGeom>
          <a:solidFill>
            <a:srgbClr val="7A662F"/>
          </a:solidFill>
          <a:ln>
            <a:noFill/>
          </a:ln>
        </p:spPr>
        <p:txBody>
          <a:bodyPr rtlCol="0" anchor="ctr"/>
          <a:lstStyle/>
          <a:p/>
        </p:txBody>
      </p:sp>
      <p:sp>
        <p:nvSpPr>
          <p:cNvPr id="20" name="Oval 19"/>
          <p:cNvSpPr/>
          <p:nvPr/>
        </p:nvSpPr>
        <p:spPr>
          <a:xfrm>
            <a:off x="2792058" y="4034390"/>
            <a:ext cx="54864" cy="54864"/>
          </a:xfrm>
          <a:prstGeom prst="ellipse">
            <a:avLst/>
          </a:prstGeom>
          <a:solidFill>
            <a:srgbClr val="846E33"/>
          </a:solidFill>
          <a:ln>
            <a:noFill/>
          </a:ln>
        </p:spPr>
        <p:txBody>
          <a:bodyPr rtlCol="0" anchor="ctr"/>
          <a:lstStyle/>
          <a:p/>
        </p:txBody>
      </p:sp>
      <p:sp>
        <p:nvSpPr>
          <p:cNvPr id="21" name="Oval 20"/>
          <p:cNvSpPr/>
          <p:nvPr/>
        </p:nvSpPr>
        <p:spPr>
          <a:xfrm>
            <a:off x="4483987" y="4690879"/>
            <a:ext cx="27432" cy="27432"/>
          </a:xfrm>
          <a:prstGeom prst="ellipse">
            <a:avLst/>
          </a:prstGeom>
          <a:solidFill>
            <a:srgbClr val="593A18"/>
          </a:solidFill>
          <a:ln>
            <a:noFill/>
          </a:ln>
        </p:spPr>
        <p:txBody>
          <a:bodyPr rtlCol="0" anchor="ctr"/>
          <a:lstStyle/>
          <a:p/>
        </p:txBody>
      </p:sp>
      <p:sp>
        <p:nvSpPr>
          <p:cNvPr id="22" name="Oval 21"/>
          <p:cNvSpPr/>
          <p:nvPr/>
        </p:nvSpPr>
        <p:spPr>
          <a:xfrm>
            <a:off x="2250768" y="4431368"/>
            <a:ext cx="36576" cy="36576"/>
          </a:xfrm>
          <a:prstGeom prst="ellipse">
            <a:avLst/>
          </a:prstGeom>
          <a:solidFill>
            <a:srgbClr val="B6A168"/>
          </a:solidFill>
          <a:ln>
            <a:noFill/>
          </a:ln>
        </p:spPr>
        <p:txBody>
          <a:bodyPr rtlCol="0" anchor="ctr"/>
          <a:lstStyle/>
          <a:p/>
        </p:txBody>
      </p:sp>
      <p:sp>
        <p:nvSpPr>
          <p:cNvPr id="23" name="Oval 22"/>
          <p:cNvSpPr/>
          <p:nvPr/>
        </p:nvSpPr>
        <p:spPr>
          <a:xfrm>
            <a:off x="1158161" y="4190625"/>
            <a:ext cx="36576" cy="36576"/>
          </a:xfrm>
          <a:prstGeom prst="ellipse">
            <a:avLst/>
          </a:prstGeom>
          <a:solidFill>
            <a:srgbClr val="8F7737"/>
          </a:solidFill>
          <a:ln>
            <a:noFill/>
          </a:ln>
        </p:spPr>
        <p:txBody>
          <a:bodyPr rtlCol="0" anchor="ctr"/>
          <a:lstStyle/>
          <a:p/>
        </p:txBody>
      </p:sp>
      <p:sp>
        <p:nvSpPr>
          <p:cNvPr id="24" name="Oval 23"/>
          <p:cNvSpPr/>
          <p:nvPr/>
        </p:nvSpPr>
        <p:spPr>
          <a:xfrm>
            <a:off x="11494812" y="5271348"/>
            <a:ext cx="27432" cy="27432"/>
          </a:xfrm>
          <a:prstGeom prst="ellipse">
            <a:avLst/>
          </a:prstGeom>
          <a:solidFill>
            <a:srgbClr val="45391B"/>
          </a:solidFill>
          <a:ln>
            <a:noFill/>
          </a:ln>
        </p:spPr>
        <p:txBody>
          <a:bodyPr rtlCol="0" anchor="ctr"/>
          <a:lstStyle/>
          <a:p/>
        </p:txBody>
      </p:sp>
      <p:sp>
        <p:nvSpPr>
          <p:cNvPr id="25" name="Oval 24"/>
          <p:cNvSpPr/>
          <p:nvPr/>
        </p:nvSpPr>
        <p:spPr>
          <a:xfrm>
            <a:off x="1815294" y="2211762"/>
            <a:ext cx="27432" cy="27432"/>
          </a:xfrm>
          <a:prstGeom prst="ellipse">
            <a:avLst/>
          </a:prstGeom>
          <a:solidFill>
            <a:srgbClr val="67441C"/>
          </a:solidFill>
          <a:ln>
            <a:noFill/>
          </a:ln>
        </p:spPr>
        <p:txBody>
          <a:bodyPr rtlCol="0" anchor="ctr"/>
          <a:lstStyle/>
          <a:p/>
        </p:txBody>
      </p:sp>
      <p:sp>
        <p:nvSpPr>
          <p:cNvPr id="26" name="Oval 25"/>
          <p:cNvSpPr/>
          <p:nvPr/>
        </p:nvSpPr>
        <p:spPr>
          <a:xfrm>
            <a:off x="6841238" y="4520383"/>
            <a:ext cx="45720" cy="45720"/>
          </a:xfrm>
          <a:prstGeom prst="ellipse">
            <a:avLst/>
          </a:prstGeom>
          <a:solidFill>
            <a:srgbClr val="825522"/>
          </a:solidFill>
          <a:ln>
            <a:noFill/>
          </a:ln>
        </p:spPr>
        <p:txBody>
          <a:bodyPr rtlCol="0" anchor="ctr"/>
          <a:lstStyle/>
          <a:p/>
        </p:txBody>
      </p:sp>
      <p:sp>
        <p:nvSpPr>
          <p:cNvPr id="27" name="Oval 26"/>
          <p:cNvSpPr/>
          <p:nvPr/>
        </p:nvSpPr>
        <p:spPr>
          <a:xfrm>
            <a:off x="431266" y="2355396"/>
            <a:ext cx="27432" cy="27432"/>
          </a:xfrm>
          <a:prstGeom prst="ellipse">
            <a:avLst/>
          </a:prstGeom>
          <a:solidFill>
            <a:srgbClr val="875823"/>
          </a:solidFill>
          <a:ln>
            <a:noFill/>
          </a:ln>
        </p:spPr>
        <p:txBody>
          <a:bodyPr rtlCol="0" anchor="ctr"/>
          <a:lstStyle/>
          <a:p/>
        </p:txBody>
      </p:sp>
      <p:sp>
        <p:nvSpPr>
          <p:cNvPr id="28" name="Oval 27"/>
          <p:cNvSpPr/>
          <p:nvPr/>
        </p:nvSpPr>
        <p:spPr>
          <a:xfrm>
            <a:off x="6287078" y="3184347"/>
            <a:ext cx="73152" cy="73152"/>
          </a:xfrm>
          <a:prstGeom prst="ellipse">
            <a:avLst/>
          </a:prstGeom>
          <a:solidFill>
            <a:srgbClr val="51431F"/>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475073" y="1211580"/>
            <a:ext cx="3241548" cy="329184"/>
          </a:xfrm>
          <a:prstGeom prst="rect">
            <a:avLst/>
          </a:prstGeom>
          <a:noFill/>
        </p:spPr>
        <p:txBody>
          <a:bodyPr wrap="square" lIns="0" rIns="0" tIns="0" bIns="0" anchor="ctr">
            <a:spAutoFit/>
          </a:bodyPr>
          <a:lstStyle/>
          <a:p>
            <a:pPr algn="ctr"/>
            <a:r>
              <a:rPr sz="1300" b="1" i="0" spc="400">
                <a:solidFill>
                  <a:srgbClr val="C9A84C"/>
                </a:solidFill>
                <a:latin typeface="Montserrat"/>
              </a:rPr>
              <a:t>WHO THIS IS NOT FOR</a:t>
            </a:r>
          </a:p>
        </p:txBody>
      </p:sp>
      <p:cxnSp>
        <p:nvCxnSpPr>
          <p:cNvPr id="50" name="Connector 49"/>
          <p:cNvCxnSpPr/>
          <p:nvPr/>
        </p:nvCxnSpPr>
        <p:spPr>
          <a:xfrm>
            <a:off x="3103473" y="137617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053181" y="1325880"/>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853781" y="137617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037929" y="1325880"/>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604772"/>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This is not for you if…</a:t>
            </a:r>
          </a:p>
        </p:txBody>
      </p:sp>
      <p:sp>
        <p:nvSpPr>
          <p:cNvPr id="55" name="Rounded Rectangle 54"/>
          <p:cNvSpPr/>
          <p:nvPr/>
        </p:nvSpPr>
        <p:spPr>
          <a:xfrm>
            <a:off x="1523847" y="2412492"/>
            <a:ext cx="9144000" cy="2478024"/>
          </a:xfrm>
          <a:prstGeom prst="roundRect">
            <a:avLst>
              <a:gd name="adj" fmla="val 6000"/>
            </a:avLst>
          </a:prstGeom>
          <a:solidFill>
            <a:srgbClr val="100D07"/>
          </a:solidFill>
          <a:ln w="15875">
            <a:solidFill>
              <a:srgbClr val="877034"/>
            </a:solidFill>
          </a:ln>
        </p:spPr>
        <p:txBody>
          <a:bodyPr rtlCol="0" anchor="ctr"/>
          <a:lstStyle/>
          <a:p/>
        </p:txBody>
      </p:sp>
      <p:sp>
        <p:nvSpPr>
          <p:cNvPr id="56" name="Diamond 55"/>
          <p:cNvSpPr/>
          <p:nvPr/>
        </p:nvSpPr>
        <p:spPr>
          <a:xfrm>
            <a:off x="2026767" y="2741676"/>
            <a:ext cx="137160" cy="137160"/>
          </a:xfrm>
          <a:prstGeom prst="diamond">
            <a:avLst/>
          </a:prstGeom>
          <a:solidFill>
            <a:srgbClr val="F0D58A"/>
          </a:solidFill>
          <a:ln>
            <a:noFill/>
          </a:ln>
        </p:spPr>
        <p:txBody>
          <a:bodyPr rtlCol="0" anchor="ctr"/>
          <a:lstStyle/>
          <a:p/>
        </p:txBody>
      </p:sp>
      <p:sp>
        <p:nvSpPr>
          <p:cNvPr id="57" name="TextBox 56"/>
          <p:cNvSpPr txBox="1"/>
          <p:nvPr/>
        </p:nvSpPr>
        <p:spPr>
          <a:xfrm>
            <a:off x="2346807" y="2613660"/>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You want a get-rich-quick shortcut</a:t>
            </a:r>
          </a:p>
        </p:txBody>
      </p:sp>
      <p:sp>
        <p:nvSpPr>
          <p:cNvPr id="58" name="Diamond 57"/>
          <p:cNvSpPr/>
          <p:nvPr/>
        </p:nvSpPr>
        <p:spPr>
          <a:xfrm>
            <a:off x="2026767" y="3308604"/>
            <a:ext cx="137160" cy="137160"/>
          </a:xfrm>
          <a:prstGeom prst="diamond">
            <a:avLst/>
          </a:prstGeom>
          <a:solidFill>
            <a:srgbClr val="F0D58A"/>
          </a:solidFill>
          <a:ln>
            <a:noFill/>
          </a:ln>
        </p:spPr>
        <p:txBody>
          <a:bodyPr rtlCol="0" anchor="ctr"/>
          <a:lstStyle/>
          <a:p/>
        </p:txBody>
      </p:sp>
      <p:sp>
        <p:nvSpPr>
          <p:cNvPr id="59" name="TextBox 58"/>
          <p:cNvSpPr txBox="1"/>
          <p:nvPr/>
        </p:nvSpPr>
        <p:spPr>
          <a:xfrm>
            <a:off x="2346807" y="3180588"/>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You want someone to “delete everything”</a:t>
            </a:r>
          </a:p>
        </p:txBody>
      </p:sp>
      <p:sp>
        <p:nvSpPr>
          <p:cNvPr id="60" name="Diamond 59"/>
          <p:cNvSpPr/>
          <p:nvPr/>
        </p:nvSpPr>
        <p:spPr>
          <a:xfrm>
            <a:off x="2026767" y="3875532"/>
            <a:ext cx="137160" cy="137160"/>
          </a:xfrm>
          <a:prstGeom prst="diamond">
            <a:avLst/>
          </a:prstGeom>
          <a:solidFill>
            <a:srgbClr val="F0D58A"/>
          </a:solidFill>
          <a:ln>
            <a:noFill/>
          </a:ln>
        </p:spPr>
        <p:txBody>
          <a:bodyPr rtlCol="0" anchor="ctr"/>
          <a:lstStyle/>
          <a:p/>
        </p:txBody>
      </p:sp>
      <p:sp>
        <p:nvSpPr>
          <p:cNvPr id="61" name="TextBox 60"/>
          <p:cNvSpPr txBox="1"/>
          <p:nvPr/>
        </p:nvSpPr>
        <p:spPr>
          <a:xfrm>
            <a:off x="2346807" y="3747516"/>
            <a:ext cx="7955279" cy="93268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You're not willing to look at your own numbers</a:t>
            </a:r>
          </a:p>
        </p:txBody>
      </p:sp>
      <p:sp>
        <p:nvSpPr>
          <p:cNvPr id="62" name="TextBox 61"/>
          <p:cNvSpPr txBox="1"/>
          <p:nvPr/>
        </p:nvSpPr>
        <p:spPr>
          <a:xfrm>
            <a:off x="1097280" y="5027676"/>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The Flow starts with honesty.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448489" y="3510701"/>
            <a:ext cx="54864" cy="54864"/>
          </a:xfrm>
          <a:prstGeom prst="ellipse">
            <a:avLst/>
          </a:prstGeom>
          <a:solidFill>
            <a:srgbClr val="543717"/>
          </a:solidFill>
          <a:ln>
            <a:noFill/>
          </a:ln>
        </p:spPr>
        <p:txBody>
          <a:bodyPr rtlCol="0" anchor="ctr"/>
          <a:lstStyle/>
          <a:p/>
        </p:txBody>
      </p:sp>
      <p:sp>
        <p:nvSpPr>
          <p:cNvPr id="4" name="Oval 3"/>
          <p:cNvSpPr/>
          <p:nvPr/>
        </p:nvSpPr>
        <p:spPr>
          <a:xfrm>
            <a:off x="11787225" y="3233777"/>
            <a:ext cx="27432" cy="27432"/>
          </a:xfrm>
          <a:prstGeom prst="ellipse">
            <a:avLst/>
          </a:prstGeom>
          <a:solidFill>
            <a:srgbClr val="8F7837"/>
          </a:solidFill>
          <a:ln>
            <a:noFill/>
          </a:ln>
        </p:spPr>
        <p:txBody>
          <a:bodyPr rtlCol="0" anchor="ctr"/>
          <a:lstStyle/>
          <a:p/>
        </p:txBody>
      </p:sp>
      <p:sp>
        <p:nvSpPr>
          <p:cNvPr id="5" name="Oval 4"/>
          <p:cNvSpPr/>
          <p:nvPr/>
        </p:nvSpPr>
        <p:spPr>
          <a:xfrm>
            <a:off x="2974604" y="375661"/>
            <a:ext cx="73152" cy="73152"/>
          </a:xfrm>
          <a:prstGeom prst="ellipse">
            <a:avLst/>
          </a:prstGeom>
          <a:solidFill>
            <a:srgbClr val="4A3D1D"/>
          </a:solidFill>
          <a:ln>
            <a:noFill/>
          </a:ln>
        </p:spPr>
        <p:txBody>
          <a:bodyPr rtlCol="0" anchor="ctr"/>
          <a:lstStyle/>
          <a:p/>
        </p:txBody>
      </p:sp>
      <p:sp>
        <p:nvSpPr>
          <p:cNvPr id="6" name="Oval 5"/>
          <p:cNvSpPr/>
          <p:nvPr/>
        </p:nvSpPr>
        <p:spPr>
          <a:xfrm>
            <a:off x="4579154" y="2384683"/>
            <a:ext cx="54864" cy="54864"/>
          </a:xfrm>
          <a:prstGeom prst="ellipse">
            <a:avLst/>
          </a:prstGeom>
          <a:solidFill>
            <a:srgbClr val="4C432B"/>
          </a:solidFill>
          <a:ln>
            <a:noFill/>
          </a:ln>
        </p:spPr>
        <p:txBody>
          <a:bodyPr rtlCol="0" anchor="ctr"/>
          <a:lstStyle/>
          <a:p/>
        </p:txBody>
      </p:sp>
      <p:sp>
        <p:nvSpPr>
          <p:cNvPr id="7" name="Oval 6"/>
          <p:cNvSpPr/>
          <p:nvPr/>
        </p:nvSpPr>
        <p:spPr>
          <a:xfrm>
            <a:off x="1220799" y="4448689"/>
            <a:ext cx="36576" cy="36576"/>
          </a:xfrm>
          <a:prstGeom prst="ellipse">
            <a:avLst/>
          </a:prstGeom>
          <a:solidFill>
            <a:srgbClr val="956126"/>
          </a:solidFill>
          <a:ln>
            <a:noFill/>
          </a:ln>
        </p:spPr>
        <p:txBody>
          <a:bodyPr rtlCol="0" anchor="ctr"/>
          <a:lstStyle/>
          <a:p/>
        </p:txBody>
      </p:sp>
      <p:sp>
        <p:nvSpPr>
          <p:cNvPr id="8" name="Oval 7"/>
          <p:cNvSpPr/>
          <p:nvPr/>
        </p:nvSpPr>
        <p:spPr>
          <a:xfrm>
            <a:off x="578968" y="727039"/>
            <a:ext cx="27432" cy="27432"/>
          </a:xfrm>
          <a:prstGeom prst="ellipse">
            <a:avLst/>
          </a:prstGeom>
          <a:solidFill>
            <a:srgbClr val="705D2B"/>
          </a:solidFill>
          <a:ln>
            <a:noFill/>
          </a:ln>
        </p:spPr>
        <p:txBody>
          <a:bodyPr rtlCol="0" anchor="ctr"/>
          <a:lstStyle/>
          <a:p/>
        </p:txBody>
      </p:sp>
      <p:sp>
        <p:nvSpPr>
          <p:cNvPr id="9" name="Oval 8"/>
          <p:cNvSpPr/>
          <p:nvPr/>
        </p:nvSpPr>
        <p:spPr>
          <a:xfrm>
            <a:off x="11705052" y="2884713"/>
            <a:ext cx="27432" cy="27432"/>
          </a:xfrm>
          <a:prstGeom prst="ellipse">
            <a:avLst/>
          </a:prstGeom>
          <a:solidFill>
            <a:srgbClr val="513516"/>
          </a:solidFill>
          <a:ln>
            <a:noFill/>
          </a:ln>
        </p:spPr>
        <p:txBody>
          <a:bodyPr rtlCol="0" anchor="ctr"/>
          <a:lstStyle/>
          <a:p/>
        </p:txBody>
      </p:sp>
      <p:sp>
        <p:nvSpPr>
          <p:cNvPr id="10" name="Oval 9"/>
          <p:cNvSpPr/>
          <p:nvPr/>
        </p:nvSpPr>
        <p:spPr>
          <a:xfrm>
            <a:off x="11497273" y="3572276"/>
            <a:ext cx="54864" cy="54864"/>
          </a:xfrm>
          <a:prstGeom prst="ellipse">
            <a:avLst/>
          </a:prstGeom>
          <a:solidFill>
            <a:srgbClr val="75622D"/>
          </a:solidFill>
          <a:ln>
            <a:noFill/>
          </a:ln>
        </p:spPr>
        <p:txBody>
          <a:bodyPr rtlCol="0" anchor="ctr"/>
          <a:lstStyle/>
          <a:p/>
        </p:txBody>
      </p:sp>
      <p:sp>
        <p:nvSpPr>
          <p:cNvPr id="11" name="Oval 10"/>
          <p:cNvSpPr/>
          <p:nvPr/>
        </p:nvSpPr>
        <p:spPr>
          <a:xfrm>
            <a:off x="6727880" y="3380637"/>
            <a:ext cx="27432" cy="27432"/>
          </a:xfrm>
          <a:prstGeom prst="ellipse">
            <a:avLst/>
          </a:prstGeom>
          <a:solidFill>
            <a:srgbClr val="776944"/>
          </a:solidFill>
          <a:ln>
            <a:noFill/>
          </a:ln>
        </p:spPr>
        <p:txBody>
          <a:bodyPr rtlCol="0" anchor="ctr"/>
          <a:lstStyle/>
          <a:p/>
        </p:txBody>
      </p:sp>
      <p:sp>
        <p:nvSpPr>
          <p:cNvPr id="12" name="Oval 11"/>
          <p:cNvSpPr/>
          <p:nvPr/>
        </p:nvSpPr>
        <p:spPr>
          <a:xfrm>
            <a:off x="8022863" y="3156815"/>
            <a:ext cx="54864" cy="54864"/>
          </a:xfrm>
          <a:prstGeom prst="ellipse">
            <a:avLst/>
          </a:prstGeom>
          <a:solidFill>
            <a:srgbClr val="635226"/>
          </a:solidFill>
          <a:ln>
            <a:noFill/>
          </a:ln>
        </p:spPr>
        <p:txBody>
          <a:bodyPr rtlCol="0" anchor="ctr"/>
          <a:lstStyle/>
          <a:p/>
        </p:txBody>
      </p:sp>
      <p:sp>
        <p:nvSpPr>
          <p:cNvPr id="13" name="Oval 12"/>
          <p:cNvSpPr/>
          <p:nvPr/>
        </p:nvSpPr>
        <p:spPr>
          <a:xfrm>
            <a:off x="7708614" y="857080"/>
            <a:ext cx="27432" cy="27432"/>
          </a:xfrm>
          <a:prstGeom prst="ellipse">
            <a:avLst/>
          </a:prstGeom>
          <a:solidFill>
            <a:srgbClr val="BFAA6E"/>
          </a:solidFill>
          <a:ln>
            <a:noFill/>
          </a:ln>
        </p:spPr>
        <p:txBody>
          <a:bodyPr rtlCol="0" anchor="ctr"/>
          <a:lstStyle/>
          <a:p/>
        </p:txBody>
      </p:sp>
      <p:sp>
        <p:nvSpPr>
          <p:cNvPr id="14" name="Oval 13"/>
          <p:cNvSpPr/>
          <p:nvPr/>
        </p:nvSpPr>
        <p:spPr>
          <a:xfrm>
            <a:off x="4449538" y="2524050"/>
            <a:ext cx="45720" cy="45720"/>
          </a:xfrm>
          <a:prstGeom prst="ellipse">
            <a:avLst/>
          </a:prstGeom>
          <a:solidFill>
            <a:srgbClr val="635226"/>
          </a:solidFill>
          <a:ln>
            <a:noFill/>
          </a:ln>
        </p:spPr>
        <p:txBody>
          <a:bodyPr rtlCol="0" anchor="ctr"/>
          <a:lstStyle/>
          <a:p/>
        </p:txBody>
      </p:sp>
      <p:sp>
        <p:nvSpPr>
          <p:cNvPr id="15" name="Oval 14"/>
          <p:cNvSpPr/>
          <p:nvPr/>
        </p:nvSpPr>
        <p:spPr>
          <a:xfrm>
            <a:off x="1670299" y="1762342"/>
            <a:ext cx="45720" cy="45720"/>
          </a:xfrm>
          <a:prstGeom prst="ellipse">
            <a:avLst/>
          </a:prstGeom>
          <a:solidFill>
            <a:srgbClr val="70491E"/>
          </a:solidFill>
          <a:ln>
            <a:noFill/>
          </a:ln>
        </p:spPr>
        <p:txBody>
          <a:bodyPr rtlCol="0" anchor="ctr"/>
          <a:lstStyle/>
          <a:p/>
        </p:txBody>
      </p:sp>
      <p:sp>
        <p:nvSpPr>
          <p:cNvPr id="16" name="Oval 15"/>
          <p:cNvSpPr/>
          <p:nvPr/>
        </p:nvSpPr>
        <p:spPr>
          <a:xfrm>
            <a:off x="9649728" y="3337632"/>
            <a:ext cx="73152" cy="73152"/>
          </a:xfrm>
          <a:prstGeom prst="ellipse">
            <a:avLst/>
          </a:prstGeom>
          <a:solidFill>
            <a:srgbClr val="756743"/>
          </a:solidFill>
          <a:ln>
            <a:noFill/>
          </a:ln>
        </p:spPr>
        <p:txBody>
          <a:bodyPr rtlCol="0" anchor="ctr"/>
          <a:lstStyle/>
          <a:p/>
        </p:txBody>
      </p:sp>
      <p:sp>
        <p:nvSpPr>
          <p:cNvPr id="17" name="Oval 16"/>
          <p:cNvSpPr/>
          <p:nvPr/>
        </p:nvSpPr>
        <p:spPr>
          <a:xfrm>
            <a:off x="740677" y="518753"/>
            <a:ext cx="54864" cy="54864"/>
          </a:xfrm>
          <a:prstGeom prst="ellipse">
            <a:avLst/>
          </a:prstGeom>
          <a:solidFill>
            <a:srgbClr val="685628"/>
          </a:solidFill>
          <a:ln>
            <a:noFill/>
          </a:ln>
        </p:spPr>
        <p:txBody>
          <a:bodyPr rtlCol="0" anchor="ctr"/>
          <a:lstStyle/>
          <a:p/>
        </p:txBody>
      </p:sp>
      <p:sp>
        <p:nvSpPr>
          <p:cNvPr id="18" name="Oval 17"/>
          <p:cNvSpPr/>
          <p:nvPr/>
        </p:nvSpPr>
        <p:spPr>
          <a:xfrm>
            <a:off x="2708280" y="3975239"/>
            <a:ext cx="54864" cy="54864"/>
          </a:xfrm>
          <a:prstGeom prst="ellipse">
            <a:avLst/>
          </a:prstGeom>
          <a:solidFill>
            <a:srgbClr val="524420"/>
          </a:solidFill>
          <a:ln>
            <a:noFill/>
          </a:ln>
        </p:spPr>
        <p:txBody>
          <a:bodyPr rtlCol="0" anchor="ctr"/>
          <a:lstStyle/>
          <a:p/>
        </p:txBody>
      </p:sp>
      <p:sp>
        <p:nvSpPr>
          <p:cNvPr id="19" name="Oval 18"/>
          <p:cNvSpPr/>
          <p:nvPr/>
        </p:nvSpPr>
        <p:spPr>
          <a:xfrm>
            <a:off x="8340844" y="584758"/>
            <a:ext cx="27432" cy="27432"/>
          </a:xfrm>
          <a:prstGeom prst="ellipse">
            <a:avLst/>
          </a:prstGeom>
          <a:solidFill>
            <a:srgbClr val="7F5321"/>
          </a:solidFill>
          <a:ln>
            <a:noFill/>
          </a:ln>
        </p:spPr>
        <p:txBody>
          <a:bodyPr rtlCol="0" anchor="ctr"/>
          <a:lstStyle/>
          <a:p/>
        </p:txBody>
      </p:sp>
      <p:sp>
        <p:nvSpPr>
          <p:cNvPr id="20" name="Oval 19"/>
          <p:cNvSpPr/>
          <p:nvPr/>
        </p:nvSpPr>
        <p:spPr>
          <a:xfrm>
            <a:off x="7665085" y="675176"/>
            <a:ext cx="73152" cy="73152"/>
          </a:xfrm>
          <a:prstGeom prst="ellipse">
            <a:avLst/>
          </a:prstGeom>
          <a:solidFill>
            <a:srgbClr val="70491E"/>
          </a:solidFill>
          <a:ln>
            <a:noFill/>
          </a:ln>
        </p:spPr>
        <p:txBody>
          <a:bodyPr rtlCol="0" anchor="ctr"/>
          <a:lstStyle/>
          <a:p/>
        </p:txBody>
      </p:sp>
      <p:sp>
        <p:nvSpPr>
          <p:cNvPr id="21" name="Oval 20"/>
          <p:cNvSpPr/>
          <p:nvPr/>
        </p:nvSpPr>
        <p:spPr>
          <a:xfrm>
            <a:off x="3596335" y="3196473"/>
            <a:ext cx="45720" cy="45720"/>
          </a:xfrm>
          <a:prstGeom prst="ellipse">
            <a:avLst/>
          </a:prstGeom>
          <a:solidFill>
            <a:srgbClr val="603F1A"/>
          </a:solidFill>
          <a:ln>
            <a:noFill/>
          </a:ln>
        </p:spPr>
        <p:txBody>
          <a:bodyPr rtlCol="0" anchor="ctr"/>
          <a:lstStyle/>
          <a:p/>
        </p:txBody>
      </p:sp>
      <p:sp>
        <p:nvSpPr>
          <p:cNvPr id="22" name="Oval 21"/>
          <p:cNvSpPr/>
          <p:nvPr/>
        </p:nvSpPr>
        <p:spPr>
          <a:xfrm>
            <a:off x="5691617" y="3627944"/>
            <a:ext cx="36576" cy="36576"/>
          </a:xfrm>
          <a:prstGeom prst="ellipse">
            <a:avLst/>
          </a:prstGeom>
          <a:solidFill>
            <a:srgbClr val="5D5135"/>
          </a:solidFill>
          <a:ln>
            <a:noFill/>
          </a:ln>
        </p:spPr>
        <p:txBody>
          <a:bodyPr rtlCol="0" anchor="ctr"/>
          <a:lstStyle/>
          <a:p/>
        </p:txBody>
      </p:sp>
      <p:sp>
        <p:nvSpPr>
          <p:cNvPr id="23" name="Oval 22"/>
          <p:cNvSpPr/>
          <p:nvPr/>
        </p:nvSpPr>
        <p:spPr>
          <a:xfrm>
            <a:off x="10817919" y="405429"/>
            <a:ext cx="36576" cy="36576"/>
          </a:xfrm>
          <a:prstGeom prst="ellipse">
            <a:avLst/>
          </a:prstGeom>
          <a:solidFill>
            <a:srgbClr val="B2732D"/>
          </a:solidFill>
          <a:ln>
            <a:noFill/>
          </a:ln>
        </p:spPr>
        <p:txBody>
          <a:bodyPr rtlCol="0" anchor="ctr"/>
          <a:lstStyle/>
          <a:p/>
        </p:txBody>
      </p:sp>
      <p:sp>
        <p:nvSpPr>
          <p:cNvPr id="24" name="Oval 23"/>
          <p:cNvSpPr/>
          <p:nvPr/>
        </p:nvSpPr>
        <p:spPr>
          <a:xfrm>
            <a:off x="2423319" y="5090600"/>
            <a:ext cx="45720" cy="45720"/>
          </a:xfrm>
          <a:prstGeom prst="ellipse">
            <a:avLst/>
          </a:prstGeom>
          <a:solidFill>
            <a:srgbClr val="3F3419"/>
          </a:solidFill>
          <a:ln>
            <a:noFill/>
          </a:ln>
        </p:spPr>
        <p:txBody>
          <a:bodyPr rtlCol="0" anchor="ctr"/>
          <a:lstStyle/>
          <a:p/>
        </p:txBody>
      </p:sp>
      <p:sp>
        <p:nvSpPr>
          <p:cNvPr id="25" name="Oval 24"/>
          <p:cNvSpPr/>
          <p:nvPr/>
        </p:nvSpPr>
        <p:spPr>
          <a:xfrm>
            <a:off x="1695810" y="2511115"/>
            <a:ext cx="73152" cy="73152"/>
          </a:xfrm>
          <a:prstGeom prst="ellipse">
            <a:avLst/>
          </a:prstGeom>
          <a:solidFill>
            <a:srgbClr val="705D2B"/>
          </a:solidFill>
          <a:ln>
            <a:noFill/>
          </a:ln>
        </p:spPr>
        <p:txBody>
          <a:bodyPr rtlCol="0" anchor="ctr"/>
          <a:lstStyle/>
          <a:p/>
        </p:txBody>
      </p:sp>
      <p:sp>
        <p:nvSpPr>
          <p:cNvPr id="26" name="Oval 25"/>
          <p:cNvSpPr/>
          <p:nvPr/>
        </p:nvSpPr>
        <p:spPr>
          <a:xfrm>
            <a:off x="10995153" y="5607811"/>
            <a:ext cx="27432" cy="27432"/>
          </a:xfrm>
          <a:prstGeom prst="ellipse">
            <a:avLst/>
          </a:prstGeom>
          <a:solidFill>
            <a:srgbClr val="927A38"/>
          </a:solidFill>
          <a:ln>
            <a:noFill/>
          </a:ln>
        </p:spPr>
        <p:txBody>
          <a:bodyPr rtlCol="0" anchor="ctr"/>
          <a:lstStyle/>
          <a:p/>
        </p:txBody>
      </p:sp>
      <p:sp>
        <p:nvSpPr>
          <p:cNvPr id="27" name="Oval 26"/>
          <p:cNvSpPr/>
          <p:nvPr/>
        </p:nvSpPr>
        <p:spPr>
          <a:xfrm>
            <a:off x="2996033" y="3499446"/>
            <a:ext cx="27432" cy="27432"/>
          </a:xfrm>
          <a:prstGeom prst="ellipse">
            <a:avLst/>
          </a:prstGeom>
          <a:solidFill>
            <a:srgbClr val="7E5221"/>
          </a:solidFill>
          <a:ln>
            <a:noFill/>
          </a:ln>
        </p:spPr>
        <p:txBody>
          <a:bodyPr rtlCol="0" anchor="ctr"/>
          <a:lstStyle/>
          <a:p/>
        </p:txBody>
      </p:sp>
      <p:sp>
        <p:nvSpPr>
          <p:cNvPr id="28" name="Oval 27"/>
          <p:cNvSpPr/>
          <p:nvPr/>
        </p:nvSpPr>
        <p:spPr>
          <a:xfrm>
            <a:off x="3376096" y="5992431"/>
            <a:ext cx="45720" cy="45720"/>
          </a:xfrm>
          <a:prstGeom prst="ellipse">
            <a:avLst/>
          </a:prstGeom>
          <a:solidFill>
            <a:srgbClr val="4C3F1E"/>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30.png"/>
          <p:cNvPicPr>
            <a:picLocks noChangeAspect="1"/>
          </p:cNvPicPr>
          <p:nvPr/>
        </p:nvPicPr>
        <p:blipFill>
          <a:blip r:embed="rId3"/>
          <a:stretch>
            <a:fillRect/>
          </a:stretch>
        </p:blipFill>
        <p:spPr>
          <a:xfrm>
            <a:off x="914400" y="914400"/>
            <a:ext cx="4754880" cy="4754880"/>
          </a:xfrm>
          <a:prstGeom prst="rect">
            <a:avLst/>
          </a:prstGeom>
        </p:spPr>
      </p:pic>
      <p:sp>
        <p:nvSpPr>
          <p:cNvPr id="50" name="Rectangle 49"/>
          <p:cNvSpPr/>
          <p:nvPr/>
        </p:nvSpPr>
        <p:spPr>
          <a:xfrm>
            <a:off x="1417320" y="960120"/>
            <a:ext cx="3749039" cy="4480560"/>
          </a:xfrm>
          <a:prstGeom prst="rect">
            <a:avLst/>
          </a:prstGeom>
          <a:noFill/>
          <a:ln w="25400">
            <a:solidFill>
              <a:srgbClr val="F0D58A"/>
            </a:solidFill>
          </a:ln>
        </p:spPr>
        <p:txBody>
          <a:bodyPr rtlCol="0" anchor="ctr"/>
          <a:lstStyle/>
          <a:p/>
        </p:txBody>
      </p:sp>
      <p:pic>
        <p:nvPicPr>
          <p:cNvPr id="51" name="Picture 50" descr="portrait.jpg"/>
          <p:cNvPicPr>
            <a:picLocks noChangeAspect="1"/>
          </p:cNvPicPr>
          <p:nvPr/>
        </p:nvPicPr>
        <p:blipFill>
          <a:blip r:embed="rId4"/>
          <a:stretch>
            <a:fillRect/>
          </a:stretch>
        </p:blipFill>
        <p:spPr>
          <a:xfrm>
            <a:off x="1554480" y="1097280"/>
            <a:ext cx="3521503" cy="4206240"/>
          </a:xfrm>
          <a:prstGeom prst="rect">
            <a:avLst/>
          </a:prstGeom>
        </p:spPr>
      </p:pic>
      <p:sp>
        <p:nvSpPr>
          <p:cNvPr id="52" name="TextBox 51"/>
          <p:cNvSpPr txBox="1"/>
          <p:nvPr/>
        </p:nvSpPr>
        <p:spPr>
          <a:xfrm>
            <a:off x="7589520" y="1143000"/>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THE GUIDE</a:t>
            </a:r>
          </a:p>
        </p:txBody>
      </p:sp>
      <p:cxnSp>
        <p:nvCxnSpPr>
          <p:cNvPr id="53" name="Connector 52"/>
          <p:cNvCxnSpPr/>
          <p:nvPr/>
        </p:nvCxnSpPr>
        <p:spPr>
          <a:xfrm>
            <a:off x="6629400" y="1307592"/>
            <a:ext cx="82296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6579108" y="1257300"/>
            <a:ext cx="100584" cy="100584"/>
          </a:xfrm>
          <a:prstGeom prst="diamond">
            <a:avLst/>
          </a:prstGeom>
          <a:solidFill>
            <a:srgbClr val="C9A84C"/>
          </a:solidFill>
          <a:ln>
            <a:noFill/>
          </a:ln>
        </p:spPr>
        <p:txBody>
          <a:bodyPr rtlCol="0" anchor="ctr"/>
          <a:lstStyle/>
          <a:p/>
        </p:txBody>
      </p:sp>
      <p:cxnSp>
        <p:nvCxnSpPr>
          <p:cNvPr id="55" name="Connector 54"/>
          <p:cNvCxnSpPr/>
          <p:nvPr/>
        </p:nvCxnSpPr>
        <p:spPr>
          <a:xfrm>
            <a:off x="9555480" y="1307592"/>
            <a:ext cx="82296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6" name="Diamond 55"/>
          <p:cNvSpPr/>
          <p:nvPr/>
        </p:nvSpPr>
        <p:spPr>
          <a:xfrm>
            <a:off x="10328148" y="1257300"/>
            <a:ext cx="100584" cy="100584"/>
          </a:xfrm>
          <a:prstGeom prst="diamond">
            <a:avLst/>
          </a:prstGeom>
          <a:solidFill>
            <a:srgbClr val="C9A84C"/>
          </a:solidFill>
          <a:ln>
            <a:noFill/>
          </a:ln>
        </p:spPr>
        <p:txBody>
          <a:bodyPr rtlCol="0" anchor="ctr"/>
          <a:lstStyle/>
          <a:p/>
        </p:txBody>
      </p:sp>
      <p:sp>
        <p:nvSpPr>
          <p:cNvPr id="57" name="TextBox 56"/>
          <p:cNvSpPr txBox="1"/>
          <p:nvPr/>
        </p:nvSpPr>
        <p:spPr>
          <a:xfrm>
            <a:off x="5760720" y="1691640"/>
            <a:ext cx="5486400" cy="1005840"/>
          </a:xfrm>
          <a:prstGeom prst="rect">
            <a:avLst/>
          </a:prstGeom>
          <a:noFill/>
        </p:spPr>
        <p:txBody>
          <a:bodyPr wrap="square" lIns="0" rIns="0" tIns="0" bIns="0" anchor="ctr">
            <a:spAutoFit/>
          </a:bodyPr>
          <a:lstStyle/>
          <a:p>
            <a:pPr algn="ctr">
              <a:lnSpc>
                <a:spcPct val="105000"/>
              </a:lnSpc>
            </a:pPr>
            <a:r>
              <a:rPr sz="5400" b="1" i="0">
                <a:solidFill>
                  <a:srgbClr val="F0D58A"/>
                </a:solidFill>
                <a:latin typeface="Cinzel"/>
              </a:rPr>
              <a:t>Malik East</a:t>
            </a:r>
          </a:p>
        </p:txBody>
      </p:sp>
      <p:sp>
        <p:nvSpPr>
          <p:cNvPr id="58" name="Diamond 57"/>
          <p:cNvSpPr/>
          <p:nvPr/>
        </p:nvSpPr>
        <p:spPr>
          <a:xfrm>
            <a:off x="5806440" y="2997708"/>
            <a:ext cx="137160" cy="137160"/>
          </a:xfrm>
          <a:prstGeom prst="diamond">
            <a:avLst/>
          </a:prstGeom>
          <a:solidFill>
            <a:srgbClr val="F0D58A"/>
          </a:solidFill>
          <a:ln>
            <a:noFill/>
          </a:ln>
        </p:spPr>
        <p:txBody>
          <a:bodyPr rtlCol="0" anchor="ctr"/>
          <a:lstStyle/>
          <a:p/>
        </p:txBody>
      </p:sp>
      <p:sp>
        <p:nvSpPr>
          <p:cNvPr id="59" name="TextBox 58"/>
          <p:cNvSpPr txBox="1"/>
          <p:nvPr/>
        </p:nvSpPr>
        <p:spPr>
          <a:xfrm>
            <a:off x="6126479" y="2880360"/>
            <a:ext cx="5349240" cy="56692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Licensed Life Insurance Agent</a:t>
            </a:r>
          </a:p>
        </p:txBody>
      </p:sp>
      <p:sp>
        <p:nvSpPr>
          <p:cNvPr id="60" name="Diamond 59"/>
          <p:cNvSpPr/>
          <p:nvPr/>
        </p:nvSpPr>
        <p:spPr>
          <a:xfrm>
            <a:off x="5806440" y="3564636"/>
            <a:ext cx="137160" cy="137160"/>
          </a:xfrm>
          <a:prstGeom prst="diamond">
            <a:avLst/>
          </a:prstGeom>
          <a:solidFill>
            <a:srgbClr val="F0D58A"/>
          </a:solidFill>
          <a:ln>
            <a:noFill/>
          </a:ln>
        </p:spPr>
        <p:txBody>
          <a:bodyPr rtlCol="0" anchor="ctr"/>
          <a:lstStyle/>
          <a:p/>
        </p:txBody>
      </p:sp>
      <p:sp>
        <p:nvSpPr>
          <p:cNvPr id="61" name="TextBox 60"/>
          <p:cNvSpPr txBox="1"/>
          <p:nvPr/>
        </p:nvSpPr>
        <p:spPr>
          <a:xfrm>
            <a:off x="6126479" y="3447288"/>
            <a:ext cx="5349240" cy="56692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Founder, 7Band Financial Agency</a:t>
            </a:r>
          </a:p>
        </p:txBody>
      </p:sp>
      <p:sp>
        <p:nvSpPr>
          <p:cNvPr id="62" name="Diamond 61"/>
          <p:cNvSpPr/>
          <p:nvPr/>
        </p:nvSpPr>
        <p:spPr>
          <a:xfrm>
            <a:off x="5806440" y="4131563"/>
            <a:ext cx="137160" cy="137160"/>
          </a:xfrm>
          <a:prstGeom prst="diamond">
            <a:avLst/>
          </a:prstGeom>
          <a:solidFill>
            <a:srgbClr val="F0D58A"/>
          </a:solidFill>
          <a:ln>
            <a:noFill/>
          </a:ln>
        </p:spPr>
        <p:txBody>
          <a:bodyPr rtlCol="0" anchor="ctr"/>
          <a:lstStyle/>
          <a:p/>
        </p:txBody>
      </p:sp>
      <p:sp>
        <p:nvSpPr>
          <p:cNvPr id="63" name="TextBox 62"/>
          <p:cNvSpPr txBox="1"/>
          <p:nvPr/>
        </p:nvSpPr>
        <p:spPr>
          <a:xfrm>
            <a:off x="6126479" y="4014215"/>
            <a:ext cx="5349240" cy="56692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Founder, Arise Credit Pro</a:t>
            </a:r>
          </a:p>
        </p:txBody>
      </p:sp>
      <p:sp>
        <p:nvSpPr>
          <p:cNvPr id="64" name="Diamond 63"/>
          <p:cNvSpPr/>
          <p:nvPr/>
        </p:nvSpPr>
        <p:spPr>
          <a:xfrm>
            <a:off x="5806440" y="4698491"/>
            <a:ext cx="137160" cy="137160"/>
          </a:xfrm>
          <a:prstGeom prst="diamond">
            <a:avLst/>
          </a:prstGeom>
          <a:solidFill>
            <a:srgbClr val="F0D58A"/>
          </a:solidFill>
          <a:ln>
            <a:noFill/>
          </a:ln>
        </p:spPr>
        <p:txBody>
          <a:bodyPr rtlCol="0" anchor="ctr"/>
          <a:lstStyle/>
          <a:p/>
        </p:txBody>
      </p:sp>
      <p:sp>
        <p:nvSpPr>
          <p:cNvPr id="65" name="TextBox 64"/>
          <p:cNvSpPr txBox="1"/>
          <p:nvPr/>
        </p:nvSpPr>
        <p:spPr>
          <a:xfrm>
            <a:off x="6126479" y="4581144"/>
            <a:ext cx="5349240" cy="871727"/>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Author, The American Money Tree (coming soon)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9360981" y="3459202"/>
            <a:ext cx="27432" cy="27432"/>
          </a:xfrm>
          <a:prstGeom prst="ellipse">
            <a:avLst/>
          </a:prstGeom>
          <a:solidFill>
            <a:srgbClr val="50421F"/>
          </a:solidFill>
          <a:ln>
            <a:noFill/>
          </a:ln>
        </p:spPr>
        <p:txBody>
          <a:bodyPr rtlCol="0" anchor="ctr"/>
          <a:lstStyle/>
          <a:p/>
        </p:txBody>
      </p:sp>
      <p:sp>
        <p:nvSpPr>
          <p:cNvPr id="4" name="Oval 3"/>
          <p:cNvSpPr/>
          <p:nvPr/>
        </p:nvSpPr>
        <p:spPr>
          <a:xfrm>
            <a:off x="11789456" y="2085629"/>
            <a:ext cx="45720" cy="45720"/>
          </a:xfrm>
          <a:prstGeom prst="ellipse">
            <a:avLst/>
          </a:prstGeom>
          <a:solidFill>
            <a:srgbClr val="907F52"/>
          </a:solidFill>
          <a:ln>
            <a:noFill/>
          </a:ln>
        </p:spPr>
        <p:txBody>
          <a:bodyPr rtlCol="0" anchor="ctr"/>
          <a:lstStyle/>
          <a:p/>
        </p:txBody>
      </p:sp>
      <p:sp>
        <p:nvSpPr>
          <p:cNvPr id="5" name="Oval 4"/>
          <p:cNvSpPr/>
          <p:nvPr/>
        </p:nvSpPr>
        <p:spPr>
          <a:xfrm>
            <a:off x="3350415" y="2311498"/>
            <a:ext cx="27432" cy="27432"/>
          </a:xfrm>
          <a:prstGeom prst="ellipse">
            <a:avLst/>
          </a:prstGeom>
          <a:solidFill>
            <a:srgbClr val="A86D2B"/>
          </a:solidFill>
          <a:ln>
            <a:noFill/>
          </a:ln>
        </p:spPr>
        <p:txBody>
          <a:bodyPr rtlCol="0" anchor="ctr"/>
          <a:lstStyle/>
          <a:p/>
        </p:txBody>
      </p:sp>
      <p:sp>
        <p:nvSpPr>
          <p:cNvPr id="6" name="Oval 5"/>
          <p:cNvSpPr/>
          <p:nvPr/>
        </p:nvSpPr>
        <p:spPr>
          <a:xfrm>
            <a:off x="10647845" y="501634"/>
            <a:ext cx="45720" cy="45720"/>
          </a:xfrm>
          <a:prstGeom prst="ellipse">
            <a:avLst/>
          </a:prstGeom>
          <a:solidFill>
            <a:srgbClr val="50421F"/>
          </a:solidFill>
          <a:ln>
            <a:noFill/>
          </a:ln>
        </p:spPr>
        <p:txBody>
          <a:bodyPr rtlCol="0" anchor="ctr"/>
          <a:lstStyle/>
          <a:p/>
        </p:txBody>
      </p:sp>
      <p:sp>
        <p:nvSpPr>
          <p:cNvPr id="7" name="Oval 6"/>
          <p:cNvSpPr/>
          <p:nvPr/>
        </p:nvSpPr>
        <p:spPr>
          <a:xfrm>
            <a:off x="10913709" y="1042686"/>
            <a:ext cx="27432" cy="27432"/>
          </a:xfrm>
          <a:prstGeom prst="ellipse">
            <a:avLst/>
          </a:prstGeom>
          <a:solidFill>
            <a:srgbClr val="724A1E"/>
          </a:solidFill>
          <a:ln>
            <a:noFill/>
          </a:ln>
        </p:spPr>
        <p:txBody>
          <a:bodyPr rtlCol="0" anchor="ctr"/>
          <a:lstStyle/>
          <a:p/>
        </p:txBody>
      </p:sp>
      <p:sp>
        <p:nvSpPr>
          <p:cNvPr id="8" name="Oval 7"/>
          <p:cNvSpPr/>
          <p:nvPr/>
        </p:nvSpPr>
        <p:spPr>
          <a:xfrm>
            <a:off x="9568962" y="2829011"/>
            <a:ext cx="27432" cy="27432"/>
          </a:xfrm>
          <a:prstGeom prst="ellipse">
            <a:avLst/>
          </a:prstGeom>
          <a:solidFill>
            <a:srgbClr val="8E7D51"/>
          </a:solidFill>
          <a:ln>
            <a:noFill/>
          </a:ln>
        </p:spPr>
        <p:txBody>
          <a:bodyPr rtlCol="0" anchor="ctr"/>
          <a:lstStyle/>
          <a:p/>
        </p:txBody>
      </p:sp>
      <p:sp>
        <p:nvSpPr>
          <p:cNvPr id="9" name="Oval 8"/>
          <p:cNvSpPr/>
          <p:nvPr/>
        </p:nvSpPr>
        <p:spPr>
          <a:xfrm>
            <a:off x="9025791" y="2719802"/>
            <a:ext cx="54864" cy="54864"/>
          </a:xfrm>
          <a:prstGeom prst="ellipse">
            <a:avLst/>
          </a:prstGeom>
          <a:solidFill>
            <a:srgbClr val="A2873E"/>
          </a:solidFill>
          <a:ln>
            <a:noFill/>
          </a:ln>
        </p:spPr>
        <p:txBody>
          <a:bodyPr rtlCol="0" anchor="ctr"/>
          <a:lstStyle/>
          <a:p/>
        </p:txBody>
      </p:sp>
      <p:sp>
        <p:nvSpPr>
          <p:cNvPr id="10" name="Oval 9"/>
          <p:cNvSpPr/>
          <p:nvPr/>
        </p:nvSpPr>
        <p:spPr>
          <a:xfrm>
            <a:off x="10850599" y="5321574"/>
            <a:ext cx="73152" cy="73152"/>
          </a:xfrm>
          <a:prstGeom prst="ellipse">
            <a:avLst/>
          </a:prstGeom>
          <a:solidFill>
            <a:srgbClr val="9E843C"/>
          </a:solidFill>
          <a:ln>
            <a:noFill/>
          </a:ln>
        </p:spPr>
        <p:txBody>
          <a:bodyPr rtlCol="0" anchor="ctr"/>
          <a:lstStyle/>
          <a:p/>
        </p:txBody>
      </p:sp>
      <p:sp>
        <p:nvSpPr>
          <p:cNvPr id="11" name="Oval 10"/>
          <p:cNvSpPr/>
          <p:nvPr/>
        </p:nvSpPr>
        <p:spPr>
          <a:xfrm>
            <a:off x="9243875" y="3792834"/>
            <a:ext cx="36576" cy="36576"/>
          </a:xfrm>
          <a:prstGeom prst="ellipse">
            <a:avLst/>
          </a:prstGeom>
          <a:solidFill>
            <a:srgbClr val="AA9661"/>
          </a:solidFill>
          <a:ln>
            <a:noFill/>
          </a:ln>
        </p:spPr>
        <p:txBody>
          <a:bodyPr rtlCol="0" anchor="ctr"/>
          <a:lstStyle/>
          <a:p/>
        </p:txBody>
      </p:sp>
      <p:sp>
        <p:nvSpPr>
          <p:cNvPr id="12" name="Oval 11"/>
          <p:cNvSpPr/>
          <p:nvPr/>
        </p:nvSpPr>
        <p:spPr>
          <a:xfrm>
            <a:off x="2560537" y="1166091"/>
            <a:ext cx="54864" cy="54864"/>
          </a:xfrm>
          <a:prstGeom prst="ellipse">
            <a:avLst/>
          </a:prstGeom>
          <a:solidFill>
            <a:srgbClr val="503416"/>
          </a:solidFill>
          <a:ln>
            <a:noFill/>
          </a:ln>
        </p:spPr>
        <p:txBody>
          <a:bodyPr rtlCol="0" anchor="ctr"/>
          <a:lstStyle/>
          <a:p/>
        </p:txBody>
      </p:sp>
      <p:sp>
        <p:nvSpPr>
          <p:cNvPr id="13" name="Oval 12"/>
          <p:cNvSpPr/>
          <p:nvPr/>
        </p:nvSpPr>
        <p:spPr>
          <a:xfrm>
            <a:off x="445464" y="3067125"/>
            <a:ext cx="54864" cy="54864"/>
          </a:xfrm>
          <a:prstGeom prst="ellipse">
            <a:avLst/>
          </a:prstGeom>
          <a:solidFill>
            <a:srgbClr val="8B5A24"/>
          </a:solidFill>
          <a:ln>
            <a:noFill/>
          </a:ln>
        </p:spPr>
        <p:txBody>
          <a:bodyPr rtlCol="0" anchor="ctr"/>
          <a:lstStyle/>
          <a:p/>
        </p:txBody>
      </p:sp>
      <p:sp>
        <p:nvSpPr>
          <p:cNvPr id="14" name="Oval 13"/>
          <p:cNvSpPr/>
          <p:nvPr/>
        </p:nvSpPr>
        <p:spPr>
          <a:xfrm>
            <a:off x="5868860" y="3337954"/>
            <a:ext cx="73152" cy="73152"/>
          </a:xfrm>
          <a:prstGeom prst="ellipse">
            <a:avLst/>
          </a:prstGeom>
          <a:solidFill>
            <a:srgbClr val="774D1F"/>
          </a:solidFill>
          <a:ln>
            <a:noFill/>
          </a:ln>
        </p:spPr>
        <p:txBody>
          <a:bodyPr rtlCol="0" anchor="ctr"/>
          <a:lstStyle/>
          <a:p/>
        </p:txBody>
      </p:sp>
      <p:sp>
        <p:nvSpPr>
          <p:cNvPr id="15" name="Oval 14"/>
          <p:cNvSpPr/>
          <p:nvPr/>
        </p:nvSpPr>
        <p:spPr>
          <a:xfrm>
            <a:off x="10291075" y="5658742"/>
            <a:ext cx="73152" cy="73152"/>
          </a:xfrm>
          <a:prstGeom prst="ellipse">
            <a:avLst/>
          </a:prstGeom>
          <a:solidFill>
            <a:srgbClr val="50462E"/>
          </a:solidFill>
          <a:ln>
            <a:noFill/>
          </a:ln>
        </p:spPr>
        <p:txBody>
          <a:bodyPr rtlCol="0" anchor="ctr"/>
          <a:lstStyle/>
          <a:p/>
        </p:txBody>
      </p:sp>
      <p:sp>
        <p:nvSpPr>
          <p:cNvPr id="16" name="Oval 15"/>
          <p:cNvSpPr/>
          <p:nvPr/>
        </p:nvSpPr>
        <p:spPr>
          <a:xfrm>
            <a:off x="4681795" y="1041298"/>
            <a:ext cx="54864" cy="54864"/>
          </a:xfrm>
          <a:prstGeom prst="ellipse">
            <a:avLst/>
          </a:prstGeom>
          <a:solidFill>
            <a:srgbClr val="7F6A31"/>
          </a:solidFill>
          <a:ln>
            <a:noFill/>
          </a:ln>
        </p:spPr>
        <p:txBody>
          <a:bodyPr rtlCol="0" anchor="ctr"/>
          <a:lstStyle/>
          <a:p/>
        </p:txBody>
      </p:sp>
      <p:sp>
        <p:nvSpPr>
          <p:cNvPr id="17" name="Oval 16"/>
          <p:cNvSpPr/>
          <p:nvPr/>
        </p:nvSpPr>
        <p:spPr>
          <a:xfrm>
            <a:off x="5816479" y="3035911"/>
            <a:ext cx="36576" cy="36576"/>
          </a:xfrm>
          <a:prstGeom prst="ellipse">
            <a:avLst/>
          </a:prstGeom>
          <a:solidFill>
            <a:srgbClr val="9C6528"/>
          </a:solidFill>
          <a:ln>
            <a:noFill/>
          </a:ln>
        </p:spPr>
        <p:txBody>
          <a:bodyPr rtlCol="0" anchor="ctr"/>
          <a:lstStyle/>
          <a:p/>
        </p:txBody>
      </p:sp>
      <p:sp>
        <p:nvSpPr>
          <p:cNvPr id="18" name="Oval 17"/>
          <p:cNvSpPr/>
          <p:nvPr/>
        </p:nvSpPr>
        <p:spPr>
          <a:xfrm>
            <a:off x="5393492" y="2198242"/>
            <a:ext cx="54864" cy="54864"/>
          </a:xfrm>
          <a:prstGeom prst="ellipse">
            <a:avLst/>
          </a:prstGeom>
          <a:solidFill>
            <a:srgbClr val="4F452D"/>
          </a:solidFill>
          <a:ln>
            <a:noFill/>
          </a:ln>
        </p:spPr>
        <p:txBody>
          <a:bodyPr rtlCol="0" anchor="ctr"/>
          <a:lstStyle/>
          <a:p/>
        </p:txBody>
      </p:sp>
      <p:sp>
        <p:nvSpPr>
          <p:cNvPr id="19" name="Oval 18"/>
          <p:cNvSpPr/>
          <p:nvPr/>
        </p:nvSpPr>
        <p:spPr>
          <a:xfrm>
            <a:off x="8244287" y="4835626"/>
            <a:ext cx="45720" cy="45720"/>
          </a:xfrm>
          <a:prstGeom prst="ellipse">
            <a:avLst/>
          </a:prstGeom>
          <a:solidFill>
            <a:srgbClr val="7F7049"/>
          </a:solidFill>
          <a:ln>
            <a:noFill/>
          </a:ln>
        </p:spPr>
        <p:txBody>
          <a:bodyPr rtlCol="0" anchor="ctr"/>
          <a:lstStyle/>
          <a:p/>
        </p:txBody>
      </p:sp>
      <p:sp>
        <p:nvSpPr>
          <p:cNvPr id="20" name="Oval 19"/>
          <p:cNvSpPr/>
          <p:nvPr/>
        </p:nvSpPr>
        <p:spPr>
          <a:xfrm>
            <a:off x="6162275" y="4267436"/>
            <a:ext cx="54864" cy="54864"/>
          </a:xfrm>
          <a:prstGeom prst="ellipse">
            <a:avLst/>
          </a:prstGeom>
          <a:solidFill>
            <a:srgbClr val="5B5034"/>
          </a:solidFill>
          <a:ln>
            <a:noFill/>
          </a:ln>
        </p:spPr>
        <p:txBody>
          <a:bodyPr rtlCol="0" anchor="ctr"/>
          <a:lstStyle/>
          <a:p/>
        </p:txBody>
      </p:sp>
      <p:sp>
        <p:nvSpPr>
          <p:cNvPr id="21" name="Oval 20"/>
          <p:cNvSpPr/>
          <p:nvPr/>
        </p:nvSpPr>
        <p:spPr>
          <a:xfrm>
            <a:off x="1229580" y="1116868"/>
            <a:ext cx="45720" cy="45720"/>
          </a:xfrm>
          <a:prstGeom prst="ellipse">
            <a:avLst/>
          </a:prstGeom>
          <a:solidFill>
            <a:srgbClr val="66421B"/>
          </a:solidFill>
          <a:ln>
            <a:noFill/>
          </a:ln>
        </p:spPr>
        <p:txBody>
          <a:bodyPr rtlCol="0" anchor="ctr"/>
          <a:lstStyle/>
          <a:p/>
        </p:txBody>
      </p:sp>
      <p:sp>
        <p:nvSpPr>
          <p:cNvPr id="22" name="Oval 21"/>
          <p:cNvSpPr/>
          <p:nvPr/>
        </p:nvSpPr>
        <p:spPr>
          <a:xfrm>
            <a:off x="9896533" y="1571048"/>
            <a:ext cx="54864" cy="54864"/>
          </a:xfrm>
          <a:prstGeom prst="ellipse">
            <a:avLst/>
          </a:prstGeom>
          <a:solidFill>
            <a:srgbClr val="AD702C"/>
          </a:solidFill>
          <a:ln>
            <a:noFill/>
          </a:ln>
        </p:spPr>
        <p:txBody>
          <a:bodyPr rtlCol="0" anchor="ctr"/>
          <a:lstStyle/>
          <a:p/>
        </p:txBody>
      </p:sp>
      <p:sp>
        <p:nvSpPr>
          <p:cNvPr id="23" name="Oval 22"/>
          <p:cNvSpPr/>
          <p:nvPr/>
        </p:nvSpPr>
        <p:spPr>
          <a:xfrm>
            <a:off x="5280414" y="5988621"/>
            <a:ext cx="27432" cy="27432"/>
          </a:xfrm>
          <a:prstGeom prst="ellipse">
            <a:avLst/>
          </a:prstGeom>
          <a:solidFill>
            <a:srgbClr val="463D28"/>
          </a:solidFill>
          <a:ln>
            <a:noFill/>
          </a:ln>
        </p:spPr>
        <p:txBody>
          <a:bodyPr rtlCol="0" anchor="ctr"/>
          <a:lstStyle/>
          <a:p/>
        </p:txBody>
      </p:sp>
      <p:sp>
        <p:nvSpPr>
          <p:cNvPr id="24" name="Oval 23"/>
          <p:cNvSpPr/>
          <p:nvPr/>
        </p:nvSpPr>
        <p:spPr>
          <a:xfrm>
            <a:off x="7479987" y="2088047"/>
            <a:ext cx="54864" cy="54864"/>
          </a:xfrm>
          <a:prstGeom prst="ellipse">
            <a:avLst/>
          </a:prstGeom>
          <a:solidFill>
            <a:srgbClr val="9C823B"/>
          </a:solidFill>
          <a:ln>
            <a:noFill/>
          </a:ln>
        </p:spPr>
        <p:txBody>
          <a:bodyPr rtlCol="0" anchor="ctr"/>
          <a:lstStyle/>
          <a:p/>
        </p:txBody>
      </p:sp>
      <p:sp>
        <p:nvSpPr>
          <p:cNvPr id="25" name="Oval 24"/>
          <p:cNvSpPr/>
          <p:nvPr/>
        </p:nvSpPr>
        <p:spPr>
          <a:xfrm>
            <a:off x="6619201" y="2485157"/>
            <a:ext cx="73152" cy="73152"/>
          </a:xfrm>
          <a:prstGeom prst="ellipse">
            <a:avLst/>
          </a:prstGeom>
          <a:solidFill>
            <a:srgbClr val="5C3D19"/>
          </a:solidFill>
          <a:ln>
            <a:noFill/>
          </a:ln>
        </p:spPr>
        <p:txBody>
          <a:bodyPr rtlCol="0" anchor="ctr"/>
          <a:lstStyle/>
          <a:p/>
        </p:txBody>
      </p:sp>
      <p:sp>
        <p:nvSpPr>
          <p:cNvPr id="26" name="Oval 25"/>
          <p:cNvSpPr/>
          <p:nvPr/>
        </p:nvSpPr>
        <p:spPr>
          <a:xfrm>
            <a:off x="4003638" y="511745"/>
            <a:ext cx="73152" cy="73152"/>
          </a:xfrm>
          <a:prstGeom prst="ellipse">
            <a:avLst/>
          </a:prstGeom>
          <a:solidFill>
            <a:srgbClr val="925F26"/>
          </a:solidFill>
          <a:ln>
            <a:noFill/>
          </a:ln>
        </p:spPr>
        <p:txBody>
          <a:bodyPr rtlCol="0" anchor="ctr"/>
          <a:lstStyle/>
          <a:p/>
        </p:txBody>
      </p:sp>
      <p:sp>
        <p:nvSpPr>
          <p:cNvPr id="27" name="Oval 26"/>
          <p:cNvSpPr/>
          <p:nvPr/>
        </p:nvSpPr>
        <p:spPr>
          <a:xfrm>
            <a:off x="1101080" y="2112398"/>
            <a:ext cx="36576" cy="36576"/>
          </a:xfrm>
          <a:prstGeom prst="ellipse">
            <a:avLst/>
          </a:prstGeom>
          <a:solidFill>
            <a:srgbClr val="9E6728"/>
          </a:solidFill>
          <a:ln>
            <a:noFill/>
          </a:ln>
        </p:spPr>
        <p:txBody>
          <a:bodyPr rtlCol="0" anchor="ctr"/>
          <a:lstStyle/>
          <a:p/>
        </p:txBody>
      </p:sp>
      <p:sp>
        <p:nvSpPr>
          <p:cNvPr id="28" name="Oval 27"/>
          <p:cNvSpPr/>
          <p:nvPr/>
        </p:nvSpPr>
        <p:spPr>
          <a:xfrm>
            <a:off x="11686706" y="5145311"/>
            <a:ext cx="36576" cy="36576"/>
          </a:xfrm>
          <a:prstGeom prst="ellipse">
            <a:avLst/>
          </a:prstGeom>
          <a:solidFill>
            <a:srgbClr val="875823"/>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5181447" y="1651253"/>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THE WHY</a:t>
            </a:r>
          </a:p>
        </p:txBody>
      </p:sp>
      <p:cxnSp>
        <p:nvCxnSpPr>
          <p:cNvPr id="51" name="Connector 50"/>
          <p:cNvCxnSpPr/>
          <p:nvPr/>
        </p:nvCxnSpPr>
        <p:spPr>
          <a:xfrm>
            <a:off x="3809847" y="1815845"/>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759555" y="1765553"/>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147407" y="1815845"/>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331555" y="1765553"/>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218182"/>
            <a:ext cx="9814255" cy="1851660"/>
          </a:xfrm>
          <a:prstGeom prst="rect">
            <a:avLst/>
          </a:prstGeom>
          <a:noFill/>
        </p:spPr>
        <p:txBody>
          <a:bodyPr wrap="square" lIns="0" rIns="0" tIns="0" bIns="0" anchor="b">
            <a:spAutoFit/>
          </a:bodyPr>
          <a:lstStyle/>
          <a:p>
            <a:pPr algn="ctr">
              <a:lnSpc>
                <a:spcPct val="105000"/>
              </a:lnSpc>
            </a:pPr>
            <a:r>
              <a:rPr sz="6600" b="1" i="0">
                <a:solidFill>
                  <a:srgbClr val="F0D58A"/>
                </a:solidFill>
                <a:latin typeface="Cinzel"/>
              </a:rPr>
              <a:t>“Get yo mind right.”</a:t>
            </a:r>
          </a:p>
        </p:txBody>
      </p:sp>
      <p:cxnSp>
        <p:nvCxnSpPr>
          <p:cNvPr id="56" name="Connector 55"/>
          <p:cNvCxnSpPr/>
          <p:nvPr/>
        </p:nvCxnSpPr>
        <p:spPr>
          <a:xfrm>
            <a:off x="4632807" y="425272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425272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4188713"/>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435602"/>
            <a:ext cx="9448495" cy="1072896"/>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 Dr. Renaldo Murry, Band Director</a:t>
            </a:r>
          </a:p>
          <a:p>
            <a:pPr algn="ctr">
              <a:lnSpc>
                <a:spcPct val="120000"/>
              </a:lnSpc>
              <a:spcAft>
                <a:spcPts val="800"/>
              </a:spcAft>
            </a:pPr>
            <a:r>
              <a:rPr sz="2000" b="0" i="0">
                <a:solidFill>
                  <a:srgbClr val="B9A57A"/>
                </a:solidFill>
                <a:latin typeface="Montserrat"/>
              </a:rPr>
              <a:t>A deep why is what keeps you going when you get tested.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5743132" y="2059290"/>
            <a:ext cx="45720" cy="45720"/>
          </a:xfrm>
          <a:prstGeom prst="ellipse">
            <a:avLst/>
          </a:prstGeom>
          <a:solidFill>
            <a:srgbClr val="7D6E47"/>
          </a:solidFill>
          <a:ln>
            <a:noFill/>
          </a:ln>
        </p:spPr>
        <p:txBody>
          <a:bodyPr rtlCol="0" anchor="ctr"/>
          <a:lstStyle/>
          <a:p/>
        </p:txBody>
      </p:sp>
      <p:sp>
        <p:nvSpPr>
          <p:cNvPr id="4" name="Oval 3"/>
          <p:cNvSpPr/>
          <p:nvPr/>
        </p:nvSpPr>
        <p:spPr>
          <a:xfrm>
            <a:off x="10154315" y="4591668"/>
            <a:ext cx="54864" cy="54864"/>
          </a:xfrm>
          <a:prstGeom prst="ellipse">
            <a:avLst/>
          </a:prstGeom>
          <a:solidFill>
            <a:srgbClr val="958355"/>
          </a:solidFill>
          <a:ln>
            <a:noFill/>
          </a:ln>
        </p:spPr>
        <p:txBody>
          <a:bodyPr rtlCol="0" anchor="ctr"/>
          <a:lstStyle/>
          <a:p/>
        </p:txBody>
      </p:sp>
      <p:sp>
        <p:nvSpPr>
          <p:cNvPr id="5" name="Oval 4"/>
          <p:cNvSpPr/>
          <p:nvPr/>
        </p:nvSpPr>
        <p:spPr>
          <a:xfrm>
            <a:off x="3764817" y="5209265"/>
            <a:ext cx="27432" cy="27432"/>
          </a:xfrm>
          <a:prstGeom prst="ellipse">
            <a:avLst/>
          </a:prstGeom>
          <a:solidFill>
            <a:srgbClr val="4A3D1D"/>
          </a:solidFill>
          <a:ln>
            <a:noFill/>
          </a:ln>
        </p:spPr>
        <p:txBody>
          <a:bodyPr rtlCol="0" anchor="ctr"/>
          <a:lstStyle/>
          <a:p/>
        </p:txBody>
      </p:sp>
      <p:sp>
        <p:nvSpPr>
          <p:cNvPr id="6" name="Oval 5"/>
          <p:cNvSpPr/>
          <p:nvPr/>
        </p:nvSpPr>
        <p:spPr>
          <a:xfrm>
            <a:off x="3919654" y="5056698"/>
            <a:ext cx="73152" cy="73152"/>
          </a:xfrm>
          <a:prstGeom prst="ellipse">
            <a:avLst/>
          </a:prstGeom>
          <a:solidFill>
            <a:srgbClr val="564721"/>
          </a:solidFill>
          <a:ln>
            <a:noFill/>
          </a:ln>
        </p:spPr>
        <p:txBody>
          <a:bodyPr rtlCol="0" anchor="ctr"/>
          <a:lstStyle/>
          <a:p/>
        </p:txBody>
      </p:sp>
      <p:sp>
        <p:nvSpPr>
          <p:cNvPr id="7" name="Oval 6"/>
          <p:cNvSpPr/>
          <p:nvPr/>
        </p:nvSpPr>
        <p:spPr>
          <a:xfrm>
            <a:off x="9621419" y="4332631"/>
            <a:ext cx="36576" cy="36576"/>
          </a:xfrm>
          <a:prstGeom prst="ellipse">
            <a:avLst/>
          </a:prstGeom>
          <a:solidFill>
            <a:srgbClr val="7F7049"/>
          </a:solidFill>
          <a:ln>
            <a:noFill/>
          </a:ln>
        </p:spPr>
        <p:txBody>
          <a:bodyPr rtlCol="0" anchor="ctr"/>
          <a:lstStyle/>
          <a:p/>
        </p:txBody>
      </p:sp>
      <p:sp>
        <p:nvSpPr>
          <p:cNvPr id="8" name="Oval 7"/>
          <p:cNvSpPr/>
          <p:nvPr/>
        </p:nvSpPr>
        <p:spPr>
          <a:xfrm>
            <a:off x="7548410" y="2126406"/>
            <a:ext cx="73152" cy="73152"/>
          </a:xfrm>
          <a:prstGeom prst="ellipse">
            <a:avLst/>
          </a:prstGeom>
          <a:solidFill>
            <a:srgbClr val="A79460"/>
          </a:solidFill>
          <a:ln>
            <a:noFill/>
          </a:ln>
        </p:spPr>
        <p:txBody>
          <a:bodyPr rtlCol="0" anchor="ctr"/>
          <a:lstStyle/>
          <a:p/>
        </p:txBody>
      </p:sp>
      <p:sp>
        <p:nvSpPr>
          <p:cNvPr id="9" name="Oval 8"/>
          <p:cNvSpPr/>
          <p:nvPr/>
        </p:nvSpPr>
        <p:spPr>
          <a:xfrm>
            <a:off x="3325178" y="5048277"/>
            <a:ext cx="45720" cy="45720"/>
          </a:xfrm>
          <a:prstGeom prst="ellipse">
            <a:avLst/>
          </a:prstGeom>
          <a:solidFill>
            <a:srgbClr val="7F5321"/>
          </a:solidFill>
          <a:ln>
            <a:noFill/>
          </a:ln>
        </p:spPr>
        <p:txBody>
          <a:bodyPr rtlCol="0" anchor="ctr"/>
          <a:lstStyle/>
          <a:p/>
        </p:txBody>
      </p:sp>
      <p:sp>
        <p:nvSpPr>
          <p:cNvPr id="10" name="Oval 9"/>
          <p:cNvSpPr/>
          <p:nvPr/>
        </p:nvSpPr>
        <p:spPr>
          <a:xfrm>
            <a:off x="7734908" y="6002572"/>
            <a:ext cx="73152" cy="73152"/>
          </a:xfrm>
          <a:prstGeom prst="ellipse">
            <a:avLst/>
          </a:prstGeom>
          <a:solidFill>
            <a:srgbClr val="895924"/>
          </a:solidFill>
          <a:ln>
            <a:noFill/>
          </a:ln>
        </p:spPr>
        <p:txBody>
          <a:bodyPr rtlCol="0" anchor="ctr"/>
          <a:lstStyle/>
          <a:p/>
        </p:txBody>
      </p:sp>
      <p:sp>
        <p:nvSpPr>
          <p:cNvPr id="11" name="Oval 10"/>
          <p:cNvSpPr/>
          <p:nvPr/>
        </p:nvSpPr>
        <p:spPr>
          <a:xfrm>
            <a:off x="11526645" y="5314226"/>
            <a:ext cx="45720" cy="45720"/>
          </a:xfrm>
          <a:prstGeom prst="ellipse">
            <a:avLst/>
          </a:prstGeom>
          <a:solidFill>
            <a:srgbClr val="87774D"/>
          </a:solidFill>
          <a:ln>
            <a:noFill/>
          </a:ln>
        </p:spPr>
        <p:txBody>
          <a:bodyPr rtlCol="0" anchor="ctr"/>
          <a:lstStyle/>
          <a:p/>
        </p:txBody>
      </p:sp>
      <p:sp>
        <p:nvSpPr>
          <p:cNvPr id="12" name="Oval 11"/>
          <p:cNvSpPr/>
          <p:nvPr/>
        </p:nvSpPr>
        <p:spPr>
          <a:xfrm>
            <a:off x="5979945" y="2201584"/>
            <a:ext cx="36576" cy="36576"/>
          </a:xfrm>
          <a:prstGeom prst="ellipse">
            <a:avLst/>
          </a:prstGeom>
          <a:solidFill>
            <a:srgbClr val="7B5020"/>
          </a:solidFill>
          <a:ln>
            <a:noFill/>
          </a:ln>
        </p:spPr>
        <p:txBody>
          <a:bodyPr rtlCol="0" anchor="ctr"/>
          <a:lstStyle/>
          <a:p/>
        </p:txBody>
      </p:sp>
      <p:sp>
        <p:nvSpPr>
          <p:cNvPr id="13" name="Oval 12"/>
          <p:cNvSpPr/>
          <p:nvPr/>
        </p:nvSpPr>
        <p:spPr>
          <a:xfrm>
            <a:off x="2248163" y="3232083"/>
            <a:ext cx="27432" cy="27432"/>
          </a:xfrm>
          <a:prstGeom prst="ellipse">
            <a:avLst/>
          </a:prstGeom>
          <a:solidFill>
            <a:srgbClr val="7D6E47"/>
          </a:solidFill>
          <a:ln>
            <a:noFill/>
          </a:ln>
        </p:spPr>
        <p:txBody>
          <a:bodyPr rtlCol="0" anchor="ctr"/>
          <a:lstStyle/>
          <a:p/>
        </p:txBody>
      </p:sp>
      <p:sp>
        <p:nvSpPr>
          <p:cNvPr id="14" name="Oval 13"/>
          <p:cNvSpPr/>
          <p:nvPr/>
        </p:nvSpPr>
        <p:spPr>
          <a:xfrm>
            <a:off x="526064" y="5357705"/>
            <a:ext cx="54864" cy="54864"/>
          </a:xfrm>
          <a:prstGeom prst="ellipse">
            <a:avLst/>
          </a:prstGeom>
          <a:solidFill>
            <a:srgbClr val="8E7636"/>
          </a:solidFill>
          <a:ln>
            <a:noFill/>
          </a:ln>
        </p:spPr>
        <p:txBody>
          <a:bodyPr rtlCol="0" anchor="ctr"/>
          <a:lstStyle/>
          <a:p/>
        </p:txBody>
      </p:sp>
      <p:sp>
        <p:nvSpPr>
          <p:cNvPr id="15" name="Oval 14"/>
          <p:cNvSpPr/>
          <p:nvPr/>
        </p:nvSpPr>
        <p:spPr>
          <a:xfrm>
            <a:off x="9911635" y="830274"/>
            <a:ext cx="54864" cy="54864"/>
          </a:xfrm>
          <a:prstGeom prst="ellipse">
            <a:avLst/>
          </a:prstGeom>
          <a:solidFill>
            <a:srgbClr val="3E3318"/>
          </a:solidFill>
          <a:ln>
            <a:noFill/>
          </a:ln>
        </p:spPr>
        <p:txBody>
          <a:bodyPr rtlCol="0" anchor="ctr"/>
          <a:lstStyle/>
          <a:p/>
        </p:txBody>
      </p:sp>
      <p:sp>
        <p:nvSpPr>
          <p:cNvPr id="16" name="Oval 15"/>
          <p:cNvSpPr/>
          <p:nvPr/>
        </p:nvSpPr>
        <p:spPr>
          <a:xfrm>
            <a:off x="8469023" y="5831058"/>
            <a:ext cx="36576" cy="36576"/>
          </a:xfrm>
          <a:prstGeom prst="ellipse">
            <a:avLst/>
          </a:prstGeom>
          <a:solidFill>
            <a:srgbClr val="472F14"/>
          </a:solidFill>
          <a:ln>
            <a:noFill/>
          </a:ln>
        </p:spPr>
        <p:txBody>
          <a:bodyPr rtlCol="0" anchor="ctr"/>
          <a:lstStyle/>
          <a:p/>
        </p:txBody>
      </p:sp>
      <p:sp>
        <p:nvSpPr>
          <p:cNvPr id="17" name="Oval 16"/>
          <p:cNvSpPr/>
          <p:nvPr/>
        </p:nvSpPr>
        <p:spPr>
          <a:xfrm>
            <a:off x="7922213" y="2743264"/>
            <a:ext cx="27432" cy="27432"/>
          </a:xfrm>
          <a:prstGeom prst="ellipse">
            <a:avLst/>
          </a:prstGeom>
          <a:solidFill>
            <a:srgbClr val="7D5121"/>
          </a:solidFill>
          <a:ln>
            <a:noFill/>
          </a:ln>
        </p:spPr>
        <p:txBody>
          <a:bodyPr rtlCol="0" anchor="ctr"/>
          <a:lstStyle/>
          <a:p/>
        </p:txBody>
      </p:sp>
      <p:sp>
        <p:nvSpPr>
          <p:cNvPr id="18" name="Oval 17"/>
          <p:cNvSpPr/>
          <p:nvPr/>
        </p:nvSpPr>
        <p:spPr>
          <a:xfrm>
            <a:off x="2976514" y="965494"/>
            <a:ext cx="27432" cy="27432"/>
          </a:xfrm>
          <a:prstGeom prst="ellipse">
            <a:avLst/>
          </a:prstGeom>
          <a:solidFill>
            <a:srgbClr val="89794E"/>
          </a:solidFill>
          <a:ln>
            <a:noFill/>
          </a:ln>
        </p:spPr>
        <p:txBody>
          <a:bodyPr rtlCol="0" anchor="ctr"/>
          <a:lstStyle/>
          <a:p/>
        </p:txBody>
      </p:sp>
      <p:sp>
        <p:nvSpPr>
          <p:cNvPr id="19" name="Oval 18"/>
          <p:cNvSpPr/>
          <p:nvPr/>
        </p:nvSpPr>
        <p:spPr>
          <a:xfrm>
            <a:off x="470493" y="4083963"/>
            <a:ext cx="36576" cy="36576"/>
          </a:xfrm>
          <a:prstGeom prst="ellipse">
            <a:avLst/>
          </a:prstGeom>
          <a:solidFill>
            <a:srgbClr val="A28F5D"/>
          </a:solidFill>
          <a:ln>
            <a:noFill/>
          </a:ln>
        </p:spPr>
        <p:txBody>
          <a:bodyPr rtlCol="0" anchor="ctr"/>
          <a:lstStyle/>
          <a:p/>
        </p:txBody>
      </p:sp>
      <p:sp>
        <p:nvSpPr>
          <p:cNvPr id="20" name="Oval 19"/>
          <p:cNvSpPr/>
          <p:nvPr/>
        </p:nvSpPr>
        <p:spPr>
          <a:xfrm>
            <a:off x="11144937" y="4914888"/>
            <a:ext cx="27432" cy="27432"/>
          </a:xfrm>
          <a:prstGeom prst="ellipse">
            <a:avLst/>
          </a:prstGeom>
          <a:solidFill>
            <a:srgbClr val="B6A168"/>
          </a:solidFill>
          <a:ln>
            <a:noFill/>
          </a:ln>
        </p:spPr>
        <p:txBody>
          <a:bodyPr rtlCol="0" anchor="ctr"/>
          <a:lstStyle/>
          <a:p/>
        </p:txBody>
      </p:sp>
      <p:sp>
        <p:nvSpPr>
          <p:cNvPr id="21" name="Oval 20"/>
          <p:cNvSpPr/>
          <p:nvPr/>
        </p:nvSpPr>
        <p:spPr>
          <a:xfrm>
            <a:off x="3112134" y="3825597"/>
            <a:ext cx="45720" cy="45720"/>
          </a:xfrm>
          <a:prstGeom prst="ellipse">
            <a:avLst/>
          </a:prstGeom>
          <a:solidFill>
            <a:srgbClr val="87774D"/>
          </a:solidFill>
          <a:ln>
            <a:noFill/>
          </a:ln>
        </p:spPr>
        <p:txBody>
          <a:bodyPr rtlCol="0" anchor="ctr"/>
          <a:lstStyle/>
          <a:p/>
        </p:txBody>
      </p:sp>
      <p:sp>
        <p:nvSpPr>
          <p:cNvPr id="22" name="Oval 21"/>
          <p:cNvSpPr/>
          <p:nvPr/>
        </p:nvSpPr>
        <p:spPr>
          <a:xfrm>
            <a:off x="1557997" y="1240881"/>
            <a:ext cx="27432" cy="27432"/>
          </a:xfrm>
          <a:prstGeom prst="ellipse">
            <a:avLst/>
          </a:prstGeom>
          <a:solidFill>
            <a:srgbClr val="744C1F"/>
          </a:solidFill>
          <a:ln>
            <a:noFill/>
          </a:ln>
        </p:spPr>
        <p:txBody>
          <a:bodyPr rtlCol="0" anchor="ctr"/>
          <a:lstStyle/>
          <a:p/>
        </p:txBody>
      </p:sp>
      <p:sp>
        <p:nvSpPr>
          <p:cNvPr id="23" name="Oval 22"/>
          <p:cNvSpPr/>
          <p:nvPr/>
        </p:nvSpPr>
        <p:spPr>
          <a:xfrm>
            <a:off x="5688517" y="4706085"/>
            <a:ext cx="54864" cy="54864"/>
          </a:xfrm>
          <a:prstGeom prst="ellipse">
            <a:avLst/>
          </a:prstGeom>
          <a:solidFill>
            <a:srgbClr val="62401A"/>
          </a:solidFill>
          <a:ln>
            <a:noFill/>
          </a:ln>
        </p:spPr>
        <p:txBody>
          <a:bodyPr rtlCol="0" anchor="ctr"/>
          <a:lstStyle/>
          <a:p/>
        </p:txBody>
      </p:sp>
      <p:sp>
        <p:nvSpPr>
          <p:cNvPr id="24" name="Oval 23"/>
          <p:cNvSpPr/>
          <p:nvPr/>
        </p:nvSpPr>
        <p:spPr>
          <a:xfrm>
            <a:off x="713322" y="1543796"/>
            <a:ext cx="27432" cy="27432"/>
          </a:xfrm>
          <a:prstGeom prst="ellipse">
            <a:avLst/>
          </a:prstGeom>
          <a:solidFill>
            <a:srgbClr val="564721"/>
          </a:solidFill>
          <a:ln>
            <a:noFill/>
          </a:ln>
        </p:spPr>
        <p:txBody>
          <a:bodyPr rtlCol="0" anchor="ctr"/>
          <a:lstStyle/>
          <a:p/>
        </p:txBody>
      </p:sp>
      <p:sp>
        <p:nvSpPr>
          <p:cNvPr id="25" name="Oval 24"/>
          <p:cNvSpPr/>
          <p:nvPr/>
        </p:nvSpPr>
        <p:spPr>
          <a:xfrm>
            <a:off x="4768997" y="5192855"/>
            <a:ext cx="73152" cy="73152"/>
          </a:xfrm>
          <a:prstGeom prst="ellipse">
            <a:avLst/>
          </a:prstGeom>
          <a:solidFill>
            <a:srgbClr val="796B45"/>
          </a:solidFill>
          <a:ln>
            <a:noFill/>
          </a:ln>
        </p:spPr>
        <p:txBody>
          <a:bodyPr rtlCol="0" anchor="ctr"/>
          <a:lstStyle/>
          <a:p/>
        </p:txBody>
      </p:sp>
      <p:sp>
        <p:nvSpPr>
          <p:cNvPr id="26" name="Oval 25"/>
          <p:cNvSpPr/>
          <p:nvPr/>
        </p:nvSpPr>
        <p:spPr>
          <a:xfrm>
            <a:off x="3617746" y="3074711"/>
            <a:ext cx="27432" cy="27432"/>
          </a:xfrm>
          <a:prstGeom prst="ellipse">
            <a:avLst/>
          </a:prstGeom>
          <a:solidFill>
            <a:srgbClr val="AE9A64"/>
          </a:solidFill>
          <a:ln>
            <a:noFill/>
          </a:ln>
        </p:spPr>
        <p:txBody>
          <a:bodyPr rtlCol="0" anchor="ctr"/>
          <a:lstStyle/>
          <a:p/>
        </p:txBody>
      </p:sp>
      <p:sp>
        <p:nvSpPr>
          <p:cNvPr id="27" name="Oval 26"/>
          <p:cNvSpPr/>
          <p:nvPr/>
        </p:nvSpPr>
        <p:spPr>
          <a:xfrm>
            <a:off x="1808380" y="1145752"/>
            <a:ext cx="36576" cy="36576"/>
          </a:xfrm>
          <a:prstGeom prst="ellipse">
            <a:avLst/>
          </a:prstGeom>
          <a:solidFill>
            <a:srgbClr val="774E1F"/>
          </a:solidFill>
          <a:ln>
            <a:noFill/>
          </a:ln>
        </p:spPr>
        <p:txBody>
          <a:bodyPr rtlCol="0" anchor="ctr"/>
          <a:lstStyle/>
          <a:p/>
        </p:txBody>
      </p:sp>
      <p:sp>
        <p:nvSpPr>
          <p:cNvPr id="28" name="Oval 27"/>
          <p:cNvSpPr/>
          <p:nvPr/>
        </p:nvSpPr>
        <p:spPr>
          <a:xfrm>
            <a:off x="4898743" y="2519212"/>
            <a:ext cx="36576" cy="36576"/>
          </a:xfrm>
          <a:prstGeom prst="ellipse">
            <a:avLst/>
          </a:prstGeom>
          <a:solidFill>
            <a:srgbClr val="A76C2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404207" y="658368"/>
            <a:ext cx="3383280" cy="329184"/>
          </a:xfrm>
          <a:prstGeom prst="rect">
            <a:avLst/>
          </a:prstGeom>
          <a:noFill/>
        </p:spPr>
        <p:txBody>
          <a:bodyPr wrap="square" lIns="0" rIns="0" tIns="0" bIns="0" anchor="ctr">
            <a:spAutoFit/>
          </a:bodyPr>
          <a:lstStyle/>
          <a:p>
            <a:pPr algn="ctr"/>
            <a:r>
              <a:rPr sz="1300" b="1" i="0" spc="400">
                <a:solidFill>
                  <a:srgbClr val="C9A84C"/>
                </a:solidFill>
                <a:latin typeface="Montserrat"/>
              </a:rPr>
              <a:t>WHAT CHANGED MY MIND</a:t>
            </a:r>
          </a:p>
        </p:txBody>
      </p:sp>
      <p:cxnSp>
        <p:nvCxnSpPr>
          <p:cNvPr id="50" name="Connector 49"/>
          <p:cNvCxnSpPr/>
          <p:nvPr/>
        </p:nvCxnSpPr>
        <p:spPr>
          <a:xfrm>
            <a:off x="303260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982315"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92464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108795"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051560"/>
            <a:ext cx="10362895" cy="11582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The books that opened the door</a:t>
            </a:r>
          </a:p>
        </p:txBody>
      </p:sp>
      <p:sp>
        <p:nvSpPr>
          <p:cNvPr id="55" name="Rounded Rectangle 54"/>
          <p:cNvSpPr/>
          <p:nvPr/>
        </p:nvSpPr>
        <p:spPr>
          <a:xfrm>
            <a:off x="1523847" y="2392679"/>
            <a:ext cx="9144000" cy="3093720"/>
          </a:xfrm>
          <a:prstGeom prst="roundRect">
            <a:avLst>
              <a:gd name="adj" fmla="val 6000"/>
            </a:avLst>
          </a:prstGeom>
          <a:solidFill>
            <a:srgbClr val="100D07"/>
          </a:solidFill>
          <a:ln w="15875">
            <a:solidFill>
              <a:srgbClr val="877034"/>
            </a:solidFill>
          </a:ln>
        </p:spPr>
        <p:txBody>
          <a:bodyPr rtlCol="0" anchor="ctr"/>
          <a:lstStyle/>
          <a:p/>
        </p:txBody>
      </p:sp>
      <p:sp>
        <p:nvSpPr>
          <p:cNvPr id="56" name="Diamond 55"/>
          <p:cNvSpPr/>
          <p:nvPr/>
        </p:nvSpPr>
        <p:spPr>
          <a:xfrm>
            <a:off x="2026767" y="2711196"/>
            <a:ext cx="137160" cy="137160"/>
          </a:xfrm>
          <a:prstGeom prst="diamond">
            <a:avLst/>
          </a:prstGeom>
          <a:solidFill>
            <a:srgbClr val="F0D58A"/>
          </a:solidFill>
          <a:ln>
            <a:noFill/>
          </a:ln>
        </p:spPr>
        <p:txBody>
          <a:bodyPr rtlCol="0" anchor="ctr"/>
          <a:lstStyle/>
          <a:p/>
        </p:txBody>
      </p:sp>
      <p:sp>
        <p:nvSpPr>
          <p:cNvPr id="57" name="TextBox 56"/>
          <p:cNvSpPr txBox="1"/>
          <p:nvPr/>
        </p:nvSpPr>
        <p:spPr>
          <a:xfrm>
            <a:off x="2346807" y="2593848"/>
            <a:ext cx="7955279"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Money. Wealth. Life Insurance.</a:t>
            </a:r>
          </a:p>
        </p:txBody>
      </p:sp>
      <p:sp>
        <p:nvSpPr>
          <p:cNvPr id="58" name="Diamond 57"/>
          <p:cNvSpPr/>
          <p:nvPr/>
        </p:nvSpPr>
        <p:spPr>
          <a:xfrm>
            <a:off x="2026767" y="3247643"/>
            <a:ext cx="137160" cy="137160"/>
          </a:xfrm>
          <a:prstGeom prst="diamond">
            <a:avLst/>
          </a:prstGeom>
          <a:solidFill>
            <a:srgbClr val="F0D58A"/>
          </a:solidFill>
          <a:ln>
            <a:noFill/>
          </a:ln>
        </p:spPr>
        <p:txBody>
          <a:bodyPr rtlCol="0" anchor="ctr"/>
          <a:lstStyle/>
          <a:p/>
        </p:txBody>
      </p:sp>
      <p:sp>
        <p:nvSpPr>
          <p:cNvPr id="59" name="TextBox 58"/>
          <p:cNvSpPr txBox="1"/>
          <p:nvPr/>
        </p:nvSpPr>
        <p:spPr>
          <a:xfrm>
            <a:off x="2346807" y="3130295"/>
            <a:ext cx="7955279"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The LASER Fund</a:t>
            </a:r>
          </a:p>
        </p:txBody>
      </p:sp>
      <p:sp>
        <p:nvSpPr>
          <p:cNvPr id="60" name="Diamond 59"/>
          <p:cNvSpPr/>
          <p:nvPr/>
        </p:nvSpPr>
        <p:spPr>
          <a:xfrm>
            <a:off x="2026767" y="3784091"/>
            <a:ext cx="137160" cy="137160"/>
          </a:xfrm>
          <a:prstGeom prst="diamond">
            <a:avLst/>
          </a:prstGeom>
          <a:solidFill>
            <a:srgbClr val="F0D58A"/>
          </a:solidFill>
          <a:ln>
            <a:noFill/>
          </a:ln>
        </p:spPr>
        <p:txBody>
          <a:bodyPr rtlCol="0" anchor="ctr"/>
          <a:lstStyle/>
          <a:p/>
        </p:txBody>
      </p:sp>
      <p:sp>
        <p:nvSpPr>
          <p:cNvPr id="61" name="TextBox 60"/>
          <p:cNvSpPr txBox="1"/>
          <p:nvPr/>
        </p:nvSpPr>
        <p:spPr>
          <a:xfrm>
            <a:off x="2346807" y="3666744"/>
            <a:ext cx="7955279"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Cash in Motion</a:t>
            </a:r>
          </a:p>
        </p:txBody>
      </p:sp>
      <p:sp>
        <p:nvSpPr>
          <p:cNvPr id="62" name="Diamond 61"/>
          <p:cNvSpPr/>
          <p:nvPr/>
        </p:nvSpPr>
        <p:spPr>
          <a:xfrm>
            <a:off x="2026767" y="4320540"/>
            <a:ext cx="137160" cy="137160"/>
          </a:xfrm>
          <a:prstGeom prst="diamond">
            <a:avLst/>
          </a:prstGeom>
          <a:solidFill>
            <a:srgbClr val="F0D58A"/>
          </a:solidFill>
          <a:ln>
            <a:noFill/>
          </a:ln>
        </p:spPr>
        <p:txBody>
          <a:bodyPr rtlCol="0" anchor="ctr"/>
          <a:lstStyle/>
          <a:p/>
        </p:txBody>
      </p:sp>
      <p:sp>
        <p:nvSpPr>
          <p:cNvPr id="63" name="TextBox 62"/>
          <p:cNvSpPr txBox="1"/>
          <p:nvPr/>
        </p:nvSpPr>
        <p:spPr>
          <a:xfrm>
            <a:off x="2346807" y="4203192"/>
            <a:ext cx="7955279"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Unshakeable</a:t>
            </a:r>
          </a:p>
        </p:txBody>
      </p:sp>
      <p:sp>
        <p:nvSpPr>
          <p:cNvPr id="64" name="Diamond 63"/>
          <p:cNvSpPr/>
          <p:nvPr/>
        </p:nvSpPr>
        <p:spPr>
          <a:xfrm>
            <a:off x="2026767" y="4856988"/>
            <a:ext cx="137160" cy="137160"/>
          </a:xfrm>
          <a:prstGeom prst="diamond">
            <a:avLst/>
          </a:prstGeom>
          <a:solidFill>
            <a:srgbClr val="F0D58A"/>
          </a:solidFill>
          <a:ln>
            <a:noFill/>
          </a:ln>
        </p:spPr>
        <p:txBody>
          <a:bodyPr rtlCol="0" anchor="ctr"/>
          <a:lstStyle/>
          <a:p/>
        </p:txBody>
      </p:sp>
      <p:sp>
        <p:nvSpPr>
          <p:cNvPr id="65" name="TextBox 64"/>
          <p:cNvSpPr txBox="1"/>
          <p:nvPr/>
        </p:nvSpPr>
        <p:spPr>
          <a:xfrm>
            <a:off x="2346807" y="4739640"/>
            <a:ext cx="7955279"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Becoming Your Own Banker</a:t>
            </a:r>
          </a:p>
        </p:txBody>
      </p:sp>
      <p:sp>
        <p:nvSpPr>
          <p:cNvPr id="66" name="TextBox 65"/>
          <p:cNvSpPr txBox="1"/>
          <p:nvPr/>
        </p:nvSpPr>
        <p:spPr>
          <a:xfrm>
            <a:off x="1097280" y="5623560"/>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…and the parable of the talents.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5156040" y="2850363"/>
            <a:ext cx="36576" cy="36576"/>
          </a:xfrm>
          <a:prstGeom prst="ellipse">
            <a:avLst/>
          </a:prstGeom>
          <a:solidFill>
            <a:srgbClr val="7D5121"/>
          </a:solidFill>
          <a:ln>
            <a:noFill/>
          </a:ln>
        </p:spPr>
        <p:txBody>
          <a:bodyPr rtlCol="0" anchor="ctr"/>
          <a:lstStyle/>
          <a:p/>
        </p:txBody>
      </p:sp>
      <p:sp>
        <p:nvSpPr>
          <p:cNvPr id="4" name="Oval 3"/>
          <p:cNvSpPr/>
          <p:nvPr/>
        </p:nvSpPr>
        <p:spPr>
          <a:xfrm>
            <a:off x="11708138" y="3186873"/>
            <a:ext cx="36576" cy="36576"/>
          </a:xfrm>
          <a:prstGeom prst="ellipse">
            <a:avLst/>
          </a:prstGeom>
          <a:solidFill>
            <a:srgbClr val="4E411F"/>
          </a:solidFill>
          <a:ln>
            <a:noFill/>
          </a:ln>
        </p:spPr>
        <p:txBody>
          <a:bodyPr rtlCol="0" anchor="ctr"/>
          <a:lstStyle/>
          <a:p/>
        </p:txBody>
      </p:sp>
      <p:sp>
        <p:nvSpPr>
          <p:cNvPr id="5" name="Oval 4"/>
          <p:cNvSpPr/>
          <p:nvPr/>
        </p:nvSpPr>
        <p:spPr>
          <a:xfrm>
            <a:off x="3071007" y="384664"/>
            <a:ext cx="73152" cy="73152"/>
          </a:xfrm>
          <a:prstGeom prst="ellipse">
            <a:avLst/>
          </a:prstGeom>
          <a:solidFill>
            <a:srgbClr val="B4752E"/>
          </a:solidFill>
          <a:ln>
            <a:noFill/>
          </a:ln>
        </p:spPr>
        <p:txBody>
          <a:bodyPr rtlCol="0" anchor="ctr"/>
          <a:lstStyle/>
          <a:p/>
        </p:txBody>
      </p:sp>
      <p:sp>
        <p:nvSpPr>
          <p:cNvPr id="6" name="Oval 5"/>
          <p:cNvSpPr/>
          <p:nvPr/>
        </p:nvSpPr>
        <p:spPr>
          <a:xfrm>
            <a:off x="1159546" y="5083498"/>
            <a:ext cx="54864" cy="54864"/>
          </a:xfrm>
          <a:prstGeom prst="ellipse">
            <a:avLst/>
          </a:prstGeom>
          <a:solidFill>
            <a:srgbClr val="B9A36A"/>
          </a:solidFill>
          <a:ln>
            <a:noFill/>
          </a:ln>
        </p:spPr>
        <p:txBody>
          <a:bodyPr rtlCol="0" anchor="ctr"/>
          <a:lstStyle/>
          <a:p/>
        </p:txBody>
      </p:sp>
      <p:sp>
        <p:nvSpPr>
          <p:cNvPr id="7" name="Oval 6"/>
          <p:cNvSpPr/>
          <p:nvPr/>
        </p:nvSpPr>
        <p:spPr>
          <a:xfrm>
            <a:off x="5372205" y="6281859"/>
            <a:ext cx="27432" cy="27432"/>
          </a:xfrm>
          <a:prstGeom prst="ellipse">
            <a:avLst/>
          </a:prstGeom>
          <a:solidFill>
            <a:srgbClr val="8E5C25"/>
          </a:solidFill>
          <a:ln>
            <a:noFill/>
          </a:ln>
        </p:spPr>
        <p:txBody>
          <a:bodyPr rtlCol="0" anchor="ctr"/>
          <a:lstStyle/>
          <a:p/>
        </p:txBody>
      </p:sp>
      <p:sp>
        <p:nvSpPr>
          <p:cNvPr id="8" name="Oval 7"/>
          <p:cNvSpPr/>
          <p:nvPr/>
        </p:nvSpPr>
        <p:spPr>
          <a:xfrm>
            <a:off x="11330463" y="3576191"/>
            <a:ext cx="27432" cy="27432"/>
          </a:xfrm>
          <a:prstGeom prst="ellipse">
            <a:avLst/>
          </a:prstGeom>
          <a:solidFill>
            <a:srgbClr val="473B1C"/>
          </a:solidFill>
          <a:ln>
            <a:noFill/>
          </a:ln>
        </p:spPr>
        <p:txBody>
          <a:bodyPr rtlCol="0" anchor="ctr"/>
          <a:lstStyle/>
          <a:p/>
        </p:txBody>
      </p:sp>
      <p:sp>
        <p:nvSpPr>
          <p:cNvPr id="9" name="Oval 8"/>
          <p:cNvSpPr/>
          <p:nvPr/>
        </p:nvSpPr>
        <p:spPr>
          <a:xfrm>
            <a:off x="631912" y="4770097"/>
            <a:ext cx="45720" cy="45720"/>
          </a:xfrm>
          <a:prstGeom prst="ellipse">
            <a:avLst/>
          </a:prstGeom>
          <a:solidFill>
            <a:srgbClr val="554A30"/>
          </a:solidFill>
          <a:ln>
            <a:noFill/>
          </a:ln>
        </p:spPr>
        <p:txBody>
          <a:bodyPr rtlCol="0" anchor="ctr"/>
          <a:lstStyle/>
          <a:p/>
        </p:txBody>
      </p:sp>
      <p:sp>
        <p:nvSpPr>
          <p:cNvPr id="10" name="Oval 9"/>
          <p:cNvSpPr/>
          <p:nvPr/>
        </p:nvSpPr>
        <p:spPr>
          <a:xfrm>
            <a:off x="5558681" y="3646644"/>
            <a:ext cx="27432" cy="27432"/>
          </a:xfrm>
          <a:prstGeom prst="ellipse">
            <a:avLst/>
          </a:prstGeom>
          <a:solidFill>
            <a:srgbClr val="744B1E"/>
          </a:solidFill>
          <a:ln>
            <a:noFill/>
          </a:ln>
        </p:spPr>
        <p:txBody>
          <a:bodyPr rtlCol="0" anchor="ctr"/>
          <a:lstStyle/>
          <a:p/>
        </p:txBody>
      </p:sp>
      <p:sp>
        <p:nvSpPr>
          <p:cNvPr id="11" name="Oval 10"/>
          <p:cNvSpPr/>
          <p:nvPr/>
        </p:nvSpPr>
        <p:spPr>
          <a:xfrm>
            <a:off x="2507767" y="586502"/>
            <a:ext cx="36576" cy="36576"/>
          </a:xfrm>
          <a:prstGeom prst="ellipse">
            <a:avLst/>
          </a:prstGeom>
          <a:solidFill>
            <a:srgbClr val="4E442C"/>
          </a:solidFill>
          <a:ln>
            <a:noFill/>
          </a:ln>
        </p:spPr>
        <p:txBody>
          <a:bodyPr rtlCol="0" anchor="ctr"/>
          <a:lstStyle/>
          <a:p/>
        </p:txBody>
      </p:sp>
      <p:sp>
        <p:nvSpPr>
          <p:cNvPr id="12" name="Oval 11"/>
          <p:cNvSpPr/>
          <p:nvPr/>
        </p:nvSpPr>
        <p:spPr>
          <a:xfrm>
            <a:off x="2755919" y="6123735"/>
            <a:ext cx="36576" cy="36576"/>
          </a:xfrm>
          <a:prstGeom prst="ellipse">
            <a:avLst/>
          </a:prstGeom>
          <a:solidFill>
            <a:srgbClr val="8A7335"/>
          </a:solidFill>
          <a:ln>
            <a:noFill/>
          </a:ln>
        </p:spPr>
        <p:txBody>
          <a:bodyPr rtlCol="0" anchor="ctr"/>
          <a:lstStyle/>
          <a:p/>
        </p:txBody>
      </p:sp>
      <p:sp>
        <p:nvSpPr>
          <p:cNvPr id="13" name="Oval 12"/>
          <p:cNvSpPr/>
          <p:nvPr/>
        </p:nvSpPr>
        <p:spPr>
          <a:xfrm>
            <a:off x="11697800" y="787320"/>
            <a:ext cx="73152" cy="73152"/>
          </a:xfrm>
          <a:prstGeom prst="ellipse">
            <a:avLst/>
          </a:prstGeom>
          <a:solidFill>
            <a:srgbClr val="6D5A2A"/>
          </a:solidFill>
          <a:ln>
            <a:noFill/>
          </a:ln>
        </p:spPr>
        <p:txBody>
          <a:bodyPr rtlCol="0" anchor="ctr"/>
          <a:lstStyle/>
          <a:p/>
        </p:txBody>
      </p:sp>
      <p:sp>
        <p:nvSpPr>
          <p:cNvPr id="14" name="Oval 13"/>
          <p:cNvSpPr/>
          <p:nvPr/>
        </p:nvSpPr>
        <p:spPr>
          <a:xfrm>
            <a:off x="2670165" y="5852698"/>
            <a:ext cx="54864" cy="54864"/>
          </a:xfrm>
          <a:prstGeom prst="ellipse">
            <a:avLst/>
          </a:prstGeom>
          <a:solidFill>
            <a:srgbClr val="665527"/>
          </a:solidFill>
          <a:ln>
            <a:noFill/>
          </a:ln>
        </p:spPr>
        <p:txBody>
          <a:bodyPr rtlCol="0" anchor="ctr"/>
          <a:lstStyle/>
          <a:p/>
        </p:txBody>
      </p:sp>
      <p:sp>
        <p:nvSpPr>
          <p:cNvPr id="15" name="Oval 14"/>
          <p:cNvSpPr/>
          <p:nvPr/>
        </p:nvSpPr>
        <p:spPr>
          <a:xfrm>
            <a:off x="11304592" y="3346113"/>
            <a:ext cx="45720" cy="45720"/>
          </a:xfrm>
          <a:prstGeom prst="ellipse">
            <a:avLst/>
          </a:prstGeom>
          <a:solidFill>
            <a:srgbClr val="BB792F"/>
          </a:solidFill>
          <a:ln>
            <a:noFill/>
          </a:ln>
        </p:spPr>
        <p:txBody>
          <a:bodyPr rtlCol="0" anchor="ctr"/>
          <a:lstStyle/>
          <a:p/>
        </p:txBody>
      </p:sp>
      <p:sp>
        <p:nvSpPr>
          <p:cNvPr id="16" name="Oval 15"/>
          <p:cNvSpPr/>
          <p:nvPr/>
        </p:nvSpPr>
        <p:spPr>
          <a:xfrm>
            <a:off x="3410781" y="5323439"/>
            <a:ext cx="54864" cy="54864"/>
          </a:xfrm>
          <a:prstGeom prst="ellipse">
            <a:avLst/>
          </a:prstGeom>
          <a:solidFill>
            <a:srgbClr val="9F8D5B"/>
          </a:solidFill>
          <a:ln>
            <a:noFill/>
          </a:ln>
        </p:spPr>
        <p:txBody>
          <a:bodyPr rtlCol="0" anchor="ctr"/>
          <a:lstStyle/>
          <a:p/>
        </p:txBody>
      </p:sp>
      <p:sp>
        <p:nvSpPr>
          <p:cNvPr id="17" name="Oval 16"/>
          <p:cNvSpPr/>
          <p:nvPr/>
        </p:nvSpPr>
        <p:spPr>
          <a:xfrm>
            <a:off x="398215" y="782505"/>
            <a:ext cx="54864" cy="54864"/>
          </a:xfrm>
          <a:prstGeom prst="ellipse">
            <a:avLst/>
          </a:prstGeom>
          <a:solidFill>
            <a:srgbClr val="897234"/>
          </a:solidFill>
          <a:ln>
            <a:noFill/>
          </a:ln>
        </p:spPr>
        <p:txBody>
          <a:bodyPr rtlCol="0" anchor="ctr"/>
          <a:lstStyle/>
          <a:p/>
        </p:txBody>
      </p:sp>
      <p:sp>
        <p:nvSpPr>
          <p:cNvPr id="18" name="Oval 17"/>
          <p:cNvSpPr/>
          <p:nvPr/>
        </p:nvSpPr>
        <p:spPr>
          <a:xfrm>
            <a:off x="6915461" y="2259635"/>
            <a:ext cx="36576" cy="36576"/>
          </a:xfrm>
          <a:prstGeom prst="ellipse">
            <a:avLst/>
          </a:prstGeom>
          <a:solidFill>
            <a:srgbClr val="473B1C"/>
          </a:solidFill>
          <a:ln>
            <a:noFill/>
          </a:ln>
        </p:spPr>
        <p:txBody>
          <a:bodyPr rtlCol="0" anchor="ctr"/>
          <a:lstStyle/>
          <a:p/>
        </p:txBody>
      </p:sp>
      <p:sp>
        <p:nvSpPr>
          <p:cNvPr id="19" name="Oval 18"/>
          <p:cNvSpPr/>
          <p:nvPr/>
        </p:nvSpPr>
        <p:spPr>
          <a:xfrm>
            <a:off x="7545526" y="5320693"/>
            <a:ext cx="36576" cy="36576"/>
          </a:xfrm>
          <a:prstGeom prst="ellipse">
            <a:avLst/>
          </a:prstGeom>
          <a:solidFill>
            <a:srgbClr val="6D471D"/>
          </a:solidFill>
          <a:ln>
            <a:noFill/>
          </a:ln>
        </p:spPr>
        <p:txBody>
          <a:bodyPr rtlCol="0" anchor="ctr"/>
          <a:lstStyle/>
          <a:p/>
        </p:txBody>
      </p:sp>
      <p:sp>
        <p:nvSpPr>
          <p:cNvPr id="20" name="Oval 19"/>
          <p:cNvSpPr/>
          <p:nvPr/>
        </p:nvSpPr>
        <p:spPr>
          <a:xfrm>
            <a:off x="11020326" y="1826491"/>
            <a:ext cx="73152" cy="73152"/>
          </a:xfrm>
          <a:prstGeom prst="ellipse">
            <a:avLst/>
          </a:prstGeom>
          <a:solidFill>
            <a:srgbClr val="4D432C"/>
          </a:solidFill>
          <a:ln>
            <a:noFill/>
          </a:ln>
        </p:spPr>
        <p:txBody>
          <a:bodyPr rtlCol="0" anchor="ctr"/>
          <a:lstStyle/>
          <a:p/>
        </p:txBody>
      </p:sp>
      <p:sp>
        <p:nvSpPr>
          <p:cNvPr id="21" name="Oval 20"/>
          <p:cNvSpPr/>
          <p:nvPr/>
        </p:nvSpPr>
        <p:spPr>
          <a:xfrm>
            <a:off x="9270529" y="2593870"/>
            <a:ext cx="36576" cy="36576"/>
          </a:xfrm>
          <a:prstGeom prst="ellipse">
            <a:avLst/>
          </a:prstGeom>
          <a:solidFill>
            <a:srgbClr val="3F3419"/>
          </a:solidFill>
          <a:ln>
            <a:noFill/>
          </a:ln>
        </p:spPr>
        <p:txBody>
          <a:bodyPr rtlCol="0" anchor="ctr"/>
          <a:lstStyle/>
          <a:p/>
        </p:txBody>
      </p:sp>
      <p:sp>
        <p:nvSpPr>
          <p:cNvPr id="22" name="Oval 21"/>
          <p:cNvSpPr/>
          <p:nvPr/>
        </p:nvSpPr>
        <p:spPr>
          <a:xfrm>
            <a:off x="10664992" y="6061393"/>
            <a:ext cx="73152" cy="73152"/>
          </a:xfrm>
          <a:prstGeom prst="ellipse">
            <a:avLst/>
          </a:prstGeom>
          <a:solidFill>
            <a:srgbClr val="B2732D"/>
          </a:solidFill>
          <a:ln>
            <a:noFill/>
          </a:ln>
        </p:spPr>
        <p:txBody>
          <a:bodyPr rtlCol="0" anchor="ctr"/>
          <a:lstStyle/>
          <a:p/>
        </p:txBody>
      </p:sp>
      <p:sp>
        <p:nvSpPr>
          <p:cNvPr id="23" name="Oval 22"/>
          <p:cNvSpPr/>
          <p:nvPr/>
        </p:nvSpPr>
        <p:spPr>
          <a:xfrm>
            <a:off x="11383913" y="3875567"/>
            <a:ext cx="36576" cy="36576"/>
          </a:xfrm>
          <a:prstGeom prst="ellipse">
            <a:avLst/>
          </a:prstGeom>
          <a:solidFill>
            <a:srgbClr val="7E5221"/>
          </a:solidFill>
          <a:ln>
            <a:noFill/>
          </a:ln>
        </p:spPr>
        <p:txBody>
          <a:bodyPr rtlCol="0" anchor="ctr"/>
          <a:lstStyle/>
          <a:p/>
        </p:txBody>
      </p:sp>
      <p:sp>
        <p:nvSpPr>
          <p:cNvPr id="24" name="Oval 23"/>
          <p:cNvSpPr/>
          <p:nvPr/>
        </p:nvSpPr>
        <p:spPr>
          <a:xfrm>
            <a:off x="8008965" y="5930678"/>
            <a:ext cx="54864" cy="54864"/>
          </a:xfrm>
          <a:prstGeom prst="ellipse">
            <a:avLst/>
          </a:prstGeom>
          <a:solidFill>
            <a:srgbClr val="594E33"/>
          </a:solidFill>
          <a:ln>
            <a:noFill/>
          </a:ln>
        </p:spPr>
        <p:txBody>
          <a:bodyPr rtlCol="0" anchor="ctr"/>
          <a:lstStyle/>
          <a:p/>
        </p:txBody>
      </p:sp>
      <p:sp>
        <p:nvSpPr>
          <p:cNvPr id="25" name="Oval 24"/>
          <p:cNvSpPr/>
          <p:nvPr/>
        </p:nvSpPr>
        <p:spPr>
          <a:xfrm>
            <a:off x="5399451" y="2787562"/>
            <a:ext cx="27432" cy="27432"/>
          </a:xfrm>
          <a:prstGeom prst="ellipse">
            <a:avLst/>
          </a:prstGeom>
          <a:solidFill>
            <a:srgbClr val="6D5B2A"/>
          </a:solidFill>
          <a:ln>
            <a:noFill/>
          </a:ln>
        </p:spPr>
        <p:txBody>
          <a:bodyPr rtlCol="0" anchor="ctr"/>
          <a:lstStyle/>
          <a:p/>
        </p:txBody>
      </p:sp>
      <p:sp>
        <p:nvSpPr>
          <p:cNvPr id="26" name="Oval 25"/>
          <p:cNvSpPr/>
          <p:nvPr/>
        </p:nvSpPr>
        <p:spPr>
          <a:xfrm>
            <a:off x="963678" y="1899069"/>
            <a:ext cx="45720" cy="45720"/>
          </a:xfrm>
          <a:prstGeom prst="ellipse">
            <a:avLst/>
          </a:prstGeom>
          <a:solidFill>
            <a:srgbClr val="472F14"/>
          </a:solidFill>
          <a:ln>
            <a:noFill/>
          </a:ln>
        </p:spPr>
        <p:txBody>
          <a:bodyPr rtlCol="0" anchor="ctr"/>
          <a:lstStyle/>
          <a:p/>
        </p:txBody>
      </p:sp>
      <p:sp>
        <p:nvSpPr>
          <p:cNvPr id="27" name="Oval 26"/>
          <p:cNvSpPr/>
          <p:nvPr/>
        </p:nvSpPr>
        <p:spPr>
          <a:xfrm>
            <a:off x="2321205" y="778550"/>
            <a:ext cx="36576" cy="36576"/>
          </a:xfrm>
          <a:prstGeom prst="ellipse">
            <a:avLst/>
          </a:prstGeom>
          <a:solidFill>
            <a:srgbClr val="915E25"/>
          </a:solidFill>
          <a:ln>
            <a:noFill/>
          </a:ln>
        </p:spPr>
        <p:txBody>
          <a:bodyPr rtlCol="0" anchor="ctr"/>
          <a:lstStyle/>
          <a:p/>
        </p:txBody>
      </p:sp>
      <p:sp>
        <p:nvSpPr>
          <p:cNvPr id="28" name="Oval 27"/>
          <p:cNvSpPr/>
          <p:nvPr/>
        </p:nvSpPr>
        <p:spPr>
          <a:xfrm>
            <a:off x="11636235" y="4798780"/>
            <a:ext cx="36576" cy="36576"/>
          </a:xfrm>
          <a:prstGeom prst="ellipse">
            <a:avLst/>
          </a:prstGeom>
          <a:solidFill>
            <a:srgbClr val="493014"/>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971135" y="1572767"/>
            <a:ext cx="2249424" cy="329184"/>
          </a:xfrm>
          <a:prstGeom prst="rect">
            <a:avLst/>
          </a:prstGeom>
          <a:noFill/>
        </p:spPr>
        <p:txBody>
          <a:bodyPr wrap="square" lIns="0" rIns="0" tIns="0" bIns="0" anchor="ctr">
            <a:spAutoFit/>
          </a:bodyPr>
          <a:lstStyle/>
          <a:p>
            <a:pPr algn="ctr"/>
            <a:r>
              <a:rPr sz="1300" b="1" i="0" spc="400">
                <a:solidFill>
                  <a:srgbClr val="C9A84C"/>
                </a:solidFill>
                <a:latin typeface="Montserrat"/>
              </a:rPr>
              <a:t>WHY I'M HERE</a:t>
            </a:r>
          </a:p>
        </p:txBody>
      </p:sp>
      <p:cxnSp>
        <p:nvCxnSpPr>
          <p:cNvPr id="51" name="Connector 50"/>
          <p:cNvCxnSpPr/>
          <p:nvPr/>
        </p:nvCxnSpPr>
        <p:spPr>
          <a:xfrm>
            <a:off x="3599535" y="17373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549243" y="1687067"/>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357719" y="17373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541867" y="1687067"/>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139696"/>
            <a:ext cx="9814255" cy="1691640"/>
          </a:xfrm>
          <a:prstGeom prst="rect">
            <a:avLst/>
          </a:prstGeom>
          <a:noFill/>
        </p:spPr>
        <p:txBody>
          <a:bodyPr wrap="square" lIns="0" rIns="0" tIns="0" bIns="0" anchor="b">
            <a:spAutoFit/>
          </a:bodyPr>
          <a:lstStyle/>
          <a:p>
            <a:pPr algn="ctr">
              <a:lnSpc>
                <a:spcPct val="105000"/>
              </a:lnSpc>
            </a:pPr>
            <a:r>
              <a:rPr sz="4000" b="1" i="0">
                <a:solidFill>
                  <a:srgbClr val="F0D58A"/>
                </a:solidFill>
                <a:latin typeface="Cinzel"/>
              </a:rPr>
              <a:t>The principles that built wealth for generations aren't secret anymore.</a:t>
            </a:r>
          </a:p>
        </p:txBody>
      </p:sp>
      <p:cxnSp>
        <p:nvCxnSpPr>
          <p:cNvPr id="56" name="Connector 55"/>
          <p:cNvCxnSpPr/>
          <p:nvPr/>
        </p:nvCxnSpPr>
        <p:spPr>
          <a:xfrm>
            <a:off x="4632807" y="4014215"/>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4014215"/>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950207"/>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197096"/>
            <a:ext cx="9448495" cy="1389887"/>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I'm here to hand you the map — including the parts most people leave out: the costs, the risks, and who it isn't for.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146193" y="4009703"/>
            <a:ext cx="36576" cy="36576"/>
          </a:xfrm>
          <a:prstGeom prst="ellipse">
            <a:avLst/>
          </a:prstGeom>
          <a:solidFill>
            <a:srgbClr val="593B18"/>
          </a:solidFill>
          <a:ln>
            <a:noFill/>
          </a:ln>
        </p:spPr>
        <p:txBody>
          <a:bodyPr rtlCol="0" anchor="ctr"/>
          <a:lstStyle/>
          <a:p/>
        </p:txBody>
      </p:sp>
      <p:sp>
        <p:nvSpPr>
          <p:cNvPr id="4" name="Oval 3"/>
          <p:cNvSpPr/>
          <p:nvPr/>
        </p:nvSpPr>
        <p:spPr>
          <a:xfrm>
            <a:off x="8841628" y="5587957"/>
            <a:ext cx="27432" cy="27432"/>
          </a:xfrm>
          <a:prstGeom prst="ellipse">
            <a:avLst/>
          </a:prstGeom>
          <a:solidFill>
            <a:srgbClr val="625638"/>
          </a:solidFill>
          <a:ln>
            <a:noFill/>
          </a:ln>
        </p:spPr>
        <p:txBody>
          <a:bodyPr rtlCol="0" anchor="ctr"/>
          <a:lstStyle/>
          <a:p/>
        </p:txBody>
      </p:sp>
      <p:sp>
        <p:nvSpPr>
          <p:cNvPr id="5" name="Oval 4"/>
          <p:cNvSpPr/>
          <p:nvPr/>
        </p:nvSpPr>
        <p:spPr>
          <a:xfrm>
            <a:off x="4026734" y="3938709"/>
            <a:ext cx="27432" cy="27432"/>
          </a:xfrm>
          <a:prstGeom prst="ellipse">
            <a:avLst/>
          </a:prstGeom>
          <a:solidFill>
            <a:srgbClr val="826D32"/>
          </a:solidFill>
          <a:ln>
            <a:noFill/>
          </a:ln>
        </p:spPr>
        <p:txBody>
          <a:bodyPr rtlCol="0" anchor="ctr"/>
          <a:lstStyle/>
          <a:p/>
        </p:txBody>
      </p:sp>
      <p:sp>
        <p:nvSpPr>
          <p:cNvPr id="6" name="Oval 5"/>
          <p:cNvSpPr/>
          <p:nvPr/>
        </p:nvSpPr>
        <p:spPr>
          <a:xfrm>
            <a:off x="8480881" y="653669"/>
            <a:ext cx="54864" cy="54864"/>
          </a:xfrm>
          <a:prstGeom prst="ellipse">
            <a:avLst/>
          </a:prstGeom>
          <a:solidFill>
            <a:srgbClr val="8F7E52"/>
          </a:solidFill>
          <a:ln>
            <a:noFill/>
          </a:ln>
        </p:spPr>
        <p:txBody>
          <a:bodyPr rtlCol="0" anchor="ctr"/>
          <a:lstStyle/>
          <a:p/>
        </p:txBody>
      </p:sp>
      <p:sp>
        <p:nvSpPr>
          <p:cNvPr id="7" name="Oval 6"/>
          <p:cNvSpPr/>
          <p:nvPr/>
        </p:nvSpPr>
        <p:spPr>
          <a:xfrm>
            <a:off x="5196437" y="1438764"/>
            <a:ext cx="45720" cy="45720"/>
          </a:xfrm>
          <a:prstGeom prst="ellipse">
            <a:avLst/>
          </a:prstGeom>
          <a:solidFill>
            <a:srgbClr val="8E7D51"/>
          </a:solidFill>
          <a:ln>
            <a:noFill/>
          </a:ln>
        </p:spPr>
        <p:txBody>
          <a:bodyPr rtlCol="0" anchor="ctr"/>
          <a:lstStyle/>
          <a:p/>
        </p:txBody>
      </p:sp>
      <p:sp>
        <p:nvSpPr>
          <p:cNvPr id="8" name="Oval 7"/>
          <p:cNvSpPr/>
          <p:nvPr/>
        </p:nvSpPr>
        <p:spPr>
          <a:xfrm>
            <a:off x="1066800" y="2305951"/>
            <a:ext cx="73152" cy="73152"/>
          </a:xfrm>
          <a:prstGeom prst="ellipse">
            <a:avLst/>
          </a:prstGeom>
          <a:solidFill>
            <a:srgbClr val="62401A"/>
          </a:solidFill>
          <a:ln>
            <a:noFill/>
          </a:ln>
        </p:spPr>
        <p:txBody>
          <a:bodyPr rtlCol="0" anchor="ctr"/>
          <a:lstStyle/>
          <a:p/>
        </p:txBody>
      </p:sp>
      <p:sp>
        <p:nvSpPr>
          <p:cNvPr id="9" name="Oval 8"/>
          <p:cNvSpPr/>
          <p:nvPr/>
        </p:nvSpPr>
        <p:spPr>
          <a:xfrm>
            <a:off x="3946748" y="5008362"/>
            <a:ext cx="54864" cy="54864"/>
          </a:xfrm>
          <a:prstGeom prst="ellipse">
            <a:avLst/>
          </a:prstGeom>
          <a:solidFill>
            <a:srgbClr val="715E2B"/>
          </a:solidFill>
          <a:ln>
            <a:noFill/>
          </a:ln>
        </p:spPr>
        <p:txBody>
          <a:bodyPr rtlCol="0" anchor="ctr"/>
          <a:lstStyle/>
          <a:p/>
        </p:txBody>
      </p:sp>
      <p:sp>
        <p:nvSpPr>
          <p:cNvPr id="10" name="Oval 9"/>
          <p:cNvSpPr/>
          <p:nvPr/>
        </p:nvSpPr>
        <p:spPr>
          <a:xfrm>
            <a:off x="9822994" y="4333117"/>
            <a:ext cx="45720" cy="45720"/>
          </a:xfrm>
          <a:prstGeom prst="ellipse">
            <a:avLst/>
          </a:prstGeom>
          <a:solidFill>
            <a:srgbClr val="7B6C46"/>
          </a:solidFill>
          <a:ln>
            <a:noFill/>
          </a:ln>
        </p:spPr>
        <p:txBody>
          <a:bodyPr rtlCol="0" anchor="ctr"/>
          <a:lstStyle/>
          <a:p/>
        </p:txBody>
      </p:sp>
      <p:sp>
        <p:nvSpPr>
          <p:cNvPr id="11" name="Oval 10"/>
          <p:cNvSpPr/>
          <p:nvPr/>
        </p:nvSpPr>
        <p:spPr>
          <a:xfrm>
            <a:off x="6460471" y="557526"/>
            <a:ext cx="45720" cy="45720"/>
          </a:xfrm>
          <a:prstGeom prst="ellipse">
            <a:avLst/>
          </a:prstGeom>
          <a:solidFill>
            <a:srgbClr val="805421"/>
          </a:solidFill>
          <a:ln>
            <a:noFill/>
          </a:ln>
        </p:spPr>
        <p:txBody>
          <a:bodyPr rtlCol="0" anchor="ctr"/>
          <a:lstStyle/>
          <a:p/>
        </p:txBody>
      </p:sp>
      <p:sp>
        <p:nvSpPr>
          <p:cNvPr id="12" name="Oval 11"/>
          <p:cNvSpPr/>
          <p:nvPr/>
        </p:nvSpPr>
        <p:spPr>
          <a:xfrm>
            <a:off x="10476366" y="2726976"/>
            <a:ext cx="73152" cy="73152"/>
          </a:xfrm>
          <a:prstGeom prst="ellipse">
            <a:avLst/>
          </a:prstGeom>
          <a:solidFill>
            <a:srgbClr val="6C5E3D"/>
          </a:solidFill>
          <a:ln>
            <a:noFill/>
          </a:ln>
        </p:spPr>
        <p:txBody>
          <a:bodyPr rtlCol="0" anchor="ctr"/>
          <a:lstStyle/>
          <a:p/>
        </p:txBody>
      </p:sp>
      <p:sp>
        <p:nvSpPr>
          <p:cNvPr id="13" name="Oval 12"/>
          <p:cNvSpPr/>
          <p:nvPr/>
        </p:nvSpPr>
        <p:spPr>
          <a:xfrm>
            <a:off x="4917896" y="515557"/>
            <a:ext cx="45720" cy="45720"/>
          </a:xfrm>
          <a:prstGeom prst="ellipse">
            <a:avLst/>
          </a:prstGeom>
          <a:solidFill>
            <a:srgbClr val="79652E"/>
          </a:solidFill>
          <a:ln>
            <a:noFill/>
          </a:ln>
        </p:spPr>
        <p:txBody>
          <a:bodyPr rtlCol="0" anchor="ctr"/>
          <a:lstStyle/>
          <a:p/>
        </p:txBody>
      </p:sp>
      <p:sp>
        <p:nvSpPr>
          <p:cNvPr id="14" name="Oval 13"/>
          <p:cNvSpPr/>
          <p:nvPr/>
        </p:nvSpPr>
        <p:spPr>
          <a:xfrm>
            <a:off x="6406819" y="4868312"/>
            <a:ext cx="73152" cy="73152"/>
          </a:xfrm>
          <a:prstGeom prst="ellipse">
            <a:avLst/>
          </a:prstGeom>
          <a:solidFill>
            <a:srgbClr val="685628"/>
          </a:solidFill>
          <a:ln>
            <a:noFill/>
          </a:ln>
        </p:spPr>
        <p:txBody>
          <a:bodyPr rtlCol="0" anchor="ctr"/>
          <a:lstStyle/>
          <a:p/>
        </p:txBody>
      </p:sp>
      <p:sp>
        <p:nvSpPr>
          <p:cNvPr id="15" name="Oval 14"/>
          <p:cNvSpPr/>
          <p:nvPr/>
        </p:nvSpPr>
        <p:spPr>
          <a:xfrm>
            <a:off x="11785642" y="2479896"/>
            <a:ext cx="27432" cy="27432"/>
          </a:xfrm>
          <a:prstGeom prst="ellipse">
            <a:avLst/>
          </a:prstGeom>
          <a:solidFill>
            <a:srgbClr val="A26929"/>
          </a:solidFill>
          <a:ln>
            <a:noFill/>
          </a:ln>
        </p:spPr>
        <p:txBody>
          <a:bodyPr rtlCol="0" anchor="ctr"/>
          <a:lstStyle/>
          <a:p/>
        </p:txBody>
      </p:sp>
      <p:sp>
        <p:nvSpPr>
          <p:cNvPr id="16" name="Oval 15"/>
          <p:cNvSpPr/>
          <p:nvPr/>
        </p:nvSpPr>
        <p:spPr>
          <a:xfrm>
            <a:off x="11018040" y="6024999"/>
            <a:ext cx="27432" cy="27432"/>
          </a:xfrm>
          <a:prstGeom prst="ellipse">
            <a:avLst/>
          </a:prstGeom>
          <a:solidFill>
            <a:srgbClr val="544621"/>
          </a:solidFill>
          <a:ln>
            <a:noFill/>
          </a:ln>
        </p:spPr>
        <p:txBody>
          <a:bodyPr rtlCol="0" anchor="ctr"/>
          <a:lstStyle/>
          <a:p/>
        </p:txBody>
      </p:sp>
      <p:sp>
        <p:nvSpPr>
          <p:cNvPr id="17" name="Oval 16"/>
          <p:cNvSpPr/>
          <p:nvPr/>
        </p:nvSpPr>
        <p:spPr>
          <a:xfrm>
            <a:off x="1472421" y="5688256"/>
            <a:ext cx="27432" cy="27432"/>
          </a:xfrm>
          <a:prstGeom prst="ellipse">
            <a:avLst/>
          </a:prstGeom>
          <a:solidFill>
            <a:srgbClr val="493F29"/>
          </a:solidFill>
          <a:ln>
            <a:noFill/>
          </a:ln>
        </p:spPr>
        <p:txBody>
          <a:bodyPr rtlCol="0" anchor="ctr"/>
          <a:lstStyle/>
          <a:p/>
        </p:txBody>
      </p:sp>
      <p:sp>
        <p:nvSpPr>
          <p:cNvPr id="18" name="Oval 17"/>
          <p:cNvSpPr/>
          <p:nvPr/>
        </p:nvSpPr>
        <p:spPr>
          <a:xfrm>
            <a:off x="4366951" y="2316972"/>
            <a:ext cx="54864" cy="54864"/>
          </a:xfrm>
          <a:prstGeom prst="ellipse">
            <a:avLst/>
          </a:prstGeom>
          <a:solidFill>
            <a:srgbClr val="8F5D25"/>
          </a:solidFill>
          <a:ln>
            <a:noFill/>
          </a:ln>
        </p:spPr>
        <p:txBody>
          <a:bodyPr rtlCol="0" anchor="ctr"/>
          <a:lstStyle/>
          <a:p/>
        </p:txBody>
      </p:sp>
      <p:sp>
        <p:nvSpPr>
          <p:cNvPr id="19" name="Oval 18"/>
          <p:cNvSpPr/>
          <p:nvPr/>
        </p:nvSpPr>
        <p:spPr>
          <a:xfrm>
            <a:off x="789502" y="3548275"/>
            <a:ext cx="54864" cy="54864"/>
          </a:xfrm>
          <a:prstGeom prst="ellipse">
            <a:avLst/>
          </a:prstGeom>
          <a:solidFill>
            <a:srgbClr val="887134"/>
          </a:solidFill>
          <a:ln>
            <a:noFill/>
          </a:ln>
        </p:spPr>
        <p:txBody>
          <a:bodyPr rtlCol="0" anchor="ctr"/>
          <a:lstStyle/>
          <a:p/>
        </p:txBody>
      </p:sp>
      <p:sp>
        <p:nvSpPr>
          <p:cNvPr id="20" name="Oval 19"/>
          <p:cNvSpPr/>
          <p:nvPr/>
        </p:nvSpPr>
        <p:spPr>
          <a:xfrm>
            <a:off x="962744" y="2807073"/>
            <a:ext cx="27432" cy="27432"/>
          </a:xfrm>
          <a:prstGeom prst="ellipse">
            <a:avLst/>
          </a:prstGeom>
          <a:solidFill>
            <a:srgbClr val="B8A36A"/>
          </a:solidFill>
          <a:ln>
            <a:noFill/>
          </a:ln>
        </p:spPr>
        <p:txBody>
          <a:bodyPr rtlCol="0" anchor="ctr"/>
          <a:lstStyle/>
          <a:p/>
        </p:txBody>
      </p:sp>
      <p:sp>
        <p:nvSpPr>
          <p:cNvPr id="21" name="Oval 20"/>
          <p:cNvSpPr/>
          <p:nvPr/>
        </p:nvSpPr>
        <p:spPr>
          <a:xfrm>
            <a:off x="861064" y="1079381"/>
            <a:ext cx="54864" cy="54864"/>
          </a:xfrm>
          <a:prstGeom prst="ellipse">
            <a:avLst/>
          </a:prstGeom>
          <a:solidFill>
            <a:srgbClr val="725F2C"/>
          </a:solidFill>
          <a:ln>
            <a:noFill/>
          </a:ln>
        </p:spPr>
        <p:txBody>
          <a:bodyPr rtlCol="0" anchor="ctr"/>
          <a:lstStyle/>
          <a:p/>
        </p:txBody>
      </p:sp>
      <p:sp>
        <p:nvSpPr>
          <p:cNvPr id="22" name="Oval 21"/>
          <p:cNvSpPr/>
          <p:nvPr/>
        </p:nvSpPr>
        <p:spPr>
          <a:xfrm>
            <a:off x="3622794" y="4430315"/>
            <a:ext cx="73152" cy="73152"/>
          </a:xfrm>
          <a:prstGeom prst="ellipse">
            <a:avLst/>
          </a:prstGeom>
          <a:solidFill>
            <a:srgbClr val="7D5121"/>
          </a:solidFill>
          <a:ln>
            <a:noFill/>
          </a:ln>
        </p:spPr>
        <p:txBody>
          <a:bodyPr rtlCol="0" anchor="ctr"/>
          <a:lstStyle/>
          <a:p/>
        </p:txBody>
      </p:sp>
      <p:sp>
        <p:nvSpPr>
          <p:cNvPr id="23" name="Oval 22"/>
          <p:cNvSpPr/>
          <p:nvPr/>
        </p:nvSpPr>
        <p:spPr>
          <a:xfrm>
            <a:off x="7737720" y="2468446"/>
            <a:ext cx="27432" cy="27432"/>
          </a:xfrm>
          <a:prstGeom prst="ellipse">
            <a:avLst/>
          </a:prstGeom>
          <a:solidFill>
            <a:srgbClr val="AC9863"/>
          </a:solidFill>
          <a:ln>
            <a:noFill/>
          </a:ln>
        </p:spPr>
        <p:txBody>
          <a:bodyPr rtlCol="0" anchor="ctr"/>
          <a:lstStyle/>
          <a:p/>
        </p:txBody>
      </p:sp>
      <p:sp>
        <p:nvSpPr>
          <p:cNvPr id="24" name="Oval 23"/>
          <p:cNvSpPr/>
          <p:nvPr/>
        </p:nvSpPr>
        <p:spPr>
          <a:xfrm>
            <a:off x="3332568" y="1075912"/>
            <a:ext cx="73152" cy="73152"/>
          </a:xfrm>
          <a:prstGeom prst="ellipse">
            <a:avLst/>
          </a:prstGeom>
          <a:solidFill>
            <a:srgbClr val="84744B"/>
          </a:solidFill>
          <a:ln>
            <a:noFill/>
          </a:ln>
        </p:spPr>
        <p:txBody>
          <a:bodyPr rtlCol="0" anchor="ctr"/>
          <a:lstStyle/>
          <a:p/>
        </p:txBody>
      </p:sp>
      <p:sp>
        <p:nvSpPr>
          <p:cNvPr id="25" name="Oval 24"/>
          <p:cNvSpPr/>
          <p:nvPr/>
        </p:nvSpPr>
        <p:spPr>
          <a:xfrm>
            <a:off x="4268795" y="1384366"/>
            <a:ext cx="27432" cy="27432"/>
          </a:xfrm>
          <a:prstGeom prst="ellipse">
            <a:avLst/>
          </a:prstGeom>
          <a:solidFill>
            <a:srgbClr val="79652E"/>
          </a:solidFill>
          <a:ln>
            <a:noFill/>
          </a:ln>
        </p:spPr>
        <p:txBody>
          <a:bodyPr rtlCol="0" anchor="ctr"/>
          <a:lstStyle/>
          <a:p/>
        </p:txBody>
      </p:sp>
      <p:sp>
        <p:nvSpPr>
          <p:cNvPr id="26" name="Oval 25"/>
          <p:cNvSpPr/>
          <p:nvPr/>
        </p:nvSpPr>
        <p:spPr>
          <a:xfrm>
            <a:off x="2397864" y="820067"/>
            <a:ext cx="45720" cy="45720"/>
          </a:xfrm>
          <a:prstGeom prst="ellipse">
            <a:avLst/>
          </a:prstGeom>
          <a:solidFill>
            <a:srgbClr val="716441"/>
          </a:solidFill>
          <a:ln>
            <a:noFill/>
          </a:ln>
        </p:spPr>
        <p:txBody>
          <a:bodyPr rtlCol="0" anchor="ctr"/>
          <a:lstStyle/>
          <a:p/>
        </p:txBody>
      </p:sp>
      <p:sp>
        <p:nvSpPr>
          <p:cNvPr id="27" name="Oval 26"/>
          <p:cNvSpPr/>
          <p:nvPr/>
        </p:nvSpPr>
        <p:spPr>
          <a:xfrm>
            <a:off x="11747241" y="3542121"/>
            <a:ext cx="27432" cy="27432"/>
          </a:xfrm>
          <a:prstGeom prst="ellipse">
            <a:avLst/>
          </a:prstGeom>
          <a:solidFill>
            <a:srgbClr val="AC6F2C"/>
          </a:solidFill>
          <a:ln>
            <a:noFill/>
          </a:ln>
        </p:spPr>
        <p:txBody>
          <a:bodyPr rtlCol="0" anchor="ctr"/>
          <a:lstStyle/>
          <a:p/>
        </p:txBody>
      </p:sp>
      <p:sp>
        <p:nvSpPr>
          <p:cNvPr id="28" name="Oval 27"/>
          <p:cNvSpPr/>
          <p:nvPr/>
        </p:nvSpPr>
        <p:spPr>
          <a:xfrm>
            <a:off x="632976" y="4838508"/>
            <a:ext cx="36576" cy="36576"/>
          </a:xfrm>
          <a:prstGeom prst="ellipse">
            <a:avLst/>
          </a:prstGeom>
          <a:solidFill>
            <a:srgbClr val="6C5A2A"/>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049877" y="1808988"/>
            <a:ext cx="4091939" cy="329184"/>
          </a:xfrm>
          <a:prstGeom prst="rect">
            <a:avLst/>
          </a:prstGeom>
          <a:noFill/>
        </p:spPr>
        <p:txBody>
          <a:bodyPr wrap="square" lIns="0" rIns="0" tIns="0" bIns="0" anchor="ctr">
            <a:spAutoFit/>
          </a:bodyPr>
          <a:lstStyle/>
          <a:p>
            <a:pPr algn="ctr"/>
            <a:r>
              <a:rPr sz="1300" b="1" i="0" spc="400">
                <a:solidFill>
                  <a:srgbClr val="C9A84C"/>
                </a:solidFill>
                <a:latin typeface="Montserrat"/>
              </a:rPr>
              <a:t>THE ONLY QUESTION TONIGHT</a:t>
            </a:r>
          </a:p>
        </p:txBody>
      </p:sp>
      <p:cxnSp>
        <p:nvCxnSpPr>
          <p:cNvPr id="51" name="Connector 50"/>
          <p:cNvCxnSpPr/>
          <p:nvPr/>
        </p:nvCxnSpPr>
        <p:spPr>
          <a:xfrm>
            <a:off x="2678277" y="197358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2627985" y="1923288"/>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8278977" y="197358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9463125" y="1923288"/>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375916"/>
            <a:ext cx="9814255" cy="1584960"/>
          </a:xfrm>
          <a:prstGeom prst="rect">
            <a:avLst/>
          </a:prstGeom>
          <a:noFill/>
        </p:spPr>
        <p:txBody>
          <a:bodyPr wrap="square" lIns="0" rIns="0" tIns="0" bIns="0" anchor="b">
            <a:spAutoFit/>
          </a:bodyPr>
          <a:lstStyle/>
          <a:p>
            <a:pPr algn="ctr">
              <a:lnSpc>
                <a:spcPct val="105000"/>
              </a:lnSpc>
            </a:pPr>
            <a:r>
              <a:rPr sz="5600" b="1" i="0">
                <a:solidFill>
                  <a:srgbClr val="F0D58A"/>
                </a:solidFill>
                <a:latin typeface="Cinzel"/>
              </a:rPr>
              <a:t>Can this work for someone like me?</a:t>
            </a:r>
          </a:p>
        </p:txBody>
      </p:sp>
      <p:cxnSp>
        <p:nvCxnSpPr>
          <p:cNvPr id="56" name="Connector 55"/>
          <p:cNvCxnSpPr/>
          <p:nvPr/>
        </p:nvCxnSpPr>
        <p:spPr>
          <a:xfrm>
            <a:off x="4632807" y="4143756"/>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4143756"/>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4079748"/>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326636"/>
            <a:ext cx="9448495" cy="1024127"/>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If the honest answer for you is “not yet,” I'll tell you that too.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593202" y="862351"/>
            <a:ext cx="45720" cy="45720"/>
          </a:xfrm>
          <a:prstGeom prst="ellipse">
            <a:avLst/>
          </a:prstGeom>
          <a:solidFill>
            <a:srgbClr val="5B4C23"/>
          </a:solidFill>
          <a:ln>
            <a:noFill/>
          </a:ln>
        </p:spPr>
        <p:txBody>
          <a:bodyPr rtlCol="0" anchor="ctr"/>
          <a:lstStyle/>
          <a:p/>
        </p:txBody>
      </p:sp>
      <p:sp>
        <p:nvSpPr>
          <p:cNvPr id="4" name="Oval 3"/>
          <p:cNvSpPr/>
          <p:nvPr/>
        </p:nvSpPr>
        <p:spPr>
          <a:xfrm>
            <a:off x="6440661" y="1140228"/>
            <a:ext cx="54864" cy="54864"/>
          </a:xfrm>
          <a:prstGeom prst="ellipse">
            <a:avLst/>
          </a:prstGeom>
          <a:solidFill>
            <a:srgbClr val="675A3A"/>
          </a:solidFill>
          <a:ln>
            <a:noFill/>
          </a:ln>
        </p:spPr>
        <p:txBody>
          <a:bodyPr rtlCol="0" anchor="ctr"/>
          <a:lstStyle/>
          <a:p/>
        </p:txBody>
      </p:sp>
      <p:sp>
        <p:nvSpPr>
          <p:cNvPr id="5" name="Oval 4"/>
          <p:cNvSpPr/>
          <p:nvPr/>
        </p:nvSpPr>
        <p:spPr>
          <a:xfrm>
            <a:off x="2898907" y="3070293"/>
            <a:ext cx="27432" cy="27432"/>
          </a:xfrm>
          <a:prstGeom prst="ellipse">
            <a:avLst/>
          </a:prstGeom>
          <a:solidFill>
            <a:srgbClr val="52482F"/>
          </a:solidFill>
          <a:ln>
            <a:noFill/>
          </a:ln>
        </p:spPr>
        <p:txBody>
          <a:bodyPr rtlCol="0" anchor="ctr"/>
          <a:lstStyle/>
          <a:p/>
        </p:txBody>
      </p:sp>
      <p:sp>
        <p:nvSpPr>
          <p:cNvPr id="6" name="Oval 5"/>
          <p:cNvSpPr/>
          <p:nvPr/>
        </p:nvSpPr>
        <p:spPr>
          <a:xfrm>
            <a:off x="5193340" y="3412650"/>
            <a:ext cx="54864" cy="54864"/>
          </a:xfrm>
          <a:prstGeom prst="ellipse">
            <a:avLst/>
          </a:prstGeom>
          <a:solidFill>
            <a:srgbClr val="685628"/>
          </a:solidFill>
          <a:ln>
            <a:noFill/>
          </a:ln>
        </p:spPr>
        <p:txBody>
          <a:bodyPr rtlCol="0" anchor="ctr"/>
          <a:lstStyle/>
          <a:p/>
        </p:txBody>
      </p:sp>
      <p:sp>
        <p:nvSpPr>
          <p:cNvPr id="7" name="Oval 6"/>
          <p:cNvSpPr/>
          <p:nvPr/>
        </p:nvSpPr>
        <p:spPr>
          <a:xfrm>
            <a:off x="2722278" y="575626"/>
            <a:ext cx="27432" cy="27432"/>
          </a:xfrm>
          <a:prstGeom prst="ellipse">
            <a:avLst/>
          </a:prstGeom>
          <a:solidFill>
            <a:srgbClr val="935F26"/>
          </a:solidFill>
          <a:ln>
            <a:noFill/>
          </a:ln>
        </p:spPr>
        <p:txBody>
          <a:bodyPr rtlCol="0" anchor="ctr"/>
          <a:lstStyle/>
          <a:p/>
        </p:txBody>
      </p:sp>
      <p:sp>
        <p:nvSpPr>
          <p:cNvPr id="8" name="Oval 7"/>
          <p:cNvSpPr/>
          <p:nvPr/>
        </p:nvSpPr>
        <p:spPr>
          <a:xfrm>
            <a:off x="2841676" y="4735557"/>
            <a:ext cx="73152" cy="73152"/>
          </a:xfrm>
          <a:prstGeom prst="ellipse">
            <a:avLst/>
          </a:prstGeom>
          <a:solidFill>
            <a:srgbClr val="8A7335"/>
          </a:solidFill>
          <a:ln>
            <a:noFill/>
          </a:ln>
        </p:spPr>
        <p:txBody>
          <a:bodyPr rtlCol="0" anchor="ctr"/>
          <a:lstStyle/>
          <a:p/>
        </p:txBody>
      </p:sp>
      <p:sp>
        <p:nvSpPr>
          <p:cNvPr id="9" name="Oval 8"/>
          <p:cNvSpPr/>
          <p:nvPr/>
        </p:nvSpPr>
        <p:spPr>
          <a:xfrm>
            <a:off x="11465645" y="2037539"/>
            <a:ext cx="45720" cy="45720"/>
          </a:xfrm>
          <a:prstGeom prst="ellipse">
            <a:avLst/>
          </a:prstGeom>
          <a:solidFill>
            <a:srgbClr val="885923"/>
          </a:solidFill>
          <a:ln>
            <a:noFill/>
          </a:ln>
        </p:spPr>
        <p:txBody>
          <a:bodyPr rtlCol="0" anchor="ctr"/>
          <a:lstStyle/>
          <a:p/>
        </p:txBody>
      </p:sp>
      <p:sp>
        <p:nvSpPr>
          <p:cNvPr id="10" name="Oval 9"/>
          <p:cNvSpPr/>
          <p:nvPr/>
        </p:nvSpPr>
        <p:spPr>
          <a:xfrm>
            <a:off x="2401450" y="3237019"/>
            <a:ext cx="54864" cy="54864"/>
          </a:xfrm>
          <a:prstGeom prst="ellipse">
            <a:avLst/>
          </a:prstGeom>
          <a:solidFill>
            <a:srgbClr val="956126"/>
          </a:solidFill>
          <a:ln>
            <a:noFill/>
          </a:ln>
        </p:spPr>
        <p:txBody>
          <a:bodyPr rtlCol="0" anchor="ctr"/>
          <a:lstStyle/>
          <a:p/>
        </p:txBody>
      </p:sp>
      <p:sp>
        <p:nvSpPr>
          <p:cNvPr id="11" name="Oval 10"/>
          <p:cNvSpPr/>
          <p:nvPr/>
        </p:nvSpPr>
        <p:spPr>
          <a:xfrm>
            <a:off x="2451846" y="1426930"/>
            <a:ext cx="36576" cy="36576"/>
          </a:xfrm>
          <a:prstGeom prst="ellipse">
            <a:avLst/>
          </a:prstGeom>
          <a:solidFill>
            <a:srgbClr val="946026"/>
          </a:solidFill>
          <a:ln>
            <a:noFill/>
          </a:ln>
        </p:spPr>
        <p:txBody>
          <a:bodyPr rtlCol="0" anchor="ctr"/>
          <a:lstStyle/>
          <a:p/>
        </p:txBody>
      </p:sp>
      <p:sp>
        <p:nvSpPr>
          <p:cNvPr id="12" name="Oval 11"/>
          <p:cNvSpPr/>
          <p:nvPr/>
        </p:nvSpPr>
        <p:spPr>
          <a:xfrm>
            <a:off x="2607460" y="1045120"/>
            <a:ext cx="73152" cy="73152"/>
          </a:xfrm>
          <a:prstGeom prst="ellipse">
            <a:avLst/>
          </a:prstGeom>
          <a:solidFill>
            <a:srgbClr val="7A6C46"/>
          </a:solidFill>
          <a:ln>
            <a:noFill/>
          </a:ln>
        </p:spPr>
        <p:txBody>
          <a:bodyPr rtlCol="0" anchor="ctr"/>
          <a:lstStyle/>
          <a:p/>
        </p:txBody>
      </p:sp>
      <p:sp>
        <p:nvSpPr>
          <p:cNvPr id="13" name="Oval 12"/>
          <p:cNvSpPr/>
          <p:nvPr/>
        </p:nvSpPr>
        <p:spPr>
          <a:xfrm>
            <a:off x="3523777" y="3770384"/>
            <a:ext cx="73152" cy="73152"/>
          </a:xfrm>
          <a:prstGeom prst="ellipse">
            <a:avLst/>
          </a:prstGeom>
          <a:solidFill>
            <a:srgbClr val="5E4E24"/>
          </a:solidFill>
          <a:ln>
            <a:noFill/>
          </a:ln>
        </p:spPr>
        <p:txBody>
          <a:bodyPr rtlCol="0" anchor="ctr"/>
          <a:lstStyle/>
          <a:p/>
        </p:txBody>
      </p:sp>
      <p:sp>
        <p:nvSpPr>
          <p:cNvPr id="14" name="Oval 13"/>
          <p:cNvSpPr/>
          <p:nvPr/>
        </p:nvSpPr>
        <p:spPr>
          <a:xfrm>
            <a:off x="10681351" y="3588119"/>
            <a:ext cx="45720" cy="45720"/>
          </a:xfrm>
          <a:prstGeom prst="ellipse">
            <a:avLst/>
          </a:prstGeom>
          <a:solidFill>
            <a:srgbClr val="855723"/>
          </a:solidFill>
          <a:ln>
            <a:noFill/>
          </a:ln>
        </p:spPr>
        <p:txBody>
          <a:bodyPr rtlCol="0" anchor="ctr"/>
          <a:lstStyle/>
          <a:p/>
        </p:txBody>
      </p:sp>
      <p:sp>
        <p:nvSpPr>
          <p:cNvPr id="15" name="Oval 14"/>
          <p:cNvSpPr/>
          <p:nvPr/>
        </p:nvSpPr>
        <p:spPr>
          <a:xfrm>
            <a:off x="2079437" y="4048725"/>
            <a:ext cx="45720" cy="45720"/>
          </a:xfrm>
          <a:prstGeom prst="ellipse">
            <a:avLst/>
          </a:prstGeom>
          <a:solidFill>
            <a:srgbClr val="9E8B5A"/>
          </a:solidFill>
          <a:ln>
            <a:noFill/>
          </a:ln>
        </p:spPr>
        <p:txBody>
          <a:bodyPr rtlCol="0" anchor="ctr"/>
          <a:lstStyle/>
          <a:p/>
        </p:txBody>
      </p:sp>
      <p:sp>
        <p:nvSpPr>
          <p:cNvPr id="16" name="Oval 15"/>
          <p:cNvSpPr/>
          <p:nvPr/>
        </p:nvSpPr>
        <p:spPr>
          <a:xfrm>
            <a:off x="3093584" y="3607869"/>
            <a:ext cx="54864" cy="54864"/>
          </a:xfrm>
          <a:prstGeom prst="ellipse">
            <a:avLst/>
          </a:prstGeom>
          <a:solidFill>
            <a:srgbClr val="79652E"/>
          </a:solidFill>
          <a:ln>
            <a:noFill/>
          </a:ln>
        </p:spPr>
        <p:txBody>
          <a:bodyPr rtlCol="0" anchor="ctr"/>
          <a:lstStyle/>
          <a:p/>
        </p:txBody>
      </p:sp>
      <p:sp>
        <p:nvSpPr>
          <p:cNvPr id="17" name="Oval 16"/>
          <p:cNvSpPr/>
          <p:nvPr/>
        </p:nvSpPr>
        <p:spPr>
          <a:xfrm>
            <a:off x="2282586" y="6160808"/>
            <a:ext cx="54864" cy="54864"/>
          </a:xfrm>
          <a:prstGeom prst="ellipse">
            <a:avLst/>
          </a:prstGeom>
          <a:solidFill>
            <a:srgbClr val="948355"/>
          </a:solidFill>
          <a:ln>
            <a:noFill/>
          </a:ln>
        </p:spPr>
        <p:txBody>
          <a:bodyPr rtlCol="0" anchor="ctr"/>
          <a:lstStyle/>
          <a:p/>
        </p:txBody>
      </p:sp>
      <p:sp>
        <p:nvSpPr>
          <p:cNvPr id="18" name="Oval 17"/>
          <p:cNvSpPr/>
          <p:nvPr/>
        </p:nvSpPr>
        <p:spPr>
          <a:xfrm>
            <a:off x="633501" y="5177480"/>
            <a:ext cx="54864" cy="54864"/>
          </a:xfrm>
          <a:prstGeom prst="ellipse">
            <a:avLst/>
          </a:prstGeom>
          <a:solidFill>
            <a:srgbClr val="3D3218"/>
          </a:solidFill>
          <a:ln>
            <a:noFill/>
          </a:ln>
        </p:spPr>
        <p:txBody>
          <a:bodyPr rtlCol="0" anchor="ctr"/>
          <a:lstStyle/>
          <a:p/>
        </p:txBody>
      </p:sp>
      <p:sp>
        <p:nvSpPr>
          <p:cNvPr id="19" name="Oval 18"/>
          <p:cNvSpPr/>
          <p:nvPr/>
        </p:nvSpPr>
        <p:spPr>
          <a:xfrm>
            <a:off x="9590785" y="6005214"/>
            <a:ext cx="36576" cy="36576"/>
          </a:xfrm>
          <a:prstGeom prst="ellipse">
            <a:avLst/>
          </a:prstGeom>
          <a:solidFill>
            <a:srgbClr val="9D833C"/>
          </a:solidFill>
          <a:ln>
            <a:noFill/>
          </a:ln>
        </p:spPr>
        <p:txBody>
          <a:bodyPr rtlCol="0" anchor="ctr"/>
          <a:lstStyle/>
          <a:p/>
        </p:txBody>
      </p:sp>
      <p:sp>
        <p:nvSpPr>
          <p:cNvPr id="20" name="Oval 19"/>
          <p:cNvSpPr/>
          <p:nvPr/>
        </p:nvSpPr>
        <p:spPr>
          <a:xfrm>
            <a:off x="8949595" y="2423092"/>
            <a:ext cx="54864" cy="54864"/>
          </a:xfrm>
          <a:prstGeom prst="ellipse">
            <a:avLst/>
          </a:prstGeom>
          <a:solidFill>
            <a:srgbClr val="7E5221"/>
          </a:solidFill>
          <a:ln>
            <a:noFill/>
          </a:ln>
        </p:spPr>
        <p:txBody>
          <a:bodyPr rtlCol="0" anchor="ctr"/>
          <a:lstStyle/>
          <a:p/>
        </p:txBody>
      </p:sp>
      <p:sp>
        <p:nvSpPr>
          <p:cNvPr id="21" name="Oval 20"/>
          <p:cNvSpPr/>
          <p:nvPr/>
        </p:nvSpPr>
        <p:spPr>
          <a:xfrm>
            <a:off x="1235324" y="3135226"/>
            <a:ext cx="27432" cy="27432"/>
          </a:xfrm>
          <a:prstGeom prst="ellipse">
            <a:avLst/>
          </a:prstGeom>
          <a:solidFill>
            <a:srgbClr val="A4915E"/>
          </a:solidFill>
          <a:ln>
            <a:noFill/>
          </a:ln>
        </p:spPr>
        <p:txBody>
          <a:bodyPr rtlCol="0" anchor="ctr"/>
          <a:lstStyle/>
          <a:p/>
        </p:txBody>
      </p:sp>
      <p:sp>
        <p:nvSpPr>
          <p:cNvPr id="22" name="Oval 21"/>
          <p:cNvSpPr/>
          <p:nvPr/>
        </p:nvSpPr>
        <p:spPr>
          <a:xfrm>
            <a:off x="11258125" y="1649287"/>
            <a:ext cx="54864" cy="54864"/>
          </a:xfrm>
          <a:prstGeom prst="ellipse">
            <a:avLst/>
          </a:prstGeom>
          <a:solidFill>
            <a:srgbClr val="8B7A4F"/>
          </a:solidFill>
          <a:ln>
            <a:noFill/>
          </a:ln>
        </p:spPr>
        <p:txBody>
          <a:bodyPr rtlCol="0" anchor="ctr"/>
          <a:lstStyle/>
          <a:p/>
        </p:txBody>
      </p:sp>
      <p:sp>
        <p:nvSpPr>
          <p:cNvPr id="23" name="Oval 22"/>
          <p:cNvSpPr/>
          <p:nvPr/>
        </p:nvSpPr>
        <p:spPr>
          <a:xfrm>
            <a:off x="8280266" y="3682224"/>
            <a:ext cx="36576" cy="36576"/>
          </a:xfrm>
          <a:prstGeom prst="ellipse">
            <a:avLst/>
          </a:prstGeom>
          <a:solidFill>
            <a:srgbClr val="655839"/>
          </a:solidFill>
          <a:ln>
            <a:noFill/>
          </a:ln>
        </p:spPr>
        <p:txBody>
          <a:bodyPr rtlCol="0" anchor="ctr"/>
          <a:lstStyle/>
          <a:p/>
        </p:txBody>
      </p:sp>
      <p:sp>
        <p:nvSpPr>
          <p:cNvPr id="24" name="Oval 23"/>
          <p:cNvSpPr/>
          <p:nvPr/>
        </p:nvSpPr>
        <p:spPr>
          <a:xfrm>
            <a:off x="2255894" y="435769"/>
            <a:ext cx="54864" cy="54864"/>
          </a:xfrm>
          <a:prstGeom prst="ellipse">
            <a:avLst/>
          </a:prstGeom>
          <a:solidFill>
            <a:srgbClr val="925F26"/>
          </a:solidFill>
          <a:ln>
            <a:noFill/>
          </a:ln>
        </p:spPr>
        <p:txBody>
          <a:bodyPr rtlCol="0" anchor="ctr"/>
          <a:lstStyle/>
          <a:p/>
        </p:txBody>
      </p:sp>
      <p:sp>
        <p:nvSpPr>
          <p:cNvPr id="25" name="Oval 24"/>
          <p:cNvSpPr/>
          <p:nvPr/>
        </p:nvSpPr>
        <p:spPr>
          <a:xfrm>
            <a:off x="9691545" y="5686361"/>
            <a:ext cx="54864" cy="54864"/>
          </a:xfrm>
          <a:prstGeom prst="ellipse">
            <a:avLst/>
          </a:prstGeom>
          <a:solidFill>
            <a:srgbClr val="8F7837"/>
          </a:solidFill>
          <a:ln>
            <a:noFill/>
          </a:ln>
        </p:spPr>
        <p:txBody>
          <a:bodyPr rtlCol="0" anchor="ctr"/>
          <a:lstStyle/>
          <a:p/>
        </p:txBody>
      </p:sp>
      <p:sp>
        <p:nvSpPr>
          <p:cNvPr id="26" name="Oval 25"/>
          <p:cNvSpPr/>
          <p:nvPr/>
        </p:nvSpPr>
        <p:spPr>
          <a:xfrm>
            <a:off x="8307924" y="5297875"/>
            <a:ext cx="27432" cy="27432"/>
          </a:xfrm>
          <a:prstGeom prst="ellipse">
            <a:avLst/>
          </a:prstGeom>
          <a:solidFill>
            <a:srgbClr val="897234"/>
          </a:solidFill>
          <a:ln>
            <a:noFill/>
          </a:ln>
        </p:spPr>
        <p:txBody>
          <a:bodyPr rtlCol="0" anchor="ctr"/>
          <a:lstStyle/>
          <a:p/>
        </p:txBody>
      </p:sp>
      <p:sp>
        <p:nvSpPr>
          <p:cNvPr id="27" name="Oval 26"/>
          <p:cNvSpPr/>
          <p:nvPr/>
        </p:nvSpPr>
        <p:spPr>
          <a:xfrm>
            <a:off x="3749413" y="2800356"/>
            <a:ext cx="73152" cy="73152"/>
          </a:xfrm>
          <a:prstGeom prst="ellipse">
            <a:avLst/>
          </a:prstGeom>
          <a:solidFill>
            <a:srgbClr val="7B662F"/>
          </a:solidFill>
          <a:ln>
            <a:noFill/>
          </a:ln>
        </p:spPr>
        <p:txBody>
          <a:bodyPr rtlCol="0" anchor="ctr"/>
          <a:lstStyle/>
          <a:p/>
        </p:txBody>
      </p:sp>
      <p:sp>
        <p:nvSpPr>
          <p:cNvPr id="28" name="Oval 27"/>
          <p:cNvSpPr/>
          <p:nvPr/>
        </p:nvSpPr>
        <p:spPr>
          <a:xfrm>
            <a:off x="9838063" y="1010321"/>
            <a:ext cx="27432" cy="27432"/>
          </a:xfrm>
          <a:prstGeom prst="ellipse">
            <a:avLst/>
          </a:prstGeom>
          <a:solidFill>
            <a:srgbClr val="4A3D1D"/>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5112867" y="1445513"/>
            <a:ext cx="1965960" cy="329184"/>
          </a:xfrm>
          <a:prstGeom prst="rect">
            <a:avLst/>
          </a:prstGeom>
          <a:noFill/>
        </p:spPr>
        <p:txBody>
          <a:bodyPr wrap="square" lIns="0" rIns="0" tIns="0" bIns="0" anchor="ctr">
            <a:spAutoFit/>
          </a:bodyPr>
          <a:lstStyle/>
          <a:p>
            <a:pPr algn="ctr"/>
            <a:r>
              <a:rPr sz="1300" b="1" i="0" spc="400">
                <a:solidFill>
                  <a:srgbClr val="C9A84C"/>
                </a:solidFill>
                <a:latin typeface="Montserrat"/>
              </a:rPr>
              <a:t>PERMISSION</a:t>
            </a:r>
          </a:p>
        </p:txBody>
      </p:sp>
      <p:cxnSp>
        <p:nvCxnSpPr>
          <p:cNvPr id="51" name="Connector 50"/>
          <p:cNvCxnSpPr/>
          <p:nvPr/>
        </p:nvCxnSpPr>
        <p:spPr>
          <a:xfrm>
            <a:off x="3741267" y="1610105"/>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690975" y="1559813"/>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215987" y="1610105"/>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400135" y="1559813"/>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012441"/>
            <a:ext cx="9814255" cy="1531620"/>
          </a:xfrm>
          <a:prstGeom prst="rect">
            <a:avLst/>
          </a:prstGeom>
          <a:noFill/>
        </p:spPr>
        <p:txBody>
          <a:bodyPr wrap="square" lIns="0" rIns="0" tIns="0" bIns="0" anchor="b">
            <a:spAutoFit/>
          </a:bodyPr>
          <a:lstStyle/>
          <a:p>
            <a:pPr algn="ctr">
              <a:lnSpc>
                <a:spcPct val="105000"/>
              </a:lnSpc>
            </a:pPr>
            <a:r>
              <a:rPr sz="5400" b="1" i="0">
                <a:solidFill>
                  <a:srgbClr val="F0D58A"/>
                </a:solidFill>
                <a:latin typeface="Cinzel"/>
              </a:rPr>
              <a:t>Can I ask you something?</a:t>
            </a:r>
          </a:p>
        </p:txBody>
      </p:sp>
      <p:cxnSp>
        <p:nvCxnSpPr>
          <p:cNvPr id="56" name="Connector 55"/>
          <p:cNvCxnSpPr/>
          <p:nvPr/>
        </p:nvCxnSpPr>
        <p:spPr>
          <a:xfrm>
            <a:off x="4632807" y="372694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372694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662934"/>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3909822"/>
            <a:ext cx="9448495" cy="1804415"/>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If I help you tonight — can I take a few minutes at the end to show you how to get more help, for those who want it?</a:t>
            </a:r>
          </a:p>
          <a:p>
            <a:pPr algn="ctr">
              <a:lnSpc>
                <a:spcPct val="120000"/>
              </a:lnSpc>
              <a:spcAft>
                <a:spcPts val="800"/>
              </a:spcAft>
            </a:pPr>
            <a:r>
              <a:rPr sz="2000" b="0" i="0">
                <a:solidFill>
                  <a:srgbClr val="B9A57A"/>
                </a:solidFill>
                <a:latin typeface="Montserrat"/>
              </a:rPr>
              <a:t>Type YES in the chat.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9990012" y="1451013"/>
            <a:ext cx="54864" cy="54864"/>
          </a:xfrm>
          <a:prstGeom prst="ellipse">
            <a:avLst/>
          </a:prstGeom>
          <a:solidFill>
            <a:srgbClr val="5D5235"/>
          </a:solidFill>
          <a:ln>
            <a:noFill/>
          </a:ln>
        </p:spPr>
        <p:txBody>
          <a:bodyPr rtlCol="0" anchor="ctr"/>
          <a:lstStyle/>
          <a:p/>
        </p:txBody>
      </p:sp>
      <p:sp>
        <p:nvSpPr>
          <p:cNvPr id="4" name="Oval 3"/>
          <p:cNvSpPr/>
          <p:nvPr/>
        </p:nvSpPr>
        <p:spPr>
          <a:xfrm>
            <a:off x="8455328" y="6301889"/>
            <a:ext cx="27432" cy="27432"/>
          </a:xfrm>
          <a:prstGeom prst="ellipse">
            <a:avLst/>
          </a:prstGeom>
          <a:solidFill>
            <a:srgbClr val="594A22"/>
          </a:solidFill>
          <a:ln>
            <a:noFill/>
          </a:ln>
        </p:spPr>
        <p:txBody>
          <a:bodyPr rtlCol="0" anchor="ctr"/>
          <a:lstStyle/>
          <a:p/>
        </p:txBody>
      </p:sp>
      <p:sp>
        <p:nvSpPr>
          <p:cNvPr id="5" name="Oval 4"/>
          <p:cNvSpPr/>
          <p:nvPr/>
        </p:nvSpPr>
        <p:spPr>
          <a:xfrm>
            <a:off x="5424026" y="5511564"/>
            <a:ext cx="27432" cy="27432"/>
          </a:xfrm>
          <a:prstGeom prst="ellipse">
            <a:avLst/>
          </a:prstGeom>
          <a:solidFill>
            <a:srgbClr val="473B1C"/>
          </a:solidFill>
          <a:ln>
            <a:noFill/>
          </a:ln>
        </p:spPr>
        <p:txBody>
          <a:bodyPr rtlCol="0" anchor="ctr"/>
          <a:lstStyle/>
          <a:p/>
        </p:txBody>
      </p:sp>
      <p:sp>
        <p:nvSpPr>
          <p:cNvPr id="6" name="Oval 5"/>
          <p:cNvSpPr/>
          <p:nvPr/>
        </p:nvSpPr>
        <p:spPr>
          <a:xfrm>
            <a:off x="2298534" y="3285910"/>
            <a:ext cx="73152" cy="73152"/>
          </a:xfrm>
          <a:prstGeom prst="ellipse">
            <a:avLst/>
          </a:prstGeom>
          <a:solidFill>
            <a:srgbClr val="966127"/>
          </a:solidFill>
          <a:ln>
            <a:noFill/>
          </a:ln>
        </p:spPr>
        <p:txBody>
          <a:bodyPr rtlCol="0" anchor="ctr"/>
          <a:lstStyle/>
          <a:p/>
        </p:txBody>
      </p:sp>
      <p:sp>
        <p:nvSpPr>
          <p:cNvPr id="7" name="Oval 6"/>
          <p:cNvSpPr/>
          <p:nvPr/>
        </p:nvSpPr>
        <p:spPr>
          <a:xfrm>
            <a:off x="11287664" y="871669"/>
            <a:ext cx="54864" cy="54864"/>
          </a:xfrm>
          <a:prstGeom prst="ellipse">
            <a:avLst/>
          </a:prstGeom>
          <a:solidFill>
            <a:srgbClr val="A96E2B"/>
          </a:solidFill>
          <a:ln>
            <a:noFill/>
          </a:ln>
        </p:spPr>
        <p:txBody>
          <a:bodyPr rtlCol="0" anchor="ctr"/>
          <a:lstStyle/>
          <a:p/>
        </p:txBody>
      </p:sp>
      <p:sp>
        <p:nvSpPr>
          <p:cNvPr id="8" name="Oval 7"/>
          <p:cNvSpPr/>
          <p:nvPr/>
        </p:nvSpPr>
        <p:spPr>
          <a:xfrm>
            <a:off x="8172473" y="6072993"/>
            <a:ext cx="36576" cy="36576"/>
          </a:xfrm>
          <a:prstGeom prst="ellipse">
            <a:avLst/>
          </a:prstGeom>
          <a:solidFill>
            <a:srgbClr val="89794E"/>
          </a:solidFill>
          <a:ln>
            <a:noFill/>
          </a:ln>
        </p:spPr>
        <p:txBody>
          <a:bodyPr rtlCol="0" anchor="ctr"/>
          <a:lstStyle/>
          <a:p/>
        </p:txBody>
      </p:sp>
      <p:sp>
        <p:nvSpPr>
          <p:cNvPr id="9" name="Oval 8"/>
          <p:cNvSpPr/>
          <p:nvPr/>
        </p:nvSpPr>
        <p:spPr>
          <a:xfrm>
            <a:off x="7938150" y="563439"/>
            <a:ext cx="45720" cy="45720"/>
          </a:xfrm>
          <a:prstGeom prst="ellipse">
            <a:avLst/>
          </a:prstGeom>
          <a:solidFill>
            <a:srgbClr val="6D5F3E"/>
          </a:solidFill>
          <a:ln>
            <a:noFill/>
          </a:ln>
        </p:spPr>
        <p:txBody>
          <a:bodyPr rtlCol="0" anchor="ctr"/>
          <a:lstStyle/>
          <a:p/>
        </p:txBody>
      </p:sp>
      <p:sp>
        <p:nvSpPr>
          <p:cNvPr id="10" name="Oval 9"/>
          <p:cNvSpPr/>
          <p:nvPr/>
        </p:nvSpPr>
        <p:spPr>
          <a:xfrm>
            <a:off x="3927335" y="1827765"/>
            <a:ext cx="27432" cy="27432"/>
          </a:xfrm>
          <a:prstGeom prst="ellipse">
            <a:avLst/>
          </a:prstGeom>
          <a:solidFill>
            <a:srgbClr val="8E7736"/>
          </a:solidFill>
          <a:ln>
            <a:noFill/>
          </a:ln>
        </p:spPr>
        <p:txBody>
          <a:bodyPr rtlCol="0" anchor="ctr"/>
          <a:lstStyle/>
          <a:p/>
        </p:txBody>
      </p:sp>
      <p:sp>
        <p:nvSpPr>
          <p:cNvPr id="11" name="Oval 10"/>
          <p:cNvSpPr/>
          <p:nvPr/>
        </p:nvSpPr>
        <p:spPr>
          <a:xfrm>
            <a:off x="10218379" y="1949207"/>
            <a:ext cx="54864" cy="54864"/>
          </a:xfrm>
          <a:prstGeom prst="ellipse">
            <a:avLst/>
          </a:prstGeom>
          <a:solidFill>
            <a:srgbClr val="584922"/>
          </a:solidFill>
          <a:ln>
            <a:noFill/>
          </a:ln>
        </p:spPr>
        <p:txBody>
          <a:bodyPr rtlCol="0" anchor="ctr"/>
          <a:lstStyle/>
          <a:p/>
        </p:txBody>
      </p:sp>
      <p:sp>
        <p:nvSpPr>
          <p:cNvPr id="12" name="Oval 11"/>
          <p:cNvSpPr/>
          <p:nvPr/>
        </p:nvSpPr>
        <p:spPr>
          <a:xfrm>
            <a:off x="1438372" y="3304434"/>
            <a:ext cx="36576" cy="36576"/>
          </a:xfrm>
          <a:prstGeom prst="ellipse">
            <a:avLst/>
          </a:prstGeom>
          <a:solidFill>
            <a:srgbClr val="978556"/>
          </a:solidFill>
          <a:ln>
            <a:noFill/>
          </a:ln>
        </p:spPr>
        <p:txBody>
          <a:bodyPr rtlCol="0" anchor="ctr"/>
          <a:lstStyle/>
          <a:p/>
        </p:txBody>
      </p:sp>
      <p:sp>
        <p:nvSpPr>
          <p:cNvPr id="13" name="Oval 12"/>
          <p:cNvSpPr/>
          <p:nvPr/>
        </p:nvSpPr>
        <p:spPr>
          <a:xfrm>
            <a:off x="5861505" y="4350237"/>
            <a:ext cx="45720" cy="45720"/>
          </a:xfrm>
          <a:prstGeom prst="ellipse">
            <a:avLst/>
          </a:prstGeom>
          <a:solidFill>
            <a:srgbClr val="81714A"/>
          </a:solidFill>
          <a:ln>
            <a:noFill/>
          </a:ln>
        </p:spPr>
        <p:txBody>
          <a:bodyPr rtlCol="0" anchor="ctr"/>
          <a:lstStyle/>
          <a:p/>
        </p:txBody>
      </p:sp>
      <p:sp>
        <p:nvSpPr>
          <p:cNvPr id="14" name="Oval 13"/>
          <p:cNvSpPr/>
          <p:nvPr/>
        </p:nvSpPr>
        <p:spPr>
          <a:xfrm>
            <a:off x="11795741" y="4912653"/>
            <a:ext cx="45720" cy="45720"/>
          </a:xfrm>
          <a:prstGeom prst="ellipse">
            <a:avLst/>
          </a:prstGeom>
          <a:solidFill>
            <a:srgbClr val="8E7636"/>
          </a:solidFill>
          <a:ln>
            <a:noFill/>
          </a:ln>
        </p:spPr>
        <p:txBody>
          <a:bodyPr rtlCol="0" anchor="ctr"/>
          <a:lstStyle/>
          <a:p/>
        </p:txBody>
      </p:sp>
      <p:sp>
        <p:nvSpPr>
          <p:cNvPr id="15" name="Oval 14"/>
          <p:cNvSpPr/>
          <p:nvPr/>
        </p:nvSpPr>
        <p:spPr>
          <a:xfrm>
            <a:off x="7596754" y="1916795"/>
            <a:ext cx="27432" cy="27432"/>
          </a:xfrm>
          <a:prstGeom prst="ellipse">
            <a:avLst/>
          </a:prstGeom>
          <a:solidFill>
            <a:srgbClr val="74602C"/>
          </a:solidFill>
          <a:ln>
            <a:noFill/>
          </a:ln>
        </p:spPr>
        <p:txBody>
          <a:bodyPr rtlCol="0" anchor="ctr"/>
          <a:lstStyle/>
          <a:p/>
        </p:txBody>
      </p:sp>
      <p:sp>
        <p:nvSpPr>
          <p:cNvPr id="16" name="Oval 15"/>
          <p:cNvSpPr/>
          <p:nvPr/>
        </p:nvSpPr>
        <p:spPr>
          <a:xfrm>
            <a:off x="4849745" y="5089566"/>
            <a:ext cx="36576" cy="36576"/>
          </a:xfrm>
          <a:prstGeom prst="ellipse">
            <a:avLst/>
          </a:prstGeom>
          <a:solidFill>
            <a:srgbClr val="4B3115"/>
          </a:solidFill>
          <a:ln>
            <a:noFill/>
          </a:ln>
        </p:spPr>
        <p:txBody>
          <a:bodyPr rtlCol="0" anchor="ctr"/>
          <a:lstStyle/>
          <a:p/>
        </p:txBody>
      </p:sp>
      <p:sp>
        <p:nvSpPr>
          <p:cNvPr id="17" name="Oval 16"/>
          <p:cNvSpPr/>
          <p:nvPr/>
        </p:nvSpPr>
        <p:spPr>
          <a:xfrm>
            <a:off x="9896345" y="1854785"/>
            <a:ext cx="45720" cy="45720"/>
          </a:xfrm>
          <a:prstGeom prst="ellipse">
            <a:avLst/>
          </a:prstGeom>
          <a:solidFill>
            <a:srgbClr val="A28F5D"/>
          </a:solidFill>
          <a:ln>
            <a:noFill/>
          </a:ln>
        </p:spPr>
        <p:txBody>
          <a:bodyPr rtlCol="0" anchor="ctr"/>
          <a:lstStyle/>
          <a:p/>
        </p:txBody>
      </p:sp>
      <p:sp>
        <p:nvSpPr>
          <p:cNvPr id="18" name="Oval 17"/>
          <p:cNvSpPr/>
          <p:nvPr/>
        </p:nvSpPr>
        <p:spPr>
          <a:xfrm>
            <a:off x="4278231" y="5631490"/>
            <a:ext cx="54864" cy="54864"/>
          </a:xfrm>
          <a:prstGeom prst="ellipse">
            <a:avLst/>
          </a:prstGeom>
          <a:solidFill>
            <a:srgbClr val="472F14"/>
          </a:solidFill>
          <a:ln>
            <a:noFill/>
          </a:ln>
        </p:spPr>
        <p:txBody>
          <a:bodyPr rtlCol="0" anchor="ctr"/>
          <a:lstStyle/>
          <a:p/>
        </p:txBody>
      </p:sp>
      <p:sp>
        <p:nvSpPr>
          <p:cNvPr id="19" name="Oval 18"/>
          <p:cNvSpPr/>
          <p:nvPr/>
        </p:nvSpPr>
        <p:spPr>
          <a:xfrm>
            <a:off x="8422168" y="2973606"/>
            <a:ext cx="54864" cy="54864"/>
          </a:xfrm>
          <a:prstGeom prst="ellipse">
            <a:avLst/>
          </a:prstGeom>
          <a:solidFill>
            <a:srgbClr val="4A402A"/>
          </a:solidFill>
          <a:ln>
            <a:noFill/>
          </a:ln>
        </p:spPr>
        <p:txBody>
          <a:bodyPr rtlCol="0" anchor="ctr"/>
          <a:lstStyle/>
          <a:p/>
        </p:txBody>
      </p:sp>
      <p:sp>
        <p:nvSpPr>
          <p:cNvPr id="20" name="Oval 19"/>
          <p:cNvSpPr/>
          <p:nvPr/>
        </p:nvSpPr>
        <p:spPr>
          <a:xfrm>
            <a:off x="8519048" y="5187957"/>
            <a:ext cx="45720" cy="45720"/>
          </a:xfrm>
          <a:prstGeom prst="ellipse">
            <a:avLst/>
          </a:prstGeom>
          <a:solidFill>
            <a:srgbClr val="6F5C2B"/>
          </a:solidFill>
          <a:ln>
            <a:noFill/>
          </a:ln>
        </p:spPr>
        <p:txBody>
          <a:bodyPr rtlCol="0" anchor="ctr"/>
          <a:lstStyle/>
          <a:p/>
        </p:txBody>
      </p:sp>
      <p:sp>
        <p:nvSpPr>
          <p:cNvPr id="21" name="Oval 20"/>
          <p:cNvSpPr/>
          <p:nvPr/>
        </p:nvSpPr>
        <p:spPr>
          <a:xfrm>
            <a:off x="5059485" y="2720432"/>
            <a:ext cx="73152" cy="73152"/>
          </a:xfrm>
          <a:prstGeom prst="ellipse">
            <a:avLst/>
          </a:prstGeom>
          <a:solidFill>
            <a:srgbClr val="685C3B"/>
          </a:solidFill>
          <a:ln>
            <a:noFill/>
          </a:ln>
        </p:spPr>
        <p:txBody>
          <a:bodyPr rtlCol="0" anchor="ctr"/>
          <a:lstStyle/>
          <a:p/>
        </p:txBody>
      </p:sp>
      <p:sp>
        <p:nvSpPr>
          <p:cNvPr id="22" name="Oval 21"/>
          <p:cNvSpPr/>
          <p:nvPr/>
        </p:nvSpPr>
        <p:spPr>
          <a:xfrm>
            <a:off x="3733237" y="2363586"/>
            <a:ext cx="45720" cy="45720"/>
          </a:xfrm>
          <a:prstGeom prst="ellipse">
            <a:avLst/>
          </a:prstGeom>
          <a:solidFill>
            <a:srgbClr val="A99661"/>
          </a:solidFill>
          <a:ln>
            <a:noFill/>
          </a:ln>
        </p:spPr>
        <p:txBody>
          <a:bodyPr rtlCol="0" anchor="ctr"/>
          <a:lstStyle/>
          <a:p/>
        </p:txBody>
      </p:sp>
      <p:sp>
        <p:nvSpPr>
          <p:cNvPr id="23" name="Oval 22"/>
          <p:cNvSpPr/>
          <p:nvPr/>
        </p:nvSpPr>
        <p:spPr>
          <a:xfrm>
            <a:off x="10803990" y="5862638"/>
            <a:ext cx="27432" cy="27432"/>
          </a:xfrm>
          <a:prstGeom prst="ellipse">
            <a:avLst/>
          </a:prstGeom>
          <a:solidFill>
            <a:srgbClr val="9C8A59"/>
          </a:solidFill>
          <a:ln>
            <a:noFill/>
          </a:ln>
        </p:spPr>
        <p:txBody>
          <a:bodyPr rtlCol="0" anchor="ctr"/>
          <a:lstStyle/>
          <a:p/>
        </p:txBody>
      </p:sp>
      <p:sp>
        <p:nvSpPr>
          <p:cNvPr id="24" name="Oval 23"/>
          <p:cNvSpPr/>
          <p:nvPr/>
        </p:nvSpPr>
        <p:spPr>
          <a:xfrm>
            <a:off x="4952367" y="2701372"/>
            <a:ext cx="54864" cy="54864"/>
          </a:xfrm>
          <a:prstGeom prst="ellipse">
            <a:avLst/>
          </a:prstGeom>
          <a:solidFill>
            <a:srgbClr val="63411B"/>
          </a:solidFill>
          <a:ln>
            <a:noFill/>
          </a:ln>
        </p:spPr>
        <p:txBody>
          <a:bodyPr rtlCol="0" anchor="ctr"/>
          <a:lstStyle/>
          <a:p/>
        </p:txBody>
      </p:sp>
      <p:sp>
        <p:nvSpPr>
          <p:cNvPr id="25" name="Oval 24"/>
          <p:cNvSpPr/>
          <p:nvPr/>
        </p:nvSpPr>
        <p:spPr>
          <a:xfrm>
            <a:off x="8132552" y="2573088"/>
            <a:ext cx="54864" cy="54864"/>
          </a:xfrm>
          <a:prstGeom prst="ellipse">
            <a:avLst/>
          </a:prstGeom>
          <a:solidFill>
            <a:srgbClr val="3C3118"/>
          </a:solidFill>
          <a:ln>
            <a:noFill/>
          </a:ln>
        </p:spPr>
        <p:txBody>
          <a:bodyPr rtlCol="0" anchor="ctr"/>
          <a:lstStyle/>
          <a:p/>
        </p:txBody>
      </p:sp>
      <p:sp>
        <p:nvSpPr>
          <p:cNvPr id="26" name="Oval 25"/>
          <p:cNvSpPr/>
          <p:nvPr/>
        </p:nvSpPr>
        <p:spPr>
          <a:xfrm>
            <a:off x="5882454" y="5078113"/>
            <a:ext cx="27432" cy="27432"/>
          </a:xfrm>
          <a:prstGeom prst="ellipse">
            <a:avLst/>
          </a:prstGeom>
          <a:solidFill>
            <a:srgbClr val="A79460"/>
          </a:solidFill>
          <a:ln>
            <a:noFill/>
          </a:ln>
        </p:spPr>
        <p:txBody>
          <a:bodyPr rtlCol="0" anchor="ctr"/>
          <a:lstStyle/>
          <a:p/>
        </p:txBody>
      </p:sp>
      <p:sp>
        <p:nvSpPr>
          <p:cNvPr id="27" name="Oval 26"/>
          <p:cNvSpPr/>
          <p:nvPr/>
        </p:nvSpPr>
        <p:spPr>
          <a:xfrm>
            <a:off x="6434527" y="5710871"/>
            <a:ext cx="36576" cy="36576"/>
          </a:xfrm>
          <a:prstGeom prst="ellipse">
            <a:avLst/>
          </a:prstGeom>
          <a:solidFill>
            <a:srgbClr val="BCA66C"/>
          </a:solidFill>
          <a:ln>
            <a:noFill/>
          </a:ln>
        </p:spPr>
        <p:txBody>
          <a:bodyPr rtlCol="0" anchor="ctr"/>
          <a:lstStyle/>
          <a:p/>
        </p:txBody>
      </p:sp>
      <p:sp>
        <p:nvSpPr>
          <p:cNvPr id="28" name="Oval 27"/>
          <p:cNvSpPr/>
          <p:nvPr/>
        </p:nvSpPr>
        <p:spPr>
          <a:xfrm>
            <a:off x="2378644" y="654964"/>
            <a:ext cx="36576" cy="36576"/>
          </a:xfrm>
          <a:prstGeom prst="ellipse">
            <a:avLst/>
          </a:prstGeom>
          <a:solidFill>
            <a:srgbClr val="4C422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758537" y="1969008"/>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STAY TO THE END</a:t>
            </a:r>
          </a:p>
        </p:txBody>
      </p:sp>
      <p:cxnSp>
        <p:nvCxnSpPr>
          <p:cNvPr id="51" name="Connector 50"/>
          <p:cNvCxnSpPr/>
          <p:nvPr/>
        </p:nvCxnSpPr>
        <p:spPr>
          <a:xfrm>
            <a:off x="3386937" y="213360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336645" y="2083308"/>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570317" y="213360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754465" y="2083308"/>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535936"/>
            <a:ext cx="9814255" cy="1264920"/>
          </a:xfrm>
          <a:prstGeom prst="rect">
            <a:avLst/>
          </a:prstGeom>
          <a:noFill/>
        </p:spPr>
        <p:txBody>
          <a:bodyPr wrap="square" lIns="0" rIns="0" tIns="0" bIns="0" anchor="b">
            <a:spAutoFit/>
          </a:bodyPr>
          <a:lstStyle/>
          <a:p>
            <a:pPr algn="ctr">
              <a:lnSpc>
                <a:spcPct val="105000"/>
              </a:lnSpc>
            </a:pPr>
            <a:r>
              <a:rPr sz="4400" b="1" i="0">
                <a:solidFill>
                  <a:srgbClr val="F0D58A"/>
                </a:solidFill>
                <a:latin typeface="Cinzel"/>
              </a:rPr>
              <a:t>Your free gift: The Ultimate Budget Guide</a:t>
            </a:r>
          </a:p>
        </p:txBody>
      </p:sp>
      <p:cxnSp>
        <p:nvCxnSpPr>
          <p:cNvPr id="56" name="Connector 55"/>
          <p:cNvCxnSpPr/>
          <p:nvPr/>
        </p:nvCxnSpPr>
        <p:spPr>
          <a:xfrm>
            <a:off x="4632807" y="3983736"/>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3983736"/>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919727"/>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166616"/>
            <a:ext cx="9448495" cy="1024127"/>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Track your income and expenses every month — the first step of the Tutorial.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593202" y="862351"/>
            <a:ext cx="45720" cy="45720"/>
          </a:xfrm>
          <a:prstGeom prst="ellipse">
            <a:avLst/>
          </a:prstGeom>
          <a:solidFill>
            <a:srgbClr val="5B4C23"/>
          </a:solidFill>
          <a:ln>
            <a:noFill/>
          </a:ln>
        </p:spPr>
        <p:txBody>
          <a:bodyPr rtlCol="0" anchor="ctr"/>
          <a:lstStyle/>
          <a:p/>
        </p:txBody>
      </p:sp>
      <p:sp>
        <p:nvSpPr>
          <p:cNvPr id="4" name="Oval 3"/>
          <p:cNvSpPr/>
          <p:nvPr/>
        </p:nvSpPr>
        <p:spPr>
          <a:xfrm>
            <a:off x="6440661" y="1140228"/>
            <a:ext cx="54864" cy="54864"/>
          </a:xfrm>
          <a:prstGeom prst="ellipse">
            <a:avLst/>
          </a:prstGeom>
          <a:solidFill>
            <a:srgbClr val="675A3A"/>
          </a:solidFill>
          <a:ln>
            <a:noFill/>
          </a:ln>
        </p:spPr>
        <p:txBody>
          <a:bodyPr rtlCol="0" anchor="ctr"/>
          <a:lstStyle/>
          <a:p/>
        </p:txBody>
      </p:sp>
      <p:sp>
        <p:nvSpPr>
          <p:cNvPr id="5" name="Oval 4"/>
          <p:cNvSpPr/>
          <p:nvPr/>
        </p:nvSpPr>
        <p:spPr>
          <a:xfrm>
            <a:off x="2898907" y="3070293"/>
            <a:ext cx="27432" cy="27432"/>
          </a:xfrm>
          <a:prstGeom prst="ellipse">
            <a:avLst/>
          </a:prstGeom>
          <a:solidFill>
            <a:srgbClr val="52482F"/>
          </a:solidFill>
          <a:ln>
            <a:noFill/>
          </a:ln>
        </p:spPr>
        <p:txBody>
          <a:bodyPr rtlCol="0" anchor="ctr"/>
          <a:lstStyle/>
          <a:p/>
        </p:txBody>
      </p:sp>
      <p:sp>
        <p:nvSpPr>
          <p:cNvPr id="6" name="Oval 5"/>
          <p:cNvSpPr/>
          <p:nvPr/>
        </p:nvSpPr>
        <p:spPr>
          <a:xfrm>
            <a:off x="5193340" y="3412650"/>
            <a:ext cx="54864" cy="54864"/>
          </a:xfrm>
          <a:prstGeom prst="ellipse">
            <a:avLst/>
          </a:prstGeom>
          <a:solidFill>
            <a:srgbClr val="685628"/>
          </a:solidFill>
          <a:ln>
            <a:noFill/>
          </a:ln>
        </p:spPr>
        <p:txBody>
          <a:bodyPr rtlCol="0" anchor="ctr"/>
          <a:lstStyle/>
          <a:p/>
        </p:txBody>
      </p:sp>
      <p:sp>
        <p:nvSpPr>
          <p:cNvPr id="7" name="Oval 6"/>
          <p:cNvSpPr/>
          <p:nvPr/>
        </p:nvSpPr>
        <p:spPr>
          <a:xfrm>
            <a:off x="2722278" y="575626"/>
            <a:ext cx="27432" cy="27432"/>
          </a:xfrm>
          <a:prstGeom prst="ellipse">
            <a:avLst/>
          </a:prstGeom>
          <a:solidFill>
            <a:srgbClr val="935F26"/>
          </a:solidFill>
          <a:ln>
            <a:noFill/>
          </a:ln>
        </p:spPr>
        <p:txBody>
          <a:bodyPr rtlCol="0" anchor="ctr"/>
          <a:lstStyle/>
          <a:p/>
        </p:txBody>
      </p:sp>
      <p:sp>
        <p:nvSpPr>
          <p:cNvPr id="8" name="Oval 7"/>
          <p:cNvSpPr/>
          <p:nvPr/>
        </p:nvSpPr>
        <p:spPr>
          <a:xfrm>
            <a:off x="2841676" y="4735557"/>
            <a:ext cx="73152" cy="73152"/>
          </a:xfrm>
          <a:prstGeom prst="ellipse">
            <a:avLst/>
          </a:prstGeom>
          <a:solidFill>
            <a:srgbClr val="8A7335"/>
          </a:solidFill>
          <a:ln>
            <a:noFill/>
          </a:ln>
        </p:spPr>
        <p:txBody>
          <a:bodyPr rtlCol="0" anchor="ctr"/>
          <a:lstStyle/>
          <a:p/>
        </p:txBody>
      </p:sp>
      <p:sp>
        <p:nvSpPr>
          <p:cNvPr id="9" name="Oval 8"/>
          <p:cNvSpPr/>
          <p:nvPr/>
        </p:nvSpPr>
        <p:spPr>
          <a:xfrm>
            <a:off x="11465645" y="2037539"/>
            <a:ext cx="45720" cy="45720"/>
          </a:xfrm>
          <a:prstGeom prst="ellipse">
            <a:avLst/>
          </a:prstGeom>
          <a:solidFill>
            <a:srgbClr val="885923"/>
          </a:solidFill>
          <a:ln>
            <a:noFill/>
          </a:ln>
        </p:spPr>
        <p:txBody>
          <a:bodyPr rtlCol="0" anchor="ctr"/>
          <a:lstStyle/>
          <a:p/>
        </p:txBody>
      </p:sp>
      <p:sp>
        <p:nvSpPr>
          <p:cNvPr id="10" name="Oval 9"/>
          <p:cNvSpPr/>
          <p:nvPr/>
        </p:nvSpPr>
        <p:spPr>
          <a:xfrm>
            <a:off x="2401450" y="3237019"/>
            <a:ext cx="54864" cy="54864"/>
          </a:xfrm>
          <a:prstGeom prst="ellipse">
            <a:avLst/>
          </a:prstGeom>
          <a:solidFill>
            <a:srgbClr val="956126"/>
          </a:solidFill>
          <a:ln>
            <a:noFill/>
          </a:ln>
        </p:spPr>
        <p:txBody>
          <a:bodyPr rtlCol="0" anchor="ctr"/>
          <a:lstStyle/>
          <a:p/>
        </p:txBody>
      </p:sp>
      <p:sp>
        <p:nvSpPr>
          <p:cNvPr id="11" name="Oval 10"/>
          <p:cNvSpPr/>
          <p:nvPr/>
        </p:nvSpPr>
        <p:spPr>
          <a:xfrm>
            <a:off x="2451846" y="1426930"/>
            <a:ext cx="36576" cy="36576"/>
          </a:xfrm>
          <a:prstGeom prst="ellipse">
            <a:avLst/>
          </a:prstGeom>
          <a:solidFill>
            <a:srgbClr val="946026"/>
          </a:solidFill>
          <a:ln>
            <a:noFill/>
          </a:ln>
        </p:spPr>
        <p:txBody>
          <a:bodyPr rtlCol="0" anchor="ctr"/>
          <a:lstStyle/>
          <a:p/>
        </p:txBody>
      </p:sp>
      <p:sp>
        <p:nvSpPr>
          <p:cNvPr id="12" name="Oval 11"/>
          <p:cNvSpPr/>
          <p:nvPr/>
        </p:nvSpPr>
        <p:spPr>
          <a:xfrm>
            <a:off x="2607460" y="1045120"/>
            <a:ext cx="73152" cy="73152"/>
          </a:xfrm>
          <a:prstGeom prst="ellipse">
            <a:avLst/>
          </a:prstGeom>
          <a:solidFill>
            <a:srgbClr val="7A6C46"/>
          </a:solidFill>
          <a:ln>
            <a:noFill/>
          </a:ln>
        </p:spPr>
        <p:txBody>
          <a:bodyPr rtlCol="0" anchor="ctr"/>
          <a:lstStyle/>
          <a:p/>
        </p:txBody>
      </p:sp>
      <p:sp>
        <p:nvSpPr>
          <p:cNvPr id="13" name="Oval 12"/>
          <p:cNvSpPr/>
          <p:nvPr/>
        </p:nvSpPr>
        <p:spPr>
          <a:xfrm>
            <a:off x="3523777" y="3770384"/>
            <a:ext cx="73152" cy="73152"/>
          </a:xfrm>
          <a:prstGeom prst="ellipse">
            <a:avLst/>
          </a:prstGeom>
          <a:solidFill>
            <a:srgbClr val="5E4E24"/>
          </a:solidFill>
          <a:ln>
            <a:noFill/>
          </a:ln>
        </p:spPr>
        <p:txBody>
          <a:bodyPr rtlCol="0" anchor="ctr"/>
          <a:lstStyle/>
          <a:p/>
        </p:txBody>
      </p:sp>
      <p:sp>
        <p:nvSpPr>
          <p:cNvPr id="14" name="Oval 13"/>
          <p:cNvSpPr/>
          <p:nvPr/>
        </p:nvSpPr>
        <p:spPr>
          <a:xfrm>
            <a:off x="10681351" y="3588119"/>
            <a:ext cx="45720" cy="45720"/>
          </a:xfrm>
          <a:prstGeom prst="ellipse">
            <a:avLst/>
          </a:prstGeom>
          <a:solidFill>
            <a:srgbClr val="855723"/>
          </a:solidFill>
          <a:ln>
            <a:noFill/>
          </a:ln>
        </p:spPr>
        <p:txBody>
          <a:bodyPr rtlCol="0" anchor="ctr"/>
          <a:lstStyle/>
          <a:p/>
        </p:txBody>
      </p:sp>
      <p:sp>
        <p:nvSpPr>
          <p:cNvPr id="15" name="Oval 14"/>
          <p:cNvSpPr/>
          <p:nvPr/>
        </p:nvSpPr>
        <p:spPr>
          <a:xfrm>
            <a:off x="2079437" y="4048725"/>
            <a:ext cx="45720" cy="45720"/>
          </a:xfrm>
          <a:prstGeom prst="ellipse">
            <a:avLst/>
          </a:prstGeom>
          <a:solidFill>
            <a:srgbClr val="9E8B5A"/>
          </a:solidFill>
          <a:ln>
            <a:noFill/>
          </a:ln>
        </p:spPr>
        <p:txBody>
          <a:bodyPr rtlCol="0" anchor="ctr"/>
          <a:lstStyle/>
          <a:p/>
        </p:txBody>
      </p:sp>
      <p:sp>
        <p:nvSpPr>
          <p:cNvPr id="16" name="Oval 15"/>
          <p:cNvSpPr/>
          <p:nvPr/>
        </p:nvSpPr>
        <p:spPr>
          <a:xfrm>
            <a:off x="3093584" y="3607869"/>
            <a:ext cx="54864" cy="54864"/>
          </a:xfrm>
          <a:prstGeom prst="ellipse">
            <a:avLst/>
          </a:prstGeom>
          <a:solidFill>
            <a:srgbClr val="79652E"/>
          </a:solidFill>
          <a:ln>
            <a:noFill/>
          </a:ln>
        </p:spPr>
        <p:txBody>
          <a:bodyPr rtlCol="0" anchor="ctr"/>
          <a:lstStyle/>
          <a:p/>
        </p:txBody>
      </p:sp>
      <p:sp>
        <p:nvSpPr>
          <p:cNvPr id="17" name="Oval 16"/>
          <p:cNvSpPr/>
          <p:nvPr/>
        </p:nvSpPr>
        <p:spPr>
          <a:xfrm>
            <a:off x="2282586" y="6160808"/>
            <a:ext cx="54864" cy="54864"/>
          </a:xfrm>
          <a:prstGeom prst="ellipse">
            <a:avLst/>
          </a:prstGeom>
          <a:solidFill>
            <a:srgbClr val="948355"/>
          </a:solidFill>
          <a:ln>
            <a:noFill/>
          </a:ln>
        </p:spPr>
        <p:txBody>
          <a:bodyPr rtlCol="0" anchor="ctr"/>
          <a:lstStyle/>
          <a:p/>
        </p:txBody>
      </p:sp>
      <p:sp>
        <p:nvSpPr>
          <p:cNvPr id="18" name="Oval 17"/>
          <p:cNvSpPr/>
          <p:nvPr/>
        </p:nvSpPr>
        <p:spPr>
          <a:xfrm>
            <a:off x="633501" y="5177480"/>
            <a:ext cx="54864" cy="54864"/>
          </a:xfrm>
          <a:prstGeom prst="ellipse">
            <a:avLst/>
          </a:prstGeom>
          <a:solidFill>
            <a:srgbClr val="3D3218"/>
          </a:solidFill>
          <a:ln>
            <a:noFill/>
          </a:ln>
        </p:spPr>
        <p:txBody>
          <a:bodyPr rtlCol="0" anchor="ctr"/>
          <a:lstStyle/>
          <a:p/>
        </p:txBody>
      </p:sp>
      <p:sp>
        <p:nvSpPr>
          <p:cNvPr id="19" name="Oval 18"/>
          <p:cNvSpPr/>
          <p:nvPr/>
        </p:nvSpPr>
        <p:spPr>
          <a:xfrm>
            <a:off x="9590785" y="6005214"/>
            <a:ext cx="36576" cy="36576"/>
          </a:xfrm>
          <a:prstGeom prst="ellipse">
            <a:avLst/>
          </a:prstGeom>
          <a:solidFill>
            <a:srgbClr val="9D833C"/>
          </a:solidFill>
          <a:ln>
            <a:noFill/>
          </a:ln>
        </p:spPr>
        <p:txBody>
          <a:bodyPr rtlCol="0" anchor="ctr"/>
          <a:lstStyle/>
          <a:p/>
        </p:txBody>
      </p:sp>
      <p:sp>
        <p:nvSpPr>
          <p:cNvPr id="20" name="Oval 19"/>
          <p:cNvSpPr/>
          <p:nvPr/>
        </p:nvSpPr>
        <p:spPr>
          <a:xfrm>
            <a:off x="8949595" y="2423092"/>
            <a:ext cx="54864" cy="54864"/>
          </a:xfrm>
          <a:prstGeom prst="ellipse">
            <a:avLst/>
          </a:prstGeom>
          <a:solidFill>
            <a:srgbClr val="7E5221"/>
          </a:solidFill>
          <a:ln>
            <a:noFill/>
          </a:ln>
        </p:spPr>
        <p:txBody>
          <a:bodyPr rtlCol="0" anchor="ctr"/>
          <a:lstStyle/>
          <a:p/>
        </p:txBody>
      </p:sp>
      <p:sp>
        <p:nvSpPr>
          <p:cNvPr id="21" name="Oval 20"/>
          <p:cNvSpPr/>
          <p:nvPr/>
        </p:nvSpPr>
        <p:spPr>
          <a:xfrm>
            <a:off x="1235324" y="3135226"/>
            <a:ext cx="27432" cy="27432"/>
          </a:xfrm>
          <a:prstGeom prst="ellipse">
            <a:avLst/>
          </a:prstGeom>
          <a:solidFill>
            <a:srgbClr val="A4915E"/>
          </a:solidFill>
          <a:ln>
            <a:noFill/>
          </a:ln>
        </p:spPr>
        <p:txBody>
          <a:bodyPr rtlCol="0" anchor="ctr"/>
          <a:lstStyle/>
          <a:p/>
        </p:txBody>
      </p:sp>
      <p:sp>
        <p:nvSpPr>
          <p:cNvPr id="22" name="Oval 21"/>
          <p:cNvSpPr/>
          <p:nvPr/>
        </p:nvSpPr>
        <p:spPr>
          <a:xfrm>
            <a:off x="11258125" y="1649287"/>
            <a:ext cx="54864" cy="54864"/>
          </a:xfrm>
          <a:prstGeom prst="ellipse">
            <a:avLst/>
          </a:prstGeom>
          <a:solidFill>
            <a:srgbClr val="8B7A4F"/>
          </a:solidFill>
          <a:ln>
            <a:noFill/>
          </a:ln>
        </p:spPr>
        <p:txBody>
          <a:bodyPr rtlCol="0" anchor="ctr"/>
          <a:lstStyle/>
          <a:p/>
        </p:txBody>
      </p:sp>
      <p:sp>
        <p:nvSpPr>
          <p:cNvPr id="23" name="Oval 22"/>
          <p:cNvSpPr/>
          <p:nvPr/>
        </p:nvSpPr>
        <p:spPr>
          <a:xfrm>
            <a:off x="8280266" y="3682224"/>
            <a:ext cx="36576" cy="36576"/>
          </a:xfrm>
          <a:prstGeom prst="ellipse">
            <a:avLst/>
          </a:prstGeom>
          <a:solidFill>
            <a:srgbClr val="655839"/>
          </a:solidFill>
          <a:ln>
            <a:noFill/>
          </a:ln>
        </p:spPr>
        <p:txBody>
          <a:bodyPr rtlCol="0" anchor="ctr"/>
          <a:lstStyle/>
          <a:p/>
        </p:txBody>
      </p:sp>
      <p:sp>
        <p:nvSpPr>
          <p:cNvPr id="24" name="Oval 23"/>
          <p:cNvSpPr/>
          <p:nvPr/>
        </p:nvSpPr>
        <p:spPr>
          <a:xfrm>
            <a:off x="2255894" y="435769"/>
            <a:ext cx="54864" cy="54864"/>
          </a:xfrm>
          <a:prstGeom prst="ellipse">
            <a:avLst/>
          </a:prstGeom>
          <a:solidFill>
            <a:srgbClr val="925F26"/>
          </a:solidFill>
          <a:ln>
            <a:noFill/>
          </a:ln>
        </p:spPr>
        <p:txBody>
          <a:bodyPr rtlCol="0" anchor="ctr"/>
          <a:lstStyle/>
          <a:p/>
        </p:txBody>
      </p:sp>
      <p:sp>
        <p:nvSpPr>
          <p:cNvPr id="25" name="Oval 24"/>
          <p:cNvSpPr/>
          <p:nvPr/>
        </p:nvSpPr>
        <p:spPr>
          <a:xfrm>
            <a:off x="9691545" y="5686361"/>
            <a:ext cx="54864" cy="54864"/>
          </a:xfrm>
          <a:prstGeom prst="ellipse">
            <a:avLst/>
          </a:prstGeom>
          <a:solidFill>
            <a:srgbClr val="8F7837"/>
          </a:solidFill>
          <a:ln>
            <a:noFill/>
          </a:ln>
        </p:spPr>
        <p:txBody>
          <a:bodyPr rtlCol="0" anchor="ctr"/>
          <a:lstStyle/>
          <a:p/>
        </p:txBody>
      </p:sp>
      <p:sp>
        <p:nvSpPr>
          <p:cNvPr id="26" name="Oval 25"/>
          <p:cNvSpPr/>
          <p:nvPr/>
        </p:nvSpPr>
        <p:spPr>
          <a:xfrm>
            <a:off x="8307924" y="5297875"/>
            <a:ext cx="27432" cy="27432"/>
          </a:xfrm>
          <a:prstGeom prst="ellipse">
            <a:avLst/>
          </a:prstGeom>
          <a:solidFill>
            <a:srgbClr val="897234"/>
          </a:solidFill>
          <a:ln>
            <a:noFill/>
          </a:ln>
        </p:spPr>
        <p:txBody>
          <a:bodyPr rtlCol="0" anchor="ctr"/>
          <a:lstStyle/>
          <a:p/>
        </p:txBody>
      </p:sp>
      <p:sp>
        <p:nvSpPr>
          <p:cNvPr id="27" name="Oval 26"/>
          <p:cNvSpPr/>
          <p:nvPr/>
        </p:nvSpPr>
        <p:spPr>
          <a:xfrm>
            <a:off x="3749413" y="2800356"/>
            <a:ext cx="73152" cy="73152"/>
          </a:xfrm>
          <a:prstGeom prst="ellipse">
            <a:avLst/>
          </a:prstGeom>
          <a:solidFill>
            <a:srgbClr val="7B662F"/>
          </a:solidFill>
          <a:ln>
            <a:noFill/>
          </a:ln>
        </p:spPr>
        <p:txBody>
          <a:bodyPr rtlCol="0" anchor="ctr"/>
          <a:lstStyle/>
          <a:p/>
        </p:txBody>
      </p:sp>
      <p:sp>
        <p:nvSpPr>
          <p:cNvPr id="28" name="Oval 27"/>
          <p:cNvSpPr/>
          <p:nvPr/>
        </p:nvSpPr>
        <p:spPr>
          <a:xfrm>
            <a:off x="9838063" y="1010321"/>
            <a:ext cx="27432" cy="27432"/>
          </a:xfrm>
          <a:prstGeom prst="ellipse">
            <a:avLst/>
          </a:prstGeom>
          <a:solidFill>
            <a:srgbClr val="4A3D1D"/>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 · THE RESET</a:t>
            </a:r>
          </a:p>
        </p:txBody>
      </p:sp>
      <p:sp>
        <p:nvSpPr>
          <p:cNvPr id="45" name="Rectangle 44"/>
          <p:cNvSpPr/>
          <p:nvPr/>
        </p:nvSpPr>
        <p:spPr>
          <a:xfrm>
            <a:off x="9896551" y="6364224"/>
            <a:ext cx="384048" cy="64008"/>
          </a:xfrm>
          <a:prstGeom prst="rect">
            <a:avLst/>
          </a:prstGeom>
          <a:solidFill>
            <a:srgbClr val="F0D58A"/>
          </a:solidFill>
          <a:ln>
            <a:noFill/>
          </a:ln>
        </p:spPr>
        <p:txBody>
          <a:bodyPr rtlCol="0" anchor="ctr"/>
          <a:lstStyle/>
          <a:p/>
        </p:txBody>
      </p:sp>
      <p:sp>
        <p:nvSpPr>
          <p:cNvPr id="46" name="Rectangle 45"/>
          <p:cNvSpPr/>
          <p:nvPr/>
        </p:nvSpPr>
        <p:spPr>
          <a:xfrm>
            <a:off x="10344607" y="6364224"/>
            <a:ext cx="384048" cy="64008"/>
          </a:xfrm>
          <a:prstGeom prst="rect">
            <a:avLst/>
          </a:prstGeom>
          <a:noFill/>
          <a:ln w="9525">
            <a:solidFill>
              <a:srgbClr val="6A5829"/>
            </a:solid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758537" y="1275778"/>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TONIGHT'S QUEST</a:t>
            </a:r>
          </a:p>
        </p:txBody>
      </p:sp>
      <p:cxnSp>
        <p:nvCxnSpPr>
          <p:cNvPr id="50" name="Connector 49"/>
          <p:cNvCxnSpPr/>
          <p:nvPr/>
        </p:nvCxnSpPr>
        <p:spPr>
          <a:xfrm>
            <a:off x="3386937" y="144037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336645" y="1390078"/>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570317" y="144037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754465" y="1390078"/>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668970"/>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Three secrets</a:t>
            </a:r>
          </a:p>
        </p:txBody>
      </p:sp>
      <p:sp>
        <p:nvSpPr>
          <p:cNvPr id="55" name="Rounded Rectangle 54"/>
          <p:cNvSpPr/>
          <p:nvPr/>
        </p:nvSpPr>
        <p:spPr>
          <a:xfrm>
            <a:off x="914400" y="2476690"/>
            <a:ext cx="3240938" cy="2822066"/>
          </a:xfrm>
          <a:prstGeom prst="roundRect">
            <a:avLst>
              <a:gd name="adj" fmla="val 6000"/>
            </a:avLst>
          </a:prstGeom>
          <a:solidFill>
            <a:srgbClr val="100D07"/>
          </a:solidFill>
          <a:ln w="15875">
            <a:solidFill>
              <a:srgbClr val="877034"/>
            </a:solidFill>
          </a:ln>
        </p:spPr>
        <p:txBody>
          <a:bodyPr rtlCol="0" anchor="ctr"/>
          <a:lstStyle/>
          <a:p/>
        </p:txBody>
      </p:sp>
      <p:sp>
        <p:nvSpPr>
          <p:cNvPr id="56" name="Oval 55"/>
          <p:cNvSpPr/>
          <p:nvPr/>
        </p:nvSpPr>
        <p:spPr>
          <a:xfrm>
            <a:off x="2223973" y="2723578"/>
            <a:ext cx="621792" cy="621792"/>
          </a:xfrm>
          <a:prstGeom prst="ellipse">
            <a:avLst/>
          </a:prstGeom>
          <a:solidFill>
            <a:srgbClr val="1A1309"/>
          </a:solidFill>
          <a:ln w="25400">
            <a:solidFill>
              <a:srgbClr val="F0D58A"/>
            </a:solidFill>
          </a:ln>
        </p:spPr>
        <p:txBody>
          <a:bodyPr rtlCol="0" anchor="ctr"/>
          <a:lstStyle/>
          <a:p/>
        </p:txBody>
      </p:sp>
      <p:sp>
        <p:nvSpPr>
          <p:cNvPr id="57" name="Oval 56"/>
          <p:cNvSpPr/>
          <p:nvPr/>
        </p:nvSpPr>
        <p:spPr>
          <a:xfrm>
            <a:off x="2278837" y="2778442"/>
            <a:ext cx="512064" cy="512064"/>
          </a:xfrm>
          <a:prstGeom prst="ellipse">
            <a:avLst/>
          </a:prstGeom>
          <a:noFill/>
          <a:ln w="9525">
            <a:solidFill>
              <a:srgbClr val="7D6830"/>
            </a:solidFill>
          </a:ln>
        </p:spPr>
        <p:txBody>
          <a:bodyPr rtlCol="0" anchor="ctr"/>
          <a:lstStyle/>
          <a:p/>
        </p:txBody>
      </p:sp>
      <p:sp>
        <p:nvSpPr>
          <p:cNvPr id="58" name="TextBox 57"/>
          <p:cNvSpPr txBox="1"/>
          <p:nvPr/>
        </p:nvSpPr>
        <p:spPr>
          <a:xfrm>
            <a:off x="2223973" y="2723578"/>
            <a:ext cx="621792" cy="621792"/>
          </a:xfrm>
          <a:prstGeom prst="rect">
            <a:avLst/>
          </a:prstGeom>
          <a:noFill/>
        </p:spPr>
        <p:txBody>
          <a:bodyPr wrap="square" lIns="0" rIns="0" tIns="0" bIns="0" anchor="ctr">
            <a:spAutoFit/>
          </a:bodyPr>
          <a:lstStyle/>
          <a:p>
            <a:pPr algn="ctr"/>
            <a:r>
              <a:rPr sz="1900" b="1" i="0">
                <a:solidFill>
                  <a:srgbClr val="F0D58A"/>
                </a:solidFill>
                <a:latin typeface="Cinzel"/>
              </a:rPr>
              <a:t>I</a:t>
            </a:r>
          </a:p>
        </p:txBody>
      </p:sp>
      <p:sp>
        <p:nvSpPr>
          <p:cNvPr id="59" name="TextBox 58"/>
          <p:cNvSpPr txBox="1"/>
          <p:nvPr/>
        </p:nvSpPr>
        <p:spPr>
          <a:xfrm>
            <a:off x="1097280" y="357397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The Order</a:t>
            </a:r>
          </a:p>
        </p:txBody>
      </p:sp>
      <p:sp>
        <p:nvSpPr>
          <p:cNvPr id="60" name="TextBox 59"/>
          <p:cNvSpPr txBox="1"/>
          <p:nvPr/>
        </p:nvSpPr>
        <p:spPr>
          <a:xfrm>
            <a:off x="1143000" y="403688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Why most people start in the middle</a:t>
            </a:r>
          </a:p>
        </p:txBody>
      </p:sp>
      <p:sp>
        <p:nvSpPr>
          <p:cNvPr id="61" name="Rounded Rectangle 60"/>
          <p:cNvSpPr/>
          <p:nvPr/>
        </p:nvSpPr>
        <p:spPr>
          <a:xfrm>
            <a:off x="4475378" y="2476690"/>
            <a:ext cx="3240938" cy="2822066"/>
          </a:xfrm>
          <a:prstGeom prst="roundRect">
            <a:avLst>
              <a:gd name="adj" fmla="val 6000"/>
            </a:avLst>
          </a:prstGeom>
          <a:solidFill>
            <a:srgbClr val="100D07"/>
          </a:solidFill>
          <a:ln w="15875">
            <a:solidFill>
              <a:srgbClr val="877034"/>
            </a:solidFill>
          </a:ln>
        </p:spPr>
        <p:txBody>
          <a:bodyPr rtlCol="0" anchor="ctr"/>
          <a:lstStyle/>
          <a:p/>
        </p:txBody>
      </p:sp>
      <p:sp>
        <p:nvSpPr>
          <p:cNvPr id="62" name="Oval 61"/>
          <p:cNvSpPr/>
          <p:nvPr/>
        </p:nvSpPr>
        <p:spPr>
          <a:xfrm>
            <a:off x="5784951" y="2723578"/>
            <a:ext cx="621792" cy="621792"/>
          </a:xfrm>
          <a:prstGeom prst="ellipse">
            <a:avLst/>
          </a:prstGeom>
          <a:solidFill>
            <a:srgbClr val="1A1309"/>
          </a:solidFill>
          <a:ln w="25400">
            <a:solidFill>
              <a:srgbClr val="F0D58A"/>
            </a:solidFill>
          </a:ln>
        </p:spPr>
        <p:txBody>
          <a:bodyPr rtlCol="0" anchor="ctr"/>
          <a:lstStyle/>
          <a:p/>
        </p:txBody>
      </p:sp>
      <p:sp>
        <p:nvSpPr>
          <p:cNvPr id="63" name="Oval 62"/>
          <p:cNvSpPr/>
          <p:nvPr/>
        </p:nvSpPr>
        <p:spPr>
          <a:xfrm>
            <a:off x="5839815" y="2778442"/>
            <a:ext cx="512064" cy="512064"/>
          </a:xfrm>
          <a:prstGeom prst="ellipse">
            <a:avLst/>
          </a:prstGeom>
          <a:noFill/>
          <a:ln w="9525">
            <a:solidFill>
              <a:srgbClr val="7D6830"/>
            </a:solidFill>
          </a:ln>
        </p:spPr>
        <p:txBody>
          <a:bodyPr rtlCol="0" anchor="ctr"/>
          <a:lstStyle/>
          <a:p/>
        </p:txBody>
      </p:sp>
      <p:sp>
        <p:nvSpPr>
          <p:cNvPr id="64" name="TextBox 63"/>
          <p:cNvSpPr txBox="1"/>
          <p:nvPr/>
        </p:nvSpPr>
        <p:spPr>
          <a:xfrm>
            <a:off x="5784951" y="2723578"/>
            <a:ext cx="621792" cy="621792"/>
          </a:xfrm>
          <a:prstGeom prst="rect">
            <a:avLst/>
          </a:prstGeom>
          <a:noFill/>
        </p:spPr>
        <p:txBody>
          <a:bodyPr wrap="square" lIns="0" rIns="0" tIns="0" bIns="0" anchor="ctr">
            <a:spAutoFit/>
          </a:bodyPr>
          <a:lstStyle/>
          <a:p>
            <a:pPr algn="ctr"/>
            <a:r>
              <a:rPr sz="1900" b="1" i="0">
                <a:solidFill>
                  <a:srgbClr val="F0D58A"/>
                </a:solidFill>
                <a:latin typeface="Cinzel"/>
              </a:rPr>
              <a:t>II</a:t>
            </a:r>
          </a:p>
        </p:txBody>
      </p:sp>
      <p:sp>
        <p:nvSpPr>
          <p:cNvPr id="65" name="TextBox 64"/>
          <p:cNvSpPr txBox="1"/>
          <p:nvPr/>
        </p:nvSpPr>
        <p:spPr>
          <a:xfrm>
            <a:off x="4658258" y="357397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The Foundation</a:t>
            </a:r>
          </a:p>
        </p:txBody>
      </p:sp>
      <p:sp>
        <p:nvSpPr>
          <p:cNvPr id="66" name="TextBox 65"/>
          <p:cNvSpPr txBox="1"/>
          <p:nvPr/>
        </p:nvSpPr>
        <p:spPr>
          <a:xfrm>
            <a:off x="4703978" y="403688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How your credit file actually works</a:t>
            </a:r>
          </a:p>
        </p:txBody>
      </p:sp>
      <p:sp>
        <p:nvSpPr>
          <p:cNvPr id="67" name="Rounded Rectangle 66"/>
          <p:cNvSpPr/>
          <p:nvPr/>
        </p:nvSpPr>
        <p:spPr>
          <a:xfrm>
            <a:off x="8036356" y="2476690"/>
            <a:ext cx="3240938" cy="2822066"/>
          </a:xfrm>
          <a:prstGeom prst="roundRect">
            <a:avLst>
              <a:gd name="adj" fmla="val 6000"/>
            </a:avLst>
          </a:prstGeom>
          <a:solidFill>
            <a:srgbClr val="100D07"/>
          </a:solidFill>
          <a:ln w="15875">
            <a:solidFill>
              <a:srgbClr val="877034"/>
            </a:solidFill>
          </a:ln>
        </p:spPr>
        <p:txBody>
          <a:bodyPr rtlCol="0" anchor="ctr"/>
          <a:lstStyle/>
          <a:p/>
        </p:txBody>
      </p:sp>
      <p:sp>
        <p:nvSpPr>
          <p:cNvPr id="68" name="Oval 67"/>
          <p:cNvSpPr/>
          <p:nvPr/>
        </p:nvSpPr>
        <p:spPr>
          <a:xfrm>
            <a:off x="9345930" y="2723578"/>
            <a:ext cx="621792" cy="621792"/>
          </a:xfrm>
          <a:prstGeom prst="ellipse">
            <a:avLst/>
          </a:prstGeom>
          <a:solidFill>
            <a:srgbClr val="1A1309"/>
          </a:solidFill>
          <a:ln w="25400">
            <a:solidFill>
              <a:srgbClr val="F0D58A"/>
            </a:solidFill>
          </a:ln>
        </p:spPr>
        <p:txBody>
          <a:bodyPr rtlCol="0" anchor="ctr"/>
          <a:lstStyle/>
          <a:p/>
        </p:txBody>
      </p:sp>
      <p:sp>
        <p:nvSpPr>
          <p:cNvPr id="69" name="Oval 68"/>
          <p:cNvSpPr/>
          <p:nvPr/>
        </p:nvSpPr>
        <p:spPr>
          <a:xfrm>
            <a:off x="9400794" y="2778442"/>
            <a:ext cx="512064" cy="512064"/>
          </a:xfrm>
          <a:prstGeom prst="ellipse">
            <a:avLst/>
          </a:prstGeom>
          <a:noFill/>
          <a:ln w="9525">
            <a:solidFill>
              <a:srgbClr val="7D6830"/>
            </a:solidFill>
          </a:ln>
        </p:spPr>
        <p:txBody>
          <a:bodyPr rtlCol="0" anchor="ctr"/>
          <a:lstStyle/>
          <a:p/>
        </p:txBody>
      </p:sp>
      <p:sp>
        <p:nvSpPr>
          <p:cNvPr id="70" name="TextBox 69"/>
          <p:cNvSpPr txBox="1"/>
          <p:nvPr/>
        </p:nvSpPr>
        <p:spPr>
          <a:xfrm>
            <a:off x="9345930" y="2723578"/>
            <a:ext cx="621792" cy="621792"/>
          </a:xfrm>
          <a:prstGeom prst="rect">
            <a:avLst/>
          </a:prstGeom>
          <a:noFill/>
        </p:spPr>
        <p:txBody>
          <a:bodyPr wrap="square" lIns="0" rIns="0" tIns="0" bIns="0" anchor="ctr">
            <a:spAutoFit/>
          </a:bodyPr>
          <a:lstStyle/>
          <a:p>
            <a:pPr algn="ctr"/>
            <a:r>
              <a:rPr sz="1900" b="1" i="0">
                <a:solidFill>
                  <a:srgbClr val="F0D58A"/>
                </a:solidFill>
                <a:latin typeface="Cinzel"/>
              </a:rPr>
              <a:t>III</a:t>
            </a:r>
          </a:p>
        </p:txBody>
      </p:sp>
      <p:sp>
        <p:nvSpPr>
          <p:cNvPr id="71" name="TextBox 70"/>
          <p:cNvSpPr txBox="1"/>
          <p:nvPr/>
        </p:nvSpPr>
        <p:spPr>
          <a:xfrm>
            <a:off x="8219236" y="357397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The Engine</a:t>
            </a:r>
          </a:p>
        </p:txBody>
      </p:sp>
      <p:sp>
        <p:nvSpPr>
          <p:cNvPr id="72" name="TextBox 71"/>
          <p:cNvSpPr txBox="1"/>
          <p:nvPr/>
        </p:nvSpPr>
        <p:spPr>
          <a:xfrm>
            <a:off x="8264956" y="403688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How protection and growth work — and when they don't fit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0.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9626465" y="3997319"/>
            <a:ext cx="73152" cy="73152"/>
          </a:xfrm>
          <a:prstGeom prst="ellipse">
            <a:avLst/>
          </a:prstGeom>
          <a:solidFill>
            <a:srgbClr val="7F6A31"/>
          </a:solidFill>
          <a:ln>
            <a:noFill/>
          </a:ln>
        </p:spPr>
        <p:txBody>
          <a:bodyPr rtlCol="0" anchor="ctr"/>
          <a:lstStyle/>
          <a:p/>
        </p:txBody>
      </p:sp>
      <p:sp>
        <p:nvSpPr>
          <p:cNvPr id="4" name="Oval 3"/>
          <p:cNvSpPr/>
          <p:nvPr/>
        </p:nvSpPr>
        <p:spPr>
          <a:xfrm>
            <a:off x="11561533" y="653881"/>
            <a:ext cx="36576" cy="36576"/>
          </a:xfrm>
          <a:prstGeom prst="ellipse">
            <a:avLst/>
          </a:prstGeom>
          <a:solidFill>
            <a:srgbClr val="915E25"/>
          </a:solidFill>
          <a:ln>
            <a:noFill/>
          </a:ln>
        </p:spPr>
        <p:txBody>
          <a:bodyPr rtlCol="0" anchor="ctr"/>
          <a:lstStyle/>
          <a:p/>
        </p:txBody>
      </p:sp>
      <p:sp>
        <p:nvSpPr>
          <p:cNvPr id="5" name="Oval 4"/>
          <p:cNvSpPr/>
          <p:nvPr/>
        </p:nvSpPr>
        <p:spPr>
          <a:xfrm>
            <a:off x="5655009" y="6270637"/>
            <a:ext cx="27432" cy="27432"/>
          </a:xfrm>
          <a:prstGeom prst="ellipse">
            <a:avLst/>
          </a:prstGeom>
          <a:solidFill>
            <a:srgbClr val="483F29"/>
          </a:solidFill>
          <a:ln>
            <a:noFill/>
          </a:ln>
        </p:spPr>
        <p:txBody>
          <a:bodyPr rtlCol="0" anchor="ctr"/>
          <a:lstStyle/>
          <a:p/>
        </p:txBody>
      </p:sp>
      <p:sp>
        <p:nvSpPr>
          <p:cNvPr id="6" name="Oval 5"/>
          <p:cNvSpPr/>
          <p:nvPr/>
        </p:nvSpPr>
        <p:spPr>
          <a:xfrm>
            <a:off x="10777751" y="5216329"/>
            <a:ext cx="36576" cy="36576"/>
          </a:xfrm>
          <a:prstGeom prst="ellipse">
            <a:avLst/>
          </a:prstGeom>
          <a:solidFill>
            <a:srgbClr val="9B813B"/>
          </a:solidFill>
          <a:ln>
            <a:noFill/>
          </a:ln>
        </p:spPr>
        <p:txBody>
          <a:bodyPr rtlCol="0" anchor="ctr"/>
          <a:lstStyle/>
          <a:p/>
        </p:txBody>
      </p:sp>
      <p:sp>
        <p:nvSpPr>
          <p:cNvPr id="7" name="Oval 6"/>
          <p:cNvSpPr/>
          <p:nvPr/>
        </p:nvSpPr>
        <p:spPr>
          <a:xfrm>
            <a:off x="6499300" y="767731"/>
            <a:ext cx="45720" cy="45720"/>
          </a:xfrm>
          <a:prstGeom prst="ellipse">
            <a:avLst/>
          </a:prstGeom>
          <a:solidFill>
            <a:srgbClr val="645839"/>
          </a:solidFill>
          <a:ln>
            <a:noFill/>
          </a:ln>
        </p:spPr>
        <p:txBody>
          <a:bodyPr rtlCol="0" anchor="ctr"/>
          <a:lstStyle/>
          <a:p/>
        </p:txBody>
      </p:sp>
      <p:sp>
        <p:nvSpPr>
          <p:cNvPr id="8" name="Oval 7"/>
          <p:cNvSpPr/>
          <p:nvPr/>
        </p:nvSpPr>
        <p:spPr>
          <a:xfrm>
            <a:off x="8066650" y="4900796"/>
            <a:ext cx="73152" cy="73152"/>
          </a:xfrm>
          <a:prstGeom prst="ellipse">
            <a:avLst/>
          </a:prstGeom>
          <a:solidFill>
            <a:srgbClr val="45391B"/>
          </a:solidFill>
          <a:ln>
            <a:noFill/>
          </a:ln>
        </p:spPr>
        <p:txBody>
          <a:bodyPr rtlCol="0" anchor="ctr"/>
          <a:lstStyle/>
          <a:p/>
        </p:txBody>
      </p:sp>
      <p:sp>
        <p:nvSpPr>
          <p:cNvPr id="9" name="Oval 8"/>
          <p:cNvSpPr/>
          <p:nvPr/>
        </p:nvSpPr>
        <p:spPr>
          <a:xfrm>
            <a:off x="7685635" y="5686325"/>
            <a:ext cx="45720" cy="45720"/>
          </a:xfrm>
          <a:prstGeom prst="ellipse">
            <a:avLst/>
          </a:prstGeom>
          <a:solidFill>
            <a:srgbClr val="928154"/>
          </a:solidFill>
          <a:ln>
            <a:noFill/>
          </a:ln>
        </p:spPr>
        <p:txBody>
          <a:bodyPr rtlCol="0" anchor="ctr"/>
          <a:lstStyle/>
          <a:p/>
        </p:txBody>
      </p:sp>
      <p:sp>
        <p:nvSpPr>
          <p:cNvPr id="10" name="Oval 9"/>
          <p:cNvSpPr/>
          <p:nvPr/>
        </p:nvSpPr>
        <p:spPr>
          <a:xfrm>
            <a:off x="1848079" y="2200090"/>
            <a:ext cx="45720" cy="45720"/>
          </a:xfrm>
          <a:prstGeom prst="ellipse">
            <a:avLst/>
          </a:prstGeom>
          <a:solidFill>
            <a:srgbClr val="61401A"/>
          </a:solidFill>
          <a:ln>
            <a:noFill/>
          </a:ln>
        </p:spPr>
        <p:txBody>
          <a:bodyPr rtlCol="0" anchor="ctr"/>
          <a:lstStyle/>
          <a:p/>
        </p:txBody>
      </p:sp>
      <p:sp>
        <p:nvSpPr>
          <p:cNvPr id="11" name="Oval 10"/>
          <p:cNvSpPr/>
          <p:nvPr/>
        </p:nvSpPr>
        <p:spPr>
          <a:xfrm>
            <a:off x="1951138" y="4522615"/>
            <a:ext cx="27432" cy="27432"/>
          </a:xfrm>
          <a:prstGeom prst="ellipse">
            <a:avLst/>
          </a:prstGeom>
          <a:solidFill>
            <a:srgbClr val="A6925F"/>
          </a:solidFill>
          <a:ln>
            <a:noFill/>
          </a:ln>
        </p:spPr>
        <p:txBody>
          <a:bodyPr rtlCol="0" anchor="ctr"/>
          <a:lstStyle/>
          <a:p/>
        </p:txBody>
      </p:sp>
      <p:sp>
        <p:nvSpPr>
          <p:cNvPr id="12" name="Oval 11"/>
          <p:cNvSpPr/>
          <p:nvPr/>
        </p:nvSpPr>
        <p:spPr>
          <a:xfrm>
            <a:off x="10867886" y="3371936"/>
            <a:ext cx="54864" cy="54864"/>
          </a:xfrm>
          <a:prstGeom prst="ellipse">
            <a:avLst/>
          </a:prstGeom>
          <a:solidFill>
            <a:srgbClr val="87774D"/>
          </a:solidFill>
          <a:ln>
            <a:noFill/>
          </a:ln>
        </p:spPr>
        <p:txBody>
          <a:bodyPr rtlCol="0" anchor="ctr"/>
          <a:lstStyle/>
          <a:p/>
        </p:txBody>
      </p:sp>
      <p:sp>
        <p:nvSpPr>
          <p:cNvPr id="13" name="Oval 12"/>
          <p:cNvSpPr/>
          <p:nvPr/>
        </p:nvSpPr>
        <p:spPr>
          <a:xfrm>
            <a:off x="5775237" y="2334537"/>
            <a:ext cx="36576" cy="36576"/>
          </a:xfrm>
          <a:prstGeom prst="ellipse">
            <a:avLst/>
          </a:prstGeom>
          <a:solidFill>
            <a:srgbClr val="AB6F2C"/>
          </a:solidFill>
          <a:ln>
            <a:noFill/>
          </a:ln>
        </p:spPr>
        <p:txBody>
          <a:bodyPr rtlCol="0" anchor="ctr"/>
          <a:lstStyle/>
          <a:p/>
        </p:txBody>
      </p:sp>
      <p:sp>
        <p:nvSpPr>
          <p:cNvPr id="14" name="Oval 13"/>
          <p:cNvSpPr/>
          <p:nvPr/>
        </p:nvSpPr>
        <p:spPr>
          <a:xfrm>
            <a:off x="6325262" y="771443"/>
            <a:ext cx="45720" cy="45720"/>
          </a:xfrm>
          <a:prstGeom prst="ellipse">
            <a:avLst/>
          </a:prstGeom>
          <a:solidFill>
            <a:srgbClr val="9D833C"/>
          </a:solidFill>
          <a:ln>
            <a:noFill/>
          </a:ln>
        </p:spPr>
        <p:txBody>
          <a:bodyPr rtlCol="0" anchor="ctr"/>
          <a:lstStyle/>
          <a:p/>
        </p:txBody>
      </p:sp>
      <p:sp>
        <p:nvSpPr>
          <p:cNvPr id="15" name="Oval 14"/>
          <p:cNvSpPr/>
          <p:nvPr/>
        </p:nvSpPr>
        <p:spPr>
          <a:xfrm>
            <a:off x="10429047" y="1920223"/>
            <a:ext cx="54864" cy="54864"/>
          </a:xfrm>
          <a:prstGeom prst="ellipse">
            <a:avLst/>
          </a:prstGeom>
          <a:solidFill>
            <a:srgbClr val="62401A"/>
          </a:solidFill>
          <a:ln>
            <a:noFill/>
          </a:ln>
        </p:spPr>
        <p:txBody>
          <a:bodyPr rtlCol="0" anchor="ctr"/>
          <a:lstStyle/>
          <a:p/>
        </p:txBody>
      </p:sp>
      <p:sp>
        <p:nvSpPr>
          <p:cNvPr id="16" name="Oval 15"/>
          <p:cNvSpPr/>
          <p:nvPr/>
        </p:nvSpPr>
        <p:spPr>
          <a:xfrm>
            <a:off x="10615289" y="5581663"/>
            <a:ext cx="45720" cy="45720"/>
          </a:xfrm>
          <a:prstGeom prst="ellipse">
            <a:avLst/>
          </a:prstGeom>
          <a:solidFill>
            <a:srgbClr val="9B8959"/>
          </a:solidFill>
          <a:ln>
            <a:noFill/>
          </a:ln>
        </p:spPr>
        <p:txBody>
          <a:bodyPr rtlCol="0" anchor="ctr"/>
          <a:lstStyle/>
          <a:p/>
        </p:txBody>
      </p:sp>
      <p:sp>
        <p:nvSpPr>
          <p:cNvPr id="17" name="Oval 16"/>
          <p:cNvSpPr/>
          <p:nvPr/>
        </p:nvSpPr>
        <p:spPr>
          <a:xfrm>
            <a:off x="6238168" y="2862925"/>
            <a:ext cx="36576" cy="36576"/>
          </a:xfrm>
          <a:prstGeom prst="ellipse">
            <a:avLst/>
          </a:prstGeom>
          <a:solidFill>
            <a:srgbClr val="BAA56B"/>
          </a:solidFill>
          <a:ln>
            <a:noFill/>
          </a:ln>
        </p:spPr>
        <p:txBody>
          <a:bodyPr rtlCol="0" anchor="ctr"/>
          <a:lstStyle/>
          <a:p/>
        </p:txBody>
      </p:sp>
      <p:sp>
        <p:nvSpPr>
          <p:cNvPr id="18" name="Oval 17"/>
          <p:cNvSpPr/>
          <p:nvPr/>
        </p:nvSpPr>
        <p:spPr>
          <a:xfrm>
            <a:off x="4604343" y="2931835"/>
            <a:ext cx="54864" cy="54864"/>
          </a:xfrm>
          <a:prstGeom prst="ellipse">
            <a:avLst/>
          </a:prstGeom>
          <a:solidFill>
            <a:srgbClr val="907837"/>
          </a:solidFill>
          <a:ln>
            <a:noFill/>
          </a:ln>
        </p:spPr>
        <p:txBody>
          <a:bodyPr rtlCol="0" anchor="ctr"/>
          <a:lstStyle/>
          <a:p/>
        </p:txBody>
      </p:sp>
      <p:sp>
        <p:nvSpPr>
          <p:cNvPr id="19" name="Oval 18"/>
          <p:cNvSpPr/>
          <p:nvPr/>
        </p:nvSpPr>
        <p:spPr>
          <a:xfrm>
            <a:off x="6218866" y="2625270"/>
            <a:ext cx="45720" cy="45720"/>
          </a:xfrm>
          <a:prstGeom prst="ellipse">
            <a:avLst/>
          </a:prstGeom>
          <a:solidFill>
            <a:srgbClr val="9B813B"/>
          </a:solidFill>
          <a:ln>
            <a:noFill/>
          </a:ln>
        </p:spPr>
        <p:txBody>
          <a:bodyPr rtlCol="0" anchor="ctr"/>
          <a:lstStyle/>
          <a:p/>
        </p:txBody>
      </p:sp>
      <p:sp>
        <p:nvSpPr>
          <p:cNvPr id="20" name="Oval 19"/>
          <p:cNvSpPr/>
          <p:nvPr/>
        </p:nvSpPr>
        <p:spPr>
          <a:xfrm>
            <a:off x="9503007" y="4192321"/>
            <a:ext cx="45720" cy="45720"/>
          </a:xfrm>
          <a:prstGeom prst="ellipse">
            <a:avLst/>
          </a:prstGeom>
          <a:solidFill>
            <a:srgbClr val="6C5A2A"/>
          </a:solidFill>
          <a:ln>
            <a:noFill/>
          </a:ln>
        </p:spPr>
        <p:txBody>
          <a:bodyPr rtlCol="0" anchor="ctr"/>
          <a:lstStyle/>
          <a:p/>
        </p:txBody>
      </p:sp>
      <p:sp>
        <p:nvSpPr>
          <p:cNvPr id="21" name="Oval 20"/>
          <p:cNvSpPr/>
          <p:nvPr/>
        </p:nvSpPr>
        <p:spPr>
          <a:xfrm>
            <a:off x="6300952" y="4652541"/>
            <a:ext cx="45720" cy="45720"/>
          </a:xfrm>
          <a:prstGeom prst="ellipse">
            <a:avLst/>
          </a:prstGeom>
          <a:solidFill>
            <a:srgbClr val="835522"/>
          </a:solidFill>
          <a:ln>
            <a:noFill/>
          </a:ln>
        </p:spPr>
        <p:txBody>
          <a:bodyPr rtlCol="0" anchor="ctr"/>
          <a:lstStyle/>
          <a:p/>
        </p:txBody>
      </p:sp>
      <p:sp>
        <p:nvSpPr>
          <p:cNvPr id="22" name="Oval 21"/>
          <p:cNvSpPr/>
          <p:nvPr/>
        </p:nvSpPr>
        <p:spPr>
          <a:xfrm>
            <a:off x="600245" y="1487981"/>
            <a:ext cx="45720" cy="45720"/>
          </a:xfrm>
          <a:prstGeom prst="ellipse">
            <a:avLst/>
          </a:prstGeom>
          <a:solidFill>
            <a:srgbClr val="875823"/>
          </a:solidFill>
          <a:ln>
            <a:noFill/>
          </a:ln>
        </p:spPr>
        <p:txBody>
          <a:bodyPr rtlCol="0" anchor="ctr"/>
          <a:lstStyle/>
          <a:p/>
        </p:txBody>
      </p:sp>
      <p:sp>
        <p:nvSpPr>
          <p:cNvPr id="23" name="Oval 22"/>
          <p:cNvSpPr/>
          <p:nvPr/>
        </p:nvSpPr>
        <p:spPr>
          <a:xfrm>
            <a:off x="6700937" y="1874447"/>
            <a:ext cx="73152" cy="73152"/>
          </a:xfrm>
          <a:prstGeom prst="ellipse">
            <a:avLst/>
          </a:prstGeom>
          <a:solidFill>
            <a:srgbClr val="9B6528"/>
          </a:solidFill>
          <a:ln>
            <a:noFill/>
          </a:ln>
        </p:spPr>
        <p:txBody>
          <a:bodyPr rtlCol="0" anchor="ctr"/>
          <a:lstStyle/>
          <a:p/>
        </p:txBody>
      </p:sp>
      <p:sp>
        <p:nvSpPr>
          <p:cNvPr id="24" name="Oval 23"/>
          <p:cNvSpPr/>
          <p:nvPr/>
        </p:nvSpPr>
        <p:spPr>
          <a:xfrm>
            <a:off x="789455" y="2997276"/>
            <a:ext cx="73152" cy="73152"/>
          </a:xfrm>
          <a:prstGeom prst="ellipse">
            <a:avLst/>
          </a:prstGeom>
          <a:solidFill>
            <a:srgbClr val="574C31"/>
          </a:solidFill>
          <a:ln>
            <a:noFill/>
          </a:ln>
        </p:spPr>
        <p:txBody>
          <a:bodyPr rtlCol="0" anchor="ctr"/>
          <a:lstStyle/>
          <a:p/>
        </p:txBody>
      </p:sp>
      <p:sp>
        <p:nvSpPr>
          <p:cNvPr id="25" name="Oval 24"/>
          <p:cNvSpPr/>
          <p:nvPr/>
        </p:nvSpPr>
        <p:spPr>
          <a:xfrm>
            <a:off x="6055598" y="5420261"/>
            <a:ext cx="73152" cy="73152"/>
          </a:xfrm>
          <a:prstGeom prst="ellipse">
            <a:avLst/>
          </a:prstGeom>
          <a:solidFill>
            <a:srgbClr val="784E20"/>
          </a:solidFill>
          <a:ln>
            <a:noFill/>
          </a:ln>
        </p:spPr>
        <p:txBody>
          <a:bodyPr rtlCol="0" anchor="ctr"/>
          <a:lstStyle/>
          <a:p/>
        </p:txBody>
      </p:sp>
      <p:sp>
        <p:nvSpPr>
          <p:cNvPr id="26" name="Oval 25"/>
          <p:cNvSpPr/>
          <p:nvPr/>
        </p:nvSpPr>
        <p:spPr>
          <a:xfrm>
            <a:off x="1954029" y="5521366"/>
            <a:ext cx="73152" cy="73152"/>
          </a:xfrm>
          <a:prstGeom prst="ellipse">
            <a:avLst/>
          </a:prstGeom>
          <a:solidFill>
            <a:srgbClr val="835522"/>
          </a:solidFill>
          <a:ln>
            <a:noFill/>
          </a:ln>
        </p:spPr>
        <p:txBody>
          <a:bodyPr rtlCol="0" anchor="ctr"/>
          <a:lstStyle/>
          <a:p/>
        </p:txBody>
      </p:sp>
      <p:sp>
        <p:nvSpPr>
          <p:cNvPr id="27" name="Oval 26"/>
          <p:cNvSpPr/>
          <p:nvPr/>
        </p:nvSpPr>
        <p:spPr>
          <a:xfrm>
            <a:off x="9954831" y="1516584"/>
            <a:ext cx="45720" cy="45720"/>
          </a:xfrm>
          <a:prstGeom prst="ellipse">
            <a:avLst/>
          </a:prstGeom>
          <a:solidFill>
            <a:srgbClr val="A1863D"/>
          </a:solidFill>
          <a:ln>
            <a:noFill/>
          </a:ln>
        </p:spPr>
        <p:txBody>
          <a:bodyPr rtlCol="0" anchor="ctr"/>
          <a:lstStyle/>
          <a:p/>
        </p:txBody>
      </p:sp>
      <p:sp>
        <p:nvSpPr>
          <p:cNvPr id="28" name="Oval 27"/>
          <p:cNvSpPr/>
          <p:nvPr/>
        </p:nvSpPr>
        <p:spPr>
          <a:xfrm>
            <a:off x="2001722" y="2893623"/>
            <a:ext cx="27432" cy="27432"/>
          </a:xfrm>
          <a:prstGeom prst="ellipse">
            <a:avLst/>
          </a:prstGeom>
          <a:solidFill>
            <a:srgbClr val="756743"/>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40.png"/>
          <p:cNvPicPr>
            <a:picLocks noChangeAspect="1"/>
          </p:cNvPicPr>
          <p:nvPr/>
        </p:nvPicPr>
        <p:blipFill>
          <a:blip r:embed="rId3"/>
          <a:stretch>
            <a:fillRect/>
          </a:stretch>
        </p:blipFill>
        <p:spPr>
          <a:xfrm>
            <a:off x="3901287" y="137159"/>
            <a:ext cx="4389120" cy="4389120"/>
          </a:xfrm>
          <a:prstGeom prst="rect">
            <a:avLst/>
          </a:prstGeom>
        </p:spPr>
      </p:pic>
      <p:sp>
        <p:nvSpPr>
          <p:cNvPr id="50" name="Oval 49"/>
          <p:cNvSpPr/>
          <p:nvPr/>
        </p:nvSpPr>
        <p:spPr>
          <a:xfrm>
            <a:off x="5044287" y="1280160"/>
            <a:ext cx="2103120" cy="2103120"/>
          </a:xfrm>
          <a:prstGeom prst="ellipse">
            <a:avLst/>
          </a:prstGeom>
          <a:noFill/>
          <a:ln w="19050">
            <a:solidFill>
              <a:srgbClr val="907837"/>
            </a:solidFill>
          </a:ln>
        </p:spPr>
        <p:txBody>
          <a:bodyPr rtlCol="0" anchor="ctr"/>
          <a:lstStyle/>
          <a:p/>
        </p:txBody>
      </p:sp>
      <p:sp>
        <p:nvSpPr>
          <p:cNvPr id="51" name="Oval 50"/>
          <p:cNvSpPr/>
          <p:nvPr/>
        </p:nvSpPr>
        <p:spPr>
          <a:xfrm>
            <a:off x="4961991" y="1197863"/>
            <a:ext cx="2267712" cy="2267712"/>
          </a:xfrm>
          <a:prstGeom prst="ellipse">
            <a:avLst/>
          </a:prstGeom>
          <a:noFill/>
          <a:ln w="6350">
            <a:solidFill>
              <a:srgbClr val="4E411E"/>
            </a:solidFill>
          </a:ln>
        </p:spPr>
        <p:txBody>
          <a:bodyPr rtlCol="0" anchor="ctr"/>
          <a:lstStyle/>
          <a:p/>
        </p:txBody>
      </p:sp>
      <p:sp>
        <p:nvSpPr>
          <p:cNvPr id="52" name="Oval 51"/>
          <p:cNvSpPr/>
          <p:nvPr/>
        </p:nvSpPr>
        <p:spPr>
          <a:xfrm>
            <a:off x="6013551" y="1197863"/>
            <a:ext cx="164592" cy="164592"/>
          </a:xfrm>
          <a:prstGeom prst="ellipse">
            <a:avLst/>
          </a:prstGeom>
          <a:solidFill>
            <a:srgbClr val="1A1309"/>
          </a:solidFill>
          <a:ln w="19050">
            <a:solidFill>
              <a:srgbClr val="F0D58A"/>
            </a:solidFill>
          </a:ln>
        </p:spPr>
        <p:txBody>
          <a:bodyPr rtlCol="0" anchor="ctr"/>
          <a:lstStyle/>
          <a:p/>
        </p:txBody>
      </p:sp>
      <p:sp>
        <p:nvSpPr>
          <p:cNvPr id="53" name="Oval 52"/>
          <p:cNvSpPr/>
          <p:nvPr/>
        </p:nvSpPr>
        <p:spPr>
          <a:xfrm>
            <a:off x="6835694" y="1593787"/>
            <a:ext cx="164592" cy="164592"/>
          </a:xfrm>
          <a:prstGeom prst="ellipse">
            <a:avLst/>
          </a:prstGeom>
          <a:solidFill>
            <a:srgbClr val="1A1309"/>
          </a:solidFill>
          <a:ln w="19050">
            <a:solidFill>
              <a:srgbClr val="F0D58A"/>
            </a:solidFill>
          </a:ln>
        </p:spPr>
        <p:txBody>
          <a:bodyPr rtlCol="0" anchor="ctr"/>
          <a:lstStyle/>
          <a:p/>
        </p:txBody>
      </p:sp>
      <p:sp>
        <p:nvSpPr>
          <p:cNvPr id="54" name="Oval 53"/>
          <p:cNvSpPr/>
          <p:nvPr/>
        </p:nvSpPr>
        <p:spPr>
          <a:xfrm>
            <a:off x="7038746" y="2483418"/>
            <a:ext cx="164592" cy="164592"/>
          </a:xfrm>
          <a:prstGeom prst="ellipse">
            <a:avLst/>
          </a:prstGeom>
          <a:solidFill>
            <a:srgbClr val="1A1309"/>
          </a:solidFill>
          <a:ln w="19050">
            <a:solidFill>
              <a:srgbClr val="F0D58A"/>
            </a:solidFill>
          </a:ln>
        </p:spPr>
        <p:txBody>
          <a:bodyPr rtlCol="0" anchor="ctr"/>
          <a:lstStyle/>
          <a:p/>
        </p:txBody>
      </p:sp>
      <p:sp>
        <p:nvSpPr>
          <p:cNvPr id="55" name="Oval 54"/>
          <p:cNvSpPr/>
          <p:nvPr/>
        </p:nvSpPr>
        <p:spPr>
          <a:xfrm>
            <a:off x="6469806" y="3196846"/>
            <a:ext cx="164592" cy="164592"/>
          </a:xfrm>
          <a:prstGeom prst="ellipse">
            <a:avLst/>
          </a:prstGeom>
          <a:solidFill>
            <a:srgbClr val="1A1309"/>
          </a:solidFill>
          <a:ln w="19050">
            <a:solidFill>
              <a:srgbClr val="F0D58A"/>
            </a:solidFill>
          </a:ln>
        </p:spPr>
        <p:txBody>
          <a:bodyPr rtlCol="0" anchor="ctr"/>
          <a:lstStyle/>
          <a:p/>
        </p:txBody>
      </p:sp>
      <p:sp>
        <p:nvSpPr>
          <p:cNvPr id="56" name="Oval 55"/>
          <p:cNvSpPr/>
          <p:nvPr/>
        </p:nvSpPr>
        <p:spPr>
          <a:xfrm>
            <a:off x="5557296" y="3196846"/>
            <a:ext cx="164592" cy="164592"/>
          </a:xfrm>
          <a:prstGeom prst="ellipse">
            <a:avLst/>
          </a:prstGeom>
          <a:solidFill>
            <a:srgbClr val="1A1309"/>
          </a:solidFill>
          <a:ln w="19050">
            <a:solidFill>
              <a:srgbClr val="F0D58A"/>
            </a:solidFill>
          </a:ln>
        </p:spPr>
        <p:txBody>
          <a:bodyPr rtlCol="0" anchor="ctr"/>
          <a:lstStyle/>
          <a:p/>
        </p:txBody>
      </p:sp>
      <p:sp>
        <p:nvSpPr>
          <p:cNvPr id="57" name="Oval 56"/>
          <p:cNvSpPr/>
          <p:nvPr/>
        </p:nvSpPr>
        <p:spPr>
          <a:xfrm>
            <a:off x="4988356" y="2483418"/>
            <a:ext cx="164592" cy="164592"/>
          </a:xfrm>
          <a:prstGeom prst="ellipse">
            <a:avLst/>
          </a:prstGeom>
          <a:solidFill>
            <a:srgbClr val="1A1309"/>
          </a:solidFill>
          <a:ln w="19050">
            <a:solidFill>
              <a:srgbClr val="F0D58A"/>
            </a:solidFill>
          </a:ln>
        </p:spPr>
        <p:txBody>
          <a:bodyPr rtlCol="0" anchor="ctr"/>
          <a:lstStyle/>
          <a:p/>
        </p:txBody>
      </p:sp>
      <p:sp>
        <p:nvSpPr>
          <p:cNvPr id="58" name="Oval 57"/>
          <p:cNvSpPr/>
          <p:nvPr/>
        </p:nvSpPr>
        <p:spPr>
          <a:xfrm>
            <a:off x="5191408" y="1593787"/>
            <a:ext cx="164592" cy="164592"/>
          </a:xfrm>
          <a:prstGeom prst="ellipse">
            <a:avLst/>
          </a:prstGeom>
          <a:solidFill>
            <a:srgbClr val="1A1309"/>
          </a:solidFill>
          <a:ln w="19050">
            <a:solidFill>
              <a:srgbClr val="F0D58A"/>
            </a:solidFill>
          </a:ln>
        </p:spPr>
        <p:txBody>
          <a:bodyPr rtlCol="0" anchor="ctr"/>
          <a:lstStyle/>
          <a:p/>
        </p:txBody>
      </p:sp>
      <p:sp>
        <p:nvSpPr>
          <p:cNvPr id="59" name="Oval 58"/>
          <p:cNvSpPr/>
          <p:nvPr/>
        </p:nvSpPr>
        <p:spPr>
          <a:xfrm>
            <a:off x="5437479" y="1673351"/>
            <a:ext cx="1316736" cy="1316736"/>
          </a:xfrm>
          <a:prstGeom prst="ellipse">
            <a:avLst/>
          </a:prstGeom>
          <a:solidFill>
            <a:srgbClr val="1A1309"/>
          </a:solidFill>
          <a:ln w="25400">
            <a:solidFill>
              <a:srgbClr val="F0D58A"/>
            </a:solidFill>
          </a:ln>
        </p:spPr>
        <p:txBody>
          <a:bodyPr rtlCol="0" anchor="ctr"/>
          <a:lstStyle/>
          <a:p/>
        </p:txBody>
      </p:sp>
      <p:sp>
        <p:nvSpPr>
          <p:cNvPr id="60" name="Oval 59"/>
          <p:cNvSpPr/>
          <p:nvPr/>
        </p:nvSpPr>
        <p:spPr>
          <a:xfrm>
            <a:off x="5492343" y="1728216"/>
            <a:ext cx="1207007" cy="1207007"/>
          </a:xfrm>
          <a:prstGeom prst="ellipse">
            <a:avLst/>
          </a:prstGeom>
          <a:noFill/>
          <a:ln w="9525">
            <a:solidFill>
              <a:srgbClr val="7D6830"/>
            </a:solidFill>
          </a:ln>
        </p:spPr>
        <p:txBody>
          <a:bodyPr rtlCol="0" anchor="ctr"/>
          <a:lstStyle/>
          <a:p/>
        </p:txBody>
      </p:sp>
      <p:sp>
        <p:nvSpPr>
          <p:cNvPr id="61" name="TextBox 60"/>
          <p:cNvSpPr txBox="1"/>
          <p:nvPr/>
        </p:nvSpPr>
        <p:spPr>
          <a:xfrm>
            <a:off x="5437479" y="1673351"/>
            <a:ext cx="1316736" cy="1316736"/>
          </a:xfrm>
          <a:prstGeom prst="rect">
            <a:avLst/>
          </a:prstGeom>
          <a:noFill/>
        </p:spPr>
        <p:txBody>
          <a:bodyPr wrap="square" lIns="0" rIns="0" tIns="0" bIns="0" anchor="ctr">
            <a:spAutoFit/>
          </a:bodyPr>
          <a:lstStyle/>
          <a:p>
            <a:pPr algn="ctr"/>
            <a:r>
              <a:rPr sz="4000" b="1" i="0">
                <a:solidFill>
                  <a:srgbClr val="F0D58A"/>
                </a:solidFill>
                <a:latin typeface="Cinzel"/>
              </a:rPr>
              <a:t>I</a:t>
            </a:r>
          </a:p>
        </p:txBody>
      </p:sp>
      <p:sp>
        <p:nvSpPr>
          <p:cNvPr id="62" name="TextBox 61"/>
          <p:cNvSpPr txBox="1"/>
          <p:nvPr/>
        </p:nvSpPr>
        <p:spPr>
          <a:xfrm>
            <a:off x="5181447" y="3703320"/>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SECRET #1</a:t>
            </a:r>
          </a:p>
        </p:txBody>
      </p:sp>
      <p:cxnSp>
        <p:nvCxnSpPr>
          <p:cNvPr id="63" name="Connector 62"/>
          <p:cNvCxnSpPr/>
          <p:nvPr/>
        </p:nvCxnSpPr>
        <p:spPr>
          <a:xfrm>
            <a:off x="3809847"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4" name="Diamond 63"/>
          <p:cNvSpPr/>
          <p:nvPr/>
        </p:nvSpPr>
        <p:spPr>
          <a:xfrm>
            <a:off x="3759555" y="3817620"/>
            <a:ext cx="100584" cy="100584"/>
          </a:xfrm>
          <a:prstGeom prst="diamond">
            <a:avLst/>
          </a:prstGeom>
          <a:solidFill>
            <a:srgbClr val="C9A84C"/>
          </a:solidFill>
          <a:ln>
            <a:noFill/>
          </a:ln>
        </p:spPr>
        <p:txBody>
          <a:bodyPr rtlCol="0" anchor="ctr"/>
          <a:lstStyle/>
          <a:p/>
        </p:txBody>
      </p:sp>
      <p:cxnSp>
        <p:nvCxnSpPr>
          <p:cNvPr id="65" name="Connector 64"/>
          <p:cNvCxnSpPr/>
          <p:nvPr/>
        </p:nvCxnSpPr>
        <p:spPr>
          <a:xfrm>
            <a:off x="7147407"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6" name="Diamond 65"/>
          <p:cNvSpPr/>
          <p:nvPr/>
        </p:nvSpPr>
        <p:spPr>
          <a:xfrm>
            <a:off x="8331555" y="3817620"/>
            <a:ext cx="100584" cy="100584"/>
          </a:xfrm>
          <a:prstGeom prst="diamond">
            <a:avLst/>
          </a:prstGeom>
          <a:solidFill>
            <a:srgbClr val="C9A84C"/>
          </a:solidFill>
          <a:ln>
            <a:noFill/>
          </a:ln>
        </p:spPr>
        <p:txBody>
          <a:bodyPr rtlCol="0" anchor="ctr"/>
          <a:lstStyle/>
          <a:p/>
        </p:txBody>
      </p:sp>
      <p:sp>
        <p:nvSpPr>
          <p:cNvPr id="67" name="TextBox 66"/>
          <p:cNvSpPr txBox="1"/>
          <p:nvPr/>
        </p:nvSpPr>
        <p:spPr>
          <a:xfrm>
            <a:off x="914400" y="4069080"/>
            <a:ext cx="10362895" cy="1097280"/>
          </a:xfrm>
          <a:prstGeom prst="rect">
            <a:avLst/>
          </a:prstGeom>
          <a:noFill/>
        </p:spPr>
        <p:txBody>
          <a:bodyPr wrap="square" lIns="0" rIns="0" tIns="0" bIns="0" anchor="ctr">
            <a:spAutoFit/>
          </a:bodyPr>
          <a:lstStyle/>
          <a:p>
            <a:pPr algn="ctr">
              <a:lnSpc>
                <a:spcPct val="105000"/>
              </a:lnSpc>
            </a:pPr>
            <a:r>
              <a:rPr sz="6000" b="1" i="0">
                <a:solidFill>
                  <a:srgbClr val="F0D58A"/>
                </a:solidFill>
                <a:latin typeface="Cinzel"/>
              </a:rPr>
              <a:t>The Order</a:t>
            </a:r>
          </a:p>
        </p:txBody>
      </p:sp>
      <p:sp>
        <p:nvSpPr>
          <p:cNvPr id="68" name="TextBox 67"/>
          <p:cNvSpPr txBox="1"/>
          <p:nvPr/>
        </p:nvSpPr>
        <p:spPr>
          <a:xfrm>
            <a:off x="1371600" y="5166360"/>
            <a:ext cx="9448495" cy="548640"/>
          </a:xfrm>
          <a:prstGeom prst="rect">
            <a:avLst/>
          </a:prstGeom>
          <a:noFill/>
        </p:spPr>
        <p:txBody>
          <a:bodyPr wrap="square" lIns="0" rIns="0" tIns="0" bIns="0" anchor="t">
            <a:spAutoFit/>
          </a:bodyPr>
          <a:lstStyle/>
          <a:p>
            <a:pPr algn="ctr">
              <a:lnSpc>
                <a:spcPct val="120000"/>
              </a:lnSpc>
            </a:pPr>
            <a:r>
              <a:rPr sz="2200" b="0" i="1">
                <a:solidFill>
                  <a:srgbClr val="B9A57A"/>
                </a:solidFill>
                <a:latin typeface="Montserrat"/>
              </a:rPr>
              <a:t>Why most people start in the middle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9172750" y="5379407"/>
            <a:ext cx="54864" cy="54864"/>
          </a:xfrm>
          <a:prstGeom prst="ellipse">
            <a:avLst/>
          </a:prstGeom>
          <a:solidFill>
            <a:srgbClr val="605437"/>
          </a:solidFill>
          <a:ln>
            <a:noFill/>
          </a:ln>
        </p:spPr>
        <p:txBody>
          <a:bodyPr rtlCol="0" anchor="ctr"/>
          <a:lstStyle/>
          <a:p/>
        </p:txBody>
      </p:sp>
      <p:sp>
        <p:nvSpPr>
          <p:cNvPr id="4" name="Oval 3"/>
          <p:cNvSpPr/>
          <p:nvPr/>
        </p:nvSpPr>
        <p:spPr>
          <a:xfrm>
            <a:off x="7659723" y="617721"/>
            <a:ext cx="45720" cy="45720"/>
          </a:xfrm>
          <a:prstGeom prst="ellipse">
            <a:avLst/>
          </a:prstGeom>
          <a:solidFill>
            <a:srgbClr val="472F14"/>
          </a:solidFill>
          <a:ln>
            <a:noFill/>
          </a:ln>
        </p:spPr>
        <p:txBody>
          <a:bodyPr rtlCol="0" anchor="ctr"/>
          <a:lstStyle/>
          <a:p/>
        </p:txBody>
      </p:sp>
      <p:sp>
        <p:nvSpPr>
          <p:cNvPr id="5" name="Oval 4"/>
          <p:cNvSpPr/>
          <p:nvPr/>
        </p:nvSpPr>
        <p:spPr>
          <a:xfrm>
            <a:off x="5225792" y="3863651"/>
            <a:ext cx="73152" cy="73152"/>
          </a:xfrm>
          <a:prstGeom prst="ellipse">
            <a:avLst/>
          </a:prstGeom>
          <a:solidFill>
            <a:srgbClr val="8D7D51"/>
          </a:solidFill>
          <a:ln>
            <a:noFill/>
          </a:ln>
        </p:spPr>
        <p:txBody>
          <a:bodyPr rtlCol="0" anchor="ctr"/>
          <a:lstStyle/>
          <a:p/>
        </p:txBody>
      </p:sp>
      <p:sp>
        <p:nvSpPr>
          <p:cNvPr id="6" name="Oval 5"/>
          <p:cNvSpPr/>
          <p:nvPr/>
        </p:nvSpPr>
        <p:spPr>
          <a:xfrm>
            <a:off x="6237026" y="5087717"/>
            <a:ext cx="36576" cy="36576"/>
          </a:xfrm>
          <a:prstGeom prst="ellipse">
            <a:avLst/>
          </a:prstGeom>
          <a:solidFill>
            <a:srgbClr val="5C4C24"/>
          </a:solidFill>
          <a:ln>
            <a:noFill/>
          </a:ln>
        </p:spPr>
        <p:txBody>
          <a:bodyPr rtlCol="0" anchor="ctr"/>
          <a:lstStyle/>
          <a:p/>
        </p:txBody>
      </p:sp>
      <p:sp>
        <p:nvSpPr>
          <p:cNvPr id="7" name="Oval 6"/>
          <p:cNvSpPr/>
          <p:nvPr/>
        </p:nvSpPr>
        <p:spPr>
          <a:xfrm>
            <a:off x="6654940" y="3419242"/>
            <a:ext cx="36576" cy="36576"/>
          </a:xfrm>
          <a:prstGeom prst="ellipse">
            <a:avLst/>
          </a:prstGeom>
          <a:solidFill>
            <a:srgbClr val="463A1C"/>
          </a:solidFill>
          <a:ln>
            <a:noFill/>
          </a:ln>
        </p:spPr>
        <p:txBody>
          <a:bodyPr rtlCol="0" anchor="ctr"/>
          <a:lstStyle/>
          <a:p/>
        </p:txBody>
      </p:sp>
      <p:sp>
        <p:nvSpPr>
          <p:cNvPr id="8" name="Oval 7"/>
          <p:cNvSpPr/>
          <p:nvPr/>
        </p:nvSpPr>
        <p:spPr>
          <a:xfrm>
            <a:off x="7248175" y="2483435"/>
            <a:ext cx="27432" cy="27432"/>
          </a:xfrm>
          <a:prstGeom prst="ellipse">
            <a:avLst/>
          </a:prstGeom>
          <a:solidFill>
            <a:srgbClr val="5A3B18"/>
          </a:solidFill>
          <a:ln>
            <a:noFill/>
          </a:ln>
        </p:spPr>
        <p:txBody>
          <a:bodyPr rtlCol="0" anchor="ctr"/>
          <a:lstStyle/>
          <a:p/>
        </p:txBody>
      </p:sp>
      <p:sp>
        <p:nvSpPr>
          <p:cNvPr id="9" name="Oval 8"/>
          <p:cNvSpPr/>
          <p:nvPr/>
        </p:nvSpPr>
        <p:spPr>
          <a:xfrm>
            <a:off x="7455471" y="796420"/>
            <a:ext cx="36576" cy="36576"/>
          </a:xfrm>
          <a:prstGeom prst="ellipse">
            <a:avLst/>
          </a:prstGeom>
          <a:solidFill>
            <a:srgbClr val="875823"/>
          </a:solidFill>
          <a:ln>
            <a:noFill/>
          </a:ln>
        </p:spPr>
        <p:txBody>
          <a:bodyPr rtlCol="0" anchor="ctr"/>
          <a:lstStyle/>
          <a:p/>
        </p:txBody>
      </p:sp>
      <p:sp>
        <p:nvSpPr>
          <p:cNvPr id="10" name="Oval 9"/>
          <p:cNvSpPr/>
          <p:nvPr/>
        </p:nvSpPr>
        <p:spPr>
          <a:xfrm>
            <a:off x="7651631" y="4700904"/>
            <a:ext cx="73152" cy="73152"/>
          </a:xfrm>
          <a:prstGeom prst="ellipse">
            <a:avLst/>
          </a:prstGeom>
          <a:solidFill>
            <a:srgbClr val="89794E"/>
          </a:solidFill>
          <a:ln>
            <a:noFill/>
          </a:ln>
        </p:spPr>
        <p:txBody>
          <a:bodyPr rtlCol="0" anchor="ctr"/>
          <a:lstStyle/>
          <a:p/>
        </p:txBody>
      </p:sp>
      <p:sp>
        <p:nvSpPr>
          <p:cNvPr id="11" name="Oval 10"/>
          <p:cNvSpPr/>
          <p:nvPr/>
        </p:nvSpPr>
        <p:spPr>
          <a:xfrm>
            <a:off x="9730766" y="1678199"/>
            <a:ext cx="27432" cy="27432"/>
          </a:xfrm>
          <a:prstGeom prst="ellipse">
            <a:avLst/>
          </a:prstGeom>
          <a:solidFill>
            <a:srgbClr val="AB6F2C"/>
          </a:solidFill>
          <a:ln>
            <a:noFill/>
          </a:ln>
        </p:spPr>
        <p:txBody>
          <a:bodyPr rtlCol="0" anchor="ctr"/>
          <a:lstStyle/>
          <a:p/>
        </p:txBody>
      </p:sp>
      <p:sp>
        <p:nvSpPr>
          <p:cNvPr id="12" name="Oval 11"/>
          <p:cNvSpPr/>
          <p:nvPr/>
        </p:nvSpPr>
        <p:spPr>
          <a:xfrm>
            <a:off x="5357368" y="3302705"/>
            <a:ext cx="54864" cy="54864"/>
          </a:xfrm>
          <a:prstGeom prst="ellipse">
            <a:avLst/>
          </a:prstGeom>
          <a:solidFill>
            <a:srgbClr val="7F6A31"/>
          </a:solidFill>
          <a:ln>
            <a:noFill/>
          </a:ln>
        </p:spPr>
        <p:txBody>
          <a:bodyPr rtlCol="0" anchor="ctr"/>
          <a:lstStyle/>
          <a:p/>
        </p:txBody>
      </p:sp>
      <p:sp>
        <p:nvSpPr>
          <p:cNvPr id="13" name="Oval 12"/>
          <p:cNvSpPr/>
          <p:nvPr/>
        </p:nvSpPr>
        <p:spPr>
          <a:xfrm>
            <a:off x="1025972" y="5217737"/>
            <a:ext cx="54864" cy="54864"/>
          </a:xfrm>
          <a:prstGeom prst="ellipse">
            <a:avLst/>
          </a:prstGeom>
          <a:solidFill>
            <a:srgbClr val="573918"/>
          </a:solidFill>
          <a:ln>
            <a:noFill/>
          </a:ln>
        </p:spPr>
        <p:txBody>
          <a:bodyPr rtlCol="0" anchor="ctr"/>
          <a:lstStyle/>
          <a:p/>
        </p:txBody>
      </p:sp>
      <p:sp>
        <p:nvSpPr>
          <p:cNvPr id="14" name="Oval 13"/>
          <p:cNvSpPr/>
          <p:nvPr/>
        </p:nvSpPr>
        <p:spPr>
          <a:xfrm>
            <a:off x="9878733" y="2605384"/>
            <a:ext cx="54864" cy="54864"/>
          </a:xfrm>
          <a:prstGeom prst="ellipse">
            <a:avLst/>
          </a:prstGeom>
          <a:solidFill>
            <a:srgbClr val="452E14"/>
          </a:solidFill>
          <a:ln>
            <a:noFill/>
          </a:ln>
        </p:spPr>
        <p:txBody>
          <a:bodyPr rtlCol="0" anchor="ctr"/>
          <a:lstStyle/>
          <a:p/>
        </p:txBody>
      </p:sp>
      <p:sp>
        <p:nvSpPr>
          <p:cNvPr id="15" name="Oval 14"/>
          <p:cNvSpPr/>
          <p:nvPr/>
        </p:nvSpPr>
        <p:spPr>
          <a:xfrm>
            <a:off x="5284533" y="3790618"/>
            <a:ext cx="36576" cy="36576"/>
          </a:xfrm>
          <a:prstGeom prst="ellipse">
            <a:avLst/>
          </a:prstGeom>
          <a:solidFill>
            <a:srgbClr val="AE9A64"/>
          </a:solidFill>
          <a:ln>
            <a:noFill/>
          </a:ln>
        </p:spPr>
        <p:txBody>
          <a:bodyPr rtlCol="0" anchor="ctr"/>
          <a:lstStyle/>
          <a:p/>
        </p:txBody>
      </p:sp>
      <p:sp>
        <p:nvSpPr>
          <p:cNvPr id="16" name="Oval 15"/>
          <p:cNvSpPr/>
          <p:nvPr/>
        </p:nvSpPr>
        <p:spPr>
          <a:xfrm>
            <a:off x="1427242" y="4434150"/>
            <a:ext cx="27432" cy="27432"/>
          </a:xfrm>
          <a:prstGeom prst="ellipse">
            <a:avLst/>
          </a:prstGeom>
          <a:solidFill>
            <a:srgbClr val="8A7335"/>
          </a:solidFill>
          <a:ln>
            <a:noFill/>
          </a:ln>
        </p:spPr>
        <p:txBody>
          <a:bodyPr rtlCol="0" anchor="ctr"/>
          <a:lstStyle/>
          <a:p/>
        </p:txBody>
      </p:sp>
      <p:sp>
        <p:nvSpPr>
          <p:cNvPr id="17" name="Oval 16"/>
          <p:cNvSpPr/>
          <p:nvPr/>
        </p:nvSpPr>
        <p:spPr>
          <a:xfrm>
            <a:off x="10965746" y="5620174"/>
            <a:ext cx="36576" cy="36576"/>
          </a:xfrm>
          <a:prstGeom prst="ellipse">
            <a:avLst/>
          </a:prstGeom>
          <a:solidFill>
            <a:srgbClr val="5C3D19"/>
          </a:solidFill>
          <a:ln>
            <a:noFill/>
          </a:ln>
        </p:spPr>
        <p:txBody>
          <a:bodyPr rtlCol="0" anchor="ctr"/>
          <a:lstStyle/>
          <a:p/>
        </p:txBody>
      </p:sp>
      <p:sp>
        <p:nvSpPr>
          <p:cNvPr id="18" name="Oval 17"/>
          <p:cNvSpPr/>
          <p:nvPr/>
        </p:nvSpPr>
        <p:spPr>
          <a:xfrm>
            <a:off x="10638215" y="5060576"/>
            <a:ext cx="73152" cy="73152"/>
          </a:xfrm>
          <a:prstGeom prst="ellipse">
            <a:avLst/>
          </a:prstGeom>
          <a:solidFill>
            <a:srgbClr val="6A5829"/>
          </a:solidFill>
          <a:ln>
            <a:noFill/>
          </a:ln>
        </p:spPr>
        <p:txBody>
          <a:bodyPr rtlCol="0" anchor="ctr"/>
          <a:lstStyle/>
          <a:p/>
        </p:txBody>
      </p:sp>
      <p:sp>
        <p:nvSpPr>
          <p:cNvPr id="19" name="Oval 18"/>
          <p:cNvSpPr/>
          <p:nvPr/>
        </p:nvSpPr>
        <p:spPr>
          <a:xfrm>
            <a:off x="4522737" y="3315044"/>
            <a:ext cx="45720" cy="45720"/>
          </a:xfrm>
          <a:prstGeom prst="ellipse">
            <a:avLst/>
          </a:prstGeom>
          <a:solidFill>
            <a:srgbClr val="956126"/>
          </a:solidFill>
          <a:ln>
            <a:noFill/>
          </a:ln>
        </p:spPr>
        <p:txBody>
          <a:bodyPr rtlCol="0" anchor="ctr"/>
          <a:lstStyle/>
          <a:p/>
        </p:txBody>
      </p:sp>
      <p:sp>
        <p:nvSpPr>
          <p:cNvPr id="20" name="Oval 19"/>
          <p:cNvSpPr/>
          <p:nvPr/>
        </p:nvSpPr>
        <p:spPr>
          <a:xfrm>
            <a:off x="4676632" y="3350799"/>
            <a:ext cx="54864" cy="54864"/>
          </a:xfrm>
          <a:prstGeom prst="ellipse">
            <a:avLst/>
          </a:prstGeom>
          <a:solidFill>
            <a:srgbClr val="B29D66"/>
          </a:solidFill>
          <a:ln>
            <a:noFill/>
          </a:ln>
        </p:spPr>
        <p:txBody>
          <a:bodyPr rtlCol="0" anchor="ctr"/>
          <a:lstStyle/>
          <a:p/>
        </p:txBody>
      </p:sp>
      <p:sp>
        <p:nvSpPr>
          <p:cNvPr id="21" name="Oval 20"/>
          <p:cNvSpPr/>
          <p:nvPr/>
        </p:nvSpPr>
        <p:spPr>
          <a:xfrm>
            <a:off x="5147654" y="5152715"/>
            <a:ext cx="45720" cy="45720"/>
          </a:xfrm>
          <a:prstGeom prst="ellipse">
            <a:avLst/>
          </a:prstGeom>
          <a:solidFill>
            <a:srgbClr val="A0863D"/>
          </a:solidFill>
          <a:ln>
            <a:noFill/>
          </a:ln>
        </p:spPr>
        <p:txBody>
          <a:bodyPr rtlCol="0" anchor="ctr"/>
          <a:lstStyle/>
          <a:p/>
        </p:txBody>
      </p:sp>
      <p:sp>
        <p:nvSpPr>
          <p:cNvPr id="22" name="Oval 21"/>
          <p:cNvSpPr/>
          <p:nvPr/>
        </p:nvSpPr>
        <p:spPr>
          <a:xfrm>
            <a:off x="10829922" y="3766703"/>
            <a:ext cx="73152" cy="73152"/>
          </a:xfrm>
          <a:prstGeom prst="ellipse">
            <a:avLst/>
          </a:prstGeom>
          <a:solidFill>
            <a:srgbClr val="A3905D"/>
          </a:solidFill>
          <a:ln>
            <a:noFill/>
          </a:ln>
        </p:spPr>
        <p:txBody>
          <a:bodyPr rtlCol="0" anchor="ctr"/>
          <a:lstStyle/>
          <a:p/>
        </p:txBody>
      </p:sp>
      <p:sp>
        <p:nvSpPr>
          <p:cNvPr id="23" name="Oval 22"/>
          <p:cNvSpPr/>
          <p:nvPr/>
        </p:nvSpPr>
        <p:spPr>
          <a:xfrm>
            <a:off x="6272214" y="4772867"/>
            <a:ext cx="45720" cy="45720"/>
          </a:xfrm>
          <a:prstGeom prst="ellipse">
            <a:avLst/>
          </a:prstGeom>
          <a:solidFill>
            <a:srgbClr val="8B5A24"/>
          </a:solidFill>
          <a:ln>
            <a:noFill/>
          </a:ln>
        </p:spPr>
        <p:txBody>
          <a:bodyPr rtlCol="0" anchor="ctr"/>
          <a:lstStyle/>
          <a:p/>
        </p:txBody>
      </p:sp>
      <p:sp>
        <p:nvSpPr>
          <p:cNvPr id="24" name="Oval 23"/>
          <p:cNvSpPr/>
          <p:nvPr/>
        </p:nvSpPr>
        <p:spPr>
          <a:xfrm>
            <a:off x="1078153" y="5190703"/>
            <a:ext cx="27432" cy="27432"/>
          </a:xfrm>
          <a:prstGeom prst="ellipse">
            <a:avLst/>
          </a:prstGeom>
          <a:solidFill>
            <a:srgbClr val="957C39"/>
          </a:solidFill>
          <a:ln>
            <a:noFill/>
          </a:ln>
        </p:spPr>
        <p:txBody>
          <a:bodyPr rtlCol="0" anchor="ctr"/>
          <a:lstStyle/>
          <a:p/>
        </p:txBody>
      </p:sp>
      <p:sp>
        <p:nvSpPr>
          <p:cNvPr id="25" name="Oval 24"/>
          <p:cNvSpPr/>
          <p:nvPr/>
        </p:nvSpPr>
        <p:spPr>
          <a:xfrm>
            <a:off x="10706415" y="1398967"/>
            <a:ext cx="45720" cy="45720"/>
          </a:xfrm>
          <a:prstGeom prst="ellipse">
            <a:avLst/>
          </a:prstGeom>
          <a:solidFill>
            <a:srgbClr val="4C3215"/>
          </a:solidFill>
          <a:ln>
            <a:noFill/>
          </a:ln>
        </p:spPr>
        <p:txBody>
          <a:bodyPr rtlCol="0" anchor="ctr"/>
          <a:lstStyle/>
          <a:p/>
        </p:txBody>
      </p:sp>
      <p:sp>
        <p:nvSpPr>
          <p:cNvPr id="26" name="Oval 25"/>
          <p:cNvSpPr/>
          <p:nvPr/>
        </p:nvSpPr>
        <p:spPr>
          <a:xfrm>
            <a:off x="8056642" y="3922252"/>
            <a:ext cx="54864" cy="54864"/>
          </a:xfrm>
          <a:prstGeom prst="ellipse">
            <a:avLst/>
          </a:prstGeom>
          <a:solidFill>
            <a:srgbClr val="4B3E1D"/>
          </a:solidFill>
          <a:ln>
            <a:noFill/>
          </a:ln>
        </p:spPr>
        <p:txBody>
          <a:bodyPr rtlCol="0" anchor="ctr"/>
          <a:lstStyle/>
          <a:p/>
        </p:txBody>
      </p:sp>
      <p:sp>
        <p:nvSpPr>
          <p:cNvPr id="27" name="Oval 26"/>
          <p:cNvSpPr/>
          <p:nvPr/>
        </p:nvSpPr>
        <p:spPr>
          <a:xfrm>
            <a:off x="1820526" y="6086948"/>
            <a:ext cx="45720" cy="45720"/>
          </a:xfrm>
          <a:prstGeom prst="ellipse">
            <a:avLst/>
          </a:prstGeom>
          <a:solidFill>
            <a:srgbClr val="45391B"/>
          </a:solidFill>
          <a:ln>
            <a:noFill/>
          </a:ln>
        </p:spPr>
        <p:txBody>
          <a:bodyPr rtlCol="0" anchor="ctr"/>
          <a:lstStyle/>
          <a:p/>
        </p:txBody>
      </p:sp>
      <p:sp>
        <p:nvSpPr>
          <p:cNvPr id="28" name="Oval 27"/>
          <p:cNvSpPr/>
          <p:nvPr/>
        </p:nvSpPr>
        <p:spPr>
          <a:xfrm>
            <a:off x="2850863" y="3645813"/>
            <a:ext cx="73152" cy="73152"/>
          </a:xfrm>
          <a:prstGeom prst="ellipse">
            <a:avLst/>
          </a:prstGeom>
          <a:solidFill>
            <a:srgbClr val="987F3A"/>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971135" y="1275778"/>
            <a:ext cx="2249424" cy="329184"/>
          </a:xfrm>
          <a:prstGeom prst="rect">
            <a:avLst/>
          </a:prstGeom>
          <a:noFill/>
        </p:spPr>
        <p:txBody>
          <a:bodyPr wrap="square" lIns="0" rIns="0" tIns="0" bIns="0" anchor="ctr">
            <a:spAutoFit/>
          </a:bodyPr>
          <a:lstStyle/>
          <a:p>
            <a:pPr algn="ctr"/>
            <a:r>
              <a:rPr sz="1300" b="1" i="0" spc="400">
                <a:solidFill>
                  <a:srgbClr val="C9A84C"/>
                </a:solidFill>
                <a:latin typeface="Montserrat"/>
              </a:rPr>
              <a:t>THE TUTORIAL</a:t>
            </a:r>
          </a:p>
        </p:txBody>
      </p:sp>
      <p:cxnSp>
        <p:nvCxnSpPr>
          <p:cNvPr id="50" name="Connector 49"/>
          <p:cNvCxnSpPr/>
          <p:nvPr/>
        </p:nvCxnSpPr>
        <p:spPr>
          <a:xfrm>
            <a:off x="3599535" y="144037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549243" y="1390078"/>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357719" y="144037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541867" y="1390078"/>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668970"/>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Pre-quest readiness</a:t>
            </a:r>
          </a:p>
        </p:txBody>
      </p:sp>
      <p:sp>
        <p:nvSpPr>
          <p:cNvPr id="55" name="Rounded Rectangle 54"/>
          <p:cNvSpPr/>
          <p:nvPr/>
        </p:nvSpPr>
        <p:spPr>
          <a:xfrm>
            <a:off x="914400" y="2476690"/>
            <a:ext cx="3240938" cy="2822066"/>
          </a:xfrm>
          <a:prstGeom prst="roundRect">
            <a:avLst>
              <a:gd name="adj" fmla="val 6000"/>
            </a:avLst>
          </a:prstGeom>
          <a:solidFill>
            <a:srgbClr val="100D07"/>
          </a:solidFill>
          <a:ln w="15875">
            <a:solidFill>
              <a:srgbClr val="877034"/>
            </a:solidFill>
          </a:ln>
        </p:spPr>
        <p:txBody>
          <a:bodyPr rtlCol="0" anchor="ctr"/>
          <a:lstStyle/>
          <a:p/>
        </p:txBody>
      </p:sp>
      <p:sp>
        <p:nvSpPr>
          <p:cNvPr id="56" name="Oval 55"/>
          <p:cNvSpPr/>
          <p:nvPr/>
        </p:nvSpPr>
        <p:spPr>
          <a:xfrm>
            <a:off x="2223973" y="2723578"/>
            <a:ext cx="621792" cy="621792"/>
          </a:xfrm>
          <a:prstGeom prst="ellipse">
            <a:avLst/>
          </a:prstGeom>
          <a:solidFill>
            <a:srgbClr val="1A1309"/>
          </a:solidFill>
          <a:ln w="25400">
            <a:solidFill>
              <a:srgbClr val="F0D58A"/>
            </a:solidFill>
          </a:ln>
        </p:spPr>
        <p:txBody>
          <a:bodyPr rtlCol="0" anchor="ctr"/>
          <a:lstStyle/>
          <a:p/>
        </p:txBody>
      </p:sp>
      <p:sp>
        <p:nvSpPr>
          <p:cNvPr id="57" name="Oval 56"/>
          <p:cNvSpPr/>
          <p:nvPr/>
        </p:nvSpPr>
        <p:spPr>
          <a:xfrm>
            <a:off x="2278837" y="2778442"/>
            <a:ext cx="512064" cy="512064"/>
          </a:xfrm>
          <a:prstGeom prst="ellipse">
            <a:avLst/>
          </a:prstGeom>
          <a:noFill/>
          <a:ln w="9525">
            <a:solidFill>
              <a:srgbClr val="7D6830"/>
            </a:solidFill>
          </a:ln>
        </p:spPr>
        <p:txBody>
          <a:bodyPr rtlCol="0" anchor="ctr"/>
          <a:lstStyle/>
          <a:p/>
        </p:txBody>
      </p:sp>
      <p:sp>
        <p:nvSpPr>
          <p:cNvPr id="58" name="TextBox 57"/>
          <p:cNvSpPr txBox="1"/>
          <p:nvPr/>
        </p:nvSpPr>
        <p:spPr>
          <a:xfrm>
            <a:off x="2223973" y="2723578"/>
            <a:ext cx="621792" cy="621792"/>
          </a:xfrm>
          <a:prstGeom prst="rect">
            <a:avLst/>
          </a:prstGeom>
          <a:noFill/>
        </p:spPr>
        <p:txBody>
          <a:bodyPr wrap="square" lIns="0" rIns="0" tIns="0" bIns="0" anchor="ctr">
            <a:spAutoFit/>
          </a:bodyPr>
          <a:lstStyle/>
          <a:p>
            <a:pPr algn="ctr"/>
            <a:r>
              <a:rPr sz="1900" b="1" i="0">
                <a:solidFill>
                  <a:srgbClr val="F0D58A"/>
                </a:solidFill>
                <a:latin typeface="Cinzel"/>
              </a:rPr>
              <a:t>◈</a:t>
            </a:r>
          </a:p>
        </p:txBody>
      </p:sp>
      <p:sp>
        <p:nvSpPr>
          <p:cNvPr id="59" name="TextBox 58"/>
          <p:cNvSpPr txBox="1"/>
          <p:nvPr/>
        </p:nvSpPr>
        <p:spPr>
          <a:xfrm>
            <a:off x="1097280" y="357397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Mindset</a:t>
            </a:r>
          </a:p>
        </p:txBody>
      </p:sp>
      <p:sp>
        <p:nvSpPr>
          <p:cNvPr id="60" name="TextBox 59"/>
          <p:cNvSpPr txBox="1"/>
          <p:nvPr/>
        </p:nvSpPr>
        <p:spPr>
          <a:xfrm>
            <a:off x="1143000" y="403688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Your why — the reason you keep going when you get tested</a:t>
            </a:r>
          </a:p>
        </p:txBody>
      </p:sp>
      <p:sp>
        <p:nvSpPr>
          <p:cNvPr id="61" name="Rounded Rectangle 60"/>
          <p:cNvSpPr/>
          <p:nvPr/>
        </p:nvSpPr>
        <p:spPr>
          <a:xfrm>
            <a:off x="4475378" y="2476690"/>
            <a:ext cx="3240938" cy="2822066"/>
          </a:xfrm>
          <a:prstGeom prst="roundRect">
            <a:avLst>
              <a:gd name="adj" fmla="val 6000"/>
            </a:avLst>
          </a:prstGeom>
          <a:solidFill>
            <a:srgbClr val="100D07"/>
          </a:solidFill>
          <a:ln w="15875">
            <a:solidFill>
              <a:srgbClr val="877034"/>
            </a:solidFill>
          </a:ln>
        </p:spPr>
        <p:txBody>
          <a:bodyPr rtlCol="0" anchor="ctr"/>
          <a:lstStyle/>
          <a:p/>
        </p:txBody>
      </p:sp>
      <p:sp>
        <p:nvSpPr>
          <p:cNvPr id="62" name="Oval 61"/>
          <p:cNvSpPr/>
          <p:nvPr/>
        </p:nvSpPr>
        <p:spPr>
          <a:xfrm>
            <a:off x="5784951" y="2723578"/>
            <a:ext cx="621792" cy="621792"/>
          </a:xfrm>
          <a:prstGeom prst="ellipse">
            <a:avLst/>
          </a:prstGeom>
          <a:solidFill>
            <a:srgbClr val="1A1309"/>
          </a:solidFill>
          <a:ln w="25400">
            <a:solidFill>
              <a:srgbClr val="F0D58A"/>
            </a:solidFill>
          </a:ln>
        </p:spPr>
        <p:txBody>
          <a:bodyPr rtlCol="0" anchor="ctr"/>
          <a:lstStyle/>
          <a:p/>
        </p:txBody>
      </p:sp>
      <p:sp>
        <p:nvSpPr>
          <p:cNvPr id="63" name="Oval 62"/>
          <p:cNvSpPr/>
          <p:nvPr/>
        </p:nvSpPr>
        <p:spPr>
          <a:xfrm>
            <a:off x="5839815" y="2778442"/>
            <a:ext cx="512064" cy="512064"/>
          </a:xfrm>
          <a:prstGeom prst="ellipse">
            <a:avLst/>
          </a:prstGeom>
          <a:noFill/>
          <a:ln w="9525">
            <a:solidFill>
              <a:srgbClr val="7D6830"/>
            </a:solidFill>
          </a:ln>
        </p:spPr>
        <p:txBody>
          <a:bodyPr rtlCol="0" anchor="ctr"/>
          <a:lstStyle/>
          <a:p/>
        </p:txBody>
      </p:sp>
      <p:sp>
        <p:nvSpPr>
          <p:cNvPr id="64" name="TextBox 63"/>
          <p:cNvSpPr txBox="1"/>
          <p:nvPr/>
        </p:nvSpPr>
        <p:spPr>
          <a:xfrm>
            <a:off x="5784951" y="2723578"/>
            <a:ext cx="621792" cy="621792"/>
          </a:xfrm>
          <a:prstGeom prst="rect">
            <a:avLst/>
          </a:prstGeom>
          <a:noFill/>
        </p:spPr>
        <p:txBody>
          <a:bodyPr wrap="square" lIns="0" rIns="0" tIns="0" bIns="0" anchor="ctr">
            <a:spAutoFit/>
          </a:bodyPr>
          <a:lstStyle/>
          <a:p>
            <a:pPr algn="ctr"/>
            <a:r>
              <a:rPr sz="1900" b="1" i="0">
                <a:solidFill>
                  <a:srgbClr val="F0D58A"/>
                </a:solidFill>
                <a:latin typeface="Cinzel"/>
              </a:rPr>
              <a:t>◈</a:t>
            </a:r>
          </a:p>
        </p:txBody>
      </p:sp>
      <p:sp>
        <p:nvSpPr>
          <p:cNvPr id="65" name="TextBox 64"/>
          <p:cNvSpPr txBox="1"/>
          <p:nvPr/>
        </p:nvSpPr>
        <p:spPr>
          <a:xfrm>
            <a:off x="4658258" y="357397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Cash Flow</a:t>
            </a:r>
          </a:p>
        </p:txBody>
      </p:sp>
      <p:sp>
        <p:nvSpPr>
          <p:cNvPr id="66" name="TextBox 65"/>
          <p:cNvSpPr txBox="1"/>
          <p:nvPr/>
        </p:nvSpPr>
        <p:spPr>
          <a:xfrm>
            <a:off x="4703978" y="403688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Track your income and expenses. Stop the leaks.</a:t>
            </a:r>
          </a:p>
        </p:txBody>
      </p:sp>
      <p:sp>
        <p:nvSpPr>
          <p:cNvPr id="67" name="Rounded Rectangle 66"/>
          <p:cNvSpPr/>
          <p:nvPr/>
        </p:nvSpPr>
        <p:spPr>
          <a:xfrm>
            <a:off x="8036356" y="2476690"/>
            <a:ext cx="3240938" cy="2822066"/>
          </a:xfrm>
          <a:prstGeom prst="roundRect">
            <a:avLst>
              <a:gd name="adj" fmla="val 6000"/>
            </a:avLst>
          </a:prstGeom>
          <a:solidFill>
            <a:srgbClr val="100D07"/>
          </a:solidFill>
          <a:ln w="15875">
            <a:solidFill>
              <a:srgbClr val="877034"/>
            </a:solidFill>
          </a:ln>
        </p:spPr>
        <p:txBody>
          <a:bodyPr rtlCol="0" anchor="ctr"/>
          <a:lstStyle/>
          <a:p/>
        </p:txBody>
      </p:sp>
      <p:sp>
        <p:nvSpPr>
          <p:cNvPr id="68" name="Oval 67"/>
          <p:cNvSpPr/>
          <p:nvPr/>
        </p:nvSpPr>
        <p:spPr>
          <a:xfrm>
            <a:off x="9345930" y="2723578"/>
            <a:ext cx="621792" cy="621792"/>
          </a:xfrm>
          <a:prstGeom prst="ellipse">
            <a:avLst/>
          </a:prstGeom>
          <a:solidFill>
            <a:srgbClr val="1A1309"/>
          </a:solidFill>
          <a:ln w="25400">
            <a:solidFill>
              <a:srgbClr val="F0D58A"/>
            </a:solidFill>
          </a:ln>
        </p:spPr>
        <p:txBody>
          <a:bodyPr rtlCol="0" anchor="ctr"/>
          <a:lstStyle/>
          <a:p/>
        </p:txBody>
      </p:sp>
      <p:sp>
        <p:nvSpPr>
          <p:cNvPr id="69" name="Oval 68"/>
          <p:cNvSpPr/>
          <p:nvPr/>
        </p:nvSpPr>
        <p:spPr>
          <a:xfrm>
            <a:off x="9400794" y="2778442"/>
            <a:ext cx="512064" cy="512064"/>
          </a:xfrm>
          <a:prstGeom prst="ellipse">
            <a:avLst/>
          </a:prstGeom>
          <a:noFill/>
          <a:ln w="9525">
            <a:solidFill>
              <a:srgbClr val="7D6830"/>
            </a:solidFill>
          </a:ln>
        </p:spPr>
        <p:txBody>
          <a:bodyPr rtlCol="0" anchor="ctr"/>
          <a:lstStyle/>
          <a:p/>
        </p:txBody>
      </p:sp>
      <p:sp>
        <p:nvSpPr>
          <p:cNvPr id="70" name="TextBox 69"/>
          <p:cNvSpPr txBox="1"/>
          <p:nvPr/>
        </p:nvSpPr>
        <p:spPr>
          <a:xfrm>
            <a:off x="9345930" y="2723578"/>
            <a:ext cx="621792" cy="621792"/>
          </a:xfrm>
          <a:prstGeom prst="rect">
            <a:avLst/>
          </a:prstGeom>
          <a:noFill/>
        </p:spPr>
        <p:txBody>
          <a:bodyPr wrap="square" lIns="0" rIns="0" tIns="0" bIns="0" anchor="ctr">
            <a:spAutoFit/>
          </a:bodyPr>
          <a:lstStyle/>
          <a:p>
            <a:pPr algn="ctr"/>
            <a:r>
              <a:rPr sz="1900" b="1" i="0">
                <a:solidFill>
                  <a:srgbClr val="F0D58A"/>
                </a:solidFill>
                <a:latin typeface="Cinzel"/>
              </a:rPr>
              <a:t>◈</a:t>
            </a:r>
          </a:p>
        </p:txBody>
      </p:sp>
      <p:sp>
        <p:nvSpPr>
          <p:cNvPr id="71" name="TextBox 70"/>
          <p:cNvSpPr txBox="1"/>
          <p:nvPr/>
        </p:nvSpPr>
        <p:spPr>
          <a:xfrm>
            <a:off x="8219236" y="357397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Risk Audit</a:t>
            </a:r>
          </a:p>
        </p:txBody>
      </p:sp>
      <p:sp>
        <p:nvSpPr>
          <p:cNvPr id="72" name="TextBox 71"/>
          <p:cNvSpPr txBox="1"/>
          <p:nvPr/>
        </p:nvSpPr>
        <p:spPr>
          <a:xfrm>
            <a:off x="8264956" y="403688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Earn the right to take calculated risks — don't skip to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146193" y="4009703"/>
            <a:ext cx="36576" cy="36576"/>
          </a:xfrm>
          <a:prstGeom prst="ellipse">
            <a:avLst/>
          </a:prstGeom>
          <a:solidFill>
            <a:srgbClr val="593B18"/>
          </a:solidFill>
          <a:ln>
            <a:noFill/>
          </a:ln>
        </p:spPr>
        <p:txBody>
          <a:bodyPr rtlCol="0" anchor="ctr"/>
          <a:lstStyle/>
          <a:p/>
        </p:txBody>
      </p:sp>
      <p:sp>
        <p:nvSpPr>
          <p:cNvPr id="4" name="Oval 3"/>
          <p:cNvSpPr/>
          <p:nvPr/>
        </p:nvSpPr>
        <p:spPr>
          <a:xfrm>
            <a:off x="8841628" y="5587957"/>
            <a:ext cx="27432" cy="27432"/>
          </a:xfrm>
          <a:prstGeom prst="ellipse">
            <a:avLst/>
          </a:prstGeom>
          <a:solidFill>
            <a:srgbClr val="625638"/>
          </a:solidFill>
          <a:ln>
            <a:noFill/>
          </a:ln>
        </p:spPr>
        <p:txBody>
          <a:bodyPr rtlCol="0" anchor="ctr"/>
          <a:lstStyle/>
          <a:p/>
        </p:txBody>
      </p:sp>
      <p:sp>
        <p:nvSpPr>
          <p:cNvPr id="5" name="Oval 4"/>
          <p:cNvSpPr/>
          <p:nvPr/>
        </p:nvSpPr>
        <p:spPr>
          <a:xfrm>
            <a:off x="4026734" y="3938709"/>
            <a:ext cx="27432" cy="27432"/>
          </a:xfrm>
          <a:prstGeom prst="ellipse">
            <a:avLst/>
          </a:prstGeom>
          <a:solidFill>
            <a:srgbClr val="826D32"/>
          </a:solidFill>
          <a:ln>
            <a:noFill/>
          </a:ln>
        </p:spPr>
        <p:txBody>
          <a:bodyPr rtlCol="0" anchor="ctr"/>
          <a:lstStyle/>
          <a:p/>
        </p:txBody>
      </p:sp>
      <p:sp>
        <p:nvSpPr>
          <p:cNvPr id="6" name="Oval 5"/>
          <p:cNvSpPr/>
          <p:nvPr/>
        </p:nvSpPr>
        <p:spPr>
          <a:xfrm>
            <a:off x="8480881" y="653669"/>
            <a:ext cx="54864" cy="54864"/>
          </a:xfrm>
          <a:prstGeom prst="ellipse">
            <a:avLst/>
          </a:prstGeom>
          <a:solidFill>
            <a:srgbClr val="8F7E52"/>
          </a:solidFill>
          <a:ln>
            <a:noFill/>
          </a:ln>
        </p:spPr>
        <p:txBody>
          <a:bodyPr rtlCol="0" anchor="ctr"/>
          <a:lstStyle/>
          <a:p/>
        </p:txBody>
      </p:sp>
      <p:sp>
        <p:nvSpPr>
          <p:cNvPr id="7" name="Oval 6"/>
          <p:cNvSpPr/>
          <p:nvPr/>
        </p:nvSpPr>
        <p:spPr>
          <a:xfrm>
            <a:off x="5196437" y="1438764"/>
            <a:ext cx="45720" cy="45720"/>
          </a:xfrm>
          <a:prstGeom prst="ellipse">
            <a:avLst/>
          </a:prstGeom>
          <a:solidFill>
            <a:srgbClr val="8E7D51"/>
          </a:solidFill>
          <a:ln>
            <a:noFill/>
          </a:ln>
        </p:spPr>
        <p:txBody>
          <a:bodyPr rtlCol="0" anchor="ctr"/>
          <a:lstStyle/>
          <a:p/>
        </p:txBody>
      </p:sp>
      <p:sp>
        <p:nvSpPr>
          <p:cNvPr id="8" name="Oval 7"/>
          <p:cNvSpPr/>
          <p:nvPr/>
        </p:nvSpPr>
        <p:spPr>
          <a:xfrm>
            <a:off x="1066800" y="2305951"/>
            <a:ext cx="73152" cy="73152"/>
          </a:xfrm>
          <a:prstGeom prst="ellipse">
            <a:avLst/>
          </a:prstGeom>
          <a:solidFill>
            <a:srgbClr val="62401A"/>
          </a:solidFill>
          <a:ln>
            <a:noFill/>
          </a:ln>
        </p:spPr>
        <p:txBody>
          <a:bodyPr rtlCol="0" anchor="ctr"/>
          <a:lstStyle/>
          <a:p/>
        </p:txBody>
      </p:sp>
      <p:sp>
        <p:nvSpPr>
          <p:cNvPr id="9" name="Oval 8"/>
          <p:cNvSpPr/>
          <p:nvPr/>
        </p:nvSpPr>
        <p:spPr>
          <a:xfrm>
            <a:off x="3946748" y="5008362"/>
            <a:ext cx="54864" cy="54864"/>
          </a:xfrm>
          <a:prstGeom prst="ellipse">
            <a:avLst/>
          </a:prstGeom>
          <a:solidFill>
            <a:srgbClr val="715E2B"/>
          </a:solidFill>
          <a:ln>
            <a:noFill/>
          </a:ln>
        </p:spPr>
        <p:txBody>
          <a:bodyPr rtlCol="0" anchor="ctr"/>
          <a:lstStyle/>
          <a:p/>
        </p:txBody>
      </p:sp>
      <p:sp>
        <p:nvSpPr>
          <p:cNvPr id="10" name="Oval 9"/>
          <p:cNvSpPr/>
          <p:nvPr/>
        </p:nvSpPr>
        <p:spPr>
          <a:xfrm>
            <a:off x="9822994" y="4333117"/>
            <a:ext cx="45720" cy="45720"/>
          </a:xfrm>
          <a:prstGeom prst="ellipse">
            <a:avLst/>
          </a:prstGeom>
          <a:solidFill>
            <a:srgbClr val="7B6C46"/>
          </a:solidFill>
          <a:ln>
            <a:noFill/>
          </a:ln>
        </p:spPr>
        <p:txBody>
          <a:bodyPr rtlCol="0" anchor="ctr"/>
          <a:lstStyle/>
          <a:p/>
        </p:txBody>
      </p:sp>
      <p:sp>
        <p:nvSpPr>
          <p:cNvPr id="11" name="Oval 10"/>
          <p:cNvSpPr/>
          <p:nvPr/>
        </p:nvSpPr>
        <p:spPr>
          <a:xfrm>
            <a:off x="6460471" y="557526"/>
            <a:ext cx="45720" cy="45720"/>
          </a:xfrm>
          <a:prstGeom prst="ellipse">
            <a:avLst/>
          </a:prstGeom>
          <a:solidFill>
            <a:srgbClr val="805421"/>
          </a:solidFill>
          <a:ln>
            <a:noFill/>
          </a:ln>
        </p:spPr>
        <p:txBody>
          <a:bodyPr rtlCol="0" anchor="ctr"/>
          <a:lstStyle/>
          <a:p/>
        </p:txBody>
      </p:sp>
      <p:sp>
        <p:nvSpPr>
          <p:cNvPr id="12" name="Oval 11"/>
          <p:cNvSpPr/>
          <p:nvPr/>
        </p:nvSpPr>
        <p:spPr>
          <a:xfrm>
            <a:off x="10476366" y="2726976"/>
            <a:ext cx="73152" cy="73152"/>
          </a:xfrm>
          <a:prstGeom prst="ellipse">
            <a:avLst/>
          </a:prstGeom>
          <a:solidFill>
            <a:srgbClr val="6C5E3D"/>
          </a:solidFill>
          <a:ln>
            <a:noFill/>
          </a:ln>
        </p:spPr>
        <p:txBody>
          <a:bodyPr rtlCol="0" anchor="ctr"/>
          <a:lstStyle/>
          <a:p/>
        </p:txBody>
      </p:sp>
      <p:sp>
        <p:nvSpPr>
          <p:cNvPr id="13" name="Oval 12"/>
          <p:cNvSpPr/>
          <p:nvPr/>
        </p:nvSpPr>
        <p:spPr>
          <a:xfrm>
            <a:off x="4917896" y="515557"/>
            <a:ext cx="45720" cy="45720"/>
          </a:xfrm>
          <a:prstGeom prst="ellipse">
            <a:avLst/>
          </a:prstGeom>
          <a:solidFill>
            <a:srgbClr val="79652E"/>
          </a:solidFill>
          <a:ln>
            <a:noFill/>
          </a:ln>
        </p:spPr>
        <p:txBody>
          <a:bodyPr rtlCol="0" anchor="ctr"/>
          <a:lstStyle/>
          <a:p/>
        </p:txBody>
      </p:sp>
      <p:sp>
        <p:nvSpPr>
          <p:cNvPr id="14" name="Oval 13"/>
          <p:cNvSpPr/>
          <p:nvPr/>
        </p:nvSpPr>
        <p:spPr>
          <a:xfrm>
            <a:off x="6406819" y="4868312"/>
            <a:ext cx="73152" cy="73152"/>
          </a:xfrm>
          <a:prstGeom prst="ellipse">
            <a:avLst/>
          </a:prstGeom>
          <a:solidFill>
            <a:srgbClr val="685628"/>
          </a:solidFill>
          <a:ln>
            <a:noFill/>
          </a:ln>
        </p:spPr>
        <p:txBody>
          <a:bodyPr rtlCol="0" anchor="ctr"/>
          <a:lstStyle/>
          <a:p/>
        </p:txBody>
      </p:sp>
      <p:sp>
        <p:nvSpPr>
          <p:cNvPr id="15" name="Oval 14"/>
          <p:cNvSpPr/>
          <p:nvPr/>
        </p:nvSpPr>
        <p:spPr>
          <a:xfrm>
            <a:off x="11785642" y="2479896"/>
            <a:ext cx="27432" cy="27432"/>
          </a:xfrm>
          <a:prstGeom prst="ellipse">
            <a:avLst/>
          </a:prstGeom>
          <a:solidFill>
            <a:srgbClr val="A26929"/>
          </a:solidFill>
          <a:ln>
            <a:noFill/>
          </a:ln>
        </p:spPr>
        <p:txBody>
          <a:bodyPr rtlCol="0" anchor="ctr"/>
          <a:lstStyle/>
          <a:p/>
        </p:txBody>
      </p:sp>
      <p:sp>
        <p:nvSpPr>
          <p:cNvPr id="16" name="Oval 15"/>
          <p:cNvSpPr/>
          <p:nvPr/>
        </p:nvSpPr>
        <p:spPr>
          <a:xfrm>
            <a:off x="11018040" y="6024999"/>
            <a:ext cx="27432" cy="27432"/>
          </a:xfrm>
          <a:prstGeom prst="ellipse">
            <a:avLst/>
          </a:prstGeom>
          <a:solidFill>
            <a:srgbClr val="544621"/>
          </a:solidFill>
          <a:ln>
            <a:noFill/>
          </a:ln>
        </p:spPr>
        <p:txBody>
          <a:bodyPr rtlCol="0" anchor="ctr"/>
          <a:lstStyle/>
          <a:p/>
        </p:txBody>
      </p:sp>
      <p:sp>
        <p:nvSpPr>
          <p:cNvPr id="17" name="Oval 16"/>
          <p:cNvSpPr/>
          <p:nvPr/>
        </p:nvSpPr>
        <p:spPr>
          <a:xfrm>
            <a:off x="1472421" y="5688256"/>
            <a:ext cx="27432" cy="27432"/>
          </a:xfrm>
          <a:prstGeom prst="ellipse">
            <a:avLst/>
          </a:prstGeom>
          <a:solidFill>
            <a:srgbClr val="493F29"/>
          </a:solidFill>
          <a:ln>
            <a:noFill/>
          </a:ln>
        </p:spPr>
        <p:txBody>
          <a:bodyPr rtlCol="0" anchor="ctr"/>
          <a:lstStyle/>
          <a:p/>
        </p:txBody>
      </p:sp>
      <p:sp>
        <p:nvSpPr>
          <p:cNvPr id="18" name="Oval 17"/>
          <p:cNvSpPr/>
          <p:nvPr/>
        </p:nvSpPr>
        <p:spPr>
          <a:xfrm>
            <a:off x="4366951" y="2316972"/>
            <a:ext cx="54864" cy="54864"/>
          </a:xfrm>
          <a:prstGeom prst="ellipse">
            <a:avLst/>
          </a:prstGeom>
          <a:solidFill>
            <a:srgbClr val="8F5D25"/>
          </a:solidFill>
          <a:ln>
            <a:noFill/>
          </a:ln>
        </p:spPr>
        <p:txBody>
          <a:bodyPr rtlCol="0" anchor="ctr"/>
          <a:lstStyle/>
          <a:p/>
        </p:txBody>
      </p:sp>
      <p:sp>
        <p:nvSpPr>
          <p:cNvPr id="19" name="Oval 18"/>
          <p:cNvSpPr/>
          <p:nvPr/>
        </p:nvSpPr>
        <p:spPr>
          <a:xfrm>
            <a:off x="789502" y="3548275"/>
            <a:ext cx="54864" cy="54864"/>
          </a:xfrm>
          <a:prstGeom prst="ellipse">
            <a:avLst/>
          </a:prstGeom>
          <a:solidFill>
            <a:srgbClr val="887134"/>
          </a:solidFill>
          <a:ln>
            <a:noFill/>
          </a:ln>
        </p:spPr>
        <p:txBody>
          <a:bodyPr rtlCol="0" anchor="ctr"/>
          <a:lstStyle/>
          <a:p/>
        </p:txBody>
      </p:sp>
      <p:sp>
        <p:nvSpPr>
          <p:cNvPr id="20" name="Oval 19"/>
          <p:cNvSpPr/>
          <p:nvPr/>
        </p:nvSpPr>
        <p:spPr>
          <a:xfrm>
            <a:off x="962744" y="2807073"/>
            <a:ext cx="27432" cy="27432"/>
          </a:xfrm>
          <a:prstGeom prst="ellipse">
            <a:avLst/>
          </a:prstGeom>
          <a:solidFill>
            <a:srgbClr val="B8A36A"/>
          </a:solidFill>
          <a:ln>
            <a:noFill/>
          </a:ln>
        </p:spPr>
        <p:txBody>
          <a:bodyPr rtlCol="0" anchor="ctr"/>
          <a:lstStyle/>
          <a:p/>
        </p:txBody>
      </p:sp>
      <p:sp>
        <p:nvSpPr>
          <p:cNvPr id="21" name="Oval 20"/>
          <p:cNvSpPr/>
          <p:nvPr/>
        </p:nvSpPr>
        <p:spPr>
          <a:xfrm>
            <a:off x="861064" y="1079381"/>
            <a:ext cx="54864" cy="54864"/>
          </a:xfrm>
          <a:prstGeom prst="ellipse">
            <a:avLst/>
          </a:prstGeom>
          <a:solidFill>
            <a:srgbClr val="725F2C"/>
          </a:solidFill>
          <a:ln>
            <a:noFill/>
          </a:ln>
        </p:spPr>
        <p:txBody>
          <a:bodyPr rtlCol="0" anchor="ctr"/>
          <a:lstStyle/>
          <a:p/>
        </p:txBody>
      </p:sp>
      <p:sp>
        <p:nvSpPr>
          <p:cNvPr id="22" name="Oval 21"/>
          <p:cNvSpPr/>
          <p:nvPr/>
        </p:nvSpPr>
        <p:spPr>
          <a:xfrm>
            <a:off x="3622794" y="4430315"/>
            <a:ext cx="73152" cy="73152"/>
          </a:xfrm>
          <a:prstGeom prst="ellipse">
            <a:avLst/>
          </a:prstGeom>
          <a:solidFill>
            <a:srgbClr val="7D5121"/>
          </a:solidFill>
          <a:ln>
            <a:noFill/>
          </a:ln>
        </p:spPr>
        <p:txBody>
          <a:bodyPr rtlCol="0" anchor="ctr"/>
          <a:lstStyle/>
          <a:p/>
        </p:txBody>
      </p:sp>
      <p:sp>
        <p:nvSpPr>
          <p:cNvPr id="23" name="Oval 22"/>
          <p:cNvSpPr/>
          <p:nvPr/>
        </p:nvSpPr>
        <p:spPr>
          <a:xfrm>
            <a:off x="7737720" y="2468446"/>
            <a:ext cx="27432" cy="27432"/>
          </a:xfrm>
          <a:prstGeom prst="ellipse">
            <a:avLst/>
          </a:prstGeom>
          <a:solidFill>
            <a:srgbClr val="AC9863"/>
          </a:solidFill>
          <a:ln>
            <a:noFill/>
          </a:ln>
        </p:spPr>
        <p:txBody>
          <a:bodyPr rtlCol="0" anchor="ctr"/>
          <a:lstStyle/>
          <a:p/>
        </p:txBody>
      </p:sp>
      <p:sp>
        <p:nvSpPr>
          <p:cNvPr id="24" name="Oval 23"/>
          <p:cNvSpPr/>
          <p:nvPr/>
        </p:nvSpPr>
        <p:spPr>
          <a:xfrm>
            <a:off x="3332568" y="1075912"/>
            <a:ext cx="73152" cy="73152"/>
          </a:xfrm>
          <a:prstGeom prst="ellipse">
            <a:avLst/>
          </a:prstGeom>
          <a:solidFill>
            <a:srgbClr val="84744B"/>
          </a:solidFill>
          <a:ln>
            <a:noFill/>
          </a:ln>
        </p:spPr>
        <p:txBody>
          <a:bodyPr rtlCol="0" anchor="ctr"/>
          <a:lstStyle/>
          <a:p/>
        </p:txBody>
      </p:sp>
      <p:sp>
        <p:nvSpPr>
          <p:cNvPr id="25" name="Oval 24"/>
          <p:cNvSpPr/>
          <p:nvPr/>
        </p:nvSpPr>
        <p:spPr>
          <a:xfrm>
            <a:off x="4268795" y="1384366"/>
            <a:ext cx="27432" cy="27432"/>
          </a:xfrm>
          <a:prstGeom prst="ellipse">
            <a:avLst/>
          </a:prstGeom>
          <a:solidFill>
            <a:srgbClr val="79652E"/>
          </a:solidFill>
          <a:ln>
            <a:noFill/>
          </a:ln>
        </p:spPr>
        <p:txBody>
          <a:bodyPr rtlCol="0" anchor="ctr"/>
          <a:lstStyle/>
          <a:p/>
        </p:txBody>
      </p:sp>
      <p:sp>
        <p:nvSpPr>
          <p:cNvPr id="26" name="Oval 25"/>
          <p:cNvSpPr/>
          <p:nvPr/>
        </p:nvSpPr>
        <p:spPr>
          <a:xfrm>
            <a:off x="2397864" y="820067"/>
            <a:ext cx="45720" cy="45720"/>
          </a:xfrm>
          <a:prstGeom prst="ellipse">
            <a:avLst/>
          </a:prstGeom>
          <a:solidFill>
            <a:srgbClr val="716441"/>
          </a:solidFill>
          <a:ln>
            <a:noFill/>
          </a:ln>
        </p:spPr>
        <p:txBody>
          <a:bodyPr rtlCol="0" anchor="ctr"/>
          <a:lstStyle/>
          <a:p/>
        </p:txBody>
      </p:sp>
      <p:sp>
        <p:nvSpPr>
          <p:cNvPr id="27" name="Oval 26"/>
          <p:cNvSpPr/>
          <p:nvPr/>
        </p:nvSpPr>
        <p:spPr>
          <a:xfrm>
            <a:off x="11747241" y="3542121"/>
            <a:ext cx="27432" cy="27432"/>
          </a:xfrm>
          <a:prstGeom prst="ellipse">
            <a:avLst/>
          </a:prstGeom>
          <a:solidFill>
            <a:srgbClr val="AC6F2C"/>
          </a:solidFill>
          <a:ln>
            <a:noFill/>
          </a:ln>
        </p:spPr>
        <p:txBody>
          <a:bodyPr rtlCol="0" anchor="ctr"/>
          <a:lstStyle/>
          <a:p/>
        </p:txBody>
      </p:sp>
      <p:sp>
        <p:nvSpPr>
          <p:cNvPr id="28" name="Oval 27"/>
          <p:cNvSpPr/>
          <p:nvPr/>
        </p:nvSpPr>
        <p:spPr>
          <a:xfrm>
            <a:off x="632976" y="4838508"/>
            <a:ext cx="36576" cy="36576"/>
          </a:xfrm>
          <a:prstGeom prst="ellipse">
            <a:avLst/>
          </a:prstGeom>
          <a:solidFill>
            <a:srgbClr val="6C5A2A"/>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900269" y="658368"/>
            <a:ext cx="2391156" cy="329184"/>
          </a:xfrm>
          <a:prstGeom prst="rect">
            <a:avLst/>
          </a:prstGeom>
          <a:noFill/>
        </p:spPr>
        <p:txBody>
          <a:bodyPr wrap="square" lIns="0" rIns="0" tIns="0" bIns="0" anchor="ctr">
            <a:spAutoFit/>
          </a:bodyPr>
          <a:lstStyle/>
          <a:p>
            <a:pPr algn="ctr"/>
            <a:r>
              <a:rPr sz="1300" b="1" i="0" spc="400">
                <a:solidFill>
                  <a:srgbClr val="C9A84C"/>
                </a:solidFill>
                <a:latin typeface="Montserrat"/>
              </a:rPr>
              <a:t>THE QUEST MAP</a:t>
            </a:r>
          </a:p>
        </p:txBody>
      </p:sp>
      <p:cxnSp>
        <p:nvCxnSpPr>
          <p:cNvPr id="50" name="Connector 49"/>
          <p:cNvCxnSpPr/>
          <p:nvPr/>
        </p:nvCxnSpPr>
        <p:spPr>
          <a:xfrm>
            <a:off x="3528669"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478377"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428585"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612733"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051560"/>
            <a:ext cx="10362895" cy="91440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7 levels to a family legacy</a:t>
            </a:r>
          </a:p>
        </p:txBody>
      </p:sp>
      <p:cxnSp>
        <p:nvCxnSpPr>
          <p:cNvPr id="55" name="Connector 54"/>
          <p:cNvCxnSpPr/>
          <p:nvPr/>
        </p:nvCxnSpPr>
        <p:spPr>
          <a:xfrm>
            <a:off x="1234440" y="3429000"/>
            <a:ext cx="9710928" cy="0"/>
          </a:xfrm>
          <a:prstGeom prst="line">
            <a:avLst/>
          </a:prstGeom>
          <a:ln w="25400">
            <a:solidFill>
              <a:srgbClr val="907837"/>
            </a:solidFill>
          </a:ln>
        </p:spPr>
        <p:style>
          <a:lnRef idx="2">
            <a:schemeClr val="accent1"/>
          </a:lnRef>
          <a:fillRef idx="0">
            <a:schemeClr val="accent1"/>
          </a:fillRef>
          <a:effectRef idx="1">
            <a:schemeClr val="accent1"/>
          </a:effectRef>
          <a:fontRef idx="minor">
            <a:schemeClr val="tx1"/>
          </a:fontRef>
        </p:style>
      </p:cxnSp>
      <p:pic>
        <p:nvPicPr>
          <p:cNvPr id="56" name="Picture 55" descr="glow_25.png"/>
          <p:cNvPicPr>
            <a:picLocks noChangeAspect="1"/>
          </p:cNvPicPr>
          <p:nvPr/>
        </p:nvPicPr>
        <p:blipFill>
          <a:blip r:embed="rId3"/>
          <a:stretch>
            <a:fillRect/>
          </a:stretch>
        </p:blipFill>
        <p:spPr>
          <a:xfrm>
            <a:off x="548640" y="2743200"/>
            <a:ext cx="1371600" cy="1371600"/>
          </a:xfrm>
          <a:prstGeom prst="rect">
            <a:avLst/>
          </a:prstGeom>
        </p:spPr>
      </p:pic>
      <p:sp>
        <p:nvSpPr>
          <p:cNvPr id="57" name="Oval 56"/>
          <p:cNvSpPr/>
          <p:nvPr/>
        </p:nvSpPr>
        <p:spPr>
          <a:xfrm>
            <a:off x="850392" y="3044952"/>
            <a:ext cx="768096" cy="768096"/>
          </a:xfrm>
          <a:prstGeom prst="ellipse">
            <a:avLst/>
          </a:prstGeom>
          <a:solidFill>
            <a:srgbClr val="1A1309"/>
          </a:solidFill>
          <a:ln w="25400">
            <a:solidFill>
              <a:srgbClr val="F0D58A"/>
            </a:solidFill>
          </a:ln>
        </p:spPr>
        <p:txBody>
          <a:bodyPr rtlCol="0" anchor="ctr"/>
          <a:lstStyle/>
          <a:p/>
        </p:txBody>
      </p:sp>
      <p:sp>
        <p:nvSpPr>
          <p:cNvPr id="58" name="Oval 57"/>
          <p:cNvSpPr/>
          <p:nvPr/>
        </p:nvSpPr>
        <p:spPr>
          <a:xfrm>
            <a:off x="905256" y="3099816"/>
            <a:ext cx="658368" cy="658368"/>
          </a:xfrm>
          <a:prstGeom prst="ellipse">
            <a:avLst/>
          </a:prstGeom>
          <a:noFill/>
          <a:ln w="9525">
            <a:solidFill>
              <a:srgbClr val="7D6830"/>
            </a:solidFill>
          </a:ln>
        </p:spPr>
        <p:txBody>
          <a:bodyPr rtlCol="0" anchor="ctr"/>
          <a:lstStyle/>
          <a:p/>
        </p:txBody>
      </p:sp>
      <p:sp>
        <p:nvSpPr>
          <p:cNvPr id="59" name="TextBox 58"/>
          <p:cNvSpPr txBox="1"/>
          <p:nvPr/>
        </p:nvSpPr>
        <p:spPr>
          <a:xfrm>
            <a:off x="850392" y="3044952"/>
            <a:ext cx="768096" cy="768096"/>
          </a:xfrm>
          <a:prstGeom prst="rect">
            <a:avLst/>
          </a:prstGeom>
          <a:noFill/>
        </p:spPr>
        <p:txBody>
          <a:bodyPr wrap="square" lIns="0" rIns="0" tIns="0" bIns="0" anchor="ctr">
            <a:spAutoFit/>
          </a:bodyPr>
          <a:lstStyle/>
          <a:p>
            <a:pPr algn="ctr"/>
            <a:r>
              <a:rPr sz="2200" b="1" i="0">
                <a:solidFill>
                  <a:srgbClr val="F0D58A"/>
                </a:solidFill>
                <a:latin typeface="Cinzel"/>
              </a:rPr>
              <a:t>1</a:t>
            </a:r>
          </a:p>
        </p:txBody>
      </p:sp>
      <p:sp>
        <p:nvSpPr>
          <p:cNvPr id="60" name="TextBox 59"/>
          <p:cNvSpPr txBox="1"/>
          <p:nvPr/>
        </p:nvSpPr>
        <p:spPr>
          <a:xfrm>
            <a:off x="448056" y="3931920"/>
            <a:ext cx="1572768" cy="822960"/>
          </a:xfrm>
          <a:prstGeom prst="rect">
            <a:avLst/>
          </a:prstGeom>
          <a:noFill/>
        </p:spPr>
        <p:txBody>
          <a:bodyPr wrap="square" lIns="0" rIns="0" tIns="0" bIns="0" anchor="t">
            <a:spAutoFit/>
          </a:bodyPr>
          <a:lstStyle/>
          <a:p>
            <a:pPr algn="ctr">
              <a:lnSpc>
                <a:spcPct val="100000"/>
              </a:lnSpc>
            </a:pPr>
            <a:r>
              <a:rPr sz="1300" b="1" i="0">
                <a:solidFill>
                  <a:srgbClr val="EFE3C6"/>
                </a:solidFill>
                <a:latin typeface="Cinzel"/>
              </a:rPr>
              <a:t>The Credit</a:t>
            </a:r>
          </a:p>
          <a:p>
            <a:pPr algn="ctr">
              <a:lnSpc>
                <a:spcPct val="100000"/>
              </a:lnSpc>
            </a:pPr>
            <a:r>
              <a:rPr sz="1300" b="1" i="0">
                <a:solidFill>
                  <a:srgbClr val="EFE3C6"/>
                </a:solidFill>
                <a:latin typeface="Cinzel"/>
              </a:rPr>
              <a:t>Shield</a:t>
            </a:r>
          </a:p>
        </p:txBody>
      </p:sp>
      <p:pic>
        <p:nvPicPr>
          <p:cNvPr id="61" name="Picture 60" descr="glow_25.png"/>
          <p:cNvPicPr>
            <a:picLocks noChangeAspect="1"/>
          </p:cNvPicPr>
          <p:nvPr/>
        </p:nvPicPr>
        <p:blipFill>
          <a:blip r:embed="rId3"/>
          <a:stretch>
            <a:fillRect/>
          </a:stretch>
        </p:blipFill>
        <p:spPr>
          <a:xfrm>
            <a:off x="2167128" y="2743200"/>
            <a:ext cx="1371600" cy="1371600"/>
          </a:xfrm>
          <a:prstGeom prst="rect">
            <a:avLst/>
          </a:prstGeom>
        </p:spPr>
      </p:pic>
      <p:sp>
        <p:nvSpPr>
          <p:cNvPr id="62" name="Oval 61"/>
          <p:cNvSpPr/>
          <p:nvPr/>
        </p:nvSpPr>
        <p:spPr>
          <a:xfrm>
            <a:off x="2468880" y="3044952"/>
            <a:ext cx="768096" cy="768096"/>
          </a:xfrm>
          <a:prstGeom prst="ellipse">
            <a:avLst/>
          </a:prstGeom>
          <a:solidFill>
            <a:srgbClr val="1A1309"/>
          </a:solidFill>
          <a:ln w="25400">
            <a:solidFill>
              <a:srgbClr val="F0D58A"/>
            </a:solidFill>
          </a:ln>
        </p:spPr>
        <p:txBody>
          <a:bodyPr rtlCol="0" anchor="ctr"/>
          <a:lstStyle/>
          <a:p/>
        </p:txBody>
      </p:sp>
      <p:sp>
        <p:nvSpPr>
          <p:cNvPr id="63" name="Oval 62"/>
          <p:cNvSpPr/>
          <p:nvPr/>
        </p:nvSpPr>
        <p:spPr>
          <a:xfrm>
            <a:off x="2523744" y="3099816"/>
            <a:ext cx="658368" cy="658368"/>
          </a:xfrm>
          <a:prstGeom prst="ellipse">
            <a:avLst/>
          </a:prstGeom>
          <a:noFill/>
          <a:ln w="9525">
            <a:solidFill>
              <a:srgbClr val="7D6830"/>
            </a:solidFill>
          </a:ln>
        </p:spPr>
        <p:txBody>
          <a:bodyPr rtlCol="0" anchor="ctr"/>
          <a:lstStyle/>
          <a:p/>
        </p:txBody>
      </p:sp>
      <p:sp>
        <p:nvSpPr>
          <p:cNvPr id="64" name="TextBox 63"/>
          <p:cNvSpPr txBox="1"/>
          <p:nvPr/>
        </p:nvSpPr>
        <p:spPr>
          <a:xfrm>
            <a:off x="2468880" y="3044952"/>
            <a:ext cx="768096" cy="768096"/>
          </a:xfrm>
          <a:prstGeom prst="rect">
            <a:avLst/>
          </a:prstGeom>
          <a:noFill/>
        </p:spPr>
        <p:txBody>
          <a:bodyPr wrap="square" lIns="0" rIns="0" tIns="0" bIns="0" anchor="ctr">
            <a:spAutoFit/>
          </a:bodyPr>
          <a:lstStyle/>
          <a:p>
            <a:pPr algn="ctr"/>
            <a:r>
              <a:rPr sz="2200" b="1" i="0">
                <a:solidFill>
                  <a:srgbClr val="F0D58A"/>
                </a:solidFill>
                <a:latin typeface="Cinzel"/>
              </a:rPr>
              <a:t>2</a:t>
            </a:r>
          </a:p>
        </p:txBody>
      </p:sp>
      <p:sp>
        <p:nvSpPr>
          <p:cNvPr id="65" name="TextBox 64"/>
          <p:cNvSpPr txBox="1"/>
          <p:nvPr/>
        </p:nvSpPr>
        <p:spPr>
          <a:xfrm>
            <a:off x="2066544" y="3931920"/>
            <a:ext cx="1572768" cy="822960"/>
          </a:xfrm>
          <a:prstGeom prst="rect">
            <a:avLst/>
          </a:prstGeom>
          <a:noFill/>
        </p:spPr>
        <p:txBody>
          <a:bodyPr wrap="square" lIns="0" rIns="0" tIns="0" bIns="0" anchor="t">
            <a:spAutoFit/>
          </a:bodyPr>
          <a:lstStyle/>
          <a:p>
            <a:pPr algn="ctr">
              <a:lnSpc>
                <a:spcPct val="100000"/>
              </a:lnSpc>
            </a:pPr>
            <a:r>
              <a:rPr sz="1300" b="1" i="0">
                <a:solidFill>
                  <a:srgbClr val="EFE3C6"/>
                </a:solidFill>
                <a:latin typeface="Cinzel"/>
              </a:rPr>
              <a:t>The Business</a:t>
            </a:r>
          </a:p>
          <a:p>
            <a:pPr algn="ctr">
              <a:lnSpc>
                <a:spcPct val="100000"/>
              </a:lnSpc>
            </a:pPr>
            <a:r>
              <a:rPr sz="1300" b="1" i="0">
                <a:solidFill>
                  <a:srgbClr val="EFE3C6"/>
                </a:solidFill>
                <a:latin typeface="Cinzel"/>
              </a:rPr>
              <a:t>Firewall</a:t>
            </a:r>
          </a:p>
        </p:txBody>
      </p:sp>
      <p:pic>
        <p:nvPicPr>
          <p:cNvPr id="66" name="Picture 65" descr="glow_25.png"/>
          <p:cNvPicPr>
            <a:picLocks noChangeAspect="1"/>
          </p:cNvPicPr>
          <p:nvPr/>
        </p:nvPicPr>
        <p:blipFill>
          <a:blip r:embed="rId3"/>
          <a:stretch>
            <a:fillRect/>
          </a:stretch>
        </p:blipFill>
        <p:spPr>
          <a:xfrm>
            <a:off x="3785616" y="2743200"/>
            <a:ext cx="1371600" cy="1371600"/>
          </a:xfrm>
          <a:prstGeom prst="rect">
            <a:avLst/>
          </a:prstGeom>
        </p:spPr>
      </p:pic>
      <p:sp>
        <p:nvSpPr>
          <p:cNvPr id="67" name="Oval 66"/>
          <p:cNvSpPr/>
          <p:nvPr/>
        </p:nvSpPr>
        <p:spPr>
          <a:xfrm>
            <a:off x="4087368" y="3044952"/>
            <a:ext cx="768096" cy="768096"/>
          </a:xfrm>
          <a:prstGeom prst="ellipse">
            <a:avLst/>
          </a:prstGeom>
          <a:solidFill>
            <a:srgbClr val="1A1309"/>
          </a:solidFill>
          <a:ln w="25400">
            <a:solidFill>
              <a:srgbClr val="F0D58A"/>
            </a:solidFill>
          </a:ln>
        </p:spPr>
        <p:txBody>
          <a:bodyPr rtlCol="0" anchor="ctr"/>
          <a:lstStyle/>
          <a:p/>
        </p:txBody>
      </p:sp>
      <p:sp>
        <p:nvSpPr>
          <p:cNvPr id="68" name="Oval 67"/>
          <p:cNvSpPr/>
          <p:nvPr/>
        </p:nvSpPr>
        <p:spPr>
          <a:xfrm>
            <a:off x="4142232" y="3099816"/>
            <a:ext cx="658368" cy="658368"/>
          </a:xfrm>
          <a:prstGeom prst="ellipse">
            <a:avLst/>
          </a:prstGeom>
          <a:noFill/>
          <a:ln w="9525">
            <a:solidFill>
              <a:srgbClr val="7D6830"/>
            </a:solidFill>
          </a:ln>
        </p:spPr>
        <p:txBody>
          <a:bodyPr rtlCol="0" anchor="ctr"/>
          <a:lstStyle/>
          <a:p/>
        </p:txBody>
      </p:sp>
      <p:sp>
        <p:nvSpPr>
          <p:cNvPr id="69" name="TextBox 68"/>
          <p:cNvSpPr txBox="1"/>
          <p:nvPr/>
        </p:nvSpPr>
        <p:spPr>
          <a:xfrm>
            <a:off x="4087368" y="3044952"/>
            <a:ext cx="768096" cy="768096"/>
          </a:xfrm>
          <a:prstGeom prst="rect">
            <a:avLst/>
          </a:prstGeom>
          <a:noFill/>
        </p:spPr>
        <p:txBody>
          <a:bodyPr wrap="square" lIns="0" rIns="0" tIns="0" bIns="0" anchor="ctr">
            <a:spAutoFit/>
          </a:bodyPr>
          <a:lstStyle/>
          <a:p>
            <a:pPr algn="ctr"/>
            <a:r>
              <a:rPr sz="2200" b="1" i="0">
                <a:solidFill>
                  <a:srgbClr val="F0D58A"/>
                </a:solidFill>
                <a:latin typeface="Cinzel"/>
              </a:rPr>
              <a:t>3</a:t>
            </a:r>
          </a:p>
        </p:txBody>
      </p:sp>
      <p:sp>
        <p:nvSpPr>
          <p:cNvPr id="70" name="TextBox 69"/>
          <p:cNvSpPr txBox="1"/>
          <p:nvPr/>
        </p:nvSpPr>
        <p:spPr>
          <a:xfrm>
            <a:off x="3685032" y="3931920"/>
            <a:ext cx="1572768" cy="822960"/>
          </a:xfrm>
          <a:prstGeom prst="rect">
            <a:avLst/>
          </a:prstGeom>
          <a:noFill/>
        </p:spPr>
        <p:txBody>
          <a:bodyPr wrap="square" lIns="0" rIns="0" tIns="0" bIns="0" anchor="t">
            <a:spAutoFit/>
          </a:bodyPr>
          <a:lstStyle/>
          <a:p>
            <a:pPr algn="ctr">
              <a:lnSpc>
                <a:spcPct val="100000"/>
              </a:lnSpc>
            </a:pPr>
            <a:r>
              <a:rPr sz="1300" b="1" i="0">
                <a:solidFill>
                  <a:srgbClr val="EFE3C6"/>
                </a:solidFill>
                <a:latin typeface="Cinzel"/>
              </a:rPr>
              <a:t>Capital</a:t>
            </a:r>
          </a:p>
          <a:p>
            <a:pPr algn="ctr">
              <a:lnSpc>
                <a:spcPct val="100000"/>
              </a:lnSpc>
            </a:pPr>
            <a:r>
              <a:rPr sz="1300" b="1" i="0">
                <a:solidFill>
                  <a:srgbClr val="EFE3C6"/>
                </a:solidFill>
                <a:latin typeface="Cinzel"/>
              </a:rPr>
              <a:t>Readiness</a:t>
            </a:r>
          </a:p>
        </p:txBody>
      </p:sp>
      <p:pic>
        <p:nvPicPr>
          <p:cNvPr id="71" name="Picture 70" descr="glow_25.png"/>
          <p:cNvPicPr>
            <a:picLocks noChangeAspect="1"/>
          </p:cNvPicPr>
          <p:nvPr/>
        </p:nvPicPr>
        <p:blipFill>
          <a:blip r:embed="rId3"/>
          <a:stretch>
            <a:fillRect/>
          </a:stretch>
        </p:blipFill>
        <p:spPr>
          <a:xfrm>
            <a:off x="5404104" y="2743200"/>
            <a:ext cx="1371600" cy="1371600"/>
          </a:xfrm>
          <a:prstGeom prst="rect">
            <a:avLst/>
          </a:prstGeom>
        </p:spPr>
      </p:pic>
      <p:sp>
        <p:nvSpPr>
          <p:cNvPr id="72" name="Oval 71"/>
          <p:cNvSpPr/>
          <p:nvPr/>
        </p:nvSpPr>
        <p:spPr>
          <a:xfrm>
            <a:off x="5705856" y="3044952"/>
            <a:ext cx="768096" cy="768096"/>
          </a:xfrm>
          <a:prstGeom prst="ellipse">
            <a:avLst/>
          </a:prstGeom>
          <a:solidFill>
            <a:srgbClr val="1A1309"/>
          </a:solidFill>
          <a:ln w="25400">
            <a:solidFill>
              <a:srgbClr val="F0D58A"/>
            </a:solidFill>
          </a:ln>
        </p:spPr>
        <p:txBody>
          <a:bodyPr rtlCol="0" anchor="ctr"/>
          <a:lstStyle/>
          <a:p/>
        </p:txBody>
      </p:sp>
      <p:sp>
        <p:nvSpPr>
          <p:cNvPr id="73" name="Oval 72"/>
          <p:cNvSpPr/>
          <p:nvPr/>
        </p:nvSpPr>
        <p:spPr>
          <a:xfrm>
            <a:off x="5760720" y="3099816"/>
            <a:ext cx="658368" cy="658368"/>
          </a:xfrm>
          <a:prstGeom prst="ellipse">
            <a:avLst/>
          </a:prstGeom>
          <a:noFill/>
          <a:ln w="9525">
            <a:solidFill>
              <a:srgbClr val="7D6830"/>
            </a:solidFill>
          </a:ln>
        </p:spPr>
        <p:txBody>
          <a:bodyPr rtlCol="0" anchor="ctr"/>
          <a:lstStyle/>
          <a:p/>
        </p:txBody>
      </p:sp>
      <p:sp>
        <p:nvSpPr>
          <p:cNvPr id="74" name="TextBox 73"/>
          <p:cNvSpPr txBox="1"/>
          <p:nvPr/>
        </p:nvSpPr>
        <p:spPr>
          <a:xfrm>
            <a:off x="5705856" y="3044952"/>
            <a:ext cx="768096" cy="768096"/>
          </a:xfrm>
          <a:prstGeom prst="rect">
            <a:avLst/>
          </a:prstGeom>
          <a:noFill/>
        </p:spPr>
        <p:txBody>
          <a:bodyPr wrap="square" lIns="0" rIns="0" tIns="0" bIns="0" anchor="ctr">
            <a:spAutoFit/>
          </a:bodyPr>
          <a:lstStyle/>
          <a:p>
            <a:pPr algn="ctr"/>
            <a:r>
              <a:rPr sz="2200" b="1" i="0">
                <a:solidFill>
                  <a:srgbClr val="F0D58A"/>
                </a:solidFill>
                <a:latin typeface="Cinzel"/>
              </a:rPr>
              <a:t>4</a:t>
            </a:r>
          </a:p>
        </p:txBody>
      </p:sp>
      <p:sp>
        <p:nvSpPr>
          <p:cNvPr id="75" name="TextBox 74"/>
          <p:cNvSpPr txBox="1"/>
          <p:nvPr/>
        </p:nvSpPr>
        <p:spPr>
          <a:xfrm>
            <a:off x="5303520" y="3931920"/>
            <a:ext cx="1572768" cy="822960"/>
          </a:xfrm>
          <a:prstGeom prst="rect">
            <a:avLst/>
          </a:prstGeom>
          <a:noFill/>
        </p:spPr>
        <p:txBody>
          <a:bodyPr wrap="square" lIns="0" rIns="0" tIns="0" bIns="0" anchor="t">
            <a:spAutoFit/>
          </a:bodyPr>
          <a:lstStyle/>
          <a:p>
            <a:pPr algn="ctr">
              <a:lnSpc>
                <a:spcPct val="100000"/>
              </a:lnSpc>
            </a:pPr>
            <a:r>
              <a:rPr sz="1300" b="1" i="0">
                <a:solidFill>
                  <a:srgbClr val="EFE3C6"/>
                </a:solidFill>
                <a:latin typeface="Cinzel"/>
              </a:rPr>
              <a:t>The</a:t>
            </a:r>
          </a:p>
          <a:p>
            <a:pPr algn="ctr">
              <a:lnSpc>
                <a:spcPct val="100000"/>
              </a:lnSpc>
            </a:pPr>
            <a:r>
              <a:rPr sz="1300" b="1" i="0">
                <a:solidFill>
                  <a:srgbClr val="EFE3C6"/>
                </a:solidFill>
                <a:latin typeface="Cinzel"/>
              </a:rPr>
              <a:t>Engine</a:t>
            </a:r>
          </a:p>
        </p:txBody>
      </p:sp>
      <p:pic>
        <p:nvPicPr>
          <p:cNvPr id="76" name="Picture 75" descr="glow_25.png"/>
          <p:cNvPicPr>
            <a:picLocks noChangeAspect="1"/>
          </p:cNvPicPr>
          <p:nvPr/>
        </p:nvPicPr>
        <p:blipFill>
          <a:blip r:embed="rId3"/>
          <a:stretch>
            <a:fillRect/>
          </a:stretch>
        </p:blipFill>
        <p:spPr>
          <a:xfrm>
            <a:off x="7022592" y="2743200"/>
            <a:ext cx="1371600" cy="1371600"/>
          </a:xfrm>
          <a:prstGeom prst="rect">
            <a:avLst/>
          </a:prstGeom>
        </p:spPr>
      </p:pic>
      <p:sp>
        <p:nvSpPr>
          <p:cNvPr id="77" name="Oval 76"/>
          <p:cNvSpPr/>
          <p:nvPr/>
        </p:nvSpPr>
        <p:spPr>
          <a:xfrm>
            <a:off x="7324344" y="3044952"/>
            <a:ext cx="768096" cy="768096"/>
          </a:xfrm>
          <a:prstGeom prst="ellipse">
            <a:avLst/>
          </a:prstGeom>
          <a:solidFill>
            <a:srgbClr val="1A1309"/>
          </a:solidFill>
          <a:ln w="25400">
            <a:solidFill>
              <a:srgbClr val="F0D58A"/>
            </a:solidFill>
          </a:ln>
        </p:spPr>
        <p:txBody>
          <a:bodyPr rtlCol="0" anchor="ctr"/>
          <a:lstStyle/>
          <a:p/>
        </p:txBody>
      </p:sp>
      <p:sp>
        <p:nvSpPr>
          <p:cNvPr id="78" name="Oval 77"/>
          <p:cNvSpPr/>
          <p:nvPr/>
        </p:nvSpPr>
        <p:spPr>
          <a:xfrm>
            <a:off x="7379208" y="3099816"/>
            <a:ext cx="658368" cy="658368"/>
          </a:xfrm>
          <a:prstGeom prst="ellipse">
            <a:avLst/>
          </a:prstGeom>
          <a:noFill/>
          <a:ln w="9525">
            <a:solidFill>
              <a:srgbClr val="7D6830"/>
            </a:solidFill>
          </a:ln>
        </p:spPr>
        <p:txBody>
          <a:bodyPr rtlCol="0" anchor="ctr"/>
          <a:lstStyle/>
          <a:p/>
        </p:txBody>
      </p:sp>
      <p:sp>
        <p:nvSpPr>
          <p:cNvPr id="79" name="TextBox 78"/>
          <p:cNvSpPr txBox="1"/>
          <p:nvPr/>
        </p:nvSpPr>
        <p:spPr>
          <a:xfrm>
            <a:off x="7324344" y="3044952"/>
            <a:ext cx="768096" cy="768096"/>
          </a:xfrm>
          <a:prstGeom prst="rect">
            <a:avLst/>
          </a:prstGeom>
          <a:noFill/>
        </p:spPr>
        <p:txBody>
          <a:bodyPr wrap="square" lIns="0" rIns="0" tIns="0" bIns="0" anchor="ctr">
            <a:spAutoFit/>
          </a:bodyPr>
          <a:lstStyle/>
          <a:p>
            <a:pPr algn="ctr"/>
            <a:r>
              <a:rPr sz="2200" b="1" i="0">
                <a:solidFill>
                  <a:srgbClr val="F0D58A"/>
                </a:solidFill>
                <a:latin typeface="Cinzel"/>
              </a:rPr>
              <a:t>5</a:t>
            </a:r>
          </a:p>
        </p:txBody>
      </p:sp>
      <p:sp>
        <p:nvSpPr>
          <p:cNvPr id="80" name="TextBox 79"/>
          <p:cNvSpPr txBox="1"/>
          <p:nvPr/>
        </p:nvSpPr>
        <p:spPr>
          <a:xfrm>
            <a:off x="6922007" y="3931920"/>
            <a:ext cx="1572768" cy="822960"/>
          </a:xfrm>
          <a:prstGeom prst="rect">
            <a:avLst/>
          </a:prstGeom>
          <a:noFill/>
        </p:spPr>
        <p:txBody>
          <a:bodyPr wrap="square" lIns="0" rIns="0" tIns="0" bIns="0" anchor="t">
            <a:spAutoFit/>
          </a:bodyPr>
          <a:lstStyle/>
          <a:p>
            <a:pPr algn="ctr">
              <a:lnSpc>
                <a:spcPct val="100000"/>
              </a:lnSpc>
            </a:pPr>
            <a:r>
              <a:rPr sz="1300" b="1" i="0">
                <a:solidFill>
                  <a:srgbClr val="EFE3C6"/>
                </a:solidFill>
                <a:latin typeface="Cinzel"/>
              </a:rPr>
              <a:t>The</a:t>
            </a:r>
          </a:p>
          <a:p>
            <a:pPr algn="ctr">
              <a:lnSpc>
                <a:spcPct val="100000"/>
              </a:lnSpc>
            </a:pPr>
            <a:r>
              <a:rPr sz="1300" b="1" i="0">
                <a:solidFill>
                  <a:srgbClr val="EFE3C6"/>
                </a:solidFill>
                <a:latin typeface="Cinzel"/>
              </a:rPr>
              <a:t>Fortress</a:t>
            </a:r>
          </a:p>
        </p:txBody>
      </p:sp>
      <p:pic>
        <p:nvPicPr>
          <p:cNvPr id="81" name="Picture 80" descr="glow_25.png"/>
          <p:cNvPicPr>
            <a:picLocks noChangeAspect="1"/>
          </p:cNvPicPr>
          <p:nvPr/>
        </p:nvPicPr>
        <p:blipFill>
          <a:blip r:embed="rId3"/>
          <a:stretch>
            <a:fillRect/>
          </a:stretch>
        </p:blipFill>
        <p:spPr>
          <a:xfrm>
            <a:off x="8641080" y="2743200"/>
            <a:ext cx="1371600" cy="1371600"/>
          </a:xfrm>
          <a:prstGeom prst="rect">
            <a:avLst/>
          </a:prstGeom>
        </p:spPr>
      </p:pic>
      <p:sp>
        <p:nvSpPr>
          <p:cNvPr id="82" name="Oval 81"/>
          <p:cNvSpPr/>
          <p:nvPr/>
        </p:nvSpPr>
        <p:spPr>
          <a:xfrm>
            <a:off x="8942832" y="3044952"/>
            <a:ext cx="768096" cy="768096"/>
          </a:xfrm>
          <a:prstGeom prst="ellipse">
            <a:avLst/>
          </a:prstGeom>
          <a:solidFill>
            <a:srgbClr val="1A1309"/>
          </a:solidFill>
          <a:ln w="25400">
            <a:solidFill>
              <a:srgbClr val="F0D58A"/>
            </a:solidFill>
          </a:ln>
        </p:spPr>
        <p:txBody>
          <a:bodyPr rtlCol="0" anchor="ctr"/>
          <a:lstStyle/>
          <a:p/>
        </p:txBody>
      </p:sp>
      <p:sp>
        <p:nvSpPr>
          <p:cNvPr id="83" name="Oval 82"/>
          <p:cNvSpPr/>
          <p:nvPr/>
        </p:nvSpPr>
        <p:spPr>
          <a:xfrm>
            <a:off x="8997696" y="3099816"/>
            <a:ext cx="658368" cy="658368"/>
          </a:xfrm>
          <a:prstGeom prst="ellipse">
            <a:avLst/>
          </a:prstGeom>
          <a:noFill/>
          <a:ln w="9525">
            <a:solidFill>
              <a:srgbClr val="7D6830"/>
            </a:solidFill>
          </a:ln>
        </p:spPr>
        <p:txBody>
          <a:bodyPr rtlCol="0" anchor="ctr"/>
          <a:lstStyle/>
          <a:p/>
        </p:txBody>
      </p:sp>
      <p:sp>
        <p:nvSpPr>
          <p:cNvPr id="84" name="TextBox 83"/>
          <p:cNvSpPr txBox="1"/>
          <p:nvPr/>
        </p:nvSpPr>
        <p:spPr>
          <a:xfrm>
            <a:off x="8942832" y="3044952"/>
            <a:ext cx="768096" cy="768096"/>
          </a:xfrm>
          <a:prstGeom prst="rect">
            <a:avLst/>
          </a:prstGeom>
          <a:noFill/>
        </p:spPr>
        <p:txBody>
          <a:bodyPr wrap="square" lIns="0" rIns="0" tIns="0" bIns="0" anchor="ctr">
            <a:spAutoFit/>
          </a:bodyPr>
          <a:lstStyle/>
          <a:p>
            <a:pPr algn="ctr"/>
            <a:r>
              <a:rPr sz="2200" b="1" i="0">
                <a:solidFill>
                  <a:srgbClr val="F0D58A"/>
                </a:solidFill>
                <a:latin typeface="Cinzel"/>
              </a:rPr>
              <a:t>6</a:t>
            </a:r>
          </a:p>
        </p:txBody>
      </p:sp>
      <p:sp>
        <p:nvSpPr>
          <p:cNvPr id="85" name="TextBox 84"/>
          <p:cNvSpPr txBox="1"/>
          <p:nvPr/>
        </p:nvSpPr>
        <p:spPr>
          <a:xfrm>
            <a:off x="8540496" y="3931920"/>
            <a:ext cx="1572768" cy="822960"/>
          </a:xfrm>
          <a:prstGeom prst="rect">
            <a:avLst/>
          </a:prstGeom>
          <a:noFill/>
        </p:spPr>
        <p:txBody>
          <a:bodyPr wrap="square" lIns="0" rIns="0" tIns="0" bIns="0" anchor="t">
            <a:spAutoFit/>
          </a:bodyPr>
          <a:lstStyle/>
          <a:p>
            <a:pPr algn="ctr">
              <a:lnSpc>
                <a:spcPct val="100000"/>
              </a:lnSpc>
            </a:pPr>
            <a:r>
              <a:rPr sz="1300" b="1" i="0">
                <a:solidFill>
                  <a:srgbClr val="EFE3C6"/>
                </a:solidFill>
                <a:latin typeface="Cinzel"/>
              </a:rPr>
              <a:t>The</a:t>
            </a:r>
          </a:p>
          <a:p>
            <a:pPr algn="ctr">
              <a:lnSpc>
                <a:spcPct val="100000"/>
              </a:lnSpc>
            </a:pPr>
            <a:r>
              <a:rPr sz="1300" b="1" i="0">
                <a:solidFill>
                  <a:srgbClr val="EFE3C6"/>
                </a:solidFill>
                <a:latin typeface="Cinzel"/>
              </a:rPr>
              <a:t>Transfer</a:t>
            </a:r>
          </a:p>
        </p:txBody>
      </p:sp>
      <p:pic>
        <p:nvPicPr>
          <p:cNvPr id="86" name="Picture 85" descr="glow_25.png"/>
          <p:cNvPicPr>
            <a:picLocks noChangeAspect="1"/>
          </p:cNvPicPr>
          <p:nvPr/>
        </p:nvPicPr>
        <p:blipFill>
          <a:blip r:embed="rId3"/>
          <a:stretch>
            <a:fillRect/>
          </a:stretch>
        </p:blipFill>
        <p:spPr>
          <a:xfrm>
            <a:off x="10259568" y="2743200"/>
            <a:ext cx="1371600" cy="1371600"/>
          </a:xfrm>
          <a:prstGeom prst="rect">
            <a:avLst/>
          </a:prstGeom>
        </p:spPr>
      </p:pic>
      <p:sp>
        <p:nvSpPr>
          <p:cNvPr id="87" name="Oval 86"/>
          <p:cNvSpPr/>
          <p:nvPr/>
        </p:nvSpPr>
        <p:spPr>
          <a:xfrm>
            <a:off x="10561320" y="3044952"/>
            <a:ext cx="768096" cy="768096"/>
          </a:xfrm>
          <a:prstGeom prst="ellipse">
            <a:avLst/>
          </a:prstGeom>
          <a:solidFill>
            <a:srgbClr val="1A1309"/>
          </a:solidFill>
          <a:ln w="25400">
            <a:solidFill>
              <a:srgbClr val="F0D58A"/>
            </a:solidFill>
          </a:ln>
        </p:spPr>
        <p:txBody>
          <a:bodyPr rtlCol="0" anchor="ctr"/>
          <a:lstStyle/>
          <a:p/>
        </p:txBody>
      </p:sp>
      <p:sp>
        <p:nvSpPr>
          <p:cNvPr id="88" name="Oval 87"/>
          <p:cNvSpPr/>
          <p:nvPr/>
        </p:nvSpPr>
        <p:spPr>
          <a:xfrm>
            <a:off x="10616184" y="3099816"/>
            <a:ext cx="658368" cy="658368"/>
          </a:xfrm>
          <a:prstGeom prst="ellipse">
            <a:avLst/>
          </a:prstGeom>
          <a:noFill/>
          <a:ln w="9525">
            <a:solidFill>
              <a:srgbClr val="7D6830"/>
            </a:solidFill>
          </a:ln>
        </p:spPr>
        <p:txBody>
          <a:bodyPr rtlCol="0" anchor="ctr"/>
          <a:lstStyle/>
          <a:p/>
        </p:txBody>
      </p:sp>
      <p:sp>
        <p:nvSpPr>
          <p:cNvPr id="89" name="TextBox 88"/>
          <p:cNvSpPr txBox="1"/>
          <p:nvPr/>
        </p:nvSpPr>
        <p:spPr>
          <a:xfrm>
            <a:off x="10561320" y="3044952"/>
            <a:ext cx="768096" cy="768096"/>
          </a:xfrm>
          <a:prstGeom prst="rect">
            <a:avLst/>
          </a:prstGeom>
          <a:noFill/>
        </p:spPr>
        <p:txBody>
          <a:bodyPr wrap="square" lIns="0" rIns="0" tIns="0" bIns="0" anchor="ctr">
            <a:spAutoFit/>
          </a:bodyPr>
          <a:lstStyle/>
          <a:p>
            <a:pPr algn="ctr"/>
            <a:r>
              <a:rPr sz="2200" b="1" i="0">
                <a:solidFill>
                  <a:srgbClr val="F0D58A"/>
                </a:solidFill>
                <a:latin typeface="Cinzel"/>
              </a:rPr>
              <a:t>7</a:t>
            </a:r>
          </a:p>
        </p:txBody>
      </p:sp>
      <p:sp>
        <p:nvSpPr>
          <p:cNvPr id="90" name="TextBox 89"/>
          <p:cNvSpPr txBox="1"/>
          <p:nvPr/>
        </p:nvSpPr>
        <p:spPr>
          <a:xfrm>
            <a:off x="10158984" y="3931920"/>
            <a:ext cx="1572768" cy="822960"/>
          </a:xfrm>
          <a:prstGeom prst="rect">
            <a:avLst/>
          </a:prstGeom>
          <a:noFill/>
        </p:spPr>
        <p:txBody>
          <a:bodyPr wrap="square" lIns="0" rIns="0" tIns="0" bIns="0" anchor="t">
            <a:spAutoFit/>
          </a:bodyPr>
          <a:lstStyle/>
          <a:p>
            <a:pPr algn="ctr">
              <a:lnSpc>
                <a:spcPct val="100000"/>
              </a:lnSpc>
            </a:pPr>
            <a:r>
              <a:rPr sz="1300" b="1" i="0">
                <a:solidFill>
                  <a:srgbClr val="EFE3C6"/>
                </a:solidFill>
                <a:latin typeface="Cinzel"/>
              </a:rPr>
              <a:t>The Generational</a:t>
            </a:r>
          </a:p>
          <a:p>
            <a:pPr algn="ctr">
              <a:lnSpc>
                <a:spcPct val="100000"/>
              </a:lnSpc>
            </a:pPr>
            <a:r>
              <a:rPr sz="1300" b="1" i="0">
                <a:solidFill>
                  <a:srgbClr val="EFE3C6"/>
                </a:solidFill>
                <a:latin typeface="Cinzel"/>
              </a:rPr>
              <a:t>Tree</a:t>
            </a:r>
          </a:p>
        </p:txBody>
      </p:sp>
      <p:cxnSp>
        <p:nvCxnSpPr>
          <p:cNvPr id="91" name="Connector 90"/>
          <p:cNvCxnSpPr/>
          <p:nvPr/>
        </p:nvCxnSpPr>
        <p:spPr>
          <a:xfrm>
            <a:off x="621792" y="2514600"/>
            <a:ext cx="4462272" cy="0"/>
          </a:xfrm>
          <a:prstGeom prst="line">
            <a:avLst/>
          </a:prstGeom>
          <a:ln w="15875">
            <a:solidFill>
              <a:srgbClr val="C2AC70"/>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1572768" y="2103120"/>
            <a:ext cx="2560320" cy="320040"/>
          </a:xfrm>
          <a:prstGeom prst="rect">
            <a:avLst/>
          </a:prstGeom>
          <a:noFill/>
        </p:spPr>
        <p:txBody>
          <a:bodyPr wrap="square" lIns="0" rIns="0" tIns="0" bIns="0" anchor="t">
            <a:spAutoFit/>
          </a:bodyPr>
          <a:lstStyle/>
          <a:p>
            <a:pPr algn="ctr"/>
            <a:r>
              <a:rPr sz="1100" b="1" i="0" spc="200">
                <a:solidFill>
                  <a:srgbClr val="F0D58A"/>
                </a:solidFill>
                <a:latin typeface="Montserrat"/>
              </a:rPr>
              <a:t>THE FOUNDATION</a:t>
            </a:r>
          </a:p>
        </p:txBody>
      </p:sp>
      <p:cxnSp>
        <p:nvCxnSpPr>
          <p:cNvPr id="93" name="Connector 92"/>
          <p:cNvCxnSpPr/>
          <p:nvPr/>
        </p:nvCxnSpPr>
        <p:spPr>
          <a:xfrm>
            <a:off x="5477256" y="2514600"/>
            <a:ext cx="1225296" cy="0"/>
          </a:xfrm>
          <a:prstGeom prst="line">
            <a:avLst/>
          </a:prstGeom>
          <a:ln w="15875">
            <a:solidFill>
              <a:srgbClr val="C2AC70"/>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4809744" y="2103120"/>
            <a:ext cx="2560320" cy="320040"/>
          </a:xfrm>
          <a:prstGeom prst="rect">
            <a:avLst/>
          </a:prstGeom>
          <a:noFill/>
        </p:spPr>
        <p:txBody>
          <a:bodyPr wrap="square" lIns="0" rIns="0" tIns="0" bIns="0" anchor="t">
            <a:spAutoFit/>
          </a:bodyPr>
          <a:lstStyle/>
          <a:p>
            <a:pPr algn="ctr"/>
            <a:r>
              <a:rPr sz="1100" b="1" i="0" spc="200">
                <a:solidFill>
                  <a:srgbClr val="F0D58A"/>
                </a:solidFill>
                <a:latin typeface="Montserrat"/>
              </a:rPr>
              <a:t>THE ACCELERATION</a:t>
            </a:r>
          </a:p>
        </p:txBody>
      </p:sp>
      <p:cxnSp>
        <p:nvCxnSpPr>
          <p:cNvPr id="95" name="Connector 94"/>
          <p:cNvCxnSpPr/>
          <p:nvPr/>
        </p:nvCxnSpPr>
        <p:spPr>
          <a:xfrm>
            <a:off x="7095744" y="2514600"/>
            <a:ext cx="4462272" cy="0"/>
          </a:xfrm>
          <a:prstGeom prst="line">
            <a:avLst/>
          </a:prstGeom>
          <a:ln w="15875">
            <a:solidFill>
              <a:srgbClr val="C2AC70"/>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8046720" y="2103120"/>
            <a:ext cx="2560320" cy="320040"/>
          </a:xfrm>
          <a:prstGeom prst="rect">
            <a:avLst/>
          </a:prstGeom>
          <a:noFill/>
        </p:spPr>
        <p:txBody>
          <a:bodyPr wrap="square" lIns="0" rIns="0" tIns="0" bIns="0" anchor="t">
            <a:spAutoFit/>
          </a:bodyPr>
          <a:lstStyle/>
          <a:p>
            <a:pPr algn="ctr"/>
            <a:r>
              <a:rPr sz="1100" b="1" i="0" spc="200">
                <a:solidFill>
                  <a:srgbClr val="F0D58A"/>
                </a:solidFill>
                <a:latin typeface="Montserrat"/>
              </a:rPr>
              <a:t>THE LEGACY</a:t>
            </a:r>
          </a:p>
        </p:txBody>
      </p:sp>
      <p:sp>
        <p:nvSpPr>
          <p:cNvPr id="97" name="TextBox 96"/>
          <p:cNvSpPr txBox="1"/>
          <p:nvPr/>
        </p:nvSpPr>
        <p:spPr>
          <a:xfrm>
            <a:off x="914400" y="5166360"/>
            <a:ext cx="10362895" cy="457200"/>
          </a:xfrm>
          <a:prstGeom prst="rect">
            <a:avLst/>
          </a:prstGeom>
          <a:noFill/>
        </p:spPr>
        <p:txBody>
          <a:bodyPr wrap="square" lIns="0" rIns="0" tIns="0" bIns="0" anchor="t">
            <a:spAutoFit/>
          </a:bodyPr>
          <a:lstStyle/>
          <a:p>
            <a:pPr algn="ctr">
              <a:lnSpc>
                <a:spcPct val="120000"/>
              </a:lnSpc>
            </a:pPr>
            <a:r>
              <a:rPr sz="1800" b="0" i="1">
                <a:solidFill>
                  <a:srgbClr val="B9A57A"/>
                </a:solidFill>
                <a:latin typeface="Montserrat"/>
              </a:rPr>
              <a:t>Screenshot this. This is the whole Flow on one page.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9172750" y="5379407"/>
            <a:ext cx="54864" cy="54864"/>
          </a:xfrm>
          <a:prstGeom prst="ellipse">
            <a:avLst/>
          </a:prstGeom>
          <a:solidFill>
            <a:srgbClr val="605437"/>
          </a:solidFill>
          <a:ln>
            <a:noFill/>
          </a:ln>
        </p:spPr>
        <p:txBody>
          <a:bodyPr rtlCol="0" anchor="ctr"/>
          <a:lstStyle/>
          <a:p/>
        </p:txBody>
      </p:sp>
      <p:sp>
        <p:nvSpPr>
          <p:cNvPr id="4" name="Oval 3"/>
          <p:cNvSpPr/>
          <p:nvPr/>
        </p:nvSpPr>
        <p:spPr>
          <a:xfrm>
            <a:off x="7659723" y="617721"/>
            <a:ext cx="45720" cy="45720"/>
          </a:xfrm>
          <a:prstGeom prst="ellipse">
            <a:avLst/>
          </a:prstGeom>
          <a:solidFill>
            <a:srgbClr val="472F14"/>
          </a:solidFill>
          <a:ln>
            <a:noFill/>
          </a:ln>
        </p:spPr>
        <p:txBody>
          <a:bodyPr rtlCol="0" anchor="ctr"/>
          <a:lstStyle/>
          <a:p/>
        </p:txBody>
      </p:sp>
      <p:sp>
        <p:nvSpPr>
          <p:cNvPr id="5" name="Oval 4"/>
          <p:cNvSpPr/>
          <p:nvPr/>
        </p:nvSpPr>
        <p:spPr>
          <a:xfrm>
            <a:off x="5225792" y="3863651"/>
            <a:ext cx="73152" cy="73152"/>
          </a:xfrm>
          <a:prstGeom prst="ellipse">
            <a:avLst/>
          </a:prstGeom>
          <a:solidFill>
            <a:srgbClr val="8D7D51"/>
          </a:solidFill>
          <a:ln>
            <a:noFill/>
          </a:ln>
        </p:spPr>
        <p:txBody>
          <a:bodyPr rtlCol="0" anchor="ctr"/>
          <a:lstStyle/>
          <a:p/>
        </p:txBody>
      </p:sp>
      <p:sp>
        <p:nvSpPr>
          <p:cNvPr id="6" name="Oval 5"/>
          <p:cNvSpPr/>
          <p:nvPr/>
        </p:nvSpPr>
        <p:spPr>
          <a:xfrm>
            <a:off x="6237026" y="5087717"/>
            <a:ext cx="36576" cy="36576"/>
          </a:xfrm>
          <a:prstGeom prst="ellipse">
            <a:avLst/>
          </a:prstGeom>
          <a:solidFill>
            <a:srgbClr val="5C4C24"/>
          </a:solidFill>
          <a:ln>
            <a:noFill/>
          </a:ln>
        </p:spPr>
        <p:txBody>
          <a:bodyPr rtlCol="0" anchor="ctr"/>
          <a:lstStyle/>
          <a:p/>
        </p:txBody>
      </p:sp>
      <p:sp>
        <p:nvSpPr>
          <p:cNvPr id="7" name="Oval 6"/>
          <p:cNvSpPr/>
          <p:nvPr/>
        </p:nvSpPr>
        <p:spPr>
          <a:xfrm>
            <a:off x="6654940" y="3419242"/>
            <a:ext cx="36576" cy="36576"/>
          </a:xfrm>
          <a:prstGeom prst="ellipse">
            <a:avLst/>
          </a:prstGeom>
          <a:solidFill>
            <a:srgbClr val="463A1C"/>
          </a:solidFill>
          <a:ln>
            <a:noFill/>
          </a:ln>
        </p:spPr>
        <p:txBody>
          <a:bodyPr rtlCol="0" anchor="ctr"/>
          <a:lstStyle/>
          <a:p/>
        </p:txBody>
      </p:sp>
      <p:sp>
        <p:nvSpPr>
          <p:cNvPr id="8" name="Oval 7"/>
          <p:cNvSpPr/>
          <p:nvPr/>
        </p:nvSpPr>
        <p:spPr>
          <a:xfrm>
            <a:off x="7248175" y="2483435"/>
            <a:ext cx="27432" cy="27432"/>
          </a:xfrm>
          <a:prstGeom prst="ellipse">
            <a:avLst/>
          </a:prstGeom>
          <a:solidFill>
            <a:srgbClr val="5A3B18"/>
          </a:solidFill>
          <a:ln>
            <a:noFill/>
          </a:ln>
        </p:spPr>
        <p:txBody>
          <a:bodyPr rtlCol="0" anchor="ctr"/>
          <a:lstStyle/>
          <a:p/>
        </p:txBody>
      </p:sp>
      <p:sp>
        <p:nvSpPr>
          <p:cNvPr id="9" name="Oval 8"/>
          <p:cNvSpPr/>
          <p:nvPr/>
        </p:nvSpPr>
        <p:spPr>
          <a:xfrm>
            <a:off x="7455471" y="796420"/>
            <a:ext cx="36576" cy="36576"/>
          </a:xfrm>
          <a:prstGeom prst="ellipse">
            <a:avLst/>
          </a:prstGeom>
          <a:solidFill>
            <a:srgbClr val="875823"/>
          </a:solidFill>
          <a:ln>
            <a:noFill/>
          </a:ln>
        </p:spPr>
        <p:txBody>
          <a:bodyPr rtlCol="0" anchor="ctr"/>
          <a:lstStyle/>
          <a:p/>
        </p:txBody>
      </p:sp>
      <p:sp>
        <p:nvSpPr>
          <p:cNvPr id="10" name="Oval 9"/>
          <p:cNvSpPr/>
          <p:nvPr/>
        </p:nvSpPr>
        <p:spPr>
          <a:xfrm>
            <a:off x="7651631" y="4700904"/>
            <a:ext cx="73152" cy="73152"/>
          </a:xfrm>
          <a:prstGeom prst="ellipse">
            <a:avLst/>
          </a:prstGeom>
          <a:solidFill>
            <a:srgbClr val="89794E"/>
          </a:solidFill>
          <a:ln>
            <a:noFill/>
          </a:ln>
        </p:spPr>
        <p:txBody>
          <a:bodyPr rtlCol="0" anchor="ctr"/>
          <a:lstStyle/>
          <a:p/>
        </p:txBody>
      </p:sp>
      <p:sp>
        <p:nvSpPr>
          <p:cNvPr id="11" name="Oval 10"/>
          <p:cNvSpPr/>
          <p:nvPr/>
        </p:nvSpPr>
        <p:spPr>
          <a:xfrm>
            <a:off x="9730766" y="1678199"/>
            <a:ext cx="27432" cy="27432"/>
          </a:xfrm>
          <a:prstGeom prst="ellipse">
            <a:avLst/>
          </a:prstGeom>
          <a:solidFill>
            <a:srgbClr val="AB6F2C"/>
          </a:solidFill>
          <a:ln>
            <a:noFill/>
          </a:ln>
        </p:spPr>
        <p:txBody>
          <a:bodyPr rtlCol="0" anchor="ctr"/>
          <a:lstStyle/>
          <a:p/>
        </p:txBody>
      </p:sp>
      <p:sp>
        <p:nvSpPr>
          <p:cNvPr id="12" name="Oval 11"/>
          <p:cNvSpPr/>
          <p:nvPr/>
        </p:nvSpPr>
        <p:spPr>
          <a:xfrm>
            <a:off x="5357368" y="3302705"/>
            <a:ext cx="54864" cy="54864"/>
          </a:xfrm>
          <a:prstGeom prst="ellipse">
            <a:avLst/>
          </a:prstGeom>
          <a:solidFill>
            <a:srgbClr val="7F6A31"/>
          </a:solidFill>
          <a:ln>
            <a:noFill/>
          </a:ln>
        </p:spPr>
        <p:txBody>
          <a:bodyPr rtlCol="0" anchor="ctr"/>
          <a:lstStyle/>
          <a:p/>
        </p:txBody>
      </p:sp>
      <p:sp>
        <p:nvSpPr>
          <p:cNvPr id="13" name="Oval 12"/>
          <p:cNvSpPr/>
          <p:nvPr/>
        </p:nvSpPr>
        <p:spPr>
          <a:xfrm>
            <a:off x="1025972" y="5217737"/>
            <a:ext cx="54864" cy="54864"/>
          </a:xfrm>
          <a:prstGeom prst="ellipse">
            <a:avLst/>
          </a:prstGeom>
          <a:solidFill>
            <a:srgbClr val="573918"/>
          </a:solidFill>
          <a:ln>
            <a:noFill/>
          </a:ln>
        </p:spPr>
        <p:txBody>
          <a:bodyPr rtlCol="0" anchor="ctr"/>
          <a:lstStyle/>
          <a:p/>
        </p:txBody>
      </p:sp>
      <p:sp>
        <p:nvSpPr>
          <p:cNvPr id="14" name="Oval 13"/>
          <p:cNvSpPr/>
          <p:nvPr/>
        </p:nvSpPr>
        <p:spPr>
          <a:xfrm>
            <a:off x="9878733" y="2605384"/>
            <a:ext cx="54864" cy="54864"/>
          </a:xfrm>
          <a:prstGeom prst="ellipse">
            <a:avLst/>
          </a:prstGeom>
          <a:solidFill>
            <a:srgbClr val="452E14"/>
          </a:solidFill>
          <a:ln>
            <a:noFill/>
          </a:ln>
        </p:spPr>
        <p:txBody>
          <a:bodyPr rtlCol="0" anchor="ctr"/>
          <a:lstStyle/>
          <a:p/>
        </p:txBody>
      </p:sp>
      <p:sp>
        <p:nvSpPr>
          <p:cNvPr id="15" name="Oval 14"/>
          <p:cNvSpPr/>
          <p:nvPr/>
        </p:nvSpPr>
        <p:spPr>
          <a:xfrm>
            <a:off x="5284533" y="3790618"/>
            <a:ext cx="36576" cy="36576"/>
          </a:xfrm>
          <a:prstGeom prst="ellipse">
            <a:avLst/>
          </a:prstGeom>
          <a:solidFill>
            <a:srgbClr val="AE9A64"/>
          </a:solidFill>
          <a:ln>
            <a:noFill/>
          </a:ln>
        </p:spPr>
        <p:txBody>
          <a:bodyPr rtlCol="0" anchor="ctr"/>
          <a:lstStyle/>
          <a:p/>
        </p:txBody>
      </p:sp>
      <p:sp>
        <p:nvSpPr>
          <p:cNvPr id="16" name="Oval 15"/>
          <p:cNvSpPr/>
          <p:nvPr/>
        </p:nvSpPr>
        <p:spPr>
          <a:xfrm>
            <a:off x="1427242" y="4434150"/>
            <a:ext cx="27432" cy="27432"/>
          </a:xfrm>
          <a:prstGeom prst="ellipse">
            <a:avLst/>
          </a:prstGeom>
          <a:solidFill>
            <a:srgbClr val="8A7335"/>
          </a:solidFill>
          <a:ln>
            <a:noFill/>
          </a:ln>
        </p:spPr>
        <p:txBody>
          <a:bodyPr rtlCol="0" anchor="ctr"/>
          <a:lstStyle/>
          <a:p/>
        </p:txBody>
      </p:sp>
      <p:sp>
        <p:nvSpPr>
          <p:cNvPr id="17" name="Oval 16"/>
          <p:cNvSpPr/>
          <p:nvPr/>
        </p:nvSpPr>
        <p:spPr>
          <a:xfrm>
            <a:off x="10965746" y="5620174"/>
            <a:ext cx="36576" cy="36576"/>
          </a:xfrm>
          <a:prstGeom prst="ellipse">
            <a:avLst/>
          </a:prstGeom>
          <a:solidFill>
            <a:srgbClr val="5C3D19"/>
          </a:solidFill>
          <a:ln>
            <a:noFill/>
          </a:ln>
        </p:spPr>
        <p:txBody>
          <a:bodyPr rtlCol="0" anchor="ctr"/>
          <a:lstStyle/>
          <a:p/>
        </p:txBody>
      </p:sp>
      <p:sp>
        <p:nvSpPr>
          <p:cNvPr id="18" name="Oval 17"/>
          <p:cNvSpPr/>
          <p:nvPr/>
        </p:nvSpPr>
        <p:spPr>
          <a:xfrm>
            <a:off x="10638215" y="5060576"/>
            <a:ext cx="73152" cy="73152"/>
          </a:xfrm>
          <a:prstGeom prst="ellipse">
            <a:avLst/>
          </a:prstGeom>
          <a:solidFill>
            <a:srgbClr val="6A5829"/>
          </a:solidFill>
          <a:ln>
            <a:noFill/>
          </a:ln>
        </p:spPr>
        <p:txBody>
          <a:bodyPr rtlCol="0" anchor="ctr"/>
          <a:lstStyle/>
          <a:p/>
        </p:txBody>
      </p:sp>
      <p:sp>
        <p:nvSpPr>
          <p:cNvPr id="19" name="Oval 18"/>
          <p:cNvSpPr/>
          <p:nvPr/>
        </p:nvSpPr>
        <p:spPr>
          <a:xfrm>
            <a:off x="4522737" y="3315044"/>
            <a:ext cx="45720" cy="45720"/>
          </a:xfrm>
          <a:prstGeom prst="ellipse">
            <a:avLst/>
          </a:prstGeom>
          <a:solidFill>
            <a:srgbClr val="956126"/>
          </a:solidFill>
          <a:ln>
            <a:noFill/>
          </a:ln>
        </p:spPr>
        <p:txBody>
          <a:bodyPr rtlCol="0" anchor="ctr"/>
          <a:lstStyle/>
          <a:p/>
        </p:txBody>
      </p:sp>
      <p:sp>
        <p:nvSpPr>
          <p:cNvPr id="20" name="Oval 19"/>
          <p:cNvSpPr/>
          <p:nvPr/>
        </p:nvSpPr>
        <p:spPr>
          <a:xfrm>
            <a:off x="4676632" y="3350799"/>
            <a:ext cx="54864" cy="54864"/>
          </a:xfrm>
          <a:prstGeom prst="ellipse">
            <a:avLst/>
          </a:prstGeom>
          <a:solidFill>
            <a:srgbClr val="B29D66"/>
          </a:solidFill>
          <a:ln>
            <a:noFill/>
          </a:ln>
        </p:spPr>
        <p:txBody>
          <a:bodyPr rtlCol="0" anchor="ctr"/>
          <a:lstStyle/>
          <a:p/>
        </p:txBody>
      </p:sp>
      <p:sp>
        <p:nvSpPr>
          <p:cNvPr id="21" name="Oval 20"/>
          <p:cNvSpPr/>
          <p:nvPr/>
        </p:nvSpPr>
        <p:spPr>
          <a:xfrm>
            <a:off x="5147654" y="5152715"/>
            <a:ext cx="45720" cy="45720"/>
          </a:xfrm>
          <a:prstGeom prst="ellipse">
            <a:avLst/>
          </a:prstGeom>
          <a:solidFill>
            <a:srgbClr val="A0863D"/>
          </a:solidFill>
          <a:ln>
            <a:noFill/>
          </a:ln>
        </p:spPr>
        <p:txBody>
          <a:bodyPr rtlCol="0" anchor="ctr"/>
          <a:lstStyle/>
          <a:p/>
        </p:txBody>
      </p:sp>
      <p:sp>
        <p:nvSpPr>
          <p:cNvPr id="22" name="Oval 21"/>
          <p:cNvSpPr/>
          <p:nvPr/>
        </p:nvSpPr>
        <p:spPr>
          <a:xfrm>
            <a:off x="10829922" y="3766703"/>
            <a:ext cx="73152" cy="73152"/>
          </a:xfrm>
          <a:prstGeom prst="ellipse">
            <a:avLst/>
          </a:prstGeom>
          <a:solidFill>
            <a:srgbClr val="A3905D"/>
          </a:solidFill>
          <a:ln>
            <a:noFill/>
          </a:ln>
        </p:spPr>
        <p:txBody>
          <a:bodyPr rtlCol="0" anchor="ctr"/>
          <a:lstStyle/>
          <a:p/>
        </p:txBody>
      </p:sp>
      <p:sp>
        <p:nvSpPr>
          <p:cNvPr id="23" name="Oval 22"/>
          <p:cNvSpPr/>
          <p:nvPr/>
        </p:nvSpPr>
        <p:spPr>
          <a:xfrm>
            <a:off x="6272214" y="4772867"/>
            <a:ext cx="45720" cy="45720"/>
          </a:xfrm>
          <a:prstGeom prst="ellipse">
            <a:avLst/>
          </a:prstGeom>
          <a:solidFill>
            <a:srgbClr val="8B5A24"/>
          </a:solidFill>
          <a:ln>
            <a:noFill/>
          </a:ln>
        </p:spPr>
        <p:txBody>
          <a:bodyPr rtlCol="0" anchor="ctr"/>
          <a:lstStyle/>
          <a:p/>
        </p:txBody>
      </p:sp>
      <p:sp>
        <p:nvSpPr>
          <p:cNvPr id="24" name="Oval 23"/>
          <p:cNvSpPr/>
          <p:nvPr/>
        </p:nvSpPr>
        <p:spPr>
          <a:xfrm>
            <a:off x="1078153" y="5190703"/>
            <a:ext cx="27432" cy="27432"/>
          </a:xfrm>
          <a:prstGeom prst="ellipse">
            <a:avLst/>
          </a:prstGeom>
          <a:solidFill>
            <a:srgbClr val="957C39"/>
          </a:solidFill>
          <a:ln>
            <a:noFill/>
          </a:ln>
        </p:spPr>
        <p:txBody>
          <a:bodyPr rtlCol="0" anchor="ctr"/>
          <a:lstStyle/>
          <a:p/>
        </p:txBody>
      </p:sp>
      <p:sp>
        <p:nvSpPr>
          <p:cNvPr id="25" name="Oval 24"/>
          <p:cNvSpPr/>
          <p:nvPr/>
        </p:nvSpPr>
        <p:spPr>
          <a:xfrm>
            <a:off x="10706415" y="1398967"/>
            <a:ext cx="45720" cy="45720"/>
          </a:xfrm>
          <a:prstGeom prst="ellipse">
            <a:avLst/>
          </a:prstGeom>
          <a:solidFill>
            <a:srgbClr val="4C3215"/>
          </a:solidFill>
          <a:ln>
            <a:noFill/>
          </a:ln>
        </p:spPr>
        <p:txBody>
          <a:bodyPr rtlCol="0" anchor="ctr"/>
          <a:lstStyle/>
          <a:p/>
        </p:txBody>
      </p:sp>
      <p:sp>
        <p:nvSpPr>
          <p:cNvPr id="26" name="Oval 25"/>
          <p:cNvSpPr/>
          <p:nvPr/>
        </p:nvSpPr>
        <p:spPr>
          <a:xfrm>
            <a:off x="8056642" y="3922252"/>
            <a:ext cx="54864" cy="54864"/>
          </a:xfrm>
          <a:prstGeom prst="ellipse">
            <a:avLst/>
          </a:prstGeom>
          <a:solidFill>
            <a:srgbClr val="4B3E1D"/>
          </a:solidFill>
          <a:ln>
            <a:noFill/>
          </a:ln>
        </p:spPr>
        <p:txBody>
          <a:bodyPr rtlCol="0" anchor="ctr"/>
          <a:lstStyle/>
          <a:p/>
        </p:txBody>
      </p:sp>
      <p:sp>
        <p:nvSpPr>
          <p:cNvPr id="27" name="Oval 26"/>
          <p:cNvSpPr/>
          <p:nvPr/>
        </p:nvSpPr>
        <p:spPr>
          <a:xfrm>
            <a:off x="1820526" y="6086948"/>
            <a:ext cx="45720" cy="45720"/>
          </a:xfrm>
          <a:prstGeom prst="ellipse">
            <a:avLst/>
          </a:prstGeom>
          <a:solidFill>
            <a:srgbClr val="45391B"/>
          </a:solidFill>
          <a:ln>
            <a:noFill/>
          </a:ln>
        </p:spPr>
        <p:txBody>
          <a:bodyPr rtlCol="0" anchor="ctr"/>
          <a:lstStyle/>
          <a:p/>
        </p:txBody>
      </p:sp>
      <p:sp>
        <p:nvSpPr>
          <p:cNvPr id="28" name="Oval 27"/>
          <p:cNvSpPr/>
          <p:nvPr/>
        </p:nvSpPr>
        <p:spPr>
          <a:xfrm>
            <a:off x="2850863" y="3645813"/>
            <a:ext cx="73152" cy="73152"/>
          </a:xfrm>
          <a:prstGeom prst="ellipse">
            <a:avLst/>
          </a:prstGeom>
          <a:solidFill>
            <a:srgbClr val="987F3A"/>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333341" y="1181100"/>
            <a:ext cx="3525012" cy="329184"/>
          </a:xfrm>
          <a:prstGeom prst="rect">
            <a:avLst/>
          </a:prstGeom>
          <a:noFill/>
        </p:spPr>
        <p:txBody>
          <a:bodyPr wrap="square" lIns="0" rIns="0" tIns="0" bIns="0" anchor="ctr">
            <a:spAutoFit/>
          </a:bodyPr>
          <a:lstStyle/>
          <a:p>
            <a:pPr algn="ctr"/>
            <a:r>
              <a:rPr sz="1300" b="1" i="0" spc="400">
                <a:solidFill>
                  <a:srgbClr val="C9A84C"/>
                </a:solidFill>
                <a:latin typeface="Montserrat"/>
              </a:rPr>
              <a:t>WHY THE ORDER MATTERS</a:t>
            </a:r>
          </a:p>
        </p:txBody>
      </p:sp>
      <p:cxnSp>
        <p:nvCxnSpPr>
          <p:cNvPr id="50" name="Connector 49"/>
          <p:cNvCxnSpPr/>
          <p:nvPr/>
        </p:nvCxnSpPr>
        <p:spPr>
          <a:xfrm>
            <a:off x="2961741" y="134569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911449" y="1295400"/>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995513" y="134569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179661" y="1295400"/>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574292"/>
            <a:ext cx="10362895" cy="1051560"/>
          </a:xfrm>
          <a:prstGeom prst="rect">
            <a:avLst/>
          </a:prstGeom>
          <a:noFill/>
        </p:spPr>
        <p:txBody>
          <a:bodyPr wrap="square" lIns="0" rIns="0" tIns="0" bIns="0" anchor="ctr">
            <a:spAutoFit/>
          </a:bodyPr>
          <a:lstStyle/>
          <a:p>
            <a:pPr algn="ctr">
              <a:lnSpc>
                <a:spcPct val="105000"/>
              </a:lnSpc>
            </a:pPr>
            <a:r>
              <a:rPr sz="3600" b="1" i="0">
                <a:solidFill>
                  <a:srgbClr val="F0D58A"/>
                </a:solidFill>
                <a:latin typeface="Cinzel"/>
              </a:rPr>
              <a:t>Most people don't fail at wealth. They fail at sequence.</a:t>
            </a:r>
          </a:p>
        </p:txBody>
      </p:sp>
      <p:sp>
        <p:nvSpPr>
          <p:cNvPr id="55" name="Rounded Rectangle 54"/>
          <p:cNvSpPr/>
          <p:nvPr/>
        </p:nvSpPr>
        <p:spPr>
          <a:xfrm>
            <a:off x="1523847" y="2808731"/>
            <a:ext cx="9144000" cy="2112264"/>
          </a:xfrm>
          <a:prstGeom prst="roundRect">
            <a:avLst>
              <a:gd name="adj" fmla="val 6000"/>
            </a:avLst>
          </a:prstGeom>
          <a:solidFill>
            <a:srgbClr val="100D07"/>
          </a:solidFill>
          <a:ln w="15875">
            <a:solidFill>
              <a:srgbClr val="877034"/>
            </a:solidFill>
          </a:ln>
        </p:spPr>
        <p:txBody>
          <a:bodyPr rtlCol="0" anchor="ctr"/>
          <a:lstStyle/>
          <a:p/>
        </p:txBody>
      </p:sp>
      <p:sp>
        <p:nvSpPr>
          <p:cNvPr id="56" name="Diamond 55"/>
          <p:cNvSpPr/>
          <p:nvPr/>
        </p:nvSpPr>
        <p:spPr>
          <a:xfrm>
            <a:off x="2026767" y="3137916"/>
            <a:ext cx="137160" cy="137160"/>
          </a:xfrm>
          <a:prstGeom prst="diamond">
            <a:avLst/>
          </a:prstGeom>
          <a:solidFill>
            <a:srgbClr val="F0D58A"/>
          </a:solidFill>
          <a:ln>
            <a:noFill/>
          </a:ln>
        </p:spPr>
        <p:txBody>
          <a:bodyPr rtlCol="0" anchor="ctr"/>
          <a:lstStyle/>
          <a:p/>
        </p:txBody>
      </p:sp>
      <p:sp>
        <p:nvSpPr>
          <p:cNvPr id="57" name="TextBox 56"/>
          <p:cNvSpPr txBox="1"/>
          <p:nvPr/>
        </p:nvSpPr>
        <p:spPr>
          <a:xfrm>
            <a:off x="2346807" y="3009900"/>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A policy you can't keep funding</a:t>
            </a:r>
          </a:p>
        </p:txBody>
      </p:sp>
      <p:sp>
        <p:nvSpPr>
          <p:cNvPr id="58" name="Diamond 57"/>
          <p:cNvSpPr/>
          <p:nvPr/>
        </p:nvSpPr>
        <p:spPr>
          <a:xfrm>
            <a:off x="2026767" y="3704844"/>
            <a:ext cx="137160" cy="137160"/>
          </a:xfrm>
          <a:prstGeom prst="diamond">
            <a:avLst/>
          </a:prstGeom>
          <a:solidFill>
            <a:srgbClr val="F0D58A"/>
          </a:solidFill>
          <a:ln>
            <a:noFill/>
          </a:ln>
        </p:spPr>
        <p:txBody>
          <a:bodyPr rtlCol="0" anchor="ctr"/>
          <a:lstStyle/>
          <a:p/>
        </p:txBody>
      </p:sp>
      <p:sp>
        <p:nvSpPr>
          <p:cNvPr id="59" name="TextBox 58"/>
          <p:cNvSpPr txBox="1"/>
          <p:nvPr/>
        </p:nvSpPr>
        <p:spPr>
          <a:xfrm>
            <a:off x="2346807" y="3576828"/>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A loan on a business with no structure</a:t>
            </a:r>
          </a:p>
        </p:txBody>
      </p:sp>
      <p:sp>
        <p:nvSpPr>
          <p:cNvPr id="60" name="Diamond 59"/>
          <p:cNvSpPr/>
          <p:nvPr/>
        </p:nvSpPr>
        <p:spPr>
          <a:xfrm>
            <a:off x="2026767" y="4271771"/>
            <a:ext cx="137160" cy="137160"/>
          </a:xfrm>
          <a:prstGeom prst="diamond">
            <a:avLst/>
          </a:prstGeom>
          <a:solidFill>
            <a:srgbClr val="F0D58A"/>
          </a:solidFill>
          <a:ln>
            <a:noFill/>
          </a:ln>
        </p:spPr>
        <p:txBody>
          <a:bodyPr rtlCol="0" anchor="ctr"/>
          <a:lstStyle/>
          <a:p/>
        </p:txBody>
      </p:sp>
      <p:sp>
        <p:nvSpPr>
          <p:cNvPr id="61" name="TextBox 60"/>
          <p:cNvSpPr txBox="1"/>
          <p:nvPr/>
        </p:nvSpPr>
        <p:spPr>
          <a:xfrm>
            <a:off x="2346807" y="4143755"/>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A trust with nothing in it</a:t>
            </a:r>
          </a:p>
        </p:txBody>
      </p:sp>
      <p:sp>
        <p:nvSpPr>
          <p:cNvPr id="62" name="TextBox 61"/>
          <p:cNvSpPr txBox="1"/>
          <p:nvPr/>
        </p:nvSpPr>
        <p:spPr>
          <a:xfrm>
            <a:off x="1097280" y="5058156"/>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So where does everybody start? Level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0.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4457868" y="530233"/>
            <a:ext cx="73152" cy="73152"/>
          </a:xfrm>
          <a:prstGeom prst="ellipse">
            <a:avLst/>
          </a:prstGeom>
          <a:solidFill>
            <a:srgbClr val="B6A168"/>
          </a:solidFill>
          <a:ln>
            <a:noFill/>
          </a:ln>
        </p:spPr>
        <p:txBody>
          <a:bodyPr rtlCol="0" anchor="ctr"/>
          <a:lstStyle/>
          <a:p/>
        </p:txBody>
      </p:sp>
      <p:sp>
        <p:nvSpPr>
          <p:cNvPr id="4" name="Oval 3"/>
          <p:cNvSpPr/>
          <p:nvPr/>
        </p:nvSpPr>
        <p:spPr>
          <a:xfrm>
            <a:off x="4545237" y="6005288"/>
            <a:ext cx="54864" cy="54864"/>
          </a:xfrm>
          <a:prstGeom prst="ellipse">
            <a:avLst/>
          </a:prstGeom>
          <a:solidFill>
            <a:srgbClr val="B7762E"/>
          </a:solidFill>
          <a:ln>
            <a:noFill/>
          </a:ln>
        </p:spPr>
        <p:txBody>
          <a:bodyPr rtlCol="0" anchor="ctr"/>
          <a:lstStyle/>
          <a:p/>
        </p:txBody>
      </p:sp>
      <p:sp>
        <p:nvSpPr>
          <p:cNvPr id="5" name="Oval 4"/>
          <p:cNvSpPr/>
          <p:nvPr/>
        </p:nvSpPr>
        <p:spPr>
          <a:xfrm>
            <a:off x="1449123" y="3406970"/>
            <a:ext cx="45720" cy="45720"/>
          </a:xfrm>
          <a:prstGeom prst="ellipse">
            <a:avLst/>
          </a:prstGeom>
          <a:solidFill>
            <a:srgbClr val="51472E"/>
          </a:solidFill>
          <a:ln>
            <a:noFill/>
          </a:ln>
        </p:spPr>
        <p:txBody>
          <a:bodyPr rtlCol="0" anchor="ctr"/>
          <a:lstStyle/>
          <a:p/>
        </p:txBody>
      </p:sp>
      <p:sp>
        <p:nvSpPr>
          <p:cNvPr id="6" name="Oval 5"/>
          <p:cNvSpPr/>
          <p:nvPr/>
        </p:nvSpPr>
        <p:spPr>
          <a:xfrm>
            <a:off x="7363175" y="4980237"/>
            <a:ext cx="45720" cy="45720"/>
          </a:xfrm>
          <a:prstGeom prst="ellipse">
            <a:avLst/>
          </a:prstGeom>
          <a:solidFill>
            <a:srgbClr val="44381B"/>
          </a:solidFill>
          <a:ln>
            <a:noFill/>
          </a:ln>
        </p:spPr>
        <p:txBody>
          <a:bodyPr rtlCol="0" anchor="ctr"/>
          <a:lstStyle/>
          <a:p/>
        </p:txBody>
      </p:sp>
      <p:sp>
        <p:nvSpPr>
          <p:cNvPr id="7" name="Oval 6"/>
          <p:cNvSpPr/>
          <p:nvPr/>
        </p:nvSpPr>
        <p:spPr>
          <a:xfrm>
            <a:off x="4596890" y="4762940"/>
            <a:ext cx="27432" cy="27432"/>
          </a:xfrm>
          <a:prstGeom prst="ellipse">
            <a:avLst/>
          </a:prstGeom>
          <a:solidFill>
            <a:srgbClr val="927A38"/>
          </a:solidFill>
          <a:ln>
            <a:noFill/>
          </a:ln>
        </p:spPr>
        <p:txBody>
          <a:bodyPr rtlCol="0" anchor="ctr"/>
          <a:lstStyle/>
          <a:p/>
        </p:txBody>
      </p:sp>
      <p:sp>
        <p:nvSpPr>
          <p:cNvPr id="8" name="Oval 7"/>
          <p:cNvSpPr/>
          <p:nvPr/>
        </p:nvSpPr>
        <p:spPr>
          <a:xfrm>
            <a:off x="11066698" y="3865305"/>
            <a:ext cx="54864" cy="54864"/>
          </a:xfrm>
          <a:prstGeom prst="ellipse">
            <a:avLst/>
          </a:prstGeom>
          <a:solidFill>
            <a:srgbClr val="5B4C23"/>
          </a:solidFill>
          <a:ln>
            <a:noFill/>
          </a:ln>
        </p:spPr>
        <p:txBody>
          <a:bodyPr rtlCol="0" anchor="ctr"/>
          <a:lstStyle/>
          <a:p/>
        </p:txBody>
      </p:sp>
      <p:sp>
        <p:nvSpPr>
          <p:cNvPr id="9" name="Oval 8"/>
          <p:cNvSpPr/>
          <p:nvPr/>
        </p:nvSpPr>
        <p:spPr>
          <a:xfrm>
            <a:off x="3962560" y="1590161"/>
            <a:ext cx="54864" cy="54864"/>
          </a:xfrm>
          <a:prstGeom prst="ellipse">
            <a:avLst/>
          </a:prstGeom>
          <a:solidFill>
            <a:srgbClr val="4E401E"/>
          </a:solidFill>
          <a:ln>
            <a:noFill/>
          </a:ln>
        </p:spPr>
        <p:txBody>
          <a:bodyPr rtlCol="0" anchor="ctr"/>
          <a:lstStyle/>
          <a:p/>
        </p:txBody>
      </p:sp>
      <p:sp>
        <p:nvSpPr>
          <p:cNvPr id="10" name="Oval 9"/>
          <p:cNvSpPr/>
          <p:nvPr/>
        </p:nvSpPr>
        <p:spPr>
          <a:xfrm>
            <a:off x="6934646" y="2695543"/>
            <a:ext cx="36576" cy="36576"/>
          </a:xfrm>
          <a:prstGeom prst="ellipse">
            <a:avLst/>
          </a:prstGeom>
          <a:solidFill>
            <a:srgbClr val="603F1A"/>
          </a:solidFill>
          <a:ln>
            <a:noFill/>
          </a:ln>
        </p:spPr>
        <p:txBody>
          <a:bodyPr rtlCol="0" anchor="ctr"/>
          <a:lstStyle/>
          <a:p/>
        </p:txBody>
      </p:sp>
      <p:sp>
        <p:nvSpPr>
          <p:cNvPr id="11" name="Oval 10"/>
          <p:cNvSpPr/>
          <p:nvPr/>
        </p:nvSpPr>
        <p:spPr>
          <a:xfrm>
            <a:off x="7024618" y="4815711"/>
            <a:ext cx="27432" cy="27432"/>
          </a:xfrm>
          <a:prstGeom prst="ellipse">
            <a:avLst/>
          </a:prstGeom>
          <a:solidFill>
            <a:srgbClr val="65421B"/>
          </a:solidFill>
          <a:ln>
            <a:noFill/>
          </a:ln>
        </p:spPr>
        <p:txBody>
          <a:bodyPr rtlCol="0" anchor="ctr"/>
          <a:lstStyle/>
          <a:p/>
        </p:txBody>
      </p:sp>
      <p:sp>
        <p:nvSpPr>
          <p:cNvPr id="12" name="Oval 11"/>
          <p:cNvSpPr/>
          <p:nvPr/>
        </p:nvSpPr>
        <p:spPr>
          <a:xfrm>
            <a:off x="7026502" y="5795091"/>
            <a:ext cx="27432" cy="27432"/>
          </a:xfrm>
          <a:prstGeom prst="ellipse">
            <a:avLst/>
          </a:prstGeom>
          <a:solidFill>
            <a:srgbClr val="A89560"/>
          </a:solidFill>
          <a:ln>
            <a:noFill/>
          </a:ln>
        </p:spPr>
        <p:txBody>
          <a:bodyPr rtlCol="0" anchor="ctr"/>
          <a:lstStyle/>
          <a:p/>
        </p:txBody>
      </p:sp>
      <p:sp>
        <p:nvSpPr>
          <p:cNvPr id="13" name="Oval 12"/>
          <p:cNvSpPr/>
          <p:nvPr/>
        </p:nvSpPr>
        <p:spPr>
          <a:xfrm>
            <a:off x="9313756" y="5752466"/>
            <a:ext cx="54864" cy="54864"/>
          </a:xfrm>
          <a:prstGeom prst="ellipse">
            <a:avLst/>
          </a:prstGeom>
          <a:solidFill>
            <a:srgbClr val="AC6F2C"/>
          </a:solidFill>
          <a:ln>
            <a:noFill/>
          </a:ln>
        </p:spPr>
        <p:txBody>
          <a:bodyPr rtlCol="0" anchor="ctr"/>
          <a:lstStyle/>
          <a:p/>
        </p:txBody>
      </p:sp>
      <p:sp>
        <p:nvSpPr>
          <p:cNvPr id="14" name="Oval 13"/>
          <p:cNvSpPr/>
          <p:nvPr/>
        </p:nvSpPr>
        <p:spPr>
          <a:xfrm>
            <a:off x="6329091" y="5286519"/>
            <a:ext cx="27432" cy="27432"/>
          </a:xfrm>
          <a:prstGeom prst="ellipse">
            <a:avLst/>
          </a:prstGeom>
          <a:solidFill>
            <a:srgbClr val="764D1F"/>
          </a:solidFill>
          <a:ln>
            <a:noFill/>
          </a:ln>
        </p:spPr>
        <p:txBody>
          <a:bodyPr rtlCol="0" anchor="ctr"/>
          <a:lstStyle/>
          <a:p/>
        </p:txBody>
      </p:sp>
      <p:sp>
        <p:nvSpPr>
          <p:cNvPr id="15" name="Oval 14"/>
          <p:cNvSpPr/>
          <p:nvPr/>
        </p:nvSpPr>
        <p:spPr>
          <a:xfrm>
            <a:off x="4521806" y="3004698"/>
            <a:ext cx="54864" cy="54864"/>
          </a:xfrm>
          <a:prstGeom prst="ellipse">
            <a:avLst/>
          </a:prstGeom>
          <a:solidFill>
            <a:srgbClr val="625638"/>
          </a:solidFill>
          <a:ln>
            <a:noFill/>
          </a:ln>
        </p:spPr>
        <p:txBody>
          <a:bodyPr rtlCol="0" anchor="ctr"/>
          <a:lstStyle/>
          <a:p/>
        </p:txBody>
      </p:sp>
      <p:sp>
        <p:nvSpPr>
          <p:cNvPr id="16" name="Oval 15"/>
          <p:cNvSpPr/>
          <p:nvPr/>
        </p:nvSpPr>
        <p:spPr>
          <a:xfrm>
            <a:off x="3930826" y="5804696"/>
            <a:ext cx="45720" cy="45720"/>
          </a:xfrm>
          <a:prstGeom prst="ellipse">
            <a:avLst/>
          </a:prstGeom>
          <a:solidFill>
            <a:srgbClr val="463A1C"/>
          </a:solidFill>
          <a:ln>
            <a:noFill/>
          </a:ln>
        </p:spPr>
        <p:txBody>
          <a:bodyPr rtlCol="0" anchor="ctr"/>
          <a:lstStyle/>
          <a:p/>
        </p:txBody>
      </p:sp>
      <p:sp>
        <p:nvSpPr>
          <p:cNvPr id="17" name="Oval 16"/>
          <p:cNvSpPr/>
          <p:nvPr/>
        </p:nvSpPr>
        <p:spPr>
          <a:xfrm>
            <a:off x="3771960" y="5913119"/>
            <a:ext cx="73152" cy="73152"/>
          </a:xfrm>
          <a:prstGeom prst="ellipse">
            <a:avLst/>
          </a:prstGeom>
          <a:solidFill>
            <a:srgbClr val="B5752E"/>
          </a:solidFill>
          <a:ln>
            <a:noFill/>
          </a:ln>
        </p:spPr>
        <p:txBody>
          <a:bodyPr rtlCol="0" anchor="ctr"/>
          <a:lstStyle/>
          <a:p/>
        </p:txBody>
      </p:sp>
      <p:sp>
        <p:nvSpPr>
          <p:cNvPr id="18" name="Oval 17"/>
          <p:cNvSpPr/>
          <p:nvPr/>
        </p:nvSpPr>
        <p:spPr>
          <a:xfrm>
            <a:off x="9098799" y="5822546"/>
            <a:ext cx="45720" cy="45720"/>
          </a:xfrm>
          <a:prstGeom prst="ellipse">
            <a:avLst/>
          </a:prstGeom>
          <a:solidFill>
            <a:srgbClr val="8A7335"/>
          </a:solidFill>
          <a:ln>
            <a:noFill/>
          </a:ln>
        </p:spPr>
        <p:txBody>
          <a:bodyPr rtlCol="0" anchor="ctr"/>
          <a:lstStyle/>
          <a:p/>
        </p:txBody>
      </p:sp>
      <p:sp>
        <p:nvSpPr>
          <p:cNvPr id="19" name="Oval 18"/>
          <p:cNvSpPr/>
          <p:nvPr/>
        </p:nvSpPr>
        <p:spPr>
          <a:xfrm>
            <a:off x="9840306" y="3070716"/>
            <a:ext cx="73152" cy="73152"/>
          </a:xfrm>
          <a:prstGeom prst="ellipse">
            <a:avLst/>
          </a:prstGeom>
          <a:solidFill>
            <a:srgbClr val="A18E5C"/>
          </a:solidFill>
          <a:ln>
            <a:noFill/>
          </a:ln>
        </p:spPr>
        <p:txBody>
          <a:bodyPr rtlCol="0" anchor="ctr"/>
          <a:lstStyle/>
          <a:p/>
        </p:txBody>
      </p:sp>
      <p:sp>
        <p:nvSpPr>
          <p:cNvPr id="20" name="Oval 19"/>
          <p:cNvSpPr/>
          <p:nvPr/>
        </p:nvSpPr>
        <p:spPr>
          <a:xfrm>
            <a:off x="5059485" y="1396314"/>
            <a:ext cx="45720" cy="45720"/>
          </a:xfrm>
          <a:prstGeom prst="ellipse">
            <a:avLst/>
          </a:prstGeom>
          <a:solidFill>
            <a:srgbClr val="A28F5D"/>
          </a:solidFill>
          <a:ln>
            <a:noFill/>
          </a:ln>
        </p:spPr>
        <p:txBody>
          <a:bodyPr rtlCol="0" anchor="ctr"/>
          <a:lstStyle/>
          <a:p/>
        </p:txBody>
      </p:sp>
      <p:sp>
        <p:nvSpPr>
          <p:cNvPr id="21" name="Oval 20"/>
          <p:cNvSpPr/>
          <p:nvPr/>
        </p:nvSpPr>
        <p:spPr>
          <a:xfrm>
            <a:off x="5889042" y="4301144"/>
            <a:ext cx="45720" cy="45720"/>
          </a:xfrm>
          <a:prstGeom prst="ellipse">
            <a:avLst/>
          </a:prstGeom>
          <a:solidFill>
            <a:srgbClr val="BAA56B"/>
          </a:solidFill>
          <a:ln>
            <a:noFill/>
          </a:ln>
        </p:spPr>
        <p:txBody>
          <a:bodyPr rtlCol="0" anchor="ctr"/>
          <a:lstStyle/>
          <a:p/>
        </p:txBody>
      </p:sp>
      <p:sp>
        <p:nvSpPr>
          <p:cNvPr id="22" name="Oval 21"/>
          <p:cNvSpPr/>
          <p:nvPr/>
        </p:nvSpPr>
        <p:spPr>
          <a:xfrm>
            <a:off x="7664549" y="3409970"/>
            <a:ext cx="73152" cy="73152"/>
          </a:xfrm>
          <a:prstGeom prst="ellipse">
            <a:avLst/>
          </a:prstGeom>
          <a:solidFill>
            <a:srgbClr val="594E33"/>
          </a:solidFill>
          <a:ln>
            <a:noFill/>
          </a:ln>
        </p:spPr>
        <p:txBody>
          <a:bodyPr rtlCol="0" anchor="ctr"/>
          <a:lstStyle/>
          <a:p/>
        </p:txBody>
      </p:sp>
      <p:sp>
        <p:nvSpPr>
          <p:cNvPr id="23" name="Oval 22"/>
          <p:cNvSpPr/>
          <p:nvPr/>
        </p:nvSpPr>
        <p:spPr>
          <a:xfrm>
            <a:off x="6112408" y="6146942"/>
            <a:ext cx="27432" cy="27432"/>
          </a:xfrm>
          <a:prstGeom prst="ellipse">
            <a:avLst/>
          </a:prstGeom>
          <a:solidFill>
            <a:srgbClr val="74612D"/>
          </a:solidFill>
          <a:ln>
            <a:noFill/>
          </a:ln>
        </p:spPr>
        <p:txBody>
          <a:bodyPr rtlCol="0" anchor="ctr"/>
          <a:lstStyle/>
          <a:p/>
        </p:txBody>
      </p:sp>
      <p:sp>
        <p:nvSpPr>
          <p:cNvPr id="24" name="Oval 23"/>
          <p:cNvSpPr/>
          <p:nvPr/>
        </p:nvSpPr>
        <p:spPr>
          <a:xfrm>
            <a:off x="3252370" y="4491887"/>
            <a:ext cx="36576" cy="36576"/>
          </a:xfrm>
          <a:prstGeom prst="ellipse">
            <a:avLst/>
          </a:prstGeom>
          <a:solidFill>
            <a:srgbClr val="807149"/>
          </a:solidFill>
          <a:ln>
            <a:noFill/>
          </a:ln>
        </p:spPr>
        <p:txBody>
          <a:bodyPr rtlCol="0" anchor="ctr"/>
          <a:lstStyle/>
          <a:p/>
        </p:txBody>
      </p:sp>
      <p:sp>
        <p:nvSpPr>
          <p:cNvPr id="25" name="Oval 24"/>
          <p:cNvSpPr/>
          <p:nvPr/>
        </p:nvSpPr>
        <p:spPr>
          <a:xfrm>
            <a:off x="11658332" y="2553009"/>
            <a:ext cx="36576" cy="36576"/>
          </a:xfrm>
          <a:prstGeom prst="ellipse">
            <a:avLst/>
          </a:prstGeom>
          <a:solidFill>
            <a:srgbClr val="BB792F"/>
          </a:solidFill>
          <a:ln>
            <a:noFill/>
          </a:ln>
        </p:spPr>
        <p:txBody>
          <a:bodyPr rtlCol="0" anchor="ctr"/>
          <a:lstStyle/>
          <a:p/>
        </p:txBody>
      </p:sp>
      <p:sp>
        <p:nvSpPr>
          <p:cNvPr id="26" name="Oval 25"/>
          <p:cNvSpPr/>
          <p:nvPr/>
        </p:nvSpPr>
        <p:spPr>
          <a:xfrm>
            <a:off x="1636864" y="2301826"/>
            <a:ext cx="36576" cy="36576"/>
          </a:xfrm>
          <a:prstGeom prst="ellipse">
            <a:avLst/>
          </a:prstGeom>
          <a:solidFill>
            <a:srgbClr val="A99561"/>
          </a:solidFill>
          <a:ln>
            <a:noFill/>
          </a:ln>
        </p:spPr>
        <p:txBody>
          <a:bodyPr rtlCol="0" anchor="ctr"/>
          <a:lstStyle/>
          <a:p/>
        </p:txBody>
      </p:sp>
      <p:sp>
        <p:nvSpPr>
          <p:cNvPr id="27" name="Oval 26"/>
          <p:cNvSpPr/>
          <p:nvPr/>
        </p:nvSpPr>
        <p:spPr>
          <a:xfrm>
            <a:off x="8875926" y="3048714"/>
            <a:ext cx="45720" cy="45720"/>
          </a:xfrm>
          <a:prstGeom prst="ellipse">
            <a:avLst/>
          </a:prstGeom>
          <a:solidFill>
            <a:srgbClr val="887134"/>
          </a:solidFill>
          <a:ln>
            <a:noFill/>
          </a:ln>
        </p:spPr>
        <p:txBody>
          <a:bodyPr rtlCol="0" anchor="ctr"/>
          <a:lstStyle/>
          <a:p/>
        </p:txBody>
      </p:sp>
      <p:sp>
        <p:nvSpPr>
          <p:cNvPr id="28" name="Oval 27"/>
          <p:cNvSpPr/>
          <p:nvPr/>
        </p:nvSpPr>
        <p:spPr>
          <a:xfrm>
            <a:off x="6886727" y="6107418"/>
            <a:ext cx="73152" cy="73152"/>
          </a:xfrm>
          <a:prstGeom prst="ellipse">
            <a:avLst/>
          </a:prstGeom>
          <a:solidFill>
            <a:srgbClr val="786A45"/>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40.png"/>
          <p:cNvPicPr>
            <a:picLocks noChangeAspect="1"/>
          </p:cNvPicPr>
          <p:nvPr/>
        </p:nvPicPr>
        <p:blipFill>
          <a:blip r:embed="rId3"/>
          <a:stretch>
            <a:fillRect/>
          </a:stretch>
        </p:blipFill>
        <p:spPr>
          <a:xfrm>
            <a:off x="3901287" y="137159"/>
            <a:ext cx="4389120" cy="4389120"/>
          </a:xfrm>
          <a:prstGeom prst="rect">
            <a:avLst/>
          </a:prstGeom>
        </p:spPr>
      </p:pic>
      <p:sp>
        <p:nvSpPr>
          <p:cNvPr id="50" name="Oval 49"/>
          <p:cNvSpPr/>
          <p:nvPr/>
        </p:nvSpPr>
        <p:spPr>
          <a:xfrm>
            <a:off x="5044287" y="1280160"/>
            <a:ext cx="2103120" cy="2103120"/>
          </a:xfrm>
          <a:prstGeom prst="ellipse">
            <a:avLst/>
          </a:prstGeom>
          <a:noFill/>
          <a:ln w="19050">
            <a:solidFill>
              <a:srgbClr val="907837"/>
            </a:solidFill>
          </a:ln>
        </p:spPr>
        <p:txBody>
          <a:bodyPr rtlCol="0" anchor="ctr"/>
          <a:lstStyle/>
          <a:p/>
        </p:txBody>
      </p:sp>
      <p:sp>
        <p:nvSpPr>
          <p:cNvPr id="51" name="Oval 50"/>
          <p:cNvSpPr/>
          <p:nvPr/>
        </p:nvSpPr>
        <p:spPr>
          <a:xfrm>
            <a:off x="4961991" y="1197863"/>
            <a:ext cx="2267712" cy="2267712"/>
          </a:xfrm>
          <a:prstGeom prst="ellipse">
            <a:avLst/>
          </a:prstGeom>
          <a:noFill/>
          <a:ln w="6350">
            <a:solidFill>
              <a:srgbClr val="4E411E"/>
            </a:solidFill>
          </a:ln>
        </p:spPr>
        <p:txBody>
          <a:bodyPr rtlCol="0" anchor="ctr"/>
          <a:lstStyle/>
          <a:p/>
        </p:txBody>
      </p:sp>
      <p:sp>
        <p:nvSpPr>
          <p:cNvPr id="52" name="Oval 51"/>
          <p:cNvSpPr/>
          <p:nvPr/>
        </p:nvSpPr>
        <p:spPr>
          <a:xfrm>
            <a:off x="6013551" y="1197863"/>
            <a:ext cx="164592" cy="164592"/>
          </a:xfrm>
          <a:prstGeom prst="ellipse">
            <a:avLst/>
          </a:prstGeom>
          <a:solidFill>
            <a:srgbClr val="1A1309"/>
          </a:solidFill>
          <a:ln w="19050">
            <a:solidFill>
              <a:srgbClr val="F0D58A"/>
            </a:solidFill>
          </a:ln>
        </p:spPr>
        <p:txBody>
          <a:bodyPr rtlCol="0" anchor="ctr"/>
          <a:lstStyle/>
          <a:p/>
        </p:txBody>
      </p:sp>
      <p:sp>
        <p:nvSpPr>
          <p:cNvPr id="53" name="Oval 52"/>
          <p:cNvSpPr/>
          <p:nvPr/>
        </p:nvSpPr>
        <p:spPr>
          <a:xfrm>
            <a:off x="6835694" y="1593787"/>
            <a:ext cx="164592" cy="164592"/>
          </a:xfrm>
          <a:prstGeom prst="ellipse">
            <a:avLst/>
          </a:prstGeom>
          <a:solidFill>
            <a:srgbClr val="1A1309"/>
          </a:solidFill>
          <a:ln w="19050">
            <a:solidFill>
              <a:srgbClr val="F0D58A"/>
            </a:solidFill>
          </a:ln>
        </p:spPr>
        <p:txBody>
          <a:bodyPr rtlCol="0" anchor="ctr"/>
          <a:lstStyle/>
          <a:p/>
        </p:txBody>
      </p:sp>
      <p:sp>
        <p:nvSpPr>
          <p:cNvPr id="54" name="Oval 53"/>
          <p:cNvSpPr/>
          <p:nvPr/>
        </p:nvSpPr>
        <p:spPr>
          <a:xfrm>
            <a:off x="7038746" y="2483418"/>
            <a:ext cx="164592" cy="164592"/>
          </a:xfrm>
          <a:prstGeom prst="ellipse">
            <a:avLst/>
          </a:prstGeom>
          <a:solidFill>
            <a:srgbClr val="1A1309"/>
          </a:solidFill>
          <a:ln w="19050">
            <a:solidFill>
              <a:srgbClr val="F0D58A"/>
            </a:solidFill>
          </a:ln>
        </p:spPr>
        <p:txBody>
          <a:bodyPr rtlCol="0" anchor="ctr"/>
          <a:lstStyle/>
          <a:p/>
        </p:txBody>
      </p:sp>
      <p:sp>
        <p:nvSpPr>
          <p:cNvPr id="55" name="Oval 54"/>
          <p:cNvSpPr/>
          <p:nvPr/>
        </p:nvSpPr>
        <p:spPr>
          <a:xfrm>
            <a:off x="6469806" y="3196846"/>
            <a:ext cx="164592" cy="164592"/>
          </a:xfrm>
          <a:prstGeom prst="ellipse">
            <a:avLst/>
          </a:prstGeom>
          <a:solidFill>
            <a:srgbClr val="1A1309"/>
          </a:solidFill>
          <a:ln w="19050">
            <a:solidFill>
              <a:srgbClr val="F0D58A"/>
            </a:solidFill>
          </a:ln>
        </p:spPr>
        <p:txBody>
          <a:bodyPr rtlCol="0" anchor="ctr"/>
          <a:lstStyle/>
          <a:p/>
        </p:txBody>
      </p:sp>
      <p:sp>
        <p:nvSpPr>
          <p:cNvPr id="56" name="Oval 55"/>
          <p:cNvSpPr/>
          <p:nvPr/>
        </p:nvSpPr>
        <p:spPr>
          <a:xfrm>
            <a:off x="5557296" y="3196846"/>
            <a:ext cx="164592" cy="164592"/>
          </a:xfrm>
          <a:prstGeom prst="ellipse">
            <a:avLst/>
          </a:prstGeom>
          <a:solidFill>
            <a:srgbClr val="1A1309"/>
          </a:solidFill>
          <a:ln w="19050">
            <a:solidFill>
              <a:srgbClr val="F0D58A"/>
            </a:solidFill>
          </a:ln>
        </p:spPr>
        <p:txBody>
          <a:bodyPr rtlCol="0" anchor="ctr"/>
          <a:lstStyle/>
          <a:p/>
        </p:txBody>
      </p:sp>
      <p:sp>
        <p:nvSpPr>
          <p:cNvPr id="57" name="Oval 56"/>
          <p:cNvSpPr/>
          <p:nvPr/>
        </p:nvSpPr>
        <p:spPr>
          <a:xfrm>
            <a:off x="4988356" y="2483418"/>
            <a:ext cx="164592" cy="164592"/>
          </a:xfrm>
          <a:prstGeom prst="ellipse">
            <a:avLst/>
          </a:prstGeom>
          <a:solidFill>
            <a:srgbClr val="1A1309"/>
          </a:solidFill>
          <a:ln w="19050">
            <a:solidFill>
              <a:srgbClr val="F0D58A"/>
            </a:solidFill>
          </a:ln>
        </p:spPr>
        <p:txBody>
          <a:bodyPr rtlCol="0" anchor="ctr"/>
          <a:lstStyle/>
          <a:p/>
        </p:txBody>
      </p:sp>
      <p:sp>
        <p:nvSpPr>
          <p:cNvPr id="58" name="Oval 57"/>
          <p:cNvSpPr/>
          <p:nvPr/>
        </p:nvSpPr>
        <p:spPr>
          <a:xfrm>
            <a:off x="5191408" y="1593787"/>
            <a:ext cx="164592" cy="164592"/>
          </a:xfrm>
          <a:prstGeom prst="ellipse">
            <a:avLst/>
          </a:prstGeom>
          <a:solidFill>
            <a:srgbClr val="1A1309"/>
          </a:solidFill>
          <a:ln w="19050">
            <a:solidFill>
              <a:srgbClr val="F0D58A"/>
            </a:solidFill>
          </a:ln>
        </p:spPr>
        <p:txBody>
          <a:bodyPr rtlCol="0" anchor="ctr"/>
          <a:lstStyle/>
          <a:p/>
        </p:txBody>
      </p:sp>
      <p:sp>
        <p:nvSpPr>
          <p:cNvPr id="59" name="Oval 58"/>
          <p:cNvSpPr/>
          <p:nvPr/>
        </p:nvSpPr>
        <p:spPr>
          <a:xfrm>
            <a:off x="5437479" y="1673351"/>
            <a:ext cx="1316736" cy="1316736"/>
          </a:xfrm>
          <a:prstGeom prst="ellipse">
            <a:avLst/>
          </a:prstGeom>
          <a:solidFill>
            <a:srgbClr val="1A1309"/>
          </a:solidFill>
          <a:ln w="25400">
            <a:solidFill>
              <a:srgbClr val="F0D58A"/>
            </a:solidFill>
          </a:ln>
        </p:spPr>
        <p:txBody>
          <a:bodyPr rtlCol="0" anchor="ctr"/>
          <a:lstStyle/>
          <a:p/>
        </p:txBody>
      </p:sp>
      <p:sp>
        <p:nvSpPr>
          <p:cNvPr id="60" name="Oval 59"/>
          <p:cNvSpPr/>
          <p:nvPr/>
        </p:nvSpPr>
        <p:spPr>
          <a:xfrm>
            <a:off x="5492343" y="1728216"/>
            <a:ext cx="1207007" cy="1207007"/>
          </a:xfrm>
          <a:prstGeom prst="ellipse">
            <a:avLst/>
          </a:prstGeom>
          <a:noFill/>
          <a:ln w="9525">
            <a:solidFill>
              <a:srgbClr val="7D6830"/>
            </a:solidFill>
          </a:ln>
        </p:spPr>
        <p:txBody>
          <a:bodyPr rtlCol="0" anchor="ctr"/>
          <a:lstStyle/>
          <a:p/>
        </p:txBody>
      </p:sp>
      <p:sp>
        <p:nvSpPr>
          <p:cNvPr id="61" name="TextBox 60"/>
          <p:cNvSpPr txBox="1"/>
          <p:nvPr/>
        </p:nvSpPr>
        <p:spPr>
          <a:xfrm>
            <a:off x="5437479" y="1673351"/>
            <a:ext cx="1316736" cy="1316736"/>
          </a:xfrm>
          <a:prstGeom prst="rect">
            <a:avLst/>
          </a:prstGeom>
          <a:noFill/>
        </p:spPr>
        <p:txBody>
          <a:bodyPr wrap="square" lIns="0" rIns="0" tIns="0" bIns="0" anchor="ctr">
            <a:spAutoFit/>
          </a:bodyPr>
          <a:lstStyle/>
          <a:p>
            <a:pPr algn="ctr"/>
            <a:r>
              <a:rPr sz="4000" b="1" i="0">
                <a:solidFill>
                  <a:srgbClr val="F0D58A"/>
                </a:solidFill>
                <a:latin typeface="Cinzel"/>
              </a:rPr>
              <a:t>II</a:t>
            </a:r>
          </a:p>
        </p:txBody>
      </p:sp>
      <p:sp>
        <p:nvSpPr>
          <p:cNvPr id="62" name="TextBox 61"/>
          <p:cNvSpPr txBox="1"/>
          <p:nvPr/>
        </p:nvSpPr>
        <p:spPr>
          <a:xfrm>
            <a:off x="5181447" y="3703320"/>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SECRET #2</a:t>
            </a:r>
          </a:p>
        </p:txBody>
      </p:sp>
      <p:cxnSp>
        <p:nvCxnSpPr>
          <p:cNvPr id="63" name="Connector 62"/>
          <p:cNvCxnSpPr/>
          <p:nvPr/>
        </p:nvCxnSpPr>
        <p:spPr>
          <a:xfrm>
            <a:off x="3809847"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4" name="Diamond 63"/>
          <p:cNvSpPr/>
          <p:nvPr/>
        </p:nvSpPr>
        <p:spPr>
          <a:xfrm>
            <a:off x="3759555" y="3817620"/>
            <a:ext cx="100584" cy="100584"/>
          </a:xfrm>
          <a:prstGeom prst="diamond">
            <a:avLst/>
          </a:prstGeom>
          <a:solidFill>
            <a:srgbClr val="C9A84C"/>
          </a:solidFill>
          <a:ln>
            <a:noFill/>
          </a:ln>
        </p:spPr>
        <p:txBody>
          <a:bodyPr rtlCol="0" anchor="ctr"/>
          <a:lstStyle/>
          <a:p/>
        </p:txBody>
      </p:sp>
      <p:cxnSp>
        <p:nvCxnSpPr>
          <p:cNvPr id="65" name="Connector 64"/>
          <p:cNvCxnSpPr/>
          <p:nvPr/>
        </p:nvCxnSpPr>
        <p:spPr>
          <a:xfrm>
            <a:off x="7147407"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6" name="Diamond 65"/>
          <p:cNvSpPr/>
          <p:nvPr/>
        </p:nvSpPr>
        <p:spPr>
          <a:xfrm>
            <a:off x="8331555" y="3817620"/>
            <a:ext cx="100584" cy="100584"/>
          </a:xfrm>
          <a:prstGeom prst="diamond">
            <a:avLst/>
          </a:prstGeom>
          <a:solidFill>
            <a:srgbClr val="C9A84C"/>
          </a:solidFill>
          <a:ln>
            <a:noFill/>
          </a:ln>
        </p:spPr>
        <p:txBody>
          <a:bodyPr rtlCol="0" anchor="ctr"/>
          <a:lstStyle/>
          <a:p/>
        </p:txBody>
      </p:sp>
      <p:sp>
        <p:nvSpPr>
          <p:cNvPr id="67" name="TextBox 66"/>
          <p:cNvSpPr txBox="1"/>
          <p:nvPr/>
        </p:nvSpPr>
        <p:spPr>
          <a:xfrm>
            <a:off x="914400" y="4069080"/>
            <a:ext cx="10362895" cy="1097280"/>
          </a:xfrm>
          <a:prstGeom prst="rect">
            <a:avLst/>
          </a:prstGeom>
          <a:noFill/>
        </p:spPr>
        <p:txBody>
          <a:bodyPr wrap="square" lIns="0" rIns="0" tIns="0" bIns="0" anchor="ctr">
            <a:spAutoFit/>
          </a:bodyPr>
          <a:lstStyle/>
          <a:p>
            <a:pPr algn="ctr">
              <a:lnSpc>
                <a:spcPct val="105000"/>
              </a:lnSpc>
            </a:pPr>
            <a:r>
              <a:rPr sz="6000" b="1" i="0">
                <a:solidFill>
                  <a:srgbClr val="F0D58A"/>
                </a:solidFill>
                <a:latin typeface="Cinzel"/>
              </a:rPr>
              <a:t>The Foundation</a:t>
            </a:r>
          </a:p>
        </p:txBody>
      </p:sp>
      <p:sp>
        <p:nvSpPr>
          <p:cNvPr id="68" name="TextBox 67"/>
          <p:cNvSpPr txBox="1"/>
          <p:nvPr/>
        </p:nvSpPr>
        <p:spPr>
          <a:xfrm>
            <a:off x="1371600" y="5166360"/>
            <a:ext cx="9448495" cy="548640"/>
          </a:xfrm>
          <a:prstGeom prst="rect">
            <a:avLst/>
          </a:prstGeom>
          <a:noFill/>
        </p:spPr>
        <p:txBody>
          <a:bodyPr wrap="square" lIns="0" rIns="0" tIns="0" bIns="0" anchor="t">
            <a:spAutoFit/>
          </a:bodyPr>
          <a:lstStyle/>
          <a:p>
            <a:pPr algn="ctr">
              <a:lnSpc>
                <a:spcPct val="120000"/>
              </a:lnSpc>
            </a:pPr>
            <a:r>
              <a:rPr sz="2200" b="0" i="1">
                <a:solidFill>
                  <a:srgbClr val="B9A57A"/>
                </a:solidFill>
                <a:latin typeface="Montserrat"/>
              </a:rPr>
              <a:t>How your credit file actually works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238062" y="3923189"/>
            <a:ext cx="73152" cy="73152"/>
          </a:xfrm>
          <a:prstGeom prst="ellipse">
            <a:avLst/>
          </a:prstGeom>
          <a:solidFill>
            <a:srgbClr val="594A23"/>
          </a:solidFill>
          <a:ln>
            <a:noFill/>
          </a:ln>
        </p:spPr>
        <p:txBody>
          <a:bodyPr rtlCol="0" anchor="ctr"/>
          <a:lstStyle/>
          <a:p/>
        </p:txBody>
      </p:sp>
      <p:sp>
        <p:nvSpPr>
          <p:cNvPr id="4" name="Oval 3"/>
          <p:cNvSpPr/>
          <p:nvPr/>
        </p:nvSpPr>
        <p:spPr>
          <a:xfrm>
            <a:off x="10992328" y="2701092"/>
            <a:ext cx="73152" cy="73152"/>
          </a:xfrm>
          <a:prstGeom prst="ellipse">
            <a:avLst/>
          </a:prstGeom>
          <a:solidFill>
            <a:srgbClr val="BFA96E"/>
          </a:solidFill>
          <a:ln>
            <a:noFill/>
          </a:ln>
        </p:spPr>
        <p:txBody>
          <a:bodyPr rtlCol="0" anchor="ctr"/>
          <a:lstStyle/>
          <a:p/>
        </p:txBody>
      </p:sp>
      <p:sp>
        <p:nvSpPr>
          <p:cNvPr id="5" name="Oval 4"/>
          <p:cNvSpPr/>
          <p:nvPr/>
        </p:nvSpPr>
        <p:spPr>
          <a:xfrm>
            <a:off x="10077345" y="4242158"/>
            <a:ext cx="27432" cy="27432"/>
          </a:xfrm>
          <a:prstGeom prst="ellipse">
            <a:avLst/>
          </a:prstGeom>
          <a:solidFill>
            <a:srgbClr val="4D3315"/>
          </a:solidFill>
          <a:ln>
            <a:noFill/>
          </a:ln>
        </p:spPr>
        <p:txBody>
          <a:bodyPr rtlCol="0" anchor="ctr"/>
          <a:lstStyle/>
          <a:p/>
        </p:txBody>
      </p:sp>
      <p:sp>
        <p:nvSpPr>
          <p:cNvPr id="6" name="Oval 5"/>
          <p:cNvSpPr/>
          <p:nvPr/>
        </p:nvSpPr>
        <p:spPr>
          <a:xfrm>
            <a:off x="4139583" y="3978148"/>
            <a:ext cx="54864" cy="54864"/>
          </a:xfrm>
          <a:prstGeom prst="ellipse">
            <a:avLst/>
          </a:prstGeom>
          <a:solidFill>
            <a:srgbClr val="A86D2B"/>
          </a:solidFill>
          <a:ln>
            <a:noFill/>
          </a:ln>
        </p:spPr>
        <p:txBody>
          <a:bodyPr rtlCol="0" anchor="ctr"/>
          <a:lstStyle/>
          <a:p/>
        </p:txBody>
      </p:sp>
      <p:sp>
        <p:nvSpPr>
          <p:cNvPr id="7" name="Oval 6"/>
          <p:cNvSpPr/>
          <p:nvPr/>
        </p:nvSpPr>
        <p:spPr>
          <a:xfrm>
            <a:off x="5490836" y="1378762"/>
            <a:ext cx="36576" cy="36576"/>
          </a:xfrm>
          <a:prstGeom prst="ellipse">
            <a:avLst/>
          </a:prstGeom>
          <a:solidFill>
            <a:srgbClr val="A26929"/>
          </a:solidFill>
          <a:ln>
            <a:noFill/>
          </a:ln>
        </p:spPr>
        <p:txBody>
          <a:bodyPr rtlCol="0" anchor="ctr"/>
          <a:lstStyle/>
          <a:p/>
        </p:txBody>
      </p:sp>
      <p:sp>
        <p:nvSpPr>
          <p:cNvPr id="8" name="Oval 7"/>
          <p:cNvSpPr/>
          <p:nvPr/>
        </p:nvSpPr>
        <p:spPr>
          <a:xfrm>
            <a:off x="6365150" y="3596880"/>
            <a:ext cx="73152" cy="73152"/>
          </a:xfrm>
          <a:prstGeom prst="ellipse">
            <a:avLst/>
          </a:prstGeom>
          <a:solidFill>
            <a:srgbClr val="67431C"/>
          </a:solidFill>
          <a:ln>
            <a:noFill/>
          </a:ln>
        </p:spPr>
        <p:txBody>
          <a:bodyPr rtlCol="0" anchor="ctr"/>
          <a:lstStyle/>
          <a:p/>
        </p:txBody>
      </p:sp>
      <p:sp>
        <p:nvSpPr>
          <p:cNvPr id="9" name="Oval 8"/>
          <p:cNvSpPr/>
          <p:nvPr/>
        </p:nvSpPr>
        <p:spPr>
          <a:xfrm>
            <a:off x="8966478" y="5232084"/>
            <a:ext cx="73152" cy="73152"/>
          </a:xfrm>
          <a:prstGeom prst="ellipse">
            <a:avLst/>
          </a:prstGeom>
          <a:solidFill>
            <a:srgbClr val="815422"/>
          </a:solidFill>
          <a:ln>
            <a:noFill/>
          </a:ln>
        </p:spPr>
        <p:txBody>
          <a:bodyPr rtlCol="0" anchor="ctr"/>
          <a:lstStyle/>
          <a:p/>
        </p:txBody>
      </p:sp>
      <p:sp>
        <p:nvSpPr>
          <p:cNvPr id="10" name="Oval 9"/>
          <p:cNvSpPr/>
          <p:nvPr/>
        </p:nvSpPr>
        <p:spPr>
          <a:xfrm>
            <a:off x="9038127" y="3855208"/>
            <a:ext cx="45720" cy="45720"/>
          </a:xfrm>
          <a:prstGeom prst="ellipse">
            <a:avLst/>
          </a:prstGeom>
          <a:solidFill>
            <a:srgbClr val="6C5A2A"/>
          </a:solidFill>
          <a:ln>
            <a:noFill/>
          </a:ln>
        </p:spPr>
        <p:txBody>
          <a:bodyPr rtlCol="0" anchor="ctr"/>
          <a:lstStyle/>
          <a:p/>
        </p:txBody>
      </p:sp>
      <p:sp>
        <p:nvSpPr>
          <p:cNvPr id="11" name="Oval 10"/>
          <p:cNvSpPr/>
          <p:nvPr/>
        </p:nvSpPr>
        <p:spPr>
          <a:xfrm>
            <a:off x="10089080" y="5686895"/>
            <a:ext cx="73152" cy="73152"/>
          </a:xfrm>
          <a:prstGeom prst="ellipse">
            <a:avLst/>
          </a:prstGeom>
          <a:solidFill>
            <a:srgbClr val="9D833C"/>
          </a:solidFill>
          <a:ln>
            <a:noFill/>
          </a:ln>
        </p:spPr>
        <p:txBody>
          <a:bodyPr rtlCol="0" anchor="ctr"/>
          <a:lstStyle/>
          <a:p/>
        </p:txBody>
      </p:sp>
      <p:sp>
        <p:nvSpPr>
          <p:cNvPr id="12" name="Oval 11"/>
          <p:cNvSpPr/>
          <p:nvPr/>
        </p:nvSpPr>
        <p:spPr>
          <a:xfrm>
            <a:off x="10192392" y="1935368"/>
            <a:ext cx="45720" cy="45720"/>
          </a:xfrm>
          <a:prstGeom prst="ellipse">
            <a:avLst/>
          </a:prstGeom>
          <a:solidFill>
            <a:srgbClr val="5F4F25"/>
          </a:solidFill>
          <a:ln>
            <a:noFill/>
          </a:ln>
        </p:spPr>
        <p:txBody>
          <a:bodyPr rtlCol="0" anchor="ctr"/>
          <a:lstStyle/>
          <a:p/>
        </p:txBody>
      </p:sp>
      <p:sp>
        <p:nvSpPr>
          <p:cNvPr id="13" name="Oval 12"/>
          <p:cNvSpPr/>
          <p:nvPr/>
        </p:nvSpPr>
        <p:spPr>
          <a:xfrm>
            <a:off x="6693001" y="1336427"/>
            <a:ext cx="27432" cy="27432"/>
          </a:xfrm>
          <a:prstGeom prst="ellipse">
            <a:avLst/>
          </a:prstGeom>
          <a:solidFill>
            <a:srgbClr val="7F6A31"/>
          </a:solidFill>
          <a:ln>
            <a:noFill/>
          </a:ln>
        </p:spPr>
        <p:txBody>
          <a:bodyPr rtlCol="0" anchor="ctr"/>
          <a:lstStyle/>
          <a:p/>
        </p:txBody>
      </p:sp>
      <p:sp>
        <p:nvSpPr>
          <p:cNvPr id="14" name="Oval 13"/>
          <p:cNvSpPr/>
          <p:nvPr/>
        </p:nvSpPr>
        <p:spPr>
          <a:xfrm>
            <a:off x="3589159" y="4035790"/>
            <a:ext cx="54864" cy="54864"/>
          </a:xfrm>
          <a:prstGeom prst="ellipse">
            <a:avLst/>
          </a:prstGeom>
          <a:solidFill>
            <a:srgbClr val="6D603E"/>
          </a:solidFill>
          <a:ln>
            <a:noFill/>
          </a:ln>
        </p:spPr>
        <p:txBody>
          <a:bodyPr rtlCol="0" anchor="ctr"/>
          <a:lstStyle/>
          <a:p/>
        </p:txBody>
      </p:sp>
      <p:sp>
        <p:nvSpPr>
          <p:cNvPr id="15" name="Oval 14"/>
          <p:cNvSpPr/>
          <p:nvPr/>
        </p:nvSpPr>
        <p:spPr>
          <a:xfrm>
            <a:off x="8062818" y="456194"/>
            <a:ext cx="36576" cy="36576"/>
          </a:xfrm>
          <a:prstGeom prst="ellipse">
            <a:avLst/>
          </a:prstGeom>
          <a:solidFill>
            <a:srgbClr val="776944"/>
          </a:solidFill>
          <a:ln>
            <a:noFill/>
          </a:ln>
        </p:spPr>
        <p:txBody>
          <a:bodyPr rtlCol="0" anchor="ctr"/>
          <a:lstStyle/>
          <a:p/>
        </p:txBody>
      </p:sp>
      <p:sp>
        <p:nvSpPr>
          <p:cNvPr id="16" name="Oval 15"/>
          <p:cNvSpPr/>
          <p:nvPr/>
        </p:nvSpPr>
        <p:spPr>
          <a:xfrm>
            <a:off x="10799098" y="1173498"/>
            <a:ext cx="54864" cy="54864"/>
          </a:xfrm>
          <a:prstGeom prst="ellipse">
            <a:avLst/>
          </a:prstGeom>
          <a:solidFill>
            <a:srgbClr val="695D3C"/>
          </a:solidFill>
          <a:ln>
            <a:noFill/>
          </a:ln>
        </p:spPr>
        <p:txBody>
          <a:bodyPr rtlCol="0" anchor="ctr"/>
          <a:lstStyle/>
          <a:p/>
        </p:txBody>
      </p:sp>
      <p:sp>
        <p:nvSpPr>
          <p:cNvPr id="17" name="Oval 16"/>
          <p:cNvSpPr/>
          <p:nvPr/>
        </p:nvSpPr>
        <p:spPr>
          <a:xfrm>
            <a:off x="11364227" y="5534636"/>
            <a:ext cx="27432" cy="27432"/>
          </a:xfrm>
          <a:prstGeom prst="ellipse">
            <a:avLst/>
          </a:prstGeom>
          <a:solidFill>
            <a:srgbClr val="3F3419"/>
          </a:solidFill>
          <a:ln>
            <a:noFill/>
          </a:ln>
        </p:spPr>
        <p:txBody>
          <a:bodyPr rtlCol="0" anchor="ctr"/>
          <a:lstStyle/>
          <a:p/>
        </p:txBody>
      </p:sp>
      <p:sp>
        <p:nvSpPr>
          <p:cNvPr id="18" name="Oval 17"/>
          <p:cNvSpPr/>
          <p:nvPr/>
        </p:nvSpPr>
        <p:spPr>
          <a:xfrm>
            <a:off x="1746905" y="5958374"/>
            <a:ext cx="45720" cy="45720"/>
          </a:xfrm>
          <a:prstGeom prst="ellipse">
            <a:avLst/>
          </a:prstGeom>
          <a:solidFill>
            <a:srgbClr val="977E39"/>
          </a:solidFill>
          <a:ln>
            <a:noFill/>
          </a:ln>
        </p:spPr>
        <p:txBody>
          <a:bodyPr rtlCol="0" anchor="ctr"/>
          <a:lstStyle/>
          <a:p/>
        </p:txBody>
      </p:sp>
      <p:sp>
        <p:nvSpPr>
          <p:cNvPr id="19" name="Oval 18"/>
          <p:cNvSpPr/>
          <p:nvPr/>
        </p:nvSpPr>
        <p:spPr>
          <a:xfrm>
            <a:off x="6265644" y="415455"/>
            <a:ext cx="27432" cy="27432"/>
          </a:xfrm>
          <a:prstGeom prst="ellipse">
            <a:avLst/>
          </a:prstGeom>
          <a:solidFill>
            <a:srgbClr val="9F8C5B"/>
          </a:solidFill>
          <a:ln>
            <a:noFill/>
          </a:ln>
        </p:spPr>
        <p:txBody>
          <a:bodyPr rtlCol="0" anchor="ctr"/>
          <a:lstStyle/>
          <a:p/>
        </p:txBody>
      </p:sp>
      <p:sp>
        <p:nvSpPr>
          <p:cNvPr id="20" name="Oval 19"/>
          <p:cNvSpPr/>
          <p:nvPr/>
        </p:nvSpPr>
        <p:spPr>
          <a:xfrm>
            <a:off x="3008542" y="530282"/>
            <a:ext cx="45720" cy="45720"/>
          </a:xfrm>
          <a:prstGeom prst="ellipse">
            <a:avLst/>
          </a:prstGeom>
          <a:solidFill>
            <a:srgbClr val="65593A"/>
          </a:solidFill>
          <a:ln>
            <a:noFill/>
          </a:ln>
        </p:spPr>
        <p:txBody>
          <a:bodyPr rtlCol="0" anchor="ctr"/>
          <a:lstStyle/>
          <a:p/>
        </p:txBody>
      </p:sp>
      <p:sp>
        <p:nvSpPr>
          <p:cNvPr id="21" name="Oval 20"/>
          <p:cNvSpPr/>
          <p:nvPr/>
        </p:nvSpPr>
        <p:spPr>
          <a:xfrm>
            <a:off x="1819755" y="1035972"/>
            <a:ext cx="27432" cy="27432"/>
          </a:xfrm>
          <a:prstGeom prst="ellipse">
            <a:avLst/>
          </a:prstGeom>
          <a:solidFill>
            <a:srgbClr val="AF9B64"/>
          </a:solidFill>
          <a:ln>
            <a:noFill/>
          </a:ln>
        </p:spPr>
        <p:txBody>
          <a:bodyPr rtlCol="0" anchor="ctr"/>
          <a:lstStyle/>
          <a:p/>
        </p:txBody>
      </p:sp>
      <p:sp>
        <p:nvSpPr>
          <p:cNvPr id="22" name="Oval 21"/>
          <p:cNvSpPr/>
          <p:nvPr/>
        </p:nvSpPr>
        <p:spPr>
          <a:xfrm>
            <a:off x="10285979" y="1564952"/>
            <a:ext cx="54864" cy="54864"/>
          </a:xfrm>
          <a:prstGeom prst="ellipse">
            <a:avLst/>
          </a:prstGeom>
          <a:solidFill>
            <a:srgbClr val="967D39"/>
          </a:solidFill>
          <a:ln>
            <a:noFill/>
          </a:ln>
        </p:spPr>
        <p:txBody>
          <a:bodyPr rtlCol="0" anchor="ctr"/>
          <a:lstStyle/>
          <a:p/>
        </p:txBody>
      </p:sp>
      <p:sp>
        <p:nvSpPr>
          <p:cNvPr id="23" name="Oval 22"/>
          <p:cNvSpPr/>
          <p:nvPr/>
        </p:nvSpPr>
        <p:spPr>
          <a:xfrm>
            <a:off x="3157621" y="2347467"/>
            <a:ext cx="73152" cy="73152"/>
          </a:xfrm>
          <a:prstGeom prst="ellipse">
            <a:avLst/>
          </a:prstGeom>
          <a:solidFill>
            <a:srgbClr val="938254"/>
          </a:solidFill>
          <a:ln>
            <a:noFill/>
          </a:ln>
        </p:spPr>
        <p:txBody>
          <a:bodyPr rtlCol="0" anchor="ctr"/>
          <a:lstStyle/>
          <a:p/>
        </p:txBody>
      </p:sp>
      <p:sp>
        <p:nvSpPr>
          <p:cNvPr id="24" name="Oval 23"/>
          <p:cNvSpPr/>
          <p:nvPr/>
        </p:nvSpPr>
        <p:spPr>
          <a:xfrm>
            <a:off x="3257971" y="1740525"/>
            <a:ext cx="73152" cy="73152"/>
          </a:xfrm>
          <a:prstGeom prst="ellipse">
            <a:avLst/>
          </a:prstGeom>
          <a:solidFill>
            <a:srgbClr val="A26929"/>
          </a:solidFill>
          <a:ln>
            <a:noFill/>
          </a:ln>
        </p:spPr>
        <p:txBody>
          <a:bodyPr rtlCol="0" anchor="ctr"/>
          <a:lstStyle/>
          <a:p/>
        </p:txBody>
      </p:sp>
      <p:sp>
        <p:nvSpPr>
          <p:cNvPr id="25" name="Oval 24"/>
          <p:cNvSpPr/>
          <p:nvPr/>
        </p:nvSpPr>
        <p:spPr>
          <a:xfrm>
            <a:off x="10599242" y="2814888"/>
            <a:ext cx="27432" cy="27432"/>
          </a:xfrm>
          <a:prstGeom prst="ellipse">
            <a:avLst/>
          </a:prstGeom>
          <a:solidFill>
            <a:srgbClr val="977E3A"/>
          </a:solidFill>
          <a:ln>
            <a:noFill/>
          </a:ln>
        </p:spPr>
        <p:txBody>
          <a:bodyPr rtlCol="0" anchor="ctr"/>
          <a:lstStyle/>
          <a:p/>
        </p:txBody>
      </p:sp>
      <p:sp>
        <p:nvSpPr>
          <p:cNvPr id="26" name="Oval 25"/>
          <p:cNvSpPr/>
          <p:nvPr/>
        </p:nvSpPr>
        <p:spPr>
          <a:xfrm>
            <a:off x="5036016" y="1056206"/>
            <a:ext cx="45720" cy="45720"/>
          </a:xfrm>
          <a:prstGeom prst="ellipse">
            <a:avLst/>
          </a:prstGeom>
          <a:solidFill>
            <a:srgbClr val="746642"/>
          </a:solidFill>
          <a:ln>
            <a:noFill/>
          </a:ln>
        </p:spPr>
        <p:txBody>
          <a:bodyPr rtlCol="0" anchor="ctr"/>
          <a:lstStyle/>
          <a:p/>
        </p:txBody>
      </p:sp>
      <p:sp>
        <p:nvSpPr>
          <p:cNvPr id="27" name="Oval 26"/>
          <p:cNvSpPr/>
          <p:nvPr/>
        </p:nvSpPr>
        <p:spPr>
          <a:xfrm>
            <a:off x="9383318" y="526727"/>
            <a:ext cx="54864" cy="54864"/>
          </a:xfrm>
          <a:prstGeom prst="ellipse">
            <a:avLst/>
          </a:prstGeom>
          <a:solidFill>
            <a:srgbClr val="724A1E"/>
          </a:solidFill>
          <a:ln>
            <a:noFill/>
          </a:ln>
        </p:spPr>
        <p:txBody>
          <a:bodyPr rtlCol="0" anchor="ctr"/>
          <a:lstStyle/>
          <a:p/>
        </p:txBody>
      </p:sp>
      <p:sp>
        <p:nvSpPr>
          <p:cNvPr id="28" name="Oval 27"/>
          <p:cNvSpPr/>
          <p:nvPr/>
        </p:nvSpPr>
        <p:spPr>
          <a:xfrm>
            <a:off x="2318155" y="4056419"/>
            <a:ext cx="36576" cy="36576"/>
          </a:xfrm>
          <a:prstGeom prst="ellipse">
            <a:avLst/>
          </a:prstGeom>
          <a:solidFill>
            <a:srgbClr val="915E25"/>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3979011" y="1242441"/>
            <a:ext cx="4233672" cy="329184"/>
          </a:xfrm>
          <a:prstGeom prst="rect">
            <a:avLst/>
          </a:prstGeom>
          <a:noFill/>
        </p:spPr>
        <p:txBody>
          <a:bodyPr wrap="square" lIns="0" rIns="0" tIns="0" bIns="0" anchor="ctr">
            <a:spAutoFit/>
          </a:bodyPr>
          <a:lstStyle/>
          <a:p>
            <a:pPr algn="ctr"/>
            <a:r>
              <a:rPr sz="1300" b="1" i="0" spc="400">
                <a:solidFill>
                  <a:srgbClr val="C9A84C"/>
                </a:solidFill>
                <a:latin typeface="Montserrat"/>
              </a:rPr>
              <a:t>SECRET #2 · THE FOUNDATION</a:t>
            </a:r>
          </a:p>
        </p:txBody>
      </p:sp>
      <p:cxnSp>
        <p:nvCxnSpPr>
          <p:cNvPr id="50" name="Connector 49"/>
          <p:cNvCxnSpPr/>
          <p:nvPr/>
        </p:nvCxnSpPr>
        <p:spPr>
          <a:xfrm>
            <a:off x="2607411" y="140703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557119" y="1356741"/>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8349843" y="140703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533991" y="1356741"/>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635632"/>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What's actually in your file</a:t>
            </a:r>
          </a:p>
        </p:txBody>
      </p:sp>
      <p:sp>
        <p:nvSpPr>
          <p:cNvPr id="55" name="Rounded Rectangle 54"/>
          <p:cNvSpPr/>
          <p:nvPr/>
        </p:nvSpPr>
        <p:spPr>
          <a:xfrm>
            <a:off x="914400" y="2443353"/>
            <a:ext cx="2350693" cy="2126742"/>
          </a:xfrm>
          <a:prstGeom prst="roundRect">
            <a:avLst>
              <a:gd name="adj" fmla="val 6000"/>
            </a:avLst>
          </a:prstGeom>
          <a:solidFill>
            <a:srgbClr val="100D07"/>
          </a:solidFill>
          <a:ln w="15875">
            <a:solidFill>
              <a:srgbClr val="877034"/>
            </a:solidFill>
          </a:ln>
        </p:spPr>
        <p:txBody>
          <a:bodyPr rtlCol="0" anchor="ctr"/>
          <a:lstStyle/>
          <a:p/>
        </p:txBody>
      </p:sp>
      <p:sp>
        <p:nvSpPr>
          <p:cNvPr id="56" name="TextBox 55"/>
          <p:cNvSpPr txBox="1"/>
          <p:nvPr/>
        </p:nvSpPr>
        <p:spPr>
          <a:xfrm>
            <a:off x="1097280" y="2671953"/>
            <a:ext cx="1984933" cy="453390"/>
          </a:xfrm>
          <a:prstGeom prst="rect">
            <a:avLst/>
          </a:prstGeom>
          <a:noFill/>
        </p:spPr>
        <p:txBody>
          <a:bodyPr wrap="square" lIns="0" rIns="0" tIns="0" bIns="0" anchor="ctr">
            <a:spAutoFit/>
          </a:bodyPr>
          <a:lstStyle/>
          <a:p>
            <a:pPr algn="ctr">
              <a:lnSpc>
                <a:spcPct val="105000"/>
              </a:lnSpc>
            </a:pPr>
            <a:r>
              <a:rPr sz="1700" b="1" i="0">
                <a:solidFill>
                  <a:srgbClr val="F0D58A"/>
                </a:solidFill>
                <a:latin typeface="Cinzel"/>
              </a:rPr>
              <a:t>Personal info</a:t>
            </a:r>
          </a:p>
        </p:txBody>
      </p:sp>
      <p:sp>
        <p:nvSpPr>
          <p:cNvPr id="57" name="TextBox 56"/>
          <p:cNvSpPr txBox="1"/>
          <p:nvPr/>
        </p:nvSpPr>
        <p:spPr>
          <a:xfrm>
            <a:off x="1143000" y="3308223"/>
            <a:ext cx="1893493"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Names, addresses, employers</a:t>
            </a:r>
          </a:p>
        </p:txBody>
      </p:sp>
      <p:sp>
        <p:nvSpPr>
          <p:cNvPr id="58" name="Rounded Rectangle 57"/>
          <p:cNvSpPr/>
          <p:nvPr/>
        </p:nvSpPr>
        <p:spPr>
          <a:xfrm>
            <a:off x="3585133" y="2443353"/>
            <a:ext cx="2350693" cy="2126742"/>
          </a:xfrm>
          <a:prstGeom prst="roundRect">
            <a:avLst>
              <a:gd name="adj" fmla="val 6000"/>
            </a:avLst>
          </a:prstGeom>
          <a:solidFill>
            <a:srgbClr val="100D07"/>
          </a:solidFill>
          <a:ln w="15875">
            <a:solidFill>
              <a:srgbClr val="877034"/>
            </a:solidFill>
          </a:ln>
        </p:spPr>
        <p:txBody>
          <a:bodyPr rtlCol="0" anchor="ctr"/>
          <a:lstStyle/>
          <a:p/>
        </p:txBody>
      </p:sp>
      <p:sp>
        <p:nvSpPr>
          <p:cNvPr id="59" name="TextBox 58"/>
          <p:cNvSpPr txBox="1"/>
          <p:nvPr/>
        </p:nvSpPr>
        <p:spPr>
          <a:xfrm>
            <a:off x="3768013" y="2671953"/>
            <a:ext cx="1984933" cy="453390"/>
          </a:xfrm>
          <a:prstGeom prst="rect">
            <a:avLst/>
          </a:prstGeom>
          <a:noFill/>
        </p:spPr>
        <p:txBody>
          <a:bodyPr wrap="square" lIns="0" rIns="0" tIns="0" bIns="0" anchor="ctr">
            <a:spAutoFit/>
          </a:bodyPr>
          <a:lstStyle/>
          <a:p>
            <a:pPr algn="ctr">
              <a:lnSpc>
                <a:spcPct val="105000"/>
              </a:lnSpc>
            </a:pPr>
            <a:r>
              <a:rPr sz="1700" b="1" i="0">
                <a:solidFill>
                  <a:srgbClr val="F0D58A"/>
                </a:solidFill>
                <a:latin typeface="Cinzel"/>
              </a:rPr>
              <a:t>Accounts</a:t>
            </a:r>
          </a:p>
        </p:txBody>
      </p:sp>
      <p:sp>
        <p:nvSpPr>
          <p:cNvPr id="60" name="TextBox 59"/>
          <p:cNvSpPr txBox="1"/>
          <p:nvPr/>
        </p:nvSpPr>
        <p:spPr>
          <a:xfrm>
            <a:off x="3813733" y="3308223"/>
            <a:ext cx="1893493"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Every card and loan — and how you've paid</a:t>
            </a:r>
          </a:p>
        </p:txBody>
      </p:sp>
      <p:sp>
        <p:nvSpPr>
          <p:cNvPr id="61" name="Rounded Rectangle 60"/>
          <p:cNvSpPr/>
          <p:nvPr/>
        </p:nvSpPr>
        <p:spPr>
          <a:xfrm>
            <a:off x="6255867" y="2443353"/>
            <a:ext cx="2350693" cy="2126742"/>
          </a:xfrm>
          <a:prstGeom prst="roundRect">
            <a:avLst>
              <a:gd name="adj" fmla="val 6000"/>
            </a:avLst>
          </a:prstGeom>
          <a:solidFill>
            <a:srgbClr val="100D07"/>
          </a:solidFill>
          <a:ln w="15875">
            <a:solidFill>
              <a:srgbClr val="877034"/>
            </a:solidFill>
          </a:ln>
        </p:spPr>
        <p:txBody>
          <a:bodyPr rtlCol="0" anchor="ctr"/>
          <a:lstStyle/>
          <a:p/>
        </p:txBody>
      </p:sp>
      <p:sp>
        <p:nvSpPr>
          <p:cNvPr id="62" name="TextBox 61"/>
          <p:cNvSpPr txBox="1"/>
          <p:nvPr/>
        </p:nvSpPr>
        <p:spPr>
          <a:xfrm>
            <a:off x="6438747" y="2671953"/>
            <a:ext cx="1984933" cy="453390"/>
          </a:xfrm>
          <a:prstGeom prst="rect">
            <a:avLst/>
          </a:prstGeom>
          <a:noFill/>
        </p:spPr>
        <p:txBody>
          <a:bodyPr wrap="square" lIns="0" rIns="0" tIns="0" bIns="0" anchor="ctr">
            <a:spAutoFit/>
          </a:bodyPr>
          <a:lstStyle/>
          <a:p>
            <a:pPr algn="ctr">
              <a:lnSpc>
                <a:spcPct val="105000"/>
              </a:lnSpc>
            </a:pPr>
            <a:r>
              <a:rPr sz="1700" b="1" i="0">
                <a:solidFill>
                  <a:srgbClr val="F0D58A"/>
                </a:solidFill>
                <a:latin typeface="Cinzel"/>
              </a:rPr>
              <a:t>Public records</a:t>
            </a:r>
          </a:p>
        </p:txBody>
      </p:sp>
      <p:sp>
        <p:nvSpPr>
          <p:cNvPr id="63" name="TextBox 62"/>
          <p:cNvSpPr txBox="1"/>
          <p:nvPr/>
        </p:nvSpPr>
        <p:spPr>
          <a:xfrm>
            <a:off x="6484467" y="3308223"/>
            <a:ext cx="1893493"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Such as bankruptcies</a:t>
            </a:r>
          </a:p>
        </p:txBody>
      </p:sp>
      <p:sp>
        <p:nvSpPr>
          <p:cNvPr id="64" name="Rounded Rectangle 63"/>
          <p:cNvSpPr/>
          <p:nvPr/>
        </p:nvSpPr>
        <p:spPr>
          <a:xfrm>
            <a:off x="8926601" y="2443353"/>
            <a:ext cx="2350693" cy="2126742"/>
          </a:xfrm>
          <a:prstGeom prst="roundRect">
            <a:avLst>
              <a:gd name="adj" fmla="val 6000"/>
            </a:avLst>
          </a:prstGeom>
          <a:solidFill>
            <a:srgbClr val="100D07"/>
          </a:solidFill>
          <a:ln w="15875">
            <a:solidFill>
              <a:srgbClr val="877034"/>
            </a:solidFill>
          </a:ln>
        </p:spPr>
        <p:txBody>
          <a:bodyPr rtlCol="0" anchor="ctr"/>
          <a:lstStyle/>
          <a:p/>
        </p:txBody>
      </p:sp>
      <p:sp>
        <p:nvSpPr>
          <p:cNvPr id="65" name="TextBox 64"/>
          <p:cNvSpPr txBox="1"/>
          <p:nvPr/>
        </p:nvSpPr>
        <p:spPr>
          <a:xfrm>
            <a:off x="9109481" y="2671953"/>
            <a:ext cx="1984933" cy="453390"/>
          </a:xfrm>
          <a:prstGeom prst="rect">
            <a:avLst/>
          </a:prstGeom>
          <a:noFill/>
        </p:spPr>
        <p:txBody>
          <a:bodyPr wrap="square" lIns="0" rIns="0" tIns="0" bIns="0" anchor="ctr">
            <a:spAutoFit/>
          </a:bodyPr>
          <a:lstStyle/>
          <a:p>
            <a:pPr algn="ctr">
              <a:lnSpc>
                <a:spcPct val="105000"/>
              </a:lnSpc>
            </a:pPr>
            <a:r>
              <a:rPr sz="1700" b="1" i="0">
                <a:solidFill>
                  <a:srgbClr val="F0D58A"/>
                </a:solidFill>
                <a:latin typeface="Cinzel"/>
              </a:rPr>
              <a:t>Inquiries</a:t>
            </a:r>
          </a:p>
        </p:txBody>
      </p:sp>
      <p:sp>
        <p:nvSpPr>
          <p:cNvPr id="66" name="TextBox 65"/>
          <p:cNvSpPr txBox="1"/>
          <p:nvPr/>
        </p:nvSpPr>
        <p:spPr>
          <a:xfrm>
            <a:off x="9155201" y="3308223"/>
            <a:ext cx="1893493"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Who has pulled your credit</a:t>
            </a:r>
          </a:p>
        </p:txBody>
      </p:sp>
      <p:sp>
        <p:nvSpPr>
          <p:cNvPr id="67" name="TextBox 66"/>
          <p:cNvSpPr txBox="1"/>
          <p:nvPr/>
        </p:nvSpPr>
        <p:spPr>
          <a:xfrm>
            <a:off x="1097280" y="4752975"/>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Three bureaus — Equifax, Experian, TransUnion — and they don't always match.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9626465" y="3997319"/>
            <a:ext cx="73152" cy="73152"/>
          </a:xfrm>
          <a:prstGeom prst="ellipse">
            <a:avLst/>
          </a:prstGeom>
          <a:solidFill>
            <a:srgbClr val="7F6A31"/>
          </a:solidFill>
          <a:ln>
            <a:noFill/>
          </a:ln>
        </p:spPr>
        <p:txBody>
          <a:bodyPr rtlCol="0" anchor="ctr"/>
          <a:lstStyle/>
          <a:p/>
        </p:txBody>
      </p:sp>
      <p:sp>
        <p:nvSpPr>
          <p:cNvPr id="4" name="Oval 3"/>
          <p:cNvSpPr/>
          <p:nvPr/>
        </p:nvSpPr>
        <p:spPr>
          <a:xfrm>
            <a:off x="11561533" y="653881"/>
            <a:ext cx="36576" cy="36576"/>
          </a:xfrm>
          <a:prstGeom prst="ellipse">
            <a:avLst/>
          </a:prstGeom>
          <a:solidFill>
            <a:srgbClr val="915E25"/>
          </a:solidFill>
          <a:ln>
            <a:noFill/>
          </a:ln>
        </p:spPr>
        <p:txBody>
          <a:bodyPr rtlCol="0" anchor="ctr"/>
          <a:lstStyle/>
          <a:p/>
        </p:txBody>
      </p:sp>
      <p:sp>
        <p:nvSpPr>
          <p:cNvPr id="5" name="Oval 4"/>
          <p:cNvSpPr/>
          <p:nvPr/>
        </p:nvSpPr>
        <p:spPr>
          <a:xfrm>
            <a:off x="5655009" y="6270637"/>
            <a:ext cx="27432" cy="27432"/>
          </a:xfrm>
          <a:prstGeom prst="ellipse">
            <a:avLst/>
          </a:prstGeom>
          <a:solidFill>
            <a:srgbClr val="483F29"/>
          </a:solidFill>
          <a:ln>
            <a:noFill/>
          </a:ln>
        </p:spPr>
        <p:txBody>
          <a:bodyPr rtlCol="0" anchor="ctr"/>
          <a:lstStyle/>
          <a:p/>
        </p:txBody>
      </p:sp>
      <p:sp>
        <p:nvSpPr>
          <p:cNvPr id="6" name="Oval 5"/>
          <p:cNvSpPr/>
          <p:nvPr/>
        </p:nvSpPr>
        <p:spPr>
          <a:xfrm>
            <a:off x="10777751" y="5216329"/>
            <a:ext cx="36576" cy="36576"/>
          </a:xfrm>
          <a:prstGeom prst="ellipse">
            <a:avLst/>
          </a:prstGeom>
          <a:solidFill>
            <a:srgbClr val="9B813B"/>
          </a:solidFill>
          <a:ln>
            <a:noFill/>
          </a:ln>
        </p:spPr>
        <p:txBody>
          <a:bodyPr rtlCol="0" anchor="ctr"/>
          <a:lstStyle/>
          <a:p/>
        </p:txBody>
      </p:sp>
      <p:sp>
        <p:nvSpPr>
          <p:cNvPr id="7" name="Oval 6"/>
          <p:cNvSpPr/>
          <p:nvPr/>
        </p:nvSpPr>
        <p:spPr>
          <a:xfrm>
            <a:off x="6499300" y="767731"/>
            <a:ext cx="45720" cy="45720"/>
          </a:xfrm>
          <a:prstGeom prst="ellipse">
            <a:avLst/>
          </a:prstGeom>
          <a:solidFill>
            <a:srgbClr val="645839"/>
          </a:solidFill>
          <a:ln>
            <a:noFill/>
          </a:ln>
        </p:spPr>
        <p:txBody>
          <a:bodyPr rtlCol="0" anchor="ctr"/>
          <a:lstStyle/>
          <a:p/>
        </p:txBody>
      </p:sp>
      <p:sp>
        <p:nvSpPr>
          <p:cNvPr id="8" name="Oval 7"/>
          <p:cNvSpPr/>
          <p:nvPr/>
        </p:nvSpPr>
        <p:spPr>
          <a:xfrm>
            <a:off x="8066650" y="4900796"/>
            <a:ext cx="73152" cy="73152"/>
          </a:xfrm>
          <a:prstGeom prst="ellipse">
            <a:avLst/>
          </a:prstGeom>
          <a:solidFill>
            <a:srgbClr val="45391B"/>
          </a:solidFill>
          <a:ln>
            <a:noFill/>
          </a:ln>
        </p:spPr>
        <p:txBody>
          <a:bodyPr rtlCol="0" anchor="ctr"/>
          <a:lstStyle/>
          <a:p/>
        </p:txBody>
      </p:sp>
      <p:sp>
        <p:nvSpPr>
          <p:cNvPr id="9" name="Oval 8"/>
          <p:cNvSpPr/>
          <p:nvPr/>
        </p:nvSpPr>
        <p:spPr>
          <a:xfrm>
            <a:off x="7685635" y="5686325"/>
            <a:ext cx="45720" cy="45720"/>
          </a:xfrm>
          <a:prstGeom prst="ellipse">
            <a:avLst/>
          </a:prstGeom>
          <a:solidFill>
            <a:srgbClr val="928154"/>
          </a:solidFill>
          <a:ln>
            <a:noFill/>
          </a:ln>
        </p:spPr>
        <p:txBody>
          <a:bodyPr rtlCol="0" anchor="ctr"/>
          <a:lstStyle/>
          <a:p/>
        </p:txBody>
      </p:sp>
      <p:sp>
        <p:nvSpPr>
          <p:cNvPr id="10" name="Oval 9"/>
          <p:cNvSpPr/>
          <p:nvPr/>
        </p:nvSpPr>
        <p:spPr>
          <a:xfrm>
            <a:off x="1848079" y="2200090"/>
            <a:ext cx="45720" cy="45720"/>
          </a:xfrm>
          <a:prstGeom prst="ellipse">
            <a:avLst/>
          </a:prstGeom>
          <a:solidFill>
            <a:srgbClr val="61401A"/>
          </a:solidFill>
          <a:ln>
            <a:noFill/>
          </a:ln>
        </p:spPr>
        <p:txBody>
          <a:bodyPr rtlCol="0" anchor="ctr"/>
          <a:lstStyle/>
          <a:p/>
        </p:txBody>
      </p:sp>
      <p:sp>
        <p:nvSpPr>
          <p:cNvPr id="11" name="Oval 10"/>
          <p:cNvSpPr/>
          <p:nvPr/>
        </p:nvSpPr>
        <p:spPr>
          <a:xfrm>
            <a:off x="1951138" y="4522615"/>
            <a:ext cx="27432" cy="27432"/>
          </a:xfrm>
          <a:prstGeom prst="ellipse">
            <a:avLst/>
          </a:prstGeom>
          <a:solidFill>
            <a:srgbClr val="A6925F"/>
          </a:solidFill>
          <a:ln>
            <a:noFill/>
          </a:ln>
        </p:spPr>
        <p:txBody>
          <a:bodyPr rtlCol="0" anchor="ctr"/>
          <a:lstStyle/>
          <a:p/>
        </p:txBody>
      </p:sp>
      <p:sp>
        <p:nvSpPr>
          <p:cNvPr id="12" name="Oval 11"/>
          <p:cNvSpPr/>
          <p:nvPr/>
        </p:nvSpPr>
        <p:spPr>
          <a:xfrm>
            <a:off x="10867886" y="3371936"/>
            <a:ext cx="54864" cy="54864"/>
          </a:xfrm>
          <a:prstGeom prst="ellipse">
            <a:avLst/>
          </a:prstGeom>
          <a:solidFill>
            <a:srgbClr val="87774D"/>
          </a:solidFill>
          <a:ln>
            <a:noFill/>
          </a:ln>
        </p:spPr>
        <p:txBody>
          <a:bodyPr rtlCol="0" anchor="ctr"/>
          <a:lstStyle/>
          <a:p/>
        </p:txBody>
      </p:sp>
      <p:sp>
        <p:nvSpPr>
          <p:cNvPr id="13" name="Oval 12"/>
          <p:cNvSpPr/>
          <p:nvPr/>
        </p:nvSpPr>
        <p:spPr>
          <a:xfrm>
            <a:off x="5775237" y="2334537"/>
            <a:ext cx="36576" cy="36576"/>
          </a:xfrm>
          <a:prstGeom prst="ellipse">
            <a:avLst/>
          </a:prstGeom>
          <a:solidFill>
            <a:srgbClr val="AB6F2C"/>
          </a:solidFill>
          <a:ln>
            <a:noFill/>
          </a:ln>
        </p:spPr>
        <p:txBody>
          <a:bodyPr rtlCol="0" anchor="ctr"/>
          <a:lstStyle/>
          <a:p/>
        </p:txBody>
      </p:sp>
      <p:sp>
        <p:nvSpPr>
          <p:cNvPr id="14" name="Oval 13"/>
          <p:cNvSpPr/>
          <p:nvPr/>
        </p:nvSpPr>
        <p:spPr>
          <a:xfrm>
            <a:off x="6325262" y="771443"/>
            <a:ext cx="45720" cy="45720"/>
          </a:xfrm>
          <a:prstGeom prst="ellipse">
            <a:avLst/>
          </a:prstGeom>
          <a:solidFill>
            <a:srgbClr val="9D833C"/>
          </a:solidFill>
          <a:ln>
            <a:noFill/>
          </a:ln>
        </p:spPr>
        <p:txBody>
          <a:bodyPr rtlCol="0" anchor="ctr"/>
          <a:lstStyle/>
          <a:p/>
        </p:txBody>
      </p:sp>
      <p:sp>
        <p:nvSpPr>
          <p:cNvPr id="15" name="Oval 14"/>
          <p:cNvSpPr/>
          <p:nvPr/>
        </p:nvSpPr>
        <p:spPr>
          <a:xfrm>
            <a:off x="10429047" y="1920223"/>
            <a:ext cx="54864" cy="54864"/>
          </a:xfrm>
          <a:prstGeom prst="ellipse">
            <a:avLst/>
          </a:prstGeom>
          <a:solidFill>
            <a:srgbClr val="62401A"/>
          </a:solidFill>
          <a:ln>
            <a:noFill/>
          </a:ln>
        </p:spPr>
        <p:txBody>
          <a:bodyPr rtlCol="0" anchor="ctr"/>
          <a:lstStyle/>
          <a:p/>
        </p:txBody>
      </p:sp>
      <p:sp>
        <p:nvSpPr>
          <p:cNvPr id="16" name="Oval 15"/>
          <p:cNvSpPr/>
          <p:nvPr/>
        </p:nvSpPr>
        <p:spPr>
          <a:xfrm>
            <a:off x="10615289" y="5581663"/>
            <a:ext cx="45720" cy="45720"/>
          </a:xfrm>
          <a:prstGeom prst="ellipse">
            <a:avLst/>
          </a:prstGeom>
          <a:solidFill>
            <a:srgbClr val="9B8959"/>
          </a:solidFill>
          <a:ln>
            <a:noFill/>
          </a:ln>
        </p:spPr>
        <p:txBody>
          <a:bodyPr rtlCol="0" anchor="ctr"/>
          <a:lstStyle/>
          <a:p/>
        </p:txBody>
      </p:sp>
      <p:sp>
        <p:nvSpPr>
          <p:cNvPr id="17" name="Oval 16"/>
          <p:cNvSpPr/>
          <p:nvPr/>
        </p:nvSpPr>
        <p:spPr>
          <a:xfrm>
            <a:off x="6238168" y="2862925"/>
            <a:ext cx="36576" cy="36576"/>
          </a:xfrm>
          <a:prstGeom prst="ellipse">
            <a:avLst/>
          </a:prstGeom>
          <a:solidFill>
            <a:srgbClr val="BAA56B"/>
          </a:solidFill>
          <a:ln>
            <a:noFill/>
          </a:ln>
        </p:spPr>
        <p:txBody>
          <a:bodyPr rtlCol="0" anchor="ctr"/>
          <a:lstStyle/>
          <a:p/>
        </p:txBody>
      </p:sp>
      <p:sp>
        <p:nvSpPr>
          <p:cNvPr id="18" name="Oval 17"/>
          <p:cNvSpPr/>
          <p:nvPr/>
        </p:nvSpPr>
        <p:spPr>
          <a:xfrm>
            <a:off x="4604343" y="2931835"/>
            <a:ext cx="54864" cy="54864"/>
          </a:xfrm>
          <a:prstGeom prst="ellipse">
            <a:avLst/>
          </a:prstGeom>
          <a:solidFill>
            <a:srgbClr val="907837"/>
          </a:solidFill>
          <a:ln>
            <a:noFill/>
          </a:ln>
        </p:spPr>
        <p:txBody>
          <a:bodyPr rtlCol="0" anchor="ctr"/>
          <a:lstStyle/>
          <a:p/>
        </p:txBody>
      </p:sp>
      <p:sp>
        <p:nvSpPr>
          <p:cNvPr id="19" name="Oval 18"/>
          <p:cNvSpPr/>
          <p:nvPr/>
        </p:nvSpPr>
        <p:spPr>
          <a:xfrm>
            <a:off x="6218866" y="2625270"/>
            <a:ext cx="45720" cy="45720"/>
          </a:xfrm>
          <a:prstGeom prst="ellipse">
            <a:avLst/>
          </a:prstGeom>
          <a:solidFill>
            <a:srgbClr val="9B813B"/>
          </a:solidFill>
          <a:ln>
            <a:noFill/>
          </a:ln>
        </p:spPr>
        <p:txBody>
          <a:bodyPr rtlCol="0" anchor="ctr"/>
          <a:lstStyle/>
          <a:p/>
        </p:txBody>
      </p:sp>
      <p:sp>
        <p:nvSpPr>
          <p:cNvPr id="20" name="Oval 19"/>
          <p:cNvSpPr/>
          <p:nvPr/>
        </p:nvSpPr>
        <p:spPr>
          <a:xfrm>
            <a:off x="9503007" y="4192321"/>
            <a:ext cx="45720" cy="45720"/>
          </a:xfrm>
          <a:prstGeom prst="ellipse">
            <a:avLst/>
          </a:prstGeom>
          <a:solidFill>
            <a:srgbClr val="6C5A2A"/>
          </a:solidFill>
          <a:ln>
            <a:noFill/>
          </a:ln>
        </p:spPr>
        <p:txBody>
          <a:bodyPr rtlCol="0" anchor="ctr"/>
          <a:lstStyle/>
          <a:p/>
        </p:txBody>
      </p:sp>
      <p:sp>
        <p:nvSpPr>
          <p:cNvPr id="21" name="Oval 20"/>
          <p:cNvSpPr/>
          <p:nvPr/>
        </p:nvSpPr>
        <p:spPr>
          <a:xfrm>
            <a:off x="6300952" y="4652541"/>
            <a:ext cx="45720" cy="45720"/>
          </a:xfrm>
          <a:prstGeom prst="ellipse">
            <a:avLst/>
          </a:prstGeom>
          <a:solidFill>
            <a:srgbClr val="835522"/>
          </a:solidFill>
          <a:ln>
            <a:noFill/>
          </a:ln>
        </p:spPr>
        <p:txBody>
          <a:bodyPr rtlCol="0" anchor="ctr"/>
          <a:lstStyle/>
          <a:p/>
        </p:txBody>
      </p:sp>
      <p:sp>
        <p:nvSpPr>
          <p:cNvPr id="22" name="Oval 21"/>
          <p:cNvSpPr/>
          <p:nvPr/>
        </p:nvSpPr>
        <p:spPr>
          <a:xfrm>
            <a:off x="600245" y="1487981"/>
            <a:ext cx="45720" cy="45720"/>
          </a:xfrm>
          <a:prstGeom prst="ellipse">
            <a:avLst/>
          </a:prstGeom>
          <a:solidFill>
            <a:srgbClr val="875823"/>
          </a:solidFill>
          <a:ln>
            <a:noFill/>
          </a:ln>
        </p:spPr>
        <p:txBody>
          <a:bodyPr rtlCol="0" anchor="ctr"/>
          <a:lstStyle/>
          <a:p/>
        </p:txBody>
      </p:sp>
      <p:sp>
        <p:nvSpPr>
          <p:cNvPr id="23" name="Oval 22"/>
          <p:cNvSpPr/>
          <p:nvPr/>
        </p:nvSpPr>
        <p:spPr>
          <a:xfrm>
            <a:off x="6700937" y="1874447"/>
            <a:ext cx="73152" cy="73152"/>
          </a:xfrm>
          <a:prstGeom prst="ellipse">
            <a:avLst/>
          </a:prstGeom>
          <a:solidFill>
            <a:srgbClr val="9B6528"/>
          </a:solidFill>
          <a:ln>
            <a:noFill/>
          </a:ln>
        </p:spPr>
        <p:txBody>
          <a:bodyPr rtlCol="0" anchor="ctr"/>
          <a:lstStyle/>
          <a:p/>
        </p:txBody>
      </p:sp>
      <p:sp>
        <p:nvSpPr>
          <p:cNvPr id="24" name="Oval 23"/>
          <p:cNvSpPr/>
          <p:nvPr/>
        </p:nvSpPr>
        <p:spPr>
          <a:xfrm>
            <a:off x="789455" y="2997276"/>
            <a:ext cx="73152" cy="73152"/>
          </a:xfrm>
          <a:prstGeom prst="ellipse">
            <a:avLst/>
          </a:prstGeom>
          <a:solidFill>
            <a:srgbClr val="574C31"/>
          </a:solidFill>
          <a:ln>
            <a:noFill/>
          </a:ln>
        </p:spPr>
        <p:txBody>
          <a:bodyPr rtlCol="0" anchor="ctr"/>
          <a:lstStyle/>
          <a:p/>
        </p:txBody>
      </p:sp>
      <p:sp>
        <p:nvSpPr>
          <p:cNvPr id="25" name="Oval 24"/>
          <p:cNvSpPr/>
          <p:nvPr/>
        </p:nvSpPr>
        <p:spPr>
          <a:xfrm>
            <a:off x="6055598" y="5420261"/>
            <a:ext cx="73152" cy="73152"/>
          </a:xfrm>
          <a:prstGeom prst="ellipse">
            <a:avLst/>
          </a:prstGeom>
          <a:solidFill>
            <a:srgbClr val="784E20"/>
          </a:solidFill>
          <a:ln>
            <a:noFill/>
          </a:ln>
        </p:spPr>
        <p:txBody>
          <a:bodyPr rtlCol="0" anchor="ctr"/>
          <a:lstStyle/>
          <a:p/>
        </p:txBody>
      </p:sp>
      <p:sp>
        <p:nvSpPr>
          <p:cNvPr id="26" name="Oval 25"/>
          <p:cNvSpPr/>
          <p:nvPr/>
        </p:nvSpPr>
        <p:spPr>
          <a:xfrm>
            <a:off x="1954029" y="5521366"/>
            <a:ext cx="73152" cy="73152"/>
          </a:xfrm>
          <a:prstGeom prst="ellipse">
            <a:avLst/>
          </a:prstGeom>
          <a:solidFill>
            <a:srgbClr val="835522"/>
          </a:solidFill>
          <a:ln>
            <a:noFill/>
          </a:ln>
        </p:spPr>
        <p:txBody>
          <a:bodyPr rtlCol="0" anchor="ctr"/>
          <a:lstStyle/>
          <a:p/>
        </p:txBody>
      </p:sp>
      <p:sp>
        <p:nvSpPr>
          <p:cNvPr id="27" name="Oval 26"/>
          <p:cNvSpPr/>
          <p:nvPr/>
        </p:nvSpPr>
        <p:spPr>
          <a:xfrm>
            <a:off x="9954831" y="1516584"/>
            <a:ext cx="45720" cy="45720"/>
          </a:xfrm>
          <a:prstGeom prst="ellipse">
            <a:avLst/>
          </a:prstGeom>
          <a:solidFill>
            <a:srgbClr val="A1863D"/>
          </a:solidFill>
          <a:ln>
            <a:noFill/>
          </a:ln>
        </p:spPr>
        <p:txBody>
          <a:bodyPr rtlCol="0" anchor="ctr"/>
          <a:lstStyle/>
          <a:p/>
        </p:txBody>
      </p:sp>
      <p:sp>
        <p:nvSpPr>
          <p:cNvPr id="28" name="Oval 27"/>
          <p:cNvSpPr/>
          <p:nvPr/>
        </p:nvSpPr>
        <p:spPr>
          <a:xfrm>
            <a:off x="2001722" y="2893623"/>
            <a:ext cx="27432" cy="27432"/>
          </a:xfrm>
          <a:prstGeom prst="ellipse">
            <a:avLst/>
          </a:prstGeom>
          <a:solidFill>
            <a:srgbClr val="756743"/>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5042001" y="765238"/>
            <a:ext cx="2107692" cy="329184"/>
          </a:xfrm>
          <a:prstGeom prst="rect">
            <a:avLst/>
          </a:prstGeom>
          <a:noFill/>
        </p:spPr>
        <p:txBody>
          <a:bodyPr wrap="square" lIns="0" rIns="0" tIns="0" bIns="0" anchor="ctr">
            <a:spAutoFit/>
          </a:bodyPr>
          <a:lstStyle/>
          <a:p>
            <a:pPr algn="ctr"/>
            <a:r>
              <a:rPr sz="1300" b="1" i="0" spc="400">
                <a:solidFill>
                  <a:srgbClr val="C9A84C"/>
                </a:solidFill>
                <a:latin typeface="Montserrat"/>
              </a:rPr>
              <a:t>YOUR RIGHTS</a:t>
            </a:r>
          </a:p>
        </p:txBody>
      </p:sp>
      <p:cxnSp>
        <p:nvCxnSpPr>
          <p:cNvPr id="50" name="Connector 49"/>
          <p:cNvCxnSpPr/>
          <p:nvPr/>
        </p:nvCxnSpPr>
        <p:spPr>
          <a:xfrm>
            <a:off x="3670401" y="92983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620109" y="879538"/>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286853" y="92983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471001" y="879538"/>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158430"/>
            <a:ext cx="10362895" cy="11582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What the law lets you challenge</a:t>
            </a:r>
          </a:p>
        </p:txBody>
      </p:sp>
      <p:sp>
        <p:nvSpPr>
          <p:cNvPr id="55" name="Rounded Rectangle 54"/>
          <p:cNvSpPr/>
          <p:nvPr/>
        </p:nvSpPr>
        <p:spPr>
          <a:xfrm>
            <a:off x="914400" y="2499550"/>
            <a:ext cx="3240938" cy="2547747"/>
          </a:xfrm>
          <a:prstGeom prst="roundRect">
            <a:avLst>
              <a:gd name="adj" fmla="val 6000"/>
            </a:avLst>
          </a:prstGeom>
          <a:solidFill>
            <a:srgbClr val="100D07"/>
          </a:solidFill>
          <a:ln w="15875">
            <a:solidFill>
              <a:srgbClr val="877034"/>
            </a:solidFill>
          </a:ln>
        </p:spPr>
        <p:txBody>
          <a:bodyPr rtlCol="0" anchor="ctr"/>
          <a:lstStyle/>
          <a:p/>
        </p:txBody>
      </p:sp>
      <p:sp>
        <p:nvSpPr>
          <p:cNvPr id="56" name="Oval 55"/>
          <p:cNvSpPr/>
          <p:nvPr/>
        </p:nvSpPr>
        <p:spPr>
          <a:xfrm>
            <a:off x="2223973" y="2746438"/>
            <a:ext cx="621792" cy="621792"/>
          </a:xfrm>
          <a:prstGeom prst="ellipse">
            <a:avLst/>
          </a:prstGeom>
          <a:solidFill>
            <a:srgbClr val="1A1309"/>
          </a:solidFill>
          <a:ln w="25400">
            <a:solidFill>
              <a:srgbClr val="F0D58A"/>
            </a:solidFill>
          </a:ln>
        </p:spPr>
        <p:txBody>
          <a:bodyPr rtlCol="0" anchor="ctr"/>
          <a:lstStyle/>
          <a:p/>
        </p:txBody>
      </p:sp>
      <p:sp>
        <p:nvSpPr>
          <p:cNvPr id="57" name="Oval 56"/>
          <p:cNvSpPr/>
          <p:nvPr/>
        </p:nvSpPr>
        <p:spPr>
          <a:xfrm>
            <a:off x="2278837" y="2801302"/>
            <a:ext cx="512064" cy="512064"/>
          </a:xfrm>
          <a:prstGeom prst="ellipse">
            <a:avLst/>
          </a:prstGeom>
          <a:noFill/>
          <a:ln w="9525">
            <a:solidFill>
              <a:srgbClr val="7D6830"/>
            </a:solidFill>
          </a:ln>
        </p:spPr>
        <p:txBody>
          <a:bodyPr rtlCol="0" anchor="ctr"/>
          <a:lstStyle/>
          <a:p/>
        </p:txBody>
      </p:sp>
      <p:sp>
        <p:nvSpPr>
          <p:cNvPr id="58" name="TextBox 57"/>
          <p:cNvSpPr txBox="1"/>
          <p:nvPr/>
        </p:nvSpPr>
        <p:spPr>
          <a:xfrm>
            <a:off x="2223973" y="2746438"/>
            <a:ext cx="621792" cy="621792"/>
          </a:xfrm>
          <a:prstGeom prst="rect">
            <a:avLst/>
          </a:prstGeom>
          <a:noFill/>
        </p:spPr>
        <p:txBody>
          <a:bodyPr wrap="square" lIns="0" rIns="0" tIns="0" bIns="0" anchor="ctr">
            <a:spAutoFit/>
          </a:bodyPr>
          <a:lstStyle/>
          <a:p>
            <a:pPr algn="ctr"/>
            <a:r>
              <a:rPr sz="1900" b="1" i="0">
                <a:solidFill>
                  <a:srgbClr val="F0D58A"/>
                </a:solidFill>
                <a:latin typeface="Cinzel"/>
              </a:rPr>
              <a:t>1</a:t>
            </a:r>
          </a:p>
        </p:txBody>
      </p:sp>
      <p:sp>
        <p:nvSpPr>
          <p:cNvPr id="59" name="TextBox 58"/>
          <p:cNvSpPr txBox="1"/>
          <p:nvPr/>
        </p:nvSpPr>
        <p:spPr>
          <a:xfrm>
            <a:off x="1097280" y="359683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Inaccurate</a:t>
            </a:r>
          </a:p>
        </p:txBody>
      </p:sp>
      <p:sp>
        <p:nvSpPr>
          <p:cNvPr id="60" name="TextBox 59"/>
          <p:cNvSpPr txBox="1"/>
          <p:nvPr/>
        </p:nvSpPr>
        <p:spPr>
          <a:xfrm>
            <a:off x="1143000" y="4059745"/>
            <a:ext cx="2783738" cy="621792"/>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Information that's wrong</a:t>
            </a:r>
          </a:p>
        </p:txBody>
      </p:sp>
      <p:sp>
        <p:nvSpPr>
          <p:cNvPr id="61" name="Rounded Rectangle 60"/>
          <p:cNvSpPr/>
          <p:nvPr/>
        </p:nvSpPr>
        <p:spPr>
          <a:xfrm>
            <a:off x="4475378" y="2499550"/>
            <a:ext cx="3240938" cy="2547747"/>
          </a:xfrm>
          <a:prstGeom prst="roundRect">
            <a:avLst>
              <a:gd name="adj" fmla="val 6000"/>
            </a:avLst>
          </a:prstGeom>
          <a:solidFill>
            <a:srgbClr val="100D07"/>
          </a:solidFill>
          <a:ln w="15875">
            <a:solidFill>
              <a:srgbClr val="877034"/>
            </a:solidFill>
          </a:ln>
        </p:spPr>
        <p:txBody>
          <a:bodyPr rtlCol="0" anchor="ctr"/>
          <a:lstStyle/>
          <a:p/>
        </p:txBody>
      </p:sp>
      <p:sp>
        <p:nvSpPr>
          <p:cNvPr id="62" name="Oval 61"/>
          <p:cNvSpPr/>
          <p:nvPr/>
        </p:nvSpPr>
        <p:spPr>
          <a:xfrm>
            <a:off x="5784951" y="2746438"/>
            <a:ext cx="621792" cy="621792"/>
          </a:xfrm>
          <a:prstGeom prst="ellipse">
            <a:avLst/>
          </a:prstGeom>
          <a:solidFill>
            <a:srgbClr val="1A1309"/>
          </a:solidFill>
          <a:ln w="25400">
            <a:solidFill>
              <a:srgbClr val="F0D58A"/>
            </a:solidFill>
          </a:ln>
        </p:spPr>
        <p:txBody>
          <a:bodyPr rtlCol="0" anchor="ctr"/>
          <a:lstStyle/>
          <a:p/>
        </p:txBody>
      </p:sp>
      <p:sp>
        <p:nvSpPr>
          <p:cNvPr id="63" name="Oval 62"/>
          <p:cNvSpPr/>
          <p:nvPr/>
        </p:nvSpPr>
        <p:spPr>
          <a:xfrm>
            <a:off x="5839815" y="2801302"/>
            <a:ext cx="512064" cy="512064"/>
          </a:xfrm>
          <a:prstGeom prst="ellipse">
            <a:avLst/>
          </a:prstGeom>
          <a:noFill/>
          <a:ln w="9525">
            <a:solidFill>
              <a:srgbClr val="7D6830"/>
            </a:solidFill>
          </a:ln>
        </p:spPr>
        <p:txBody>
          <a:bodyPr rtlCol="0" anchor="ctr"/>
          <a:lstStyle/>
          <a:p/>
        </p:txBody>
      </p:sp>
      <p:sp>
        <p:nvSpPr>
          <p:cNvPr id="64" name="TextBox 63"/>
          <p:cNvSpPr txBox="1"/>
          <p:nvPr/>
        </p:nvSpPr>
        <p:spPr>
          <a:xfrm>
            <a:off x="5784951" y="2746438"/>
            <a:ext cx="621792" cy="621792"/>
          </a:xfrm>
          <a:prstGeom prst="rect">
            <a:avLst/>
          </a:prstGeom>
          <a:noFill/>
        </p:spPr>
        <p:txBody>
          <a:bodyPr wrap="square" lIns="0" rIns="0" tIns="0" bIns="0" anchor="ctr">
            <a:spAutoFit/>
          </a:bodyPr>
          <a:lstStyle/>
          <a:p>
            <a:pPr algn="ctr"/>
            <a:r>
              <a:rPr sz="1900" b="1" i="0">
                <a:solidFill>
                  <a:srgbClr val="F0D58A"/>
                </a:solidFill>
                <a:latin typeface="Cinzel"/>
              </a:rPr>
              <a:t>2</a:t>
            </a:r>
          </a:p>
        </p:txBody>
      </p:sp>
      <p:sp>
        <p:nvSpPr>
          <p:cNvPr id="65" name="TextBox 64"/>
          <p:cNvSpPr txBox="1"/>
          <p:nvPr/>
        </p:nvSpPr>
        <p:spPr>
          <a:xfrm>
            <a:off x="4658258" y="359683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Incomplete</a:t>
            </a:r>
          </a:p>
        </p:txBody>
      </p:sp>
      <p:sp>
        <p:nvSpPr>
          <p:cNvPr id="66" name="TextBox 65"/>
          <p:cNvSpPr txBox="1"/>
          <p:nvPr/>
        </p:nvSpPr>
        <p:spPr>
          <a:xfrm>
            <a:off x="4703978" y="4059745"/>
            <a:ext cx="2783738" cy="621792"/>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Information that's missing pieces</a:t>
            </a:r>
          </a:p>
        </p:txBody>
      </p:sp>
      <p:sp>
        <p:nvSpPr>
          <p:cNvPr id="67" name="Rounded Rectangle 66"/>
          <p:cNvSpPr/>
          <p:nvPr/>
        </p:nvSpPr>
        <p:spPr>
          <a:xfrm>
            <a:off x="8036356" y="2499550"/>
            <a:ext cx="3240938" cy="2547747"/>
          </a:xfrm>
          <a:prstGeom prst="roundRect">
            <a:avLst>
              <a:gd name="adj" fmla="val 6000"/>
            </a:avLst>
          </a:prstGeom>
          <a:solidFill>
            <a:srgbClr val="100D07"/>
          </a:solidFill>
          <a:ln w="15875">
            <a:solidFill>
              <a:srgbClr val="877034"/>
            </a:solidFill>
          </a:ln>
        </p:spPr>
        <p:txBody>
          <a:bodyPr rtlCol="0" anchor="ctr"/>
          <a:lstStyle/>
          <a:p/>
        </p:txBody>
      </p:sp>
      <p:sp>
        <p:nvSpPr>
          <p:cNvPr id="68" name="Oval 67"/>
          <p:cNvSpPr/>
          <p:nvPr/>
        </p:nvSpPr>
        <p:spPr>
          <a:xfrm>
            <a:off x="9345930" y="2746438"/>
            <a:ext cx="621792" cy="621792"/>
          </a:xfrm>
          <a:prstGeom prst="ellipse">
            <a:avLst/>
          </a:prstGeom>
          <a:solidFill>
            <a:srgbClr val="1A1309"/>
          </a:solidFill>
          <a:ln w="25400">
            <a:solidFill>
              <a:srgbClr val="F0D58A"/>
            </a:solidFill>
          </a:ln>
        </p:spPr>
        <p:txBody>
          <a:bodyPr rtlCol="0" anchor="ctr"/>
          <a:lstStyle/>
          <a:p/>
        </p:txBody>
      </p:sp>
      <p:sp>
        <p:nvSpPr>
          <p:cNvPr id="69" name="Oval 68"/>
          <p:cNvSpPr/>
          <p:nvPr/>
        </p:nvSpPr>
        <p:spPr>
          <a:xfrm>
            <a:off x="9400794" y="2801302"/>
            <a:ext cx="512064" cy="512064"/>
          </a:xfrm>
          <a:prstGeom prst="ellipse">
            <a:avLst/>
          </a:prstGeom>
          <a:noFill/>
          <a:ln w="9525">
            <a:solidFill>
              <a:srgbClr val="7D6830"/>
            </a:solidFill>
          </a:ln>
        </p:spPr>
        <p:txBody>
          <a:bodyPr rtlCol="0" anchor="ctr"/>
          <a:lstStyle/>
          <a:p/>
        </p:txBody>
      </p:sp>
      <p:sp>
        <p:nvSpPr>
          <p:cNvPr id="70" name="TextBox 69"/>
          <p:cNvSpPr txBox="1"/>
          <p:nvPr/>
        </p:nvSpPr>
        <p:spPr>
          <a:xfrm>
            <a:off x="9345930" y="2746438"/>
            <a:ext cx="621792" cy="621792"/>
          </a:xfrm>
          <a:prstGeom prst="rect">
            <a:avLst/>
          </a:prstGeom>
          <a:noFill/>
        </p:spPr>
        <p:txBody>
          <a:bodyPr wrap="square" lIns="0" rIns="0" tIns="0" bIns="0" anchor="ctr">
            <a:spAutoFit/>
          </a:bodyPr>
          <a:lstStyle/>
          <a:p>
            <a:pPr algn="ctr"/>
            <a:r>
              <a:rPr sz="1900" b="1" i="0">
                <a:solidFill>
                  <a:srgbClr val="F0D58A"/>
                </a:solidFill>
                <a:latin typeface="Cinzel"/>
              </a:rPr>
              <a:t>3</a:t>
            </a:r>
          </a:p>
        </p:txBody>
      </p:sp>
      <p:sp>
        <p:nvSpPr>
          <p:cNvPr id="71" name="TextBox 70"/>
          <p:cNvSpPr txBox="1"/>
          <p:nvPr/>
        </p:nvSpPr>
        <p:spPr>
          <a:xfrm>
            <a:off x="8219236" y="3596830"/>
            <a:ext cx="2875178"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Unverifiable</a:t>
            </a:r>
          </a:p>
        </p:txBody>
      </p:sp>
      <p:sp>
        <p:nvSpPr>
          <p:cNvPr id="72" name="TextBox 71"/>
          <p:cNvSpPr txBox="1"/>
          <p:nvPr/>
        </p:nvSpPr>
        <p:spPr>
          <a:xfrm>
            <a:off x="8264956" y="4059745"/>
            <a:ext cx="2783738" cy="621792"/>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Information that can't be confirmed</a:t>
            </a:r>
          </a:p>
        </p:txBody>
      </p:sp>
      <p:sp>
        <p:nvSpPr>
          <p:cNvPr id="73" name="TextBox 72"/>
          <p:cNvSpPr txBox="1"/>
          <p:nvPr/>
        </p:nvSpPr>
        <p:spPr>
          <a:xfrm>
            <a:off x="1097280" y="5230177"/>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The bureau has to investigate — and fix or remove what can't be verified.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238062" y="3923189"/>
            <a:ext cx="73152" cy="73152"/>
          </a:xfrm>
          <a:prstGeom prst="ellipse">
            <a:avLst/>
          </a:prstGeom>
          <a:solidFill>
            <a:srgbClr val="594A23"/>
          </a:solidFill>
          <a:ln>
            <a:noFill/>
          </a:ln>
        </p:spPr>
        <p:txBody>
          <a:bodyPr rtlCol="0" anchor="ctr"/>
          <a:lstStyle/>
          <a:p/>
        </p:txBody>
      </p:sp>
      <p:sp>
        <p:nvSpPr>
          <p:cNvPr id="4" name="Oval 3"/>
          <p:cNvSpPr/>
          <p:nvPr/>
        </p:nvSpPr>
        <p:spPr>
          <a:xfrm>
            <a:off x="10992328" y="2701092"/>
            <a:ext cx="73152" cy="73152"/>
          </a:xfrm>
          <a:prstGeom prst="ellipse">
            <a:avLst/>
          </a:prstGeom>
          <a:solidFill>
            <a:srgbClr val="BFA96E"/>
          </a:solidFill>
          <a:ln>
            <a:noFill/>
          </a:ln>
        </p:spPr>
        <p:txBody>
          <a:bodyPr rtlCol="0" anchor="ctr"/>
          <a:lstStyle/>
          <a:p/>
        </p:txBody>
      </p:sp>
      <p:sp>
        <p:nvSpPr>
          <p:cNvPr id="5" name="Oval 4"/>
          <p:cNvSpPr/>
          <p:nvPr/>
        </p:nvSpPr>
        <p:spPr>
          <a:xfrm>
            <a:off x="10077345" y="4242158"/>
            <a:ext cx="27432" cy="27432"/>
          </a:xfrm>
          <a:prstGeom prst="ellipse">
            <a:avLst/>
          </a:prstGeom>
          <a:solidFill>
            <a:srgbClr val="4D3315"/>
          </a:solidFill>
          <a:ln>
            <a:noFill/>
          </a:ln>
        </p:spPr>
        <p:txBody>
          <a:bodyPr rtlCol="0" anchor="ctr"/>
          <a:lstStyle/>
          <a:p/>
        </p:txBody>
      </p:sp>
      <p:sp>
        <p:nvSpPr>
          <p:cNvPr id="6" name="Oval 5"/>
          <p:cNvSpPr/>
          <p:nvPr/>
        </p:nvSpPr>
        <p:spPr>
          <a:xfrm>
            <a:off x="4139583" y="3978148"/>
            <a:ext cx="54864" cy="54864"/>
          </a:xfrm>
          <a:prstGeom prst="ellipse">
            <a:avLst/>
          </a:prstGeom>
          <a:solidFill>
            <a:srgbClr val="A86D2B"/>
          </a:solidFill>
          <a:ln>
            <a:noFill/>
          </a:ln>
        </p:spPr>
        <p:txBody>
          <a:bodyPr rtlCol="0" anchor="ctr"/>
          <a:lstStyle/>
          <a:p/>
        </p:txBody>
      </p:sp>
      <p:sp>
        <p:nvSpPr>
          <p:cNvPr id="7" name="Oval 6"/>
          <p:cNvSpPr/>
          <p:nvPr/>
        </p:nvSpPr>
        <p:spPr>
          <a:xfrm>
            <a:off x="5490836" y="1378762"/>
            <a:ext cx="36576" cy="36576"/>
          </a:xfrm>
          <a:prstGeom prst="ellipse">
            <a:avLst/>
          </a:prstGeom>
          <a:solidFill>
            <a:srgbClr val="A26929"/>
          </a:solidFill>
          <a:ln>
            <a:noFill/>
          </a:ln>
        </p:spPr>
        <p:txBody>
          <a:bodyPr rtlCol="0" anchor="ctr"/>
          <a:lstStyle/>
          <a:p/>
        </p:txBody>
      </p:sp>
      <p:sp>
        <p:nvSpPr>
          <p:cNvPr id="8" name="Oval 7"/>
          <p:cNvSpPr/>
          <p:nvPr/>
        </p:nvSpPr>
        <p:spPr>
          <a:xfrm>
            <a:off x="6365150" y="3596880"/>
            <a:ext cx="73152" cy="73152"/>
          </a:xfrm>
          <a:prstGeom prst="ellipse">
            <a:avLst/>
          </a:prstGeom>
          <a:solidFill>
            <a:srgbClr val="67431C"/>
          </a:solidFill>
          <a:ln>
            <a:noFill/>
          </a:ln>
        </p:spPr>
        <p:txBody>
          <a:bodyPr rtlCol="0" anchor="ctr"/>
          <a:lstStyle/>
          <a:p/>
        </p:txBody>
      </p:sp>
      <p:sp>
        <p:nvSpPr>
          <p:cNvPr id="9" name="Oval 8"/>
          <p:cNvSpPr/>
          <p:nvPr/>
        </p:nvSpPr>
        <p:spPr>
          <a:xfrm>
            <a:off x="8966478" y="5232084"/>
            <a:ext cx="73152" cy="73152"/>
          </a:xfrm>
          <a:prstGeom prst="ellipse">
            <a:avLst/>
          </a:prstGeom>
          <a:solidFill>
            <a:srgbClr val="815422"/>
          </a:solidFill>
          <a:ln>
            <a:noFill/>
          </a:ln>
        </p:spPr>
        <p:txBody>
          <a:bodyPr rtlCol="0" anchor="ctr"/>
          <a:lstStyle/>
          <a:p/>
        </p:txBody>
      </p:sp>
      <p:sp>
        <p:nvSpPr>
          <p:cNvPr id="10" name="Oval 9"/>
          <p:cNvSpPr/>
          <p:nvPr/>
        </p:nvSpPr>
        <p:spPr>
          <a:xfrm>
            <a:off x="9038127" y="3855208"/>
            <a:ext cx="45720" cy="45720"/>
          </a:xfrm>
          <a:prstGeom prst="ellipse">
            <a:avLst/>
          </a:prstGeom>
          <a:solidFill>
            <a:srgbClr val="6C5A2A"/>
          </a:solidFill>
          <a:ln>
            <a:noFill/>
          </a:ln>
        </p:spPr>
        <p:txBody>
          <a:bodyPr rtlCol="0" anchor="ctr"/>
          <a:lstStyle/>
          <a:p/>
        </p:txBody>
      </p:sp>
      <p:sp>
        <p:nvSpPr>
          <p:cNvPr id="11" name="Oval 10"/>
          <p:cNvSpPr/>
          <p:nvPr/>
        </p:nvSpPr>
        <p:spPr>
          <a:xfrm>
            <a:off x="10089080" y="5686895"/>
            <a:ext cx="73152" cy="73152"/>
          </a:xfrm>
          <a:prstGeom prst="ellipse">
            <a:avLst/>
          </a:prstGeom>
          <a:solidFill>
            <a:srgbClr val="9D833C"/>
          </a:solidFill>
          <a:ln>
            <a:noFill/>
          </a:ln>
        </p:spPr>
        <p:txBody>
          <a:bodyPr rtlCol="0" anchor="ctr"/>
          <a:lstStyle/>
          <a:p/>
        </p:txBody>
      </p:sp>
      <p:sp>
        <p:nvSpPr>
          <p:cNvPr id="12" name="Oval 11"/>
          <p:cNvSpPr/>
          <p:nvPr/>
        </p:nvSpPr>
        <p:spPr>
          <a:xfrm>
            <a:off x="10192392" y="1935368"/>
            <a:ext cx="45720" cy="45720"/>
          </a:xfrm>
          <a:prstGeom prst="ellipse">
            <a:avLst/>
          </a:prstGeom>
          <a:solidFill>
            <a:srgbClr val="5F4F25"/>
          </a:solidFill>
          <a:ln>
            <a:noFill/>
          </a:ln>
        </p:spPr>
        <p:txBody>
          <a:bodyPr rtlCol="0" anchor="ctr"/>
          <a:lstStyle/>
          <a:p/>
        </p:txBody>
      </p:sp>
      <p:sp>
        <p:nvSpPr>
          <p:cNvPr id="13" name="Oval 12"/>
          <p:cNvSpPr/>
          <p:nvPr/>
        </p:nvSpPr>
        <p:spPr>
          <a:xfrm>
            <a:off x="6693001" y="1336427"/>
            <a:ext cx="27432" cy="27432"/>
          </a:xfrm>
          <a:prstGeom prst="ellipse">
            <a:avLst/>
          </a:prstGeom>
          <a:solidFill>
            <a:srgbClr val="7F6A31"/>
          </a:solidFill>
          <a:ln>
            <a:noFill/>
          </a:ln>
        </p:spPr>
        <p:txBody>
          <a:bodyPr rtlCol="0" anchor="ctr"/>
          <a:lstStyle/>
          <a:p/>
        </p:txBody>
      </p:sp>
      <p:sp>
        <p:nvSpPr>
          <p:cNvPr id="14" name="Oval 13"/>
          <p:cNvSpPr/>
          <p:nvPr/>
        </p:nvSpPr>
        <p:spPr>
          <a:xfrm>
            <a:off x="3589159" y="4035790"/>
            <a:ext cx="54864" cy="54864"/>
          </a:xfrm>
          <a:prstGeom prst="ellipse">
            <a:avLst/>
          </a:prstGeom>
          <a:solidFill>
            <a:srgbClr val="6D603E"/>
          </a:solidFill>
          <a:ln>
            <a:noFill/>
          </a:ln>
        </p:spPr>
        <p:txBody>
          <a:bodyPr rtlCol="0" anchor="ctr"/>
          <a:lstStyle/>
          <a:p/>
        </p:txBody>
      </p:sp>
      <p:sp>
        <p:nvSpPr>
          <p:cNvPr id="15" name="Oval 14"/>
          <p:cNvSpPr/>
          <p:nvPr/>
        </p:nvSpPr>
        <p:spPr>
          <a:xfrm>
            <a:off x="8062818" y="456194"/>
            <a:ext cx="36576" cy="36576"/>
          </a:xfrm>
          <a:prstGeom prst="ellipse">
            <a:avLst/>
          </a:prstGeom>
          <a:solidFill>
            <a:srgbClr val="776944"/>
          </a:solidFill>
          <a:ln>
            <a:noFill/>
          </a:ln>
        </p:spPr>
        <p:txBody>
          <a:bodyPr rtlCol="0" anchor="ctr"/>
          <a:lstStyle/>
          <a:p/>
        </p:txBody>
      </p:sp>
      <p:sp>
        <p:nvSpPr>
          <p:cNvPr id="16" name="Oval 15"/>
          <p:cNvSpPr/>
          <p:nvPr/>
        </p:nvSpPr>
        <p:spPr>
          <a:xfrm>
            <a:off x="10799098" y="1173498"/>
            <a:ext cx="54864" cy="54864"/>
          </a:xfrm>
          <a:prstGeom prst="ellipse">
            <a:avLst/>
          </a:prstGeom>
          <a:solidFill>
            <a:srgbClr val="695D3C"/>
          </a:solidFill>
          <a:ln>
            <a:noFill/>
          </a:ln>
        </p:spPr>
        <p:txBody>
          <a:bodyPr rtlCol="0" anchor="ctr"/>
          <a:lstStyle/>
          <a:p/>
        </p:txBody>
      </p:sp>
      <p:sp>
        <p:nvSpPr>
          <p:cNvPr id="17" name="Oval 16"/>
          <p:cNvSpPr/>
          <p:nvPr/>
        </p:nvSpPr>
        <p:spPr>
          <a:xfrm>
            <a:off x="11364227" y="5534636"/>
            <a:ext cx="27432" cy="27432"/>
          </a:xfrm>
          <a:prstGeom prst="ellipse">
            <a:avLst/>
          </a:prstGeom>
          <a:solidFill>
            <a:srgbClr val="3F3419"/>
          </a:solidFill>
          <a:ln>
            <a:noFill/>
          </a:ln>
        </p:spPr>
        <p:txBody>
          <a:bodyPr rtlCol="0" anchor="ctr"/>
          <a:lstStyle/>
          <a:p/>
        </p:txBody>
      </p:sp>
      <p:sp>
        <p:nvSpPr>
          <p:cNvPr id="18" name="Oval 17"/>
          <p:cNvSpPr/>
          <p:nvPr/>
        </p:nvSpPr>
        <p:spPr>
          <a:xfrm>
            <a:off x="1746905" y="5958374"/>
            <a:ext cx="45720" cy="45720"/>
          </a:xfrm>
          <a:prstGeom prst="ellipse">
            <a:avLst/>
          </a:prstGeom>
          <a:solidFill>
            <a:srgbClr val="977E39"/>
          </a:solidFill>
          <a:ln>
            <a:noFill/>
          </a:ln>
        </p:spPr>
        <p:txBody>
          <a:bodyPr rtlCol="0" anchor="ctr"/>
          <a:lstStyle/>
          <a:p/>
        </p:txBody>
      </p:sp>
      <p:sp>
        <p:nvSpPr>
          <p:cNvPr id="19" name="Oval 18"/>
          <p:cNvSpPr/>
          <p:nvPr/>
        </p:nvSpPr>
        <p:spPr>
          <a:xfrm>
            <a:off x="6265644" y="415455"/>
            <a:ext cx="27432" cy="27432"/>
          </a:xfrm>
          <a:prstGeom prst="ellipse">
            <a:avLst/>
          </a:prstGeom>
          <a:solidFill>
            <a:srgbClr val="9F8C5B"/>
          </a:solidFill>
          <a:ln>
            <a:noFill/>
          </a:ln>
        </p:spPr>
        <p:txBody>
          <a:bodyPr rtlCol="0" anchor="ctr"/>
          <a:lstStyle/>
          <a:p/>
        </p:txBody>
      </p:sp>
      <p:sp>
        <p:nvSpPr>
          <p:cNvPr id="20" name="Oval 19"/>
          <p:cNvSpPr/>
          <p:nvPr/>
        </p:nvSpPr>
        <p:spPr>
          <a:xfrm>
            <a:off x="3008542" y="530282"/>
            <a:ext cx="45720" cy="45720"/>
          </a:xfrm>
          <a:prstGeom prst="ellipse">
            <a:avLst/>
          </a:prstGeom>
          <a:solidFill>
            <a:srgbClr val="65593A"/>
          </a:solidFill>
          <a:ln>
            <a:noFill/>
          </a:ln>
        </p:spPr>
        <p:txBody>
          <a:bodyPr rtlCol="0" anchor="ctr"/>
          <a:lstStyle/>
          <a:p/>
        </p:txBody>
      </p:sp>
      <p:sp>
        <p:nvSpPr>
          <p:cNvPr id="21" name="Oval 20"/>
          <p:cNvSpPr/>
          <p:nvPr/>
        </p:nvSpPr>
        <p:spPr>
          <a:xfrm>
            <a:off x="1819755" y="1035972"/>
            <a:ext cx="27432" cy="27432"/>
          </a:xfrm>
          <a:prstGeom prst="ellipse">
            <a:avLst/>
          </a:prstGeom>
          <a:solidFill>
            <a:srgbClr val="AF9B64"/>
          </a:solidFill>
          <a:ln>
            <a:noFill/>
          </a:ln>
        </p:spPr>
        <p:txBody>
          <a:bodyPr rtlCol="0" anchor="ctr"/>
          <a:lstStyle/>
          <a:p/>
        </p:txBody>
      </p:sp>
      <p:sp>
        <p:nvSpPr>
          <p:cNvPr id="22" name="Oval 21"/>
          <p:cNvSpPr/>
          <p:nvPr/>
        </p:nvSpPr>
        <p:spPr>
          <a:xfrm>
            <a:off x="10285979" y="1564952"/>
            <a:ext cx="54864" cy="54864"/>
          </a:xfrm>
          <a:prstGeom prst="ellipse">
            <a:avLst/>
          </a:prstGeom>
          <a:solidFill>
            <a:srgbClr val="967D39"/>
          </a:solidFill>
          <a:ln>
            <a:noFill/>
          </a:ln>
        </p:spPr>
        <p:txBody>
          <a:bodyPr rtlCol="0" anchor="ctr"/>
          <a:lstStyle/>
          <a:p/>
        </p:txBody>
      </p:sp>
      <p:sp>
        <p:nvSpPr>
          <p:cNvPr id="23" name="Oval 22"/>
          <p:cNvSpPr/>
          <p:nvPr/>
        </p:nvSpPr>
        <p:spPr>
          <a:xfrm>
            <a:off x="3157621" y="2347467"/>
            <a:ext cx="73152" cy="73152"/>
          </a:xfrm>
          <a:prstGeom prst="ellipse">
            <a:avLst/>
          </a:prstGeom>
          <a:solidFill>
            <a:srgbClr val="938254"/>
          </a:solidFill>
          <a:ln>
            <a:noFill/>
          </a:ln>
        </p:spPr>
        <p:txBody>
          <a:bodyPr rtlCol="0" anchor="ctr"/>
          <a:lstStyle/>
          <a:p/>
        </p:txBody>
      </p:sp>
      <p:sp>
        <p:nvSpPr>
          <p:cNvPr id="24" name="Oval 23"/>
          <p:cNvSpPr/>
          <p:nvPr/>
        </p:nvSpPr>
        <p:spPr>
          <a:xfrm>
            <a:off x="3257971" y="1740525"/>
            <a:ext cx="73152" cy="73152"/>
          </a:xfrm>
          <a:prstGeom prst="ellipse">
            <a:avLst/>
          </a:prstGeom>
          <a:solidFill>
            <a:srgbClr val="A26929"/>
          </a:solidFill>
          <a:ln>
            <a:noFill/>
          </a:ln>
        </p:spPr>
        <p:txBody>
          <a:bodyPr rtlCol="0" anchor="ctr"/>
          <a:lstStyle/>
          <a:p/>
        </p:txBody>
      </p:sp>
      <p:sp>
        <p:nvSpPr>
          <p:cNvPr id="25" name="Oval 24"/>
          <p:cNvSpPr/>
          <p:nvPr/>
        </p:nvSpPr>
        <p:spPr>
          <a:xfrm>
            <a:off x="10599242" y="2814888"/>
            <a:ext cx="27432" cy="27432"/>
          </a:xfrm>
          <a:prstGeom prst="ellipse">
            <a:avLst/>
          </a:prstGeom>
          <a:solidFill>
            <a:srgbClr val="977E3A"/>
          </a:solidFill>
          <a:ln>
            <a:noFill/>
          </a:ln>
        </p:spPr>
        <p:txBody>
          <a:bodyPr rtlCol="0" anchor="ctr"/>
          <a:lstStyle/>
          <a:p/>
        </p:txBody>
      </p:sp>
      <p:sp>
        <p:nvSpPr>
          <p:cNvPr id="26" name="Oval 25"/>
          <p:cNvSpPr/>
          <p:nvPr/>
        </p:nvSpPr>
        <p:spPr>
          <a:xfrm>
            <a:off x="5036016" y="1056206"/>
            <a:ext cx="45720" cy="45720"/>
          </a:xfrm>
          <a:prstGeom prst="ellipse">
            <a:avLst/>
          </a:prstGeom>
          <a:solidFill>
            <a:srgbClr val="746642"/>
          </a:solidFill>
          <a:ln>
            <a:noFill/>
          </a:ln>
        </p:spPr>
        <p:txBody>
          <a:bodyPr rtlCol="0" anchor="ctr"/>
          <a:lstStyle/>
          <a:p/>
        </p:txBody>
      </p:sp>
      <p:sp>
        <p:nvSpPr>
          <p:cNvPr id="27" name="Oval 26"/>
          <p:cNvSpPr/>
          <p:nvPr/>
        </p:nvSpPr>
        <p:spPr>
          <a:xfrm>
            <a:off x="9383318" y="526727"/>
            <a:ext cx="54864" cy="54864"/>
          </a:xfrm>
          <a:prstGeom prst="ellipse">
            <a:avLst/>
          </a:prstGeom>
          <a:solidFill>
            <a:srgbClr val="724A1E"/>
          </a:solidFill>
          <a:ln>
            <a:noFill/>
          </a:ln>
        </p:spPr>
        <p:txBody>
          <a:bodyPr rtlCol="0" anchor="ctr"/>
          <a:lstStyle/>
          <a:p/>
        </p:txBody>
      </p:sp>
      <p:sp>
        <p:nvSpPr>
          <p:cNvPr id="28" name="Oval 27"/>
          <p:cNvSpPr/>
          <p:nvPr/>
        </p:nvSpPr>
        <p:spPr>
          <a:xfrm>
            <a:off x="2318155" y="4056419"/>
            <a:ext cx="36576" cy="36576"/>
          </a:xfrm>
          <a:prstGeom prst="ellipse">
            <a:avLst/>
          </a:prstGeom>
          <a:solidFill>
            <a:srgbClr val="915E25"/>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829403" y="1097280"/>
            <a:ext cx="2532888" cy="329184"/>
          </a:xfrm>
          <a:prstGeom prst="rect">
            <a:avLst/>
          </a:prstGeom>
          <a:noFill/>
        </p:spPr>
        <p:txBody>
          <a:bodyPr wrap="square" lIns="0" rIns="0" tIns="0" bIns="0" anchor="ctr">
            <a:spAutoFit/>
          </a:bodyPr>
          <a:lstStyle/>
          <a:p>
            <a:pPr algn="ctr"/>
            <a:r>
              <a:rPr sz="1300" b="1" i="0" spc="400">
                <a:solidFill>
                  <a:srgbClr val="C9A84C"/>
                </a:solidFill>
                <a:latin typeface="Montserrat"/>
              </a:rPr>
              <a:t>THE HARD TRUTH</a:t>
            </a:r>
          </a:p>
        </p:txBody>
      </p:sp>
      <p:cxnSp>
        <p:nvCxnSpPr>
          <p:cNvPr id="50" name="Connector 49"/>
          <p:cNvCxnSpPr/>
          <p:nvPr/>
        </p:nvCxnSpPr>
        <p:spPr>
          <a:xfrm>
            <a:off x="3457803" y="126187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407511" y="1211580"/>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499451" y="126187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683599" y="1211580"/>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490472"/>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What nobody can remove</a:t>
            </a:r>
          </a:p>
        </p:txBody>
      </p:sp>
      <p:sp>
        <p:nvSpPr>
          <p:cNvPr id="55" name="Rounded Rectangle 54"/>
          <p:cNvSpPr/>
          <p:nvPr/>
        </p:nvSpPr>
        <p:spPr>
          <a:xfrm>
            <a:off x="1523847" y="2298192"/>
            <a:ext cx="9144000" cy="3179064"/>
          </a:xfrm>
          <a:prstGeom prst="roundRect">
            <a:avLst>
              <a:gd name="adj" fmla="val 6000"/>
            </a:avLst>
          </a:prstGeom>
          <a:solidFill>
            <a:srgbClr val="100D07"/>
          </a:solidFill>
          <a:ln w="15875">
            <a:solidFill>
              <a:srgbClr val="877034"/>
            </a:solidFill>
          </a:ln>
        </p:spPr>
        <p:txBody>
          <a:bodyPr rtlCol="0" anchor="ctr"/>
          <a:lstStyle/>
          <a:p/>
        </p:txBody>
      </p:sp>
      <p:sp>
        <p:nvSpPr>
          <p:cNvPr id="56" name="Diamond 55"/>
          <p:cNvSpPr/>
          <p:nvPr/>
        </p:nvSpPr>
        <p:spPr>
          <a:xfrm>
            <a:off x="2026767" y="2616708"/>
            <a:ext cx="137160" cy="137160"/>
          </a:xfrm>
          <a:prstGeom prst="diamond">
            <a:avLst/>
          </a:prstGeom>
          <a:solidFill>
            <a:srgbClr val="F0D58A"/>
          </a:solidFill>
          <a:ln>
            <a:noFill/>
          </a:ln>
        </p:spPr>
        <p:txBody>
          <a:bodyPr rtlCol="0" anchor="ctr"/>
          <a:lstStyle/>
          <a:p/>
        </p:txBody>
      </p:sp>
      <p:sp>
        <p:nvSpPr>
          <p:cNvPr id="57" name="TextBox 56"/>
          <p:cNvSpPr txBox="1"/>
          <p:nvPr/>
        </p:nvSpPr>
        <p:spPr>
          <a:xfrm>
            <a:off x="2346807" y="2499360"/>
            <a:ext cx="7955279" cy="536448"/>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Accurate negative information</a:t>
            </a:r>
          </a:p>
        </p:txBody>
      </p:sp>
      <p:sp>
        <p:nvSpPr>
          <p:cNvPr id="58" name="Diamond 57"/>
          <p:cNvSpPr/>
          <p:nvPr/>
        </p:nvSpPr>
        <p:spPr>
          <a:xfrm>
            <a:off x="2026767" y="3153156"/>
            <a:ext cx="137160" cy="137160"/>
          </a:xfrm>
          <a:prstGeom prst="diamond">
            <a:avLst/>
          </a:prstGeom>
          <a:solidFill>
            <a:srgbClr val="F0D58A"/>
          </a:solidFill>
          <a:ln>
            <a:noFill/>
          </a:ln>
        </p:spPr>
        <p:txBody>
          <a:bodyPr rtlCol="0" anchor="ctr"/>
          <a:lstStyle/>
          <a:p/>
        </p:txBody>
      </p:sp>
      <p:sp>
        <p:nvSpPr>
          <p:cNvPr id="59" name="TextBox 58"/>
          <p:cNvSpPr txBox="1"/>
          <p:nvPr/>
        </p:nvSpPr>
        <p:spPr>
          <a:xfrm>
            <a:off x="2346807" y="3035808"/>
            <a:ext cx="7955279" cy="871727"/>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It ages off on a schedule — most items 7 years, some bankruptcies 10</a:t>
            </a:r>
          </a:p>
        </p:txBody>
      </p:sp>
      <p:sp>
        <p:nvSpPr>
          <p:cNvPr id="60" name="Diamond 59"/>
          <p:cNvSpPr/>
          <p:nvPr/>
        </p:nvSpPr>
        <p:spPr>
          <a:xfrm>
            <a:off x="2026767" y="4024883"/>
            <a:ext cx="137160" cy="137160"/>
          </a:xfrm>
          <a:prstGeom prst="diamond">
            <a:avLst/>
          </a:prstGeom>
          <a:solidFill>
            <a:srgbClr val="F0D58A"/>
          </a:solidFill>
          <a:ln>
            <a:noFill/>
          </a:ln>
        </p:spPr>
        <p:txBody>
          <a:bodyPr rtlCol="0" anchor="ctr"/>
          <a:lstStyle/>
          <a:p/>
        </p:txBody>
      </p:sp>
      <p:sp>
        <p:nvSpPr>
          <p:cNvPr id="61" name="TextBox 60"/>
          <p:cNvSpPr txBox="1"/>
          <p:nvPr/>
        </p:nvSpPr>
        <p:spPr>
          <a:xfrm>
            <a:off x="2346807" y="3907536"/>
            <a:ext cx="7955279" cy="871727"/>
          </a:xfrm>
          <a:prstGeom prst="rect">
            <a:avLst/>
          </a:prstGeom>
          <a:noFill/>
        </p:spPr>
        <p:txBody>
          <a:bodyPr wrap="square" lIns="0" rIns="0" tIns="0" bIns="0" anchor="t">
            <a:spAutoFit/>
          </a:bodyPr>
          <a:lstStyle/>
          <a:p>
            <a:pPr algn="l">
              <a:lnSpc>
                <a:spcPct val="120000"/>
              </a:lnSpc>
            </a:pPr>
            <a:r>
              <a:rPr sz="2200" b="0" i="0">
                <a:solidFill>
                  <a:srgbClr val="EFE3C6"/>
                </a:solidFill>
                <a:latin typeface="Montserrat"/>
              </a:rPr>
              <a:t>What rebuilds it: on-time payments, lower balances, time</a:t>
            </a:r>
          </a:p>
        </p:txBody>
      </p:sp>
      <p:sp>
        <p:nvSpPr>
          <p:cNvPr id="62" name="TextBox 61"/>
          <p:cNvSpPr txBox="1"/>
          <p:nvPr/>
        </p:nvSpPr>
        <p:spPr>
          <a:xfrm>
            <a:off x="1889607" y="4760976"/>
            <a:ext cx="8412480" cy="487680"/>
          </a:xfrm>
          <a:prstGeom prst="rect">
            <a:avLst/>
          </a:prstGeom>
          <a:noFill/>
        </p:spPr>
        <p:txBody>
          <a:bodyPr wrap="square" lIns="0" rIns="0" tIns="0" bIns="0" anchor="ctr">
            <a:spAutoFit/>
          </a:bodyPr>
          <a:lstStyle/>
          <a:p>
            <a:pPr algn="ctr">
              <a:lnSpc>
                <a:spcPct val="120000"/>
              </a:lnSpc>
            </a:pPr>
            <a:r>
              <a:rPr sz="2000" b="1" i="1">
                <a:solidFill>
                  <a:srgbClr val="F0D58A"/>
                </a:solidFill>
                <a:latin typeface="Montserrat"/>
              </a:rPr>
              <a:t>Anyone who promises to delete everything is lying to you.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9626465" y="3997319"/>
            <a:ext cx="73152" cy="73152"/>
          </a:xfrm>
          <a:prstGeom prst="ellipse">
            <a:avLst/>
          </a:prstGeom>
          <a:solidFill>
            <a:srgbClr val="7F6A31"/>
          </a:solidFill>
          <a:ln>
            <a:noFill/>
          </a:ln>
        </p:spPr>
        <p:txBody>
          <a:bodyPr rtlCol="0" anchor="ctr"/>
          <a:lstStyle/>
          <a:p/>
        </p:txBody>
      </p:sp>
      <p:sp>
        <p:nvSpPr>
          <p:cNvPr id="4" name="Oval 3"/>
          <p:cNvSpPr/>
          <p:nvPr/>
        </p:nvSpPr>
        <p:spPr>
          <a:xfrm>
            <a:off x="11561533" y="653881"/>
            <a:ext cx="36576" cy="36576"/>
          </a:xfrm>
          <a:prstGeom prst="ellipse">
            <a:avLst/>
          </a:prstGeom>
          <a:solidFill>
            <a:srgbClr val="915E25"/>
          </a:solidFill>
          <a:ln>
            <a:noFill/>
          </a:ln>
        </p:spPr>
        <p:txBody>
          <a:bodyPr rtlCol="0" anchor="ctr"/>
          <a:lstStyle/>
          <a:p/>
        </p:txBody>
      </p:sp>
      <p:sp>
        <p:nvSpPr>
          <p:cNvPr id="5" name="Oval 4"/>
          <p:cNvSpPr/>
          <p:nvPr/>
        </p:nvSpPr>
        <p:spPr>
          <a:xfrm>
            <a:off x="5655009" y="6270637"/>
            <a:ext cx="27432" cy="27432"/>
          </a:xfrm>
          <a:prstGeom prst="ellipse">
            <a:avLst/>
          </a:prstGeom>
          <a:solidFill>
            <a:srgbClr val="483F29"/>
          </a:solidFill>
          <a:ln>
            <a:noFill/>
          </a:ln>
        </p:spPr>
        <p:txBody>
          <a:bodyPr rtlCol="0" anchor="ctr"/>
          <a:lstStyle/>
          <a:p/>
        </p:txBody>
      </p:sp>
      <p:sp>
        <p:nvSpPr>
          <p:cNvPr id="6" name="Oval 5"/>
          <p:cNvSpPr/>
          <p:nvPr/>
        </p:nvSpPr>
        <p:spPr>
          <a:xfrm>
            <a:off x="10777751" y="5216329"/>
            <a:ext cx="36576" cy="36576"/>
          </a:xfrm>
          <a:prstGeom prst="ellipse">
            <a:avLst/>
          </a:prstGeom>
          <a:solidFill>
            <a:srgbClr val="9B813B"/>
          </a:solidFill>
          <a:ln>
            <a:noFill/>
          </a:ln>
        </p:spPr>
        <p:txBody>
          <a:bodyPr rtlCol="0" anchor="ctr"/>
          <a:lstStyle/>
          <a:p/>
        </p:txBody>
      </p:sp>
      <p:sp>
        <p:nvSpPr>
          <p:cNvPr id="7" name="Oval 6"/>
          <p:cNvSpPr/>
          <p:nvPr/>
        </p:nvSpPr>
        <p:spPr>
          <a:xfrm>
            <a:off x="6499300" y="767731"/>
            <a:ext cx="45720" cy="45720"/>
          </a:xfrm>
          <a:prstGeom prst="ellipse">
            <a:avLst/>
          </a:prstGeom>
          <a:solidFill>
            <a:srgbClr val="645839"/>
          </a:solidFill>
          <a:ln>
            <a:noFill/>
          </a:ln>
        </p:spPr>
        <p:txBody>
          <a:bodyPr rtlCol="0" anchor="ctr"/>
          <a:lstStyle/>
          <a:p/>
        </p:txBody>
      </p:sp>
      <p:sp>
        <p:nvSpPr>
          <p:cNvPr id="8" name="Oval 7"/>
          <p:cNvSpPr/>
          <p:nvPr/>
        </p:nvSpPr>
        <p:spPr>
          <a:xfrm>
            <a:off x="8066650" y="4900796"/>
            <a:ext cx="73152" cy="73152"/>
          </a:xfrm>
          <a:prstGeom prst="ellipse">
            <a:avLst/>
          </a:prstGeom>
          <a:solidFill>
            <a:srgbClr val="45391B"/>
          </a:solidFill>
          <a:ln>
            <a:noFill/>
          </a:ln>
        </p:spPr>
        <p:txBody>
          <a:bodyPr rtlCol="0" anchor="ctr"/>
          <a:lstStyle/>
          <a:p/>
        </p:txBody>
      </p:sp>
      <p:sp>
        <p:nvSpPr>
          <p:cNvPr id="9" name="Oval 8"/>
          <p:cNvSpPr/>
          <p:nvPr/>
        </p:nvSpPr>
        <p:spPr>
          <a:xfrm>
            <a:off x="7685635" y="5686325"/>
            <a:ext cx="45720" cy="45720"/>
          </a:xfrm>
          <a:prstGeom prst="ellipse">
            <a:avLst/>
          </a:prstGeom>
          <a:solidFill>
            <a:srgbClr val="928154"/>
          </a:solidFill>
          <a:ln>
            <a:noFill/>
          </a:ln>
        </p:spPr>
        <p:txBody>
          <a:bodyPr rtlCol="0" anchor="ctr"/>
          <a:lstStyle/>
          <a:p/>
        </p:txBody>
      </p:sp>
      <p:sp>
        <p:nvSpPr>
          <p:cNvPr id="10" name="Oval 9"/>
          <p:cNvSpPr/>
          <p:nvPr/>
        </p:nvSpPr>
        <p:spPr>
          <a:xfrm>
            <a:off x="1848079" y="2200090"/>
            <a:ext cx="45720" cy="45720"/>
          </a:xfrm>
          <a:prstGeom prst="ellipse">
            <a:avLst/>
          </a:prstGeom>
          <a:solidFill>
            <a:srgbClr val="61401A"/>
          </a:solidFill>
          <a:ln>
            <a:noFill/>
          </a:ln>
        </p:spPr>
        <p:txBody>
          <a:bodyPr rtlCol="0" anchor="ctr"/>
          <a:lstStyle/>
          <a:p/>
        </p:txBody>
      </p:sp>
      <p:sp>
        <p:nvSpPr>
          <p:cNvPr id="11" name="Oval 10"/>
          <p:cNvSpPr/>
          <p:nvPr/>
        </p:nvSpPr>
        <p:spPr>
          <a:xfrm>
            <a:off x="1951138" y="4522615"/>
            <a:ext cx="27432" cy="27432"/>
          </a:xfrm>
          <a:prstGeom prst="ellipse">
            <a:avLst/>
          </a:prstGeom>
          <a:solidFill>
            <a:srgbClr val="A6925F"/>
          </a:solidFill>
          <a:ln>
            <a:noFill/>
          </a:ln>
        </p:spPr>
        <p:txBody>
          <a:bodyPr rtlCol="0" anchor="ctr"/>
          <a:lstStyle/>
          <a:p/>
        </p:txBody>
      </p:sp>
      <p:sp>
        <p:nvSpPr>
          <p:cNvPr id="12" name="Oval 11"/>
          <p:cNvSpPr/>
          <p:nvPr/>
        </p:nvSpPr>
        <p:spPr>
          <a:xfrm>
            <a:off x="10867886" y="3371936"/>
            <a:ext cx="54864" cy="54864"/>
          </a:xfrm>
          <a:prstGeom prst="ellipse">
            <a:avLst/>
          </a:prstGeom>
          <a:solidFill>
            <a:srgbClr val="87774D"/>
          </a:solidFill>
          <a:ln>
            <a:noFill/>
          </a:ln>
        </p:spPr>
        <p:txBody>
          <a:bodyPr rtlCol="0" anchor="ctr"/>
          <a:lstStyle/>
          <a:p/>
        </p:txBody>
      </p:sp>
      <p:sp>
        <p:nvSpPr>
          <p:cNvPr id="13" name="Oval 12"/>
          <p:cNvSpPr/>
          <p:nvPr/>
        </p:nvSpPr>
        <p:spPr>
          <a:xfrm>
            <a:off x="5775237" y="2334537"/>
            <a:ext cx="36576" cy="36576"/>
          </a:xfrm>
          <a:prstGeom prst="ellipse">
            <a:avLst/>
          </a:prstGeom>
          <a:solidFill>
            <a:srgbClr val="AB6F2C"/>
          </a:solidFill>
          <a:ln>
            <a:noFill/>
          </a:ln>
        </p:spPr>
        <p:txBody>
          <a:bodyPr rtlCol="0" anchor="ctr"/>
          <a:lstStyle/>
          <a:p/>
        </p:txBody>
      </p:sp>
      <p:sp>
        <p:nvSpPr>
          <p:cNvPr id="14" name="Oval 13"/>
          <p:cNvSpPr/>
          <p:nvPr/>
        </p:nvSpPr>
        <p:spPr>
          <a:xfrm>
            <a:off x="6325262" y="771443"/>
            <a:ext cx="45720" cy="45720"/>
          </a:xfrm>
          <a:prstGeom prst="ellipse">
            <a:avLst/>
          </a:prstGeom>
          <a:solidFill>
            <a:srgbClr val="9D833C"/>
          </a:solidFill>
          <a:ln>
            <a:noFill/>
          </a:ln>
        </p:spPr>
        <p:txBody>
          <a:bodyPr rtlCol="0" anchor="ctr"/>
          <a:lstStyle/>
          <a:p/>
        </p:txBody>
      </p:sp>
      <p:sp>
        <p:nvSpPr>
          <p:cNvPr id="15" name="Oval 14"/>
          <p:cNvSpPr/>
          <p:nvPr/>
        </p:nvSpPr>
        <p:spPr>
          <a:xfrm>
            <a:off x="10429047" y="1920223"/>
            <a:ext cx="54864" cy="54864"/>
          </a:xfrm>
          <a:prstGeom prst="ellipse">
            <a:avLst/>
          </a:prstGeom>
          <a:solidFill>
            <a:srgbClr val="62401A"/>
          </a:solidFill>
          <a:ln>
            <a:noFill/>
          </a:ln>
        </p:spPr>
        <p:txBody>
          <a:bodyPr rtlCol="0" anchor="ctr"/>
          <a:lstStyle/>
          <a:p/>
        </p:txBody>
      </p:sp>
      <p:sp>
        <p:nvSpPr>
          <p:cNvPr id="16" name="Oval 15"/>
          <p:cNvSpPr/>
          <p:nvPr/>
        </p:nvSpPr>
        <p:spPr>
          <a:xfrm>
            <a:off x="10615289" y="5581663"/>
            <a:ext cx="45720" cy="45720"/>
          </a:xfrm>
          <a:prstGeom prst="ellipse">
            <a:avLst/>
          </a:prstGeom>
          <a:solidFill>
            <a:srgbClr val="9B8959"/>
          </a:solidFill>
          <a:ln>
            <a:noFill/>
          </a:ln>
        </p:spPr>
        <p:txBody>
          <a:bodyPr rtlCol="0" anchor="ctr"/>
          <a:lstStyle/>
          <a:p/>
        </p:txBody>
      </p:sp>
      <p:sp>
        <p:nvSpPr>
          <p:cNvPr id="17" name="Oval 16"/>
          <p:cNvSpPr/>
          <p:nvPr/>
        </p:nvSpPr>
        <p:spPr>
          <a:xfrm>
            <a:off x="6238168" y="2862925"/>
            <a:ext cx="36576" cy="36576"/>
          </a:xfrm>
          <a:prstGeom prst="ellipse">
            <a:avLst/>
          </a:prstGeom>
          <a:solidFill>
            <a:srgbClr val="BAA56B"/>
          </a:solidFill>
          <a:ln>
            <a:noFill/>
          </a:ln>
        </p:spPr>
        <p:txBody>
          <a:bodyPr rtlCol="0" anchor="ctr"/>
          <a:lstStyle/>
          <a:p/>
        </p:txBody>
      </p:sp>
      <p:sp>
        <p:nvSpPr>
          <p:cNvPr id="18" name="Oval 17"/>
          <p:cNvSpPr/>
          <p:nvPr/>
        </p:nvSpPr>
        <p:spPr>
          <a:xfrm>
            <a:off x="4604343" y="2931835"/>
            <a:ext cx="54864" cy="54864"/>
          </a:xfrm>
          <a:prstGeom prst="ellipse">
            <a:avLst/>
          </a:prstGeom>
          <a:solidFill>
            <a:srgbClr val="907837"/>
          </a:solidFill>
          <a:ln>
            <a:noFill/>
          </a:ln>
        </p:spPr>
        <p:txBody>
          <a:bodyPr rtlCol="0" anchor="ctr"/>
          <a:lstStyle/>
          <a:p/>
        </p:txBody>
      </p:sp>
      <p:sp>
        <p:nvSpPr>
          <p:cNvPr id="19" name="Oval 18"/>
          <p:cNvSpPr/>
          <p:nvPr/>
        </p:nvSpPr>
        <p:spPr>
          <a:xfrm>
            <a:off x="6218866" y="2625270"/>
            <a:ext cx="45720" cy="45720"/>
          </a:xfrm>
          <a:prstGeom prst="ellipse">
            <a:avLst/>
          </a:prstGeom>
          <a:solidFill>
            <a:srgbClr val="9B813B"/>
          </a:solidFill>
          <a:ln>
            <a:noFill/>
          </a:ln>
        </p:spPr>
        <p:txBody>
          <a:bodyPr rtlCol="0" anchor="ctr"/>
          <a:lstStyle/>
          <a:p/>
        </p:txBody>
      </p:sp>
      <p:sp>
        <p:nvSpPr>
          <p:cNvPr id="20" name="Oval 19"/>
          <p:cNvSpPr/>
          <p:nvPr/>
        </p:nvSpPr>
        <p:spPr>
          <a:xfrm>
            <a:off x="9503007" y="4192321"/>
            <a:ext cx="45720" cy="45720"/>
          </a:xfrm>
          <a:prstGeom prst="ellipse">
            <a:avLst/>
          </a:prstGeom>
          <a:solidFill>
            <a:srgbClr val="6C5A2A"/>
          </a:solidFill>
          <a:ln>
            <a:noFill/>
          </a:ln>
        </p:spPr>
        <p:txBody>
          <a:bodyPr rtlCol="0" anchor="ctr"/>
          <a:lstStyle/>
          <a:p/>
        </p:txBody>
      </p:sp>
      <p:sp>
        <p:nvSpPr>
          <p:cNvPr id="21" name="Oval 20"/>
          <p:cNvSpPr/>
          <p:nvPr/>
        </p:nvSpPr>
        <p:spPr>
          <a:xfrm>
            <a:off x="6300952" y="4652541"/>
            <a:ext cx="45720" cy="45720"/>
          </a:xfrm>
          <a:prstGeom prst="ellipse">
            <a:avLst/>
          </a:prstGeom>
          <a:solidFill>
            <a:srgbClr val="835522"/>
          </a:solidFill>
          <a:ln>
            <a:noFill/>
          </a:ln>
        </p:spPr>
        <p:txBody>
          <a:bodyPr rtlCol="0" anchor="ctr"/>
          <a:lstStyle/>
          <a:p/>
        </p:txBody>
      </p:sp>
      <p:sp>
        <p:nvSpPr>
          <p:cNvPr id="22" name="Oval 21"/>
          <p:cNvSpPr/>
          <p:nvPr/>
        </p:nvSpPr>
        <p:spPr>
          <a:xfrm>
            <a:off x="600245" y="1487981"/>
            <a:ext cx="45720" cy="45720"/>
          </a:xfrm>
          <a:prstGeom prst="ellipse">
            <a:avLst/>
          </a:prstGeom>
          <a:solidFill>
            <a:srgbClr val="875823"/>
          </a:solidFill>
          <a:ln>
            <a:noFill/>
          </a:ln>
        </p:spPr>
        <p:txBody>
          <a:bodyPr rtlCol="0" anchor="ctr"/>
          <a:lstStyle/>
          <a:p/>
        </p:txBody>
      </p:sp>
      <p:sp>
        <p:nvSpPr>
          <p:cNvPr id="23" name="Oval 22"/>
          <p:cNvSpPr/>
          <p:nvPr/>
        </p:nvSpPr>
        <p:spPr>
          <a:xfrm>
            <a:off x="6700937" y="1874447"/>
            <a:ext cx="73152" cy="73152"/>
          </a:xfrm>
          <a:prstGeom prst="ellipse">
            <a:avLst/>
          </a:prstGeom>
          <a:solidFill>
            <a:srgbClr val="9B6528"/>
          </a:solidFill>
          <a:ln>
            <a:noFill/>
          </a:ln>
        </p:spPr>
        <p:txBody>
          <a:bodyPr rtlCol="0" anchor="ctr"/>
          <a:lstStyle/>
          <a:p/>
        </p:txBody>
      </p:sp>
      <p:sp>
        <p:nvSpPr>
          <p:cNvPr id="24" name="Oval 23"/>
          <p:cNvSpPr/>
          <p:nvPr/>
        </p:nvSpPr>
        <p:spPr>
          <a:xfrm>
            <a:off x="789455" y="2997276"/>
            <a:ext cx="73152" cy="73152"/>
          </a:xfrm>
          <a:prstGeom prst="ellipse">
            <a:avLst/>
          </a:prstGeom>
          <a:solidFill>
            <a:srgbClr val="574C31"/>
          </a:solidFill>
          <a:ln>
            <a:noFill/>
          </a:ln>
        </p:spPr>
        <p:txBody>
          <a:bodyPr rtlCol="0" anchor="ctr"/>
          <a:lstStyle/>
          <a:p/>
        </p:txBody>
      </p:sp>
      <p:sp>
        <p:nvSpPr>
          <p:cNvPr id="25" name="Oval 24"/>
          <p:cNvSpPr/>
          <p:nvPr/>
        </p:nvSpPr>
        <p:spPr>
          <a:xfrm>
            <a:off x="6055598" y="5420261"/>
            <a:ext cx="73152" cy="73152"/>
          </a:xfrm>
          <a:prstGeom prst="ellipse">
            <a:avLst/>
          </a:prstGeom>
          <a:solidFill>
            <a:srgbClr val="784E20"/>
          </a:solidFill>
          <a:ln>
            <a:noFill/>
          </a:ln>
        </p:spPr>
        <p:txBody>
          <a:bodyPr rtlCol="0" anchor="ctr"/>
          <a:lstStyle/>
          <a:p/>
        </p:txBody>
      </p:sp>
      <p:sp>
        <p:nvSpPr>
          <p:cNvPr id="26" name="Oval 25"/>
          <p:cNvSpPr/>
          <p:nvPr/>
        </p:nvSpPr>
        <p:spPr>
          <a:xfrm>
            <a:off x="1954029" y="5521366"/>
            <a:ext cx="73152" cy="73152"/>
          </a:xfrm>
          <a:prstGeom prst="ellipse">
            <a:avLst/>
          </a:prstGeom>
          <a:solidFill>
            <a:srgbClr val="835522"/>
          </a:solidFill>
          <a:ln>
            <a:noFill/>
          </a:ln>
        </p:spPr>
        <p:txBody>
          <a:bodyPr rtlCol="0" anchor="ctr"/>
          <a:lstStyle/>
          <a:p/>
        </p:txBody>
      </p:sp>
      <p:sp>
        <p:nvSpPr>
          <p:cNvPr id="27" name="Oval 26"/>
          <p:cNvSpPr/>
          <p:nvPr/>
        </p:nvSpPr>
        <p:spPr>
          <a:xfrm>
            <a:off x="9954831" y="1516584"/>
            <a:ext cx="45720" cy="45720"/>
          </a:xfrm>
          <a:prstGeom prst="ellipse">
            <a:avLst/>
          </a:prstGeom>
          <a:solidFill>
            <a:srgbClr val="A1863D"/>
          </a:solidFill>
          <a:ln>
            <a:noFill/>
          </a:ln>
        </p:spPr>
        <p:txBody>
          <a:bodyPr rtlCol="0" anchor="ctr"/>
          <a:lstStyle/>
          <a:p/>
        </p:txBody>
      </p:sp>
      <p:sp>
        <p:nvSpPr>
          <p:cNvPr id="28" name="Oval 27"/>
          <p:cNvSpPr/>
          <p:nvPr/>
        </p:nvSpPr>
        <p:spPr>
          <a:xfrm>
            <a:off x="2001722" y="2893623"/>
            <a:ext cx="27432" cy="27432"/>
          </a:xfrm>
          <a:prstGeom prst="ellipse">
            <a:avLst/>
          </a:prstGeom>
          <a:solidFill>
            <a:srgbClr val="756743"/>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191609" y="1347215"/>
            <a:ext cx="3808476" cy="329184"/>
          </a:xfrm>
          <a:prstGeom prst="rect">
            <a:avLst/>
          </a:prstGeom>
          <a:noFill/>
        </p:spPr>
        <p:txBody>
          <a:bodyPr wrap="square" lIns="0" rIns="0" tIns="0" bIns="0" anchor="ctr">
            <a:spAutoFit/>
          </a:bodyPr>
          <a:lstStyle/>
          <a:p>
            <a:pPr algn="ctr"/>
            <a:r>
              <a:rPr sz="1300" b="1" i="0" spc="400">
                <a:solidFill>
                  <a:srgbClr val="C9A84C"/>
                </a:solidFill>
                <a:latin typeface="Montserrat"/>
              </a:rPr>
              <a:t>WHY LEVEL 1 COMES FIRST</a:t>
            </a:r>
          </a:p>
        </p:txBody>
      </p:sp>
      <p:cxnSp>
        <p:nvCxnSpPr>
          <p:cNvPr id="50" name="Connector 49"/>
          <p:cNvCxnSpPr/>
          <p:nvPr/>
        </p:nvCxnSpPr>
        <p:spPr>
          <a:xfrm>
            <a:off x="2820009" y="1511807"/>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769717" y="1461515"/>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8137245" y="1511807"/>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321393" y="1461515"/>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740407"/>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What a weak file costs you</a:t>
            </a:r>
          </a:p>
        </p:txBody>
      </p:sp>
      <p:sp>
        <p:nvSpPr>
          <p:cNvPr id="55" name="Rounded Rectangle 54"/>
          <p:cNvSpPr/>
          <p:nvPr/>
        </p:nvSpPr>
        <p:spPr>
          <a:xfrm>
            <a:off x="1523847" y="2548127"/>
            <a:ext cx="9144000" cy="2679192"/>
          </a:xfrm>
          <a:prstGeom prst="roundRect">
            <a:avLst>
              <a:gd name="adj" fmla="val 6000"/>
            </a:avLst>
          </a:prstGeom>
          <a:solidFill>
            <a:srgbClr val="100D07"/>
          </a:solidFill>
          <a:ln w="15875">
            <a:solidFill>
              <a:srgbClr val="877034"/>
            </a:solidFill>
          </a:ln>
        </p:spPr>
        <p:txBody>
          <a:bodyPr rtlCol="0" anchor="ctr"/>
          <a:lstStyle/>
          <a:p/>
        </p:txBody>
      </p:sp>
      <p:sp>
        <p:nvSpPr>
          <p:cNvPr id="56" name="Diamond 55"/>
          <p:cNvSpPr/>
          <p:nvPr/>
        </p:nvSpPr>
        <p:spPr>
          <a:xfrm>
            <a:off x="2026767" y="2877312"/>
            <a:ext cx="137160" cy="137160"/>
          </a:xfrm>
          <a:prstGeom prst="diamond">
            <a:avLst/>
          </a:prstGeom>
          <a:solidFill>
            <a:srgbClr val="F0D58A"/>
          </a:solidFill>
          <a:ln>
            <a:noFill/>
          </a:ln>
        </p:spPr>
        <p:txBody>
          <a:bodyPr rtlCol="0" anchor="ctr"/>
          <a:lstStyle/>
          <a:p/>
        </p:txBody>
      </p:sp>
      <p:sp>
        <p:nvSpPr>
          <p:cNvPr id="57" name="TextBox 56"/>
          <p:cNvSpPr txBox="1"/>
          <p:nvPr/>
        </p:nvSpPr>
        <p:spPr>
          <a:xfrm>
            <a:off x="2346807" y="2749295"/>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Higher interest on cars, cards and homes</a:t>
            </a:r>
          </a:p>
        </p:txBody>
      </p:sp>
      <p:sp>
        <p:nvSpPr>
          <p:cNvPr id="58" name="Diamond 57"/>
          <p:cNvSpPr/>
          <p:nvPr/>
        </p:nvSpPr>
        <p:spPr>
          <a:xfrm>
            <a:off x="2026767" y="3444240"/>
            <a:ext cx="137160" cy="137160"/>
          </a:xfrm>
          <a:prstGeom prst="diamond">
            <a:avLst/>
          </a:prstGeom>
          <a:solidFill>
            <a:srgbClr val="F0D58A"/>
          </a:solidFill>
          <a:ln>
            <a:noFill/>
          </a:ln>
        </p:spPr>
        <p:txBody>
          <a:bodyPr rtlCol="0" anchor="ctr"/>
          <a:lstStyle/>
          <a:p/>
        </p:txBody>
      </p:sp>
      <p:sp>
        <p:nvSpPr>
          <p:cNvPr id="59" name="TextBox 58"/>
          <p:cNvSpPr txBox="1"/>
          <p:nvPr/>
        </p:nvSpPr>
        <p:spPr>
          <a:xfrm>
            <a:off x="2346807" y="3316224"/>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Bigger deposits</a:t>
            </a:r>
          </a:p>
        </p:txBody>
      </p:sp>
      <p:sp>
        <p:nvSpPr>
          <p:cNvPr id="60" name="Diamond 59"/>
          <p:cNvSpPr/>
          <p:nvPr/>
        </p:nvSpPr>
        <p:spPr>
          <a:xfrm>
            <a:off x="2026767" y="4011167"/>
            <a:ext cx="137160" cy="137160"/>
          </a:xfrm>
          <a:prstGeom prst="diamond">
            <a:avLst/>
          </a:prstGeom>
          <a:solidFill>
            <a:srgbClr val="F0D58A"/>
          </a:solidFill>
          <a:ln>
            <a:noFill/>
          </a:ln>
        </p:spPr>
        <p:txBody>
          <a:bodyPr rtlCol="0" anchor="ctr"/>
          <a:lstStyle/>
          <a:p/>
        </p:txBody>
      </p:sp>
      <p:sp>
        <p:nvSpPr>
          <p:cNvPr id="61" name="TextBox 60"/>
          <p:cNvSpPr txBox="1"/>
          <p:nvPr/>
        </p:nvSpPr>
        <p:spPr>
          <a:xfrm>
            <a:off x="2346807" y="3883151"/>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Denied applications</a:t>
            </a:r>
          </a:p>
        </p:txBody>
      </p:sp>
      <p:sp>
        <p:nvSpPr>
          <p:cNvPr id="62" name="Diamond 61"/>
          <p:cNvSpPr/>
          <p:nvPr/>
        </p:nvSpPr>
        <p:spPr>
          <a:xfrm>
            <a:off x="2026767" y="4578095"/>
            <a:ext cx="137160" cy="137160"/>
          </a:xfrm>
          <a:prstGeom prst="diamond">
            <a:avLst/>
          </a:prstGeom>
          <a:solidFill>
            <a:srgbClr val="F0D58A"/>
          </a:solidFill>
          <a:ln>
            <a:noFill/>
          </a:ln>
        </p:spPr>
        <p:txBody>
          <a:bodyPr rtlCol="0" anchor="ctr"/>
          <a:lstStyle/>
          <a:p/>
        </p:txBody>
      </p:sp>
      <p:sp>
        <p:nvSpPr>
          <p:cNvPr id="63" name="TextBox 62"/>
          <p:cNvSpPr txBox="1"/>
          <p:nvPr/>
        </p:nvSpPr>
        <p:spPr>
          <a:xfrm>
            <a:off x="2346807" y="4450080"/>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Fewer options when you need them most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0.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341552" y="519932"/>
            <a:ext cx="36576" cy="36576"/>
          </a:xfrm>
          <a:prstGeom prst="ellipse">
            <a:avLst/>
          </a:prstGeom>
          <a:solidFill>
            <a:srgbClr val="776844"/>
          </a:solidFill>
          <a:ln>
            <a:noFill/>
          </a:ln>
        </p:spPr>
        <p:txBody>
          <a:bodyPr rtlCol="0" anchor="ctr"/>
          <a:lstStyle/>
          <a:p/>
        </p:txBody>
      </p:sp>
      <p:sp>
        <p:nvSpPr>
          <p:cNvPr id="4" name="Oval 3"/>
          <p:cNvSpPr/>
          <p:nvPr/>
        </p:nvSpPr>
        <p:spPr>
          <a:xfrm>
            <a:off x="426791" y="5114243"/>
            <a:ext cx="73152" cy="73152"/>
          </a:xfrm>
          <a:prstGeom prst="ellipse">
            <a:avLst/>
          </a:prstGeom>
          <a:solidFill>
            <a:srgbClr val="605025"/>
          </a:solidFill>
          <a:ln>
            <a:noFill/>
          </a:ln>
        </p:spPr>
        <p:txBody>
          <a:bodyPr rtlCol="0" anchor="ctr"/>
          <a:lstStyle/>
          <a:p/>
        </p:txBody>
      </p:sp>
      <p:sp>
        <p:nvSpPr>
          <p:cNvPr id="5" name="Oval 4"/>
          <p:cNvSpPr/>
          <p:nvPr/>
        </p:nvSpPr>
        <p:spPr>
          <a:xfrm>
            <a:off x="11354881" y="526881"/>
            <a:ext cx="36576" cy="36576"/>
          </a:xfrm>
          <a:prstGeom prst="ellipse">
            <a:avLst/>
          </a:prstGeom>
          <a:solidFill>
            <a:srgbClr val="977E39"/>
          </a:solidFill>
          <a:ln>
            <a:noFill/>
          </a:ln>
        </p:spPr>
        <p:txBody>
          <a:bodyPr rtlCol="0" anchor="ctr"/>
          <a:lstStyle/>
          <a:p/>
        </p:txBody>
      </p:sp>
      <p:sp>
        <p:nvSpPr>
          <p:cNvPr id="6" name="Oval 5"/>
          <p:cNvSpPr/>
          <p:nvPr/>
        </p:nvSpPr>
        <p:spPr>
          <a:xfrm>
            <a:off x="4562824" y="1007435"/>
            <a:ext cx="27432" cy="27432"/>
          </a:xfrm>
          <a:prstGeom prst="ellipse">
            <a:avLst/>
          </a:prstGeom>
          <a:solidFill>
            <a:srgbClr val="764D1F"/>
          </a:solidFill>
          <a:ln>
            <a:noFill/>
          </a:ln>
        </p:spPr>
        <p:txBody>
          <a:bodyPr rtlCol="0" anchor="ctr"/>
          <a:lstStyle/>
          <a:p/>
        </p:txBody>
      </p:sp>
      <p:sp>
        <p:nvSpPr>
          <p:cNvPr id="7" name="Oval 6"/>
          <p:cNvSpPr/>
          <p:nvPr/>
        </p:nvSpPr>
        <p:spPr>
          <a:xfrm>
            <a:off x="10305317" y="3417003"/>
            <a:ext cx="27432" cy="27432"/>
          </a:xfrm>
          <a:prstGeom prst="ellipse">
            <a:avLst/>
          </a:prstGeom>
          <a:solidFill>
            <a:srgbClr val="63411B"/>
          </a:solidFill>
          <a:ln>
            <a:noFill/>
          </a:ln>
        </p:spPr>
        <p:txBody>
          <a:bodyPr rtlCol="0" anchor="ctr"/>
          <a:lstStyle/>
          <a:p/>
        </p:txBody>
      </p:sp>
      <p:sp>
        <p:nvSpPr>
          <p:cNvPr id="8" name="Oval 7"/>
          <p:cNvSpPr/>
          <p:nvPr/>
        </p:nvSpPr>
        <p:spPr>
          <a:xfrm>
            <a:off x="5639421" y="1896165"/>
            <a:ext cx="27432" cy="27432"/>
          </a:xfrm>
          <a:prstGeom prst="ellipse">
            <a:avLst/>
          </a:prstGeom>
          <a:solidFill>
            <a:srgbClr val="875823"/>
          </a:solidFill>
          <a:ln>
            <a:noFill/>
          </a:ln>
        </p:spPr>
        <p:txBody>
          <a:bodyPr rtlCol="0" anchor="ctr"/>
          <a:lstStyle/>
          <a:p/>
        </p:txBody>
      </p:sp>
      <p:sp>
        <p:nvSpPr>
          <p:cNvPr id="9" name="Oval 8"/>
          <p:cNvSpPr/>
          <p:nvPr/>
        </p:nvSpPr>
        <p:spPr>
          <a:xfrm>
            <a:off x="7834825" y="5819833"/>
            <a:ext cx="27432" cy="27432"/>
          </a:xfrm>
          <a:prstGeom prst="ellipse">
            <a:avLst/>
          </a:prstGeom>
          <a:solidFill>
            <a:srgbClr val="6D5B2A"/>
          </a:solidFill>
          <a:ln>
            <a:noFill/>
          </a:ln>
        </p:spPr>
        <p:txBody>
          <a:bodyPr rtlCol="0" anchor="ctr"/>
          <a:lstStyle/>
          <a:p/>
        </p:txBody>
      </p:sp>
      <p:sp>
        <p:nvSpPr>
          <p:cNvPr id="10" name="Oval 9"/>
          <p:cNvSpPr/>
          <p:nvPr/>
        </p:nvSpPr>
        <p:spPr>
          <a:xfrm>
            <a:off x="9543934" y="5980827"/>
            <a:ext cx="54864" cy="54864"/>
          </a:xfrm>
          <a:prstGeom prst="ellipse">
            <a:avLst/>
          </a:prstGeom>
          <a:solidFill>
            <a:srgbClr val="724A1E"/>
          </a:solidFill>
          <a:ln>
            <a:noFill/>
          </a:ln>
        </p:spPr>
        <p:txBody>
          <a:bodyPr rtlCol="0" anchor="ctr"/>
          <a:lstStyle/>
          <a:p/>
        </p:txBody>
      </p:sp>
      <p:sp>
        <p:nvSpPr>
          <p:cNvPr id="11" name="Oval 10"/>
          <p:cNvSpPr/>
          <p:nvPr/>
        </p:nvSpPr>
        <p:spPr>
          <a:xfrm>
            <a:off x="5852438" y="3520372"/>
            <a:ext cx="45720" cy="45720"/>
          </a:xfrm>
          <a:prstGeom prst="ellipse">
            <a:avLst/>
          </a:prstGeom>
          <a:solidFill>
            <a:srgbClr val="5B4F34"/>
          </a:solidFill>
          <a:ln>
            <a:noFill/>
          </a:ln>
        </p:spPr>
        <p:txBody>
          <a:bodyPr rtlCol="0" anchor="ctr"/>
          <a:lstStyle/>
          <a:p/>
        </p:txBody>
      </p:sp>
      <p:sp>
        <p:nvSpPr>
          <p:cNvPr id="12" name="Oval 11"/>
          <p:cNvSpPr/>
          <p:nvPr/>
        </p:nvSpPr>
        <p:spPr>
          <a:xfrm>
            <a:off x="3064817" y="4476992"/>
            <a:ext cx="45720" cy="45720"/>
          </a:xfrm>
          <a:prstGeom prst="ellipse">
            <a:avLst/>
          </a:prstGeom>
          <a:solidFill>
            <a:srgbClr val="937A38"/>
          </a:solidFill>
          <a:ln>
            <a:noFill/>
          </a:ln>
        </p:spPr>
        <p:txBody>
          <a:bodyPr rtlCol="0" anchor="ctr"/>
          <a:lstStyle/>
          <a:p/>
        </p:txBody>
      </p:sp>
      <p:sp>
        <p:nvSpPr>
          <p:cNvPr id="13" name="Oval 12"/>
          <p:cNvSpPr/>
          <p:nvPr/>
        </p:nvSpPr>
        <p:spPr>
          <a:xfrm>
            <a:off x="9638132" y="4723918"/>
            <a:ext cx="54864" cy="54864"/>
          </a:xfrm>
          <a:prstGeom prst="ellipse">
            <a:avLst/>
          </a:prstGeom>
          <a:solidFill>
            <a:srgbClr val="B8772F"/>
          </a:solidFill>
          <a:ln>
            <a:noFill/>
          </a:ln>
        </p:spPr>
        <p:txBody>
          <a:bodyPr rtlCol="0" anchor="ctr"/>
          <a:lstStyle/>
          <a:p/>
        </p:txBody>
      </p:sp>
      <p:sp>
        <p:nvSpPr>
          <p:cNvPr id="14" name="Oval 13"/>
          <p:cNvSpPr/>
          <p:nvPr/>
        </p:nvSpPr>
        <p:spPr>
          <a:xfrm>
            <a:off x="1376047" y="567066"/>
            <a:ext cx="73152" cy="73152"/>
          </a:xfrm>
          <a:prstGeom prst="ellipse">
            <a:avLst/>
          </a:prstGeom>
          <a:solidFill>
            <a:srgbClr val="877134"/>
          </a:solidFill>
          <a:ln>
            <a:noFill/>
          </a:ln>
        </p:spPr>
        <p:txBody>
          <a:bodyPr rtlCol="0" anchor="ctr"/>
          <a:lstStyle/>
          <a:p/>
        </p:txBody>
      </p:sp>
      <p:sp>
        <p:nvSpPr>
          <p:cNvPr id="15" name="Oval 14"/>
          <p:cNvSpPr/>
          <p:nvPr/>
        </p:nvSpPr>
        <p:spPr>
          <a:xfrm>
            <a:off x="414161" y="3965149"/>
            <a:ext cx="54864" cy="54864"/>
          </a:xfrm>
          <a:prstGeom prst="ellipse">
            <a:avLst/>
          </a:prstGeom>
          <a:solidFill>
            <a:srgbClr val="7F6A31"/>
          </a:solidFill>
          <a:ln>
            <a:noFill/>
          </a:ln>
        </p:spPr>
        <p:txBody>
          <a:bodyPr rtlCol="0" anchor="ctr"/>
          <a:lstStyle/>
          <a:p/>
        </p:txBody>
      </p:sp>
      <p:sp>
        <p:nvSpPr>
          <p:cNvPr id="16" name="Oval 15"/>
          <p:cNvSpPr/>
          <p:nvPr/>
        </p:nvSpPr>
        <p:spPr>
          <a:xfrm>
            <a:off x="11557687" y="4786903"/>
            <a:ext cx="36576" cy="36576"/>
          </a:xfrm>
          <a:prstGeom prst="ellipse">
            <a:avLst/>
          </a:prstGeom>
          <a:solidFill>
            <a:srgbClr val="7C672F"/>
          </a:solidFill>
          <a:ln>
            <a:noFill/>
          </a:ln>
        </p:spPr>
        <p:txBody>
          <a:bodyPr rtlCol="0" anchor="ctr"/>
          <a:lstStyle/>
          <a:p/>
        </p:txBody>
      </p:sp>
      <p:sp>
        <p:nvSpPr>
          <p:cNvPr id="17" name="Oval 16"/>
          <p:cNvSpPr/>
          <p:nvPr/>
        </p:nvSpPr>
        <p:spPr>
          <a:xfrm>
            <a:off x="6573716" y="4206891"/>
            <a:ext cx="27432" cy="27432"/>
          </a:xfrm>
          <a:prstGeom prst="ellipse">
            <a:avLst/>
          </a:prstGeom>
          <a:solidFill>
            <a:srgbClr val="987F3A"/>
          </a:solidFill>
          <a:ln>
            <a:noFill/>
          </a:ln>
        </p:spPr>
        <p:txBody>
          <a:bodyPr rtlCol="0" anchor="ctr"/>
          <a:lstStyle/>
          <a:p/>
        </p:txBody>
      </p:sp>
      <p:sp>
        <p:nvSpPr>
          <p:cNvPr id="18" name="Oval 17"/>
          <p:cNvSpPr/>
          <p:nvPr/>
        </p:nvSpPr>
        <p:spPr>
          <a:xfrm>
            <a:off x="10133777" y="6219602"/>
            <a:ext cx="36576" cy="36576"/>
          </a:xfrm>
          <a:prstGeom prst="ellipse">
            <a:avLst/>
          </a:prstGeom>
          <a:solidFill>
            <a:srgbClr val="554B31"/>
          </a:solidFill>
          <a:ln>
            <a:noFill/>
          </a:ln>
        </p:spPr>
        <p:txBody>
          <a:bodyPr rtlCol="0" anchor="ctr"/>
          <a:lstStyle/>
          <a:p/>
        </p:txBody>
      </p:sp>
      <p:sp>
        <p:nvSpPr>
          <p:cNvPr id="19" name="Oval 18"/>
          <p:cNvSpPr/>
          <p:nvPr/>
        </p:nvSpPr>
        <p:spPr>
          <a:xfrm>
            <a:off x="7430174" y="3271293"/>
            <a:ext cx="27432" cy="27432"/>
          </a:xfrm>
          <a:prstGeom prst="ellipse">
            <a:avLst/>
          </a:prstGeom>
          <a:solidFill>
            <a:srgbClr val="584922"/>
          </a:solidFill>
          <a:ln>
            <a:noFill/>
          </a:ln>
        </p:spPr>
        <p:txBody>
          <a:bodyPr rtlCol="0" anchor="ctr"/>
          <a:lstStyle/>
          <a:p/>
        </p:txBody>
      </p:sp>
      <p:sp>
        <p:nvSpPr>
          <p:cNvPr id="20" name="Oval 19"/>
          <p:cNvSpPr/>
          <p:nvPr/>
        </p:nvSpPr>
        <p:spPr>
          <a:xfrm>
            <a:off x="9955870" y="6211952"/>
            <a:ext cx="36576" cy="36576"/>
          </a:xfrm>
          <a:prstGeom prst="ellipse">
            <a:avLst/>
          </a:prstGeom>
          <a:solidFill>
            <a:srgbClr val="4A3D1D"/>
          </a:solidFill>
          <a:ln>
            <a:noFill/>
          </a:ln>
        </p:spPr>
        <p:txBody>
          <a:bodyPr rtlCol="0" anchor="ctr"/>
          <a:lstStyle/>
          <a:p/>
        </p:txBody>
      </p:sp>
      <p:sp>
        <p:nvSpPr>
          <p:cNvPr id="21" name="Oval 20"/>
          <p:cNvSpPr/>
          <p:nvPr/>
        </p:nvSpPr>
        <p:spPr>
          <a:xfrm>
            <a:off x="4511664" y="2063583"/>
            <a:ext cx="36576" cy="36576"/>
          </a:xfrm>
          <a:prstGeom prst="ellipse">
            <a:avLst/>
          </a:prstGeom>
          <a:solidFill>
            <a:srgbClr val="544A30"/>
          </a:solidFill>
          <a:ln>
            <a:noFill/>
          </a:ln>
        </p:spPr>
        <p:txBody>
          <a:bodyPr rtlCol="0" anchor="ctr"/>
          <a:lstStyle/>
          <a:p/>
        </p:txBody>
      </p:sp>
      <p:sp>
        <p:nvSpPr>
          <p:cNvPr id="22" name="Oval 21"/>
          <p:cNvSpPr/>
          <p:nvPr/>
        </p:nvSpPr>
        <p:spPr>
          <a:xfrm>
            <a:off x="1090372" y="1686388"/>
            <a:ext cx="73152" cy="73152"/>
          </a:xfrm>
          <a:prstGeom prst="ellipse">
            <a:avLst/>
          </a:prstGeom>
          <a:solidFill>
            <a:srgbClr val="978657"/>
          </a:solidFill>
          <a:ln>
            <a:noFill/>
          </a:ln>
        </p:spPr>
        <p:txBody>
          <a:bodyPr rtlCol="0" anchor="ctr"/>
          <a:lstStyle/>
          <a:p/>
        </p:txBody>
      </p:sp>
      <p:sp>
        <p:nvSpPr>
          <p:cNvPr id="23" name="Oval 22"/>
          <p:cNvSpPr/>
          <p:nvPr/>
        </p:nvSpPr>
        <p:spPr>
          <a:xfrm>
            <a:off x="11245363" y="5100819"/>
            <a:ext cx="27432" cy="27432"/>
          </a:xfrm>
          <a:prstGeom prst="ellipse">
            <a:avLst/>
          </a:prstGeom>
          <a:solidFill>
            <a:srgbClr val="6A5829"/>
          </a:solidFill>
          <a:ln>
            <a:noFill/>
          </a:ln>
        </p:spPr>
        <p:txBody>
          <a:bodyPr rtlCol="0" anchor="ctr"/>
          <a:lstStyle/>
          <a:p/>
        </p:txBody>
      </p:sp>
      <p:sp>
        <p:nvSpPr>
          <p:cNvPr id="24" name="Oval 23"/>
          <p:cNvSpPr/>
          <p:nvPr/>
        </p:nvSpPr>
        <p:spPr>
          <a:xfrm>
            <a:off x="3417992" y="1577234"/>
            <a:ext cx="45720" cy="45720"/>
          </a:xfrm>
          <a:prstGeom prst="ellipse">
            <a:avLst/>
          </a:prstGeom>
          <a:solidFill>
            <a:srgbClr val="593B18"/>
          </a:solidFill>
          <a:ln>
            <a:noFill/>
          </a:ln>
        </p:spPr>
        <p:txBody>
          <a:bodyPr rtlCol="0" anchor="ctr"/>
          <a:lstStyle/>
          <a:p/>
        </p:txBody>
      </p:sp>
      <p:sp>
        <p:nvSpPr>
          <p:cNvPr id="25" name="Oval 24"/>
          <p:cNvSpPr/>
          <p:nvPr/>
        </p:nvSpPr>
        <p:spPr>
          <a:xfrm>
            <a:off x="1135256" y="880727"/>
            <a:ext cx="73152" cy="73152"/>
          </a:xfrm>
          <a:prstGeom prst="ellipse">
            <a:avLst/>
          </a:prstGeom>
          <a:solidFill>
            <a:srgbClr val="695C3C"/>
          </a:solidFill>
          <a:ln>
            <a:noFill/>
          </a:ln>
        </p:spPr>
        <p:txBody>
          <a:bodyPr rtlCol="0" anchor="ctr"/>
          <a:lstStyle/>
          <a:p/>
        </p:txBody>
      </p:sp>
      <p:sp>
        <p:nvSpPr>
          <p:cNvPr id="26" name="Oval 25"/>
          <p:cNvSpPr/>
          <p:nvPr/>
        </p:nvSpPr>
        <p:spPr>
          <a:xfrm>
            <a:off x="1472639" y="1474965"/>
            <a:ext cx="73152" cy="73152"/>
          </a:xfrm>
          <a:prstGeom prst="ellipse">
            <a:avLst/>
          </a:prstGeom>
          <a:solidFill>
            <a:srgbClr val="553817"/>
          </a:solidFill>
          <a:ln>
            <a:noFill/>
          </a:ln>
        </p:spPr>
        <p:txBody>
          <a:bodyPr rtlCol="0" anchor="ctr"/>
          <a:lstStyle/>
          <a:p/>
        </p:txBody>
      </p:sp>
      <p:sp>
        <p:nvSpPr>
          <p:cNvPr id="27" name="Oval 26"/>
          <p:cNvSpPr/>
          <p:nvPr/>
        </p:nvSpPr>
        <p:spPr>
          <a:xfrm>
            <a:off x="1803819" y="5338893"/>
            <a:ext cx="54864" cy="54864"/>
          </a:xfrm>
          <a:prstGeom prst="ellipse">
            <a:avLst/>
          </a:prstGeom>
          <a:solidFill>
            <a:srgbClr val="514320"/>
          </a:solidFill>
          <a:ln>
            <a:noFill/>
          </a:ln>
        </p:spPr>
        <p:txBody>
          <a:bodyPr rtlCol="0" anchor="ctr"/>
          <a:lstStyle/>
          <a:p/>
        </p:txBody>
      </p:sp>
      <p:sp>
        <p:nvSpPr>
          <p:cNvPr id="28" name="Oval 27"/>
          <p:cNvSpPr/>
          <p:nvPr/>
        </p:nvSpPr>
        <p:spPr>
          <a:xfrm>
            <a:off x="4129380" y="3776371"/>
            <a:ext cx="36576" cy="36576"/>
          </a:xfrm>
          <a:prstGeom prst="ellipse">
            <a:avLst/>
          </a:prstGeom>
          <a:solidFill>
            <a:srgbClr val="70491E"/>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40.png"/>
          <p:cNvPicPr>
            <a:picLocks noChangeAspect="1"/>
          </p:cNvPicPr>
          <p:nvPr/>
        </p:nvPicPr>
        <p:blipFill>
          <a:blip r:embed="rId3"/>
          <a:stretch>
            <a:fillRect/>
          </a:stretch>
        </p:blipFill>
        <p:spPr>
          <a:xfrm>
            <a:off x="3901287" y="137159"/>
            <a:ext cx="4389120" cy="4389120"/>
          </a:xfrm>
          <a:prstGeom prst="rect">
            <a:avLst/>
          </a:prstGeom>
        </p:spPr>
      </p:pic>
      <p:sp>
        <p:nvSpPr>
          <p:cNvPr id="50" name="Oval 49"/>
          <p:cNvSpPr/>
          <p:nvPr/>
        </p:nvSpPr>
        <p:spPr>
          <a:xfrm>
            <a:off x="5044287" y="1280160"/>
            <a:ext cx="2103120" cy="2103120"/>
          </a:xfrm>
          <a:prstGeom prst="ellipse">
            <a:avLst/>
          </a:prstGeom>
          <a:noFill/>
          <a:ln w="19050">
            <a:solidFill>
              <a:srgbClr val="907837"/>
            </a:solidFill>
          </a:ln>
        </p:spPr>
        <p:txBody>
          <a:bodyPr rtlCol="0" anchor="ctr"/>
          <a:lstStyle/>
          <a:p/>
        </p:txBody>
      </p:sp>
      <p:sp>
        <p:nvSpPr>
          <p:cNvPr id="51" name="Oval 50"/>
          <p:cNvSpPr/>
          <p:nvPr/>
        </p:nvSpPr>
        <p:spPr>
          <a:xfrm>
            <a:off x="4961991" y="1197863"/>
            <a:ext cx="2267712" cy="2267712"/>
          </a:xfrm>
          <a:prstGeom prst="ellipse">
            <a:avLst/>
          </a:prstGeom>
          <a:noFill/>
          <a:ln w="6350">
            <a:solidFill>
              <a:srgbClr val="4E411E"/>
            </a:solidFill>
          </a:ln>
        </p:spPr>
        <p:txBody>
          <a:bodyPr rtlCol="0" anchor="ctr"/>
          <a:lstStyle/>
          <a:p/>
        </p:txBody>
      </p:sp>
      <p:sp>
        <p:nvSpPr>
          <p:cNvPr id="52" name="Oval 51"/>
          <p:cNvSpPr/>
          <p:nvPr/>
        </p:nvSpPr>
        <p:spPr>
          <a:xfrm>
            <a:off x="6013551" y="1197863"/>
            <a:ext cx="164592" cy="164592"/>
          </a:xfrm>
          <a:prstGeom prst="ellipse">
            <a:avLst/>
          </a:prstGeom>
          <a:solidFill>
            <a:srgbClr val="1A1309"/>
          </a:solidFill>
          <a:ln w="19050">
            <a:solidFill>
              <a:srgbClr val="F0D58A"/>
            </a:solidFill>
          </a:ln>
        </p:spPr>
        <p:txBody>
          <a:bodyPr rtlCol="0" anchor="ctr"/>
          <a:lstStyle/>
          <a:p/>
        </p:txBody>
      </p:sp>
      <p:sp>
        <p:nvSpPr>
          <p:cNvPr id="53" name="Oval 52"/>
          <p:cNvSpPr/>
          <p:nvPr/>
        </p:nvSpPr>
        <p:spPr>
          <a:xfrm>
            <a:off x="6835694" y="1593787"/>
            <a:ext cx="164592" cy="164592"/>
          </a:xfrm>
          <a:prstGeom prst="ellipse">
            <a:avLst/>
          </a:prstGeom>
          <a:solidFill>
            <a:srgbClr val="1A1309"/>
          </a:solidFill>
          <a:ln w="19050">
            <a:solidFill>
              <a:srgbClr val="F0D58A"/>
            </a:solidFill>
          </a:ln>
        </p:spPr>
        <p:txBody>
          <a:bodyPr rtlCol="0" anchor="ctr"/>
          <a:lstStyle/>
          <a:p/>
        </p:txBody>
      </p:sp>
      <p:sp>
        <p:nvSpPr>
          <p:cNvPr id="54" name="Oval 53"/>
          <p:cNvSpPr/>
          <p:nvPr/>
        </p:nvSpPr>
        <p:spPr>
          <a:xfrm>
            <a:off x="7038746" y="2483418"/>
            <a:ext cx="164592" cy="164592"/>
          </a:xfrm>
          <a:prstGeom prst="ellipse">
            <a:avLst/>
          </a:prstGeom>
          <a:solidFill>
            <a:srgbClr val="1A1309"/>
          </a:solidFill>
          <a:ln w="19050">
            <a:solidFill>
              <a:srgbClr val="F0D58A"/>
            </a:solidFill>
          </a:ln>
        </p:spPr>
        <p:txBody>
          <a:bodyPr rtlCol="0" anchor="ctr"/>
          <a:lstStyle/>
          <a:p/>
        </p:txBody>
      </p:sp>
      <p:sp>
        <p:nvSpPr>
          <p:cNvPr id="55" name="Oval 54"/>
          <p:cNvSpPr/>
          <p:nvPr/>
        </p:nvSpPr>
        <p:spPr>
          <a:xfrm>
            <a:off x="6469806" y="3196846"/>
            <a:ext cx="164592" cy="164592"/>
          </a:xfrm>
          <a:prstGeom prst="ellipse">
            <a:avLst/>
          </a:prstGeom>
          <a:solidFill>
            <a:srgbClr val="1A1309"/>
          </a:solidFill>
          <a:ln w="19050">
            <a:solidFill>
              <a:srgbClr val="F0D58A"/>
            </a:solidFill>
          </a:ln>
        </p:spPr>
        <p:txBody>
          <a:bodyPr rtlCol="0" anchor="ctr"/>
          <a:lstStyle/>
          <a:p/>
        </p:txBody>
      </p:sp>
      <p:sp>
        <p:nvSpPr>
          <p:cNvPr id="56" name="Oval 55"/>
          <p:cNvSpPr/>
          <p:nvPr/>
        </p:nvSpPr>
        <p:spPr>
          <a:xfrm>
            <a:off x="5557296" y="3196846"/>
            <a:ext cx="164592" cy="164592"/>
          </a:xfrm>
          <a:prstGeom prst="ellipse">
            <a:avLst/>
          </a:prstGeom>
          <a:solidFill>
            <a:srgbClr val="1A1309"/>
          </a:solidFill>
          <a:ln w="19050">
            <a:solidFill>
              <a:srgbClr val="F0D58A"/>
            </a:solidFill>
          </a:ln>
        </p:spPr>
        <p:txBody>
          <a:bodyPr rtlCol="0" anchor="ctr"/>
          <a:lstStyle/>
          <a:p/>
        </p:txBody>
      </p:sp>
      <p:sp>
        <p:nvSpPr>
          <p:cNvPr id="57" name="Oval 56"/>
          <p:cNvSpPr/>
          <p:nvPr/>
        </p:nvSpPr>
        <p:spPr>
          <a:xfrm>
            <a:off x="4988356" y="2483418"/>
            <a:ext cx="164592" cy="164592"/>
          </a:xfrm>
          <a:prstGeom prst="ellipse">
            <a:avLst/>
          </a:prstGeom>
          <a:solidFill>
            <a:srgbClr val="1A1309"/>
          </a:solidFill>
          <a:ln w="19050">
            <a:solidFill>
              <a:srgbClr val="F0D58A"/>
            </a:solidFill>
          </a:ln>
        </p:spPr>
        <p:txBody>
          <a:bodyPr rtlCol="0" anchor="ctr"/>
          <a:lstStyle/>
          <a:p/>
        </p:txBody>
      </p:sp>
      <p:sp>
        <p:nvSpPr>
          <p:cNvPr id="58" name="Oval 57"/>
          <p:cNvSpPr/>
          <p:nvPr/>
        </p:nvSpPr>
        <p:spPr>
          <a:xfrm>
            <a:off x="5191408" y="1593787"/>
            <a:ext cx="164592" cy="164592"/>
          </a:xfrm>
          <a:prstGeom prst="ellipse">
            <a:avLst/>
          </a:prstGeom>
          <a:solidFill>
            <a:srgbClr val="1A1309"/>
          </a:solidFill>
          <a:ln w="19050">
            <a:solidFill>
              <a:srgbClr val="F0D58A"/>
            </a:solidFill>
          </a:ln>
        </p:spPr>
        <p:txBody>
          <a:bodyPr rtlCol="0" anchor="ctr"/>
          <a:lstStyle/>
          <a:p/>
        </p:txBody>
      </p:sp>
      <p:sp>
        <p:nvSpPr>
          <p:cNvPr id="59" name="Oval 58"/>
          <p:cNvSpPr/>
          <p:nvPr/>
        </p:nvSpPr>
        <p:spPr>
          <a:xfrm>
            <a:off x="5437479" y="1673351"/>
            <a:ext cx="1316736" cy="1316736"/>
          </a:xfrm>
          <a:prstGeom prst="ellipse">
            <a:avLst/>
          </a:prstGeom>
          <a:solidFill>
            <a:srgbClr val="1A1309"/>
          </a:solidFill>
          <a:ln w="25400">
            <a:solidFill>
              <a:srgbClr val="F0D58A"/>
            </a:solidFill>
          </a:ln>
        </p:spPr>
        <p:txBody>
          <a:bodyPr rtlCol="0" anchor="ctr"/>
          <a:lstStyle/>
          <a:p/>
        </p:txBody>
      </p:sp>
      <p:sp>
        <p:nvSpPr>
          <p:cNvPr id="60" name="Oval 59"/>
          <p:cNvSpPr/>
          <p:nvPr/>
        </p:nvSpPr>
        <p:spPr>
          <a:xfrm>
            <a:off x="5492343" y="1728216"/>
            <a:ext cx="1207007" cy="1207007"/>
          </a:xfrm>
          <a:prstGeom prst="ellipse">
            <a:avLst/>
          </a:prstGeom>
          <a:noFill/>
          <a:ln w="9525">
            <a:solidFill>
              <a:srgbClr val="7D6830"/>
            </a:solidFill>
          </a:ln>
        </p:spPr>
        <p:txBody>
          <a:bodyPr rtlCol="0" anchor="ctr"/>
          <a:lstStyle/>
          <a:p/>
        </p:txBody>
      </p:sp>
      <p:sp>
        <p:nvSpPr>
          <p:cNvPr id="61" name="TextBox 60"/>
          <p:cNvSpPr txBox="1"/>
          <p:nvPr/>
        </p:nvSpPr>
        <p:spPr>
          <a:xfrm>
            <a:off x="5437479" y="1673351"/>
            <a:ext cx="1316736" cy="1316736"/>
          </a:xfrm>
          <a:prstGeom prst="rect">
            <a:avLst/>
          </a:prstGeom>
          <a:noFill/>
        </p:spPr>
        <p:txBody>
          <a:bodyPr wrap="square" lIns="0" rIns="0" tIns="0" bIns="0" anchor="ctr">
            <a:spAutoFit/>
          </a:bodyPr>
          <a:lstStyle/>
          <a:p>
            <a:pPr algn="ctr"/>
            <a:r>
              <a:rPr sz="4000" b="1" i="0">
                <a:solidFill>
                  <a:srgbClr val="F0D58A"/>
                </a:solidFill>
                <a:latin typeface="Cinzel"/>
              </a:rPr>
              <a:t>III</a:t>
            </a:r>
          </a:p>
        </p:txBody>
      </p:sp>
      <p:sp>
        <p:nvSpPr>
          <p:cNvPr id="62" name="TextBox 61"/>
          <p:cNvSpPr txBox="1"/>
          <p:nvPr/>
        </p:nvSpPr>
        <p:spPr>
          <a:xfrm>
            <a:off x="5181447" y="3703320"/>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SECRET #3</a:t>
            </a:r>
          </a:p>
        </p:txBody>
      </p:sp>
      <p:cxnSp>
        <p:nvCxnSpPr>
          <p:cNvPr id="63" name="Connector 62"/>
          <p:cNvCxnSpPr/>
          <p:nvPr/>
        </p:nvCxnSpPr>
        <p:spPr>
          <a:xfrm>
            <a:off x="3809847"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4" name="Diamond 63"/>
          <p:cNvSpPr/>
          <p:nvPr/>
        </p:nvSpPr>
        <p:spPr>
          <a:xfrm>
            <a:off x="3759555" y="3817620"/>
            <a:ext cx="100584" cy="100584"/>
          </a:xfrm>
          <a:prstGeom prst="diamond">
            <a:avLst/>
          </a:prstGeom>
          <a:solidFill>
            <a:srgbClr val="C9A84C"/>
          </a:solidFill>
          <a:ln>
            <a:noFill/>
          </a:ln>
        </p:spPr>
        <p:txBody>
          <a:bodyPr rtlCol="0" anchor="ctr"/>
          <a:lstStyle/>
          <a:p/>
        </p:txBody>
      </p:sp>
      <p:cxnSp>
        <p:nvCxnSpPr>
          <p:cNvPr id="65" name="Connector 64"/>
          <p:cNvCxnSpPr/>
          <p:nvPr/>
        </p:nvCxnSpPr>
        <p:spPr>
          <a:xfrm>
            <a:off x="7147407"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6" name="Diamond 65"/>
          <p:cNvSpPr/>
          <p:nvPr/>
        </p:nvSpPr>
        <p:spPr>
          <a:xfrm>
            <a:off x="8331555" y="3817620"/>
            <a:ext cx="100584" cy="100584"/>
          </a:xfrm>
          <a:prstGeom prst="diamond">
            <a:avLst/>
          </a:prstGeom>
          <a:solidFill>
            <a:srgbClr val="C9A84C"/>
          </a:solidFill>
          <a:ln>
            <a:noFill/>
          </a:ln>
        </p:spPr>
        <p:txBody>
          <a:bodyPr rtlCol="0" anchor="ctr"/>
          <a:lstStyle/>
          <a:p/>
        </p:txBody>
      </p:sp>
      <p:sp>
        <p:nvSpPr>
          <p:cNvPr id="67" name="TextBox 66"/>
          <p:cNvSpPr txBox="1"/>
          <p:nvPr/>
        </p:nvSpPr>
        <p:spPr>
          <a:xfrm>
            <a:off x="914400" y="4069080"/>
            <a:ext cx="10362895" cy="1097280"/>
          </a:xfrm>
          <a:prstGeom prst="rect">
            <a:avLst/>
          </a:prstGeom>
          <a:noFill/>
        </p:spPr>
        <p:txBody>
          <a:bodyPr wrap="square" lIns="0" rIns="0" tIns="0" bIns="0" anchor="ctr">
            <a:spAutoFit/>
          </a:bodyPr>
          <a:lstStyle/>
          <a:p>
            <a:pPr algn="ctr">
              <a:lnSpc>
                <a:spcPct val="105000"/>
              </a:lnSpc>
            </a:pPr>
            <a:r>
              <a:rPr sz="6000" b="1" i="0">
                <a:solidFill>
                  <a:srgbClr val="F0D58A"/>
                </a:solidFill>
                <a:latin typeface="Cinzel"/>
              </a:rPr>
              <a:t>The Engine</a:t>
            </a:r>
          </a:p>
        </p:txBody>
      </p:sp>
      <p:sp>
        <p:nvSpPr>
          <p:cNvPr id="68" name="TextBox 67"/>
          <p:cNvSpPr txBox="1"/>
          <p:nvPr/>
        </p:nvSpPr>
        <p:spPr>
          <a:xfrm>
            <a:off x="1371600" y="5166360"/>
            <a:ext cx="9448495" cy="548640"/>
          </a:xfrm>
          <a:prstGeom prst="rect">
            <a:avLst/>
          </a:prstGeom>
          <a:noFill/>
        </p:spPr>
        <p:txBody>
          <a:bodyPr wrap="square" lIns="0" rIns="0" tIns="0" bIns="0" anchor="t">
            <a:spAutoFit/>
          </a:bodyPr>
          <a:lstStyle/>
          <a:p>
            <a:pPr algn="ctr">
              <a:lnSpc>
                <a:spcPct val="120000"/>
              </a:lnSpc>
            </a:pPr>
            <a:r>
              <a:rPr sz="2200" b="0" i="1">
                <a:solidFill>
                  <a:srgbClr val="B9A57A"/>
                </a:solidFill>
                <a:latin typeface="Montserrat"/>
              </a:rPr>
              <a:t>How protection and growth work — and when they don't fit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9626465" y="3997319"/>
            <a:ext cx="73152" cy="73152"/>
          </a:xfrm>
          <a:prstGeom prst="ellipse">
            <a:avLst/>
          </a:prstGeom>
          <a:solidFill>
            <a:srgbClr val="7F6A31"/>
          </a:solidFill>
          <a:ln>
            <a:noFill/>
          </a:ln>
        </p:spPr>
        <p:txBody>
          <a:bodyPr rtlCol="0" anchor="ctr"/>
          <a:lstStyle/>
          <a:p/>
        </p:txBody>
      </p:sp>
      <p:sp>
        <p:nvSpPr>
          <p:cNvPr id="4" name="Oval 3"/>
          <p:cNvSpPr/>
          <p:nvPr/>
        </p:nvSpPr>
        <p:spPr>
          <a:xfrm>
            <a:off x="11561533" y="653881"/>
            <a:ext cx="36576" cy="36576"/>
          </a:xfrm>
          <a:prstGeom prst="ellipse">
            <a:avLst/>
          </a:prstGeom>
          <a:solidFill>
            <a:srgbClr val="915E25"/>
          </a:solidFill>
          <a:ln>
            <a:noFill/>
          </a:ln>
        </p:spPr>
        <p:txBody>
          <a:bodyPr rtlCol="0" anchor="ctr"/>
          <a:lstStyle/>
          <a:p/>
        </p:txBody>
      </p:sp>
      <p:sp>
        <p:nvSpPr>
          <p:cNvPr id="5" name="Oval 4"/>
          <p:cNvSpPr/>
          <p:nvPr/>
        </p:nvSpPr>
        <p:spPr>
          <a:xfrm>
            <a:off x="5655009" y="6270637"/>
            <a:ext cx="27432" cy="27432"/>
          </a:xfrm>
          <a:prstGeom prst="ellipse">
            <a:avLst/>
          </a:prstGeom>
          <a:solidFill>
            <a:srgbClr val="483F29"/>
          </a:solidFill>
          <a:ln>
            <a:noFill/>
          </a:ln>
        </p:spPr>
        <p:txBody>
          <a:bodyPr rtlCol="0" anchor="ctr"/>
          <a:lstStyle/>
          <a:p/>
        </p:txBody>
      </p:sp>
      <p:sp>
        <p:nvSpPr>
          <p:cNvPr id="6" name="Oval 5"/>
          <p:cNvSpPr/>
          <p:nvPr/>
        </p:nvSpPr>
        <p:spPr>
          <a:xfrm>
            <a:off x="10777751" y="5216329"/>
            <a:ext cx="36576" cy="36576"/>
          </a:xfrm>
          <a:prstGeom prst="ellipse">
            <a:avLst/>
          </a:prstGeom>
          <a:solidFill>
            <a:srgbClr val="9B813B"/>
          </a:solidFill>
          <a:ln>
            <a:noFill/>
          </a:ln>
        </p:spPr>
        <p:txBody>
          <a:bodyPr rtlCol="0" anchor="ctr"/>
          <a:lstStyle/>
          <a:p/>
        </p:txBody>
      </p:sp>
      <p:sp>
        <p:nvSpPr>
          <p:cNvPr id="7" name="Oval 6"/>
          <p:cNvSpPr/>
          <p:nvPr/>
        </p:nvSpPr>
        <p:spPr>
          <a:xfrm>
            <a:off x="6499300" y="767731"/>
            <a:ext cx="45720" cy="45720"/>
          </a:xfrm>
          <a:prstGeom prst="ellipse">
            <a:avLst/>
          </a:prstGeom>
          <a:solidFill>
            <a:srgbClr val="645839"/>
          </a:solidFill>
          <a:ln>
            <a:noFill/>
          </a:ln>
        </p:spPr>
        <p:txBody>
          <a:bodyPr rtlCol="0" anchor="ctr"/>
          <a:lstStyle/>
          <a:p/>
        </p:txBody>
      </p:sp>
      <p:sp>
        <p:nvSpPr>
          <p:cNvPr id="8" name="Oval 7"/>
          <p:cNvSpPr/>
          <p:nvPr/>
        </p:nvSpPr>
        <p:spPr>
          <a:xfrm>
            <a:off x="8066650" y="4900796"/>
            <a:ext cx="73152" cy="73152"/>
          </a:xfrm>
          <a:prstGeom prst="ellipse">
            <a:avLst/>
          </a:prstGeom>
          <a:solidFill>
            <a:srgbClr val="45391B"/>
          </a:solidFill>
          <a:ln>
            <a:noFill/>
          </a:ln>
        </p:spPr>
        <p:txBody>
          <a:bodyPr rtlCol="0" anchor="ctr"/>
          <a:lstStyle/>
          <a:p/>
        </p:txBody>
      </p:sp>
      <p:sp>
        <p:nvSpPr>
          <p:cNvPr id="9" name="Oval 8"/>
          <p:cNvSpPr/>
          <p:nvPr/>
        </p:nvSpPr>
        <p:spPr>
          <a:xfrm>
            <a:off x="7685635" y="5686325"/>
            <a:ext cx="45720" cy="45720"/>
          </a:xfrm>
          <a:prstGeom prst="ellipse">
            <a:avLst/>
          </a:prstGeom>
          <a:solidFill>
            <a:srgbClr val="928154"/>
          </a:solidFill>
          <a:ln>
            <a:noFill/>
          </a:ln>
        </p:spPr>
        <p:txBody>
          <a:bodyPr rtlCol="0" anchor="ctr"/>
          <a:lstStyle/>
          <a:p/>
        </p:txBody>
      </p:sp>
      <p:sp>
        <p:nvSpPr>
          <p:cNvPr id="10" name="Oval 9"/>
          <p:cNvSpPr/>
          <p:nvPr/>
        </p:nvSpPr>
        <p:spPr>
          <a:xfrm>
            <a:off x="1848079" y="2200090"/>
            <a:ext cx="45720" cy="45720"/>
          </a:xfrm>
          <a:prstGeom prst="ellipse">
            <a:avLst/>
          </a:prstGeom>
          <a:solidFill>
            <a:srgbClr val="61401A"/>
          </a:solidFill>
          <a:ln>
            <a:noFill/>
          </a:ln>
        </p:spPr>
        <p:txBody>
          <a:bodyPr rtlCol="0" anchor="ctr"/>
          <a:lstStyle/>
          <a:p/>
        </p:txBody>
      </p:sp>
      <p:sp>
        <p:nvSpPr>
          <p:cNvPr id="11" name="Oval 10"/>
          <p:cNvSpPr/>
          <p:nvPr/>
        </p:nvSpPr>
        <p:spPr>
          <a:xfrm>
            <a:off x="1951138" y="4522615"/>
            <a:ext cx="27432" cy="27432"/>
          </a:xfrm>
          <a:prstGeom prst="ellipse">
            <a:avLst/>
          </a:prstGeom>
          <a:solidFill>
            <a:srgbClr val="A6925F"/>
          </a:solidFill>
          <a:ln>
            <a:noFill/>
          </a:ln>
        </p:spPr>
        <p:txBody>
          <a:bodyPr rtlCol="0" anchor="ctr"/>
          <a:lstStyle/>
          <a:p/>
        </p:txBody>
      </p:sp>
      <p:sp>
        <p:nvSpPr>
          <p:cNvPr id="12" name="Oval 11"/>
          <p:cNvSpPr/>
          <p:nvPr/>
        </p:nvSpPr>
        <p:spPr>
          <a:xfrm>
            <a:off x="10867886" y="3371936"/>
            <a:ext cx="54864" cy="54864"/>
          </a:xfrm>
          <a:prstGeom prst="ellipse">
            <a:avLst/>
          </a:prstGeom>
          <a:solidFill>
            <a:srgbClr val="87774D"/>
          </a:solidFill>
          <a:ln>
            <a:noFill/>
          </a:ln>
        </p:spPr>
        <p:txBody>
          <a:bodyPr rtlCol="0" anchor="ctr"/>
          <a:lstStyle/>
          <a:p/>
        </p:txBody>
      </p:sp>
      <p:sp>
        <p:nvSpPr>
          <p:cNvPr id="13" name="Oval 12"/>
          <p:cNvSpPr/>
          <p:nvPr/>
        </p:nvSpPr>
        <p:spPr>
          <a:xfrm>
            <a:off x="5775237" y="2334537"/>
            <a:ext cx="36576" cy="36576"/>
          </a:xfrm>
          <a:prstGeom prst="ellipse">
            <a:avLst/>
          </a:prstGeom>
          <a:solidFill>
            <a:srgbClr val="AB6F2C"/>
          </a:solidFill>
          <a:ln>
            <a:noFill/>
          </a:ln>
        </p:spPr>
        <p:txBody>
          <a:bodyPr rtlCol="0" anchor="ctr"/>
          <a:lstStyle/>
          <a:p/>
        </p:txBody>
      </p:sp>
      <p:sp>
        <p:nvSpPr>
          <p:cNvPr id="14" name="Oval 13"/>
          <p:cNvSpPr/>
          <p:nvPr/>
        </p:nvSpPr>
        <p:spPr>
          <a:xfrm>
            <a:off x="6325262" y="771443"/>
            <a:ext cx="45720" cy="45720"/>
          </a:xfrm>
          <a:prstGeom prst="ellipse">
            <a:avLst/>
          </a:prstGeom>
          <a:solidFill>
            <a:srgbClr val="9D833C"/>
          </a:solidFill>
          <a:ln>
            <a:noFill/>
          </a:ln>
        </p:spPr>
        <p:txBody>
          <a:bodyPr rtlCol="0" anchor="ctr"/>
          <a:lstStyle/>
          <a:p/>
        </p:txBody>
      </p:sp>
      <p:sp>
        <p:nvSpPr>
          <p:cNvPr id="15" name="Oval 14"/>
          <p:cNvSpPr/>
          <p:nvPr/>
        </p:nvSpPr>
        <p:spPr>
          <a:xfrm>
            <a:off x="10429047" y="1920223"/>
            <a:ext cx="54864" cy="54864"/>
          </a:xfrm>
          <a:prstGeom prst="ellipse">
            <a:avLst/>
          </a:prstGeom>
          <a:solidFill>
            <a:srgbClr val="62401A"/>
          </a:solidFill>
          <a:ln>
            <a:noFill/>
          </a:ln>
        </p:spPr>
        <p:txBody>
          <a:bodyPr rtlCol="0" anchor="ctr"/>
          <a:lstStyle/>
          <a:p/>
        </p:txBody>
      </p:sp>
      <p:sp>
        <p:nvSpPr>
          <p:cNvPr id="16" name="Oval 15"/>
          <p:cNvSpPr/>
          <p:nvPr/>
        </p:nvSpPr>
        <p:spPr>
          <a:xfrm>
            <a:off x="10615289" y="5581663"/>
            <a:ext cx="45720" cy="45720"/>
          </a:xfrm>
          <a:prstGeom prst="ellipse">
            <a:avLst/>
          </a:prstGeom>
          <a:solidFill>
            <a:srgbClr val="9B8959"/>
          </a:solidFill>
          <a:ln>
            <a:noFill/>
          </a:ln>
        </p:spPr>
        <p:txBody>
          <a:bodyPr rtlCol="0" anchor="ctr"/>
          <a:lstStyle/>
          <a:p/>
        </p:txBody>
      </p:sp>
      <p:sp>
        <p:nvSpPr>
          <p:cNvPr id="17" name="Oval 16"/>
          <p:cNvSpPr/>
          <p:nvPr/>
        </p:nvSpPr>
        <p:spPr>
          <a:xfrm>
            <a:off x="6238168" y="2862925"/>
            <a:ext cx="36576" cy="36576"/>
          </a:xfrm>
          <a:prstGeom prst="ellipse">
            <a:avLst/>
          </a:prstGeom>
          <a:solidFill>
            <a:srgbClr val="BAA56B"/>
          </a:solidFill>
          <a:ln>
            <a:noFill/>
          </a:ln>
        </p:spPr>
        <p:txBody>
          <a:bodyPr rtlCol="0" anchor="ctr"/>
          <a:lstStyle/>
          <a:p/>
        </p:txBody>
      </p:sp>
      <p:sp>
        <p:nvSpPr>
          <p:cNvPr id="18" name="Oval 17"/>
          <p:cNvSpPr/>
          <p:nvPr/>
        </p:nvSpPr>
        <p:spPr>
          <a:xfrm>
            <a:off x="4604343" y="2931835"/>
            <a:ext cx="54864" cy="54864"/>
          </a:xfrm>
          <a:prstGeom prst="ellipse">
            <a:avLst/>
          </a:prstGeom>
          <a:solidFill>
            <a:srgbClr val="907837"/>
          </a:solidFill>
          <a:ln>
            <a:noFill/>
          </a:ln>
        </p:spPr>
        <p:txBody>
          <a:bodyPr rtlCol="0" anchor="ctr"/>
          <a:lstStyle/>
          <a:p/>
        </p:txBody>
      </p:sp>
      <p:sp>
        <p:nvSpPr>
          <p:cNvPr id="19" name="Oval 18"/>
          <p:cNvSpPr/>
          <p:nvPr/>
        </p:nvSpPr>
        <p:spPr>
          <a:xfrm>
            <a:off x="6218866" y="2625270"/>
            <a:ext cx="45720" cy="45720"/>
          </a:xfrm>
          <a:prstGeom prst="ellipse">
            <a:avLst/>
          </a:prstGeom>
          <a:solidFill>
            <a:srgbClr val="9B813B"/>
          </a:solidFill>
          <a:ln>
            <a:noFill/>
          </a:ln>
        </p:spPr>
        <p:txBody>
          <a:bodyPr rtlCol="0" anchor="ctr"/>
          <a:lstStyle/>
          <a:p/>
        </p:txBody>
      </p:sp>
      <p:sp>
        <p:nvSpPr>
          <p:cNvPr id="20" name="Oval 19"/>
          <p:cNvSpPr/>
          <p:nvPr/>
        </p:nvSpPr>
        <p:spPr>
          <a:xfrm>
            <a:off x="9503007" y="4192321"/>
            <a:ext cx="45720" cy="45720"/>
          </a:xfrm>
          <a:prstGeom prst="ellipse">
            <a:avLst/>
          </a:prstGeom>
          <a:solidFill>
            <a:srgbClr val="6C5A2A"/>
          </a:solidFill>
          <a:ln>
            <a:noFill/>
          </a:ln>
        </p:spPr>
        <p:txBody>
          <a:bodyPr rtlCol="0" anchor="ctr"/>
          <a:lstStyle/>
          <a:p/>
        </p:txBody>
      </p:sp>
      <p:sp>
        <p:nvSpPr>
          <p:cNvPr id="21" name="Oval 20"/>
          <p:cNvSpPr/>
          <p:nvPr/>
        </p:nvSpPr>
        <p:spPr>
          <a:xfrm>
            <a:off x="6300952" y="4652541"/>
            <a:ext cx="45720" cy="45720"/>
          </a:xfrm>
          <a:prstGeom prst="ellipse">
            <a:avLst/>
          </a:prstGeom>
          <a:solidFill>
            <a:srgbClr val="835522"/>
          </a:solidFill>
          <a:ln>
            <a:noFill/>
          </a:ln>
        </p:spPr>
        <p:txBody>
          <a:bodyPr rtlCol="0" anchor="ctr"/>
          <a:lstStyle/>
          <a:p/>
        </p:txBody>
      </p:sp>
      <p:sp>
        <p:nvSpPr>
          <p:cNvPr id="22" name="Oval 21"/>
          <p:cNvSpPr/>
          <p:nvPr/>
        </p:nvSpPr>
        <p:spPr>
          <a:xfrm>
            <a:off x="600245" y="1487981"/>
            <a:ext cx="45720" cy="45720"/>
          </a:xfrm>
          <a:prstGeom prst="ellipse">
            <a:avLst/>
          </a:prstGeom>
          <a:solidFill>
            <a:srgbClr val="875823"/>
          </a:solidFill>
          <a:ln>
            <a:noFill/>
          </a:ln>
        </p:spPr>
        <p:txBody>
          <a:bodyPr rtlCol="0" anchor="ctr"/>
          <a:lstStyle/>
          <a:p/>
        </p:txBody>
      </p:sp>
      <p:sp>
        <p:nvSpPr>
          <p:cNvPr id="23" name="Oval 22"/>
          <p:cNvSpPr/>
          <p:nvPr/>
        </p:nvSpPr>
        <p:spPr>
          <a:xfrm>
            <a:off x="6700937" y="1874447"/>
            <a:ext cx="73152" cy="73152"/>
          </a:xfrm>
          <a:prstGeom prst="ellipse">
            <a:avLst/>
          </a:prstGeom>
          <a:solidFill>
            <a:srgbClr val="9B6528"/>
          </a:solidFill>
          <a:ln>
            <a:noFill/>
          </a:ln>
        </p:spPr>
        <p:txBody>
          <a:bodyPr rtlCol="0" anchor="ctr"/>
          <a:lstStyle/>
          <a:p/>
        </p:txBody>
      </p:sp>
      <p:sp>
        <p:nvSpPr>
          <p:cNvPr id="24" name="Oval 23"/>
          <p:cNvSpPr/>
          <p:nvPr/>
        </p:nvSpPr>
        <p:spPr>
          <a:xfrm>
            <a:off x="789455" y="2997276"/>
            <a:ext cx="73152" cy="73152"/>
          </a:xfrm>
          <a:prstGeom prst="ellipse">
            <a:avLst/>
          </a:prstGeom>
          <a:solidFill>
            <a:srgbClr val="574C31"/>
          </a:solidFill>
          <a:ln>
            <a:noFill/>
          </a:ln>
        </p:spPr>
        <p:txBody>
          <a:bodyPr rtlCol="0" anchor="ctr"/>
          <a:lstStyle/>
          <a:p/>
        </p:txBody>
      </p:sp>
      <p:sp>
        <p:nvSpPr>
          <p:cNvPr id="25" name="Oval 24"/>
          <p:cNvSpPr/>
          <p:nvPr/>
        </p:nvSpPr>
        <p:spPr>
          <a:xfrm>
            <a:off x="6055598" y="5420261"/>
            <a:ext cx="73152" cy="73152"/>
          </a:xfrm>
          <a:prstGeom prst="ellipse">
            <a:avLst/>
          </a:prstGeom>
          <a:solidFill>
            <a:srgbClr val="784E20"/>
          </a:solidFill>
          <a:ln>
            <a:noFill/>
          </a:ln>
        </p:spPr>
        <p:txBody>
          <a:bodyPr rtlCol="0" anchor="ctr"/>
          <a:lstStyle/>
          <a:p/>
        </p:txBody>
      </p:sp>
      <p:sp>
        <p:nvSpPr>
          <p:cNvPr id="26" name="Oval 25"/>
          <p:cNvSpPr/>
          <p:nvPr/>
        </p:nvSpPr>
        <p:spPr>
          <a:xfrm>
            <a:off x="1954029" y="5521366"/>
            <a:ext cx="73152" cy="73152"/>
          </a:xfrm>
          <a:prstGeom prst="ellipse">
            <a:avLst/>
          </a:prstGeom>
          <a:solidFill>
            <a:srgbClr val="835522"/>
          </a:solidFill>
          <a:ln>
            <a:noFill/>
          </a:ln>
        </p:spPr>
        <p:txBody>
          <a:bodyPr rtlCol="0" anchor="ctr"/>
          <a:lstStyle/>
          <a:p/>
        </p:txBody>
      </p:sp>
      <p:sp>
        <p:nvSpPr>
          <p:cNvPr id="27" name="Oval 26"/>
          <p:cNvSpPr/>
          <p:nvPr/>
        </p:nvSpPr>
        <p:spPr>
          <a:xfrm>
            <a:off x="9954831" y="1516584"/>
            <a:ext cx="45720" cy="45720"/>
          </a:xfrm>
          <a:prstGeom prst="ellipse">
            <a:avLst/>
          </a:prstGeom>
          <a:solidFill>
            <a:srgbClr val="A1863D"/>
          </a:solidFill>
          <a:ln>
            <a:noFill/>
          </a:ln>
        </p:spPr>
        <p:txBody>
          <a:bodyPr rtlCol="0" anchor="ctr"/>
          <a:lstStyle/>
          <a:p/>
        </p:txBody>
      </p:sp>
      <p:sp>
        <p:nvSpPr>
          <p:cNvPr id="28" name="Oval 27"/>
          <p:cNvSpPr/>
          <p:nvPr/>
        </p:nvSpPr>
        <p:spPr>
          <a:xfrm>
            <a:off x="2001722" y="2893623"/>
            <a:ext cx="27432" cy="27432"/>
          </a:xfrm>
          <a:prstGeom prst="ellipse">
            <a:avLst/>
          </a:prstGeom>
          <a:solidFill>
            <a:srgbClr val="756743"/>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262475" y="658368"/>
            <a:ext cx="3666744" cy="329184"/>
          </a:xfrm>
          <a:prstGeom prst="rect">
            <a:avLst/>
          </a:prstGeom>
          <a:noFill/>
        </p:spPr>
        <p:txBody>
          <a:bodyPr wrap="square" lIns="0" rIns="0" tIns="0" bIns="0" anchor="ctr">
            <a:spAutoFit/>
          </a:bodyPr>
          <a:lstStyle/>
          <a:p>
            <a:pPr algn="ctr"/>
            <a:r>
              <a:rPr sz="1300" b="1" i="0" spc="400">
                <a:solidFill>
                  <a:srgbClr val="C9A84C"/>
                </a:solidFill>
                <a:latin typeface="Montserrat"/>
              </a:rPr>
              <a:t>SECRET #3 · THE ENGINE</a:t>
            </a:r>
          </a:p>
        </p:txBody>
      </p:sp>
      <p:cxnSp>
        <p:nvCxnSpPr>
          <p:cNvPr id="50" name="Connector 49"/>
          <p:cNvCxnSpPr/>
          <p:nvPr/>
        </p:nvCxnSpPr>
        <p:spPr>
          <a:xfrm>
            <a:off x="2890875"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840583"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8066379"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250527"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051560"/>
            <a:ext cx="10362895" cy="91440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The wealth pyramid</a:t>
            </a:r>
          </a:p>
        </p:txBody>
      </p:sp>
      <p:sp>
        <p:nvSpPr>
          <p:cNvPr id="55" name="Trapezoid 54"/>
          <p:cNvSpPr/>
          <p:nvPr/>
        </p:nvSpPr>
        <p:spPr>
          <a:xfrm>
            <a:off x="2217420" y="2377440"/>
            <a:ext cx="2697480" cy="1051560"/>
          </a:xfrm>
          <a:prstGeom prst="trapezoid">
            <a:avLst>
              <a:gd name="adj" fmla="val 38043"/>
            </a:avLst>
          </a:prstGeom>
          <a:solidFill>
            <a:srgbClr val="45391B"/>
          </a:solidFill>
          <a:ln w="15875">
            <a:solidFill>
              <a:srgbClr val="F0D58A"/>
            </a:solidFill>
          </a:ln>
        </p:spPr>
        <p:txBody>
          <a:bodyPr rtlCol="0" anchor="ctr"/>
          <a:lstStyle/>
          <a:p/>
        </p:txBody>
      </p:sp>
      <p:sp>
        <p:nvSpPr>
          <p:cNvPr id="56" name="TextBox 55"/>
          <p:cNvSpPr txBox="1"/>
          <p:nvPr/>
        </p:nvSpPr>
        <p:spPr>
          <a:xfrm>
            <a:off x="6309360" y="2423160"/>
            <a:ext cx="5120640" cy="1051560"/>
          </a:xfrm>
          <a:prstGeom prst="rect">
            <a:avLst/>
          </a:prstGeom>
          <a:noFill/>
        </p:spPr>
        <p:txBody>
          <a:bodyPr wrap="square" lIns="0" rIns="0" tIns="0" bIns="0" anchor="ctr">
            <a:spAutoFit/>
          </a:bodyPr>
          <a:lstStyle/>
          <a:p>
            <a:pPr algn="l"/>
            <a:r>
              <a:rPr sz="2200" b="1" i="0">
                <a:solidFill>
                  <a:srgbClr val="F0D58A"/>
                </a:solidFill>
                <a:latin typeface="Cinzel"/>
              </a:rPr>
              <a:t>Risk &amp; opportunity</a:t>
            </a:r>
          </a:p>
          <a:p>
            <a:pPr algn="l">
              <a:lnSpc>
                <a:spcPct val="120000"/>
              </a:lnSpc>
            </a:pPr>
            <a:r>
              <a:rPr sz="1800" b="0" i="0">
                <a:solidFill>
                  <a:srgbClr val="EFE3C6"/>
                </a:solidFill>
                <a:latin typeface="Montserrat"/>
              </a:rPr>
              <a:t>Only with money you can afford to lose</a:t>
            </a:r>
          </a:p>
        </p:txBody>
      </p:sp>
      <p:sp>
        <p:nvSpPr>
          <p:cNvPr id="57" name="Trapezoid 56"/>
          <p:cNvSpPr/>
          <p:nvPr/>
        </p:nvSpPr>
        <p:spPr>
          <a:xfrm>
            <a:off x="1417319" y="3502152"/>
            <a:ext cx="4297680" cy="1051560"/>
          </a:xfrm>
          <a:prstGeom prst="trapezoid">
            <a:avLst>
              <a:gd name="adj" fmla="val 38043"/>
            </a:avLst>
          </a:prstGeom>
          <a:solidFill>
            <a:srgbClr val="5A4B23"/>
          </a:solidFill>
          <a:ln w="15875">
            <a:solidFill>
              <a:srgbClr val="F0D58A"/>
            </a:solidFill>
          </a:ln>
        </p:spPr>
        <p:txBody>
          <a:bodyPr rtlCol="0" anchor="ctr"/>
          <a:lstStyle/>
          <a:p/>
        </p:txBody>
      </p:sp>
      <p:sp>
        <p:nvSpPr>
          <p:cNvPr id="58" name="TextBox 57"/>
          <p:cNvSpPr txBox="1"/>
          <p:nvPr/>
        </p:nvSpPr>
        <p:spPr>
          <a:xfrm>
            <a:off x="6309360" y="3547872"/>
            <a:ext cx="5120640" cy="1051560"/>
          </a:xfrm>
          <a:prstGeom prst="rect">
            <a:avLst/>
          </a:prstGeom>
          <a:noFill/>
        </p:spPr>
        <p:txBody>
          <a:bodyPr wrap="square" lIns="0" rIns="0" tIns="0" bIns="0" anchor="ctr">
            <a:spAutoFit/>
          </a:bodyPr>
          <a:lstStyle/>
          <a:p>
            <a:pPr algn="l"/>
            <a:r>
              <a:rPr sz="2200" b="1" i="0">
                <a:solidFill>
                  <a:srgbClr val="F0D58A"/>
                </a:solidFill>
                <a:latin typeface="Cinzel"/>
              </a:rPr>
              <a:t>Growth &amp; cash flow</a:t>
            </a:r>
          </a:p>
          <a:p>
            <a:pPr algn="l">
              <a:lnSpc>
                <a:spcPct val="120000"/>
              </a:lnSpc>
            </a:pPr>
            <a:r>
              <a:rPr sz="1800" b="0" i="0">
                <a:solidFill>
                  <a:srgbClr val="EFE3C6"/>
                </a:solidFill>
                <a:latin typeface="Montserrat"/>
              </a:rPr>
              <a:t>Real estate, business</a:t>
            </a:r>
          </a:p>
        </p:txBody>
      </p:sp>
      <p:sp>
        <p:nvSpPr>
          <p:cNvPr id="59" name="Trapezoid 58"/>
          <p:cNvSpPr/>
          <p:nvPr/>
        </p:nvSpPr>
        <p:spPr>
          <a:xfrm>
            <a:off x="617219" y="4626864"/>
            <a:ext cx="5897880" cy="1051560"/>
          </a:xfrm>
          <a:prstGeom prst="trapezoid">
            <a:avLst>
              <a:gd name="adj" fmla="val 38043"/>
            </a:avLst>
          </a:prstGeom>
          <a:solidFill>
            <a:srgbClr val="74602D"/>
          </a:solidFill>
          <a:ln w="15875">
            <a:solidFill>
              <a:srgbClr val="F0D58A"/>
            </a:solidFill>
          </a:ln>
        </p:spPr>
        <p:txBody>
          <a:bodyPr rtlCol="0" anchor="ctr"/>
          <a:lstStyle/>
          <a:p/>
        </p:txBody>
      </p:sp>
      <p:sp>
        <p:nvSpPr>
          <p:cNvPr id="60" name="TextBox 59"/>
          <p:cNvSpPr txBox="1"/>
          <p:nvPr/>
        </p:nvSpPr>
        <p:spPr>
          <a:xfrm>
            <a:off x="6309360" y="4672584"/>
            <a:ext cx="5120640" cy="1051560"/>
          </a:xfrm>
          <a:prstGeom prst="rect">
            <a:avLst/>
          </a:prstGeom>
          <a:noFill/>
        </p:spPr>
        <p:txBody>
          <a:bodyPr wrap="square" lIns="0" rIns="0" tIns="0" bIns="0" anchor="ctr">
            <a:spAutoFit/>
          </a:bodyPr>
          <a:lstStyle/>
          <a:p>
            <a:pPr algn="l"/>
            <a:r>
              <a:rPr sz="2200" b="1" i="0">
                <a:solidFill>
                  <a:srgbClr val="F0D58A"/>
                </a:solidFill>
                <a:latin typeface="Cinzel"/>
              </a:rPr>
              <a:t>Protection &amp; certainty</a:t>
            </a:r>
          </a:p>
          <a:p>
            <a:pPr algn="l">
              <a:lnSpc>
                <a:spcPct val="120000"/>
              </a:lnSpc>
            </a:pPr>
            <a:r>
              <a:rPr sz="1800" b="0" i="0">
                <a:solidFill>
                  <a:srgbClr val="EFE3C6"/>
                </a:solidFill>
                <a:latin typeface="Montserrat"/>
              </a:rPr>
              <a:t>Guarantees, liquid cash, insurance</a:t>
            </a:r>
          </a:p>
        </p:txBody>
      </p:sp>
      <p:sp>
        <p:nvSpPr>
          <p:cNvPr id="61" name="TextBox 60"/>
          <p:cNvSpPr txBox="1"/>
          <p:nvPr/>
        </p:nvSpPr>
        <p:spPr>
          <a:xfrm>
            <a:off x="914400" y="1783080"/>
            <a:ext cx="10362895" cy="411480"/>
          </a:xfrm>
          <a:prstGeom prst="rect">
            <a:avLst/>
          </a:prstGeom>
          <a:noFill/>
        </p:spPr>
        <p:txBody>
          <a:bodyPr wrap="square" lIns="0" rIns="0" tIns="0" bIns="0" anchor="t">
            <a:spAutoFit/>
          </a:bodyPr>
          <a:lstStyle/>
          <a:p>
            <a:pPr algn="ctr">
              <a:lnSpc>
                <a:spcPct val="120000"/>
              </a:lnSpc>
            </a:pPr>
            <a:r>
              <a:rPr sz="2000" b="0" i="1">
                <a:solidFill>
                  <a:srgbClr val="F0D58A"/>
                </a:solidFill>
                <a:latin typeface="Montserrat"/>
              </a:rPr>
              <a:t>Build from the bottom.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2282517" y="1751912"/>
            <a:ext cx="73152" cy="73152"/>
          </a:xfrm>
          <a:prstGeom prst="ellipse">
            <a:avLst/>
          </a:prstGeom>
          <a:solidFill>
            <a:srgbClr val="7D5121"/>
          </a:solidFill>
          <a:ln>
            <a:noFill/>
          </a:ln>
        </p:spPr>
        <p:txBody>
          <a:bodyPr rtlCol="0" anchor="ctr"/>
          <a:lstStyle/>
          <a:p/>
        </p:txBody>
      </p:sp>
      <p:sp>
        <p:nvSpPr>
          <p:cNvPr id="4" name="Oval 3"/>
          <p:cNvSpPr/>
          <p:nvPr/>
        </p:nvSpPr>
        <p:spPr>
          <a:xfrm>
            <a:off x="10781094" y="1474316"/>
            <a:ext cx="73152" cy="73152"/>
          </a:xfrm>
          <a:prstGeom prst="ellipse">
            <a:avLst/>
          </a:prstGeom>
          <a:solidFill>
            <a:srgbClr val="99803A"/>
          </a:solidFill>
          <a:ln>
            <a:noFill/>
          </a:ln>
        </p:spPr>
        <p:txBody>
          <a:bodyPr rtlCol="0" anchor="ctr"/>
          <a:lstStyle/>
          <a:p/>
        </p:txBody>
      </p:sp>
      <p:sp>
        <p:nvSpPr>
          <p:cNvPr id="5" name="Oval 4"/>
          <p:cNvSpPr/>
          <p:nvPr/>
        </p:nvSpPr>
        <p:spPr>
          <a:xfrm>
            <a:off x="4044421" y="4449168"/>
            <a:ext cx="73152" cy="73152"/>
          </a:xfrm>
          <a:prstGeom prst="ellipse">
            <a:avLst/>
          </a:prstGeom>
          <a:solidFill>
            <a:srgbClr val="794F20"/>
          </a:solidFill>
          <a:ln>
            <a:noFill/>
          </a:ln>
        </p:spPr>
        <p:txBody>
          <a:bodyPr rtlCol="0" anchor="ctr"/>
          <a:lstStyle/>
          <a:p/>
        </p:txBody>
      </p:sp>
      <p:sp>
        <p:nvSpPr>
          <p:cNvPr id="6" name="Oval 5"/>
          <p:cNvSpPr/>
          <p:nvPr/>
        </p:nvSpPr>
        <p:spPr>
          <a:xfrm>
            <a:off x="3818647" y="2203874"/>
            <a:ext cx="27432" cy="27432"/>
          </a:xfrm>
          <a:prstGeom prst="ellipse">
            <a:avLst/>
          </a:prstGeom>
          <a:solidFill>
            <a:srgbClr val="B0722D"/>
          </a:solidFill>
          <a:ln>
            <a:noFill/>
          </a:ln>
        </p:spPr>
        <p:txBody>
          <a:bodyPr rtlCol="0" anchor="ctr"/>
          <a:lstStyle/>
          <a:p/>
        </p:txBody>
      </p:sp>
      <p:sp>
        <p:nvSpPr>
          <p:cNvPr id="7" name="Oval 6"/>
          <p:cNvSpPr/>
          <p:nvPr/>
        </p:nvSpPr>
        <p:spPr>
          <a:xfrm>
            <a:off x="10219698" y="4390916"/>
            <a:ext cx="73152" cy="73152"/>
          </a:xfrm>
          <a:prstGeom prst="ellipse">
            <a:avLst/>
          </a:prstGeom>
          <a:solidFill>
            <a:srgbClr val="B3742E"/>
          </a:solidFill>
          <a:ln>
            <a:noFill/>
          </a:ln>
        </p:spPr>
        <p:txBody>
          <a:bodyPr rtlCol="0" anchor="ctr"/>
          <a:lstStyle/>
          <a:p/>
        </p:txBody>
      </p:sp>
      <p:sp>
        <p:nvSpPr>
          <p:cNvPr id="8" name="Oval 7"/>
          <p:cNvSpPr/>
          <p:nvPr/>
        </p:nvSpPr>
        <p:spPr>
          <a:xfrm>
            <a:off x="9130053" y="1825620"/>
            <a:ext cx="73152" cy="73152"/>
          </a:xfrm>
          <a:prstGeom prst="ellipse">
            <a:avLst/>
          </a:prstGeom>
          <a:solidFill>
            <a:srgbClr val="6D603E"/>
          </a:solidFill>
          <a:ln>
            <a:noFill/>
          </a:ln>
        </p:spPr>
        <p:txBody>
          <a:bodyPr rtlCol="0" anchor="ctr"/>
          <a:lstStyle/>
          <a:p/>
        </p:txBody>
      </p:sp>
      <p:sp>
        <p:nvSpPr>
          <p:cNvPr id="9" name="Oval 8"/>
          <p:cNvSpPr/>
          <p:nvPr/>
        </p:nvSpPr>
        <p:spPr>
          <a:xfrm>
            <a:off x="11771039" y="6252959"/>
            <a:ext cx="45720" cy="45720"/>
          </a:xfrm>
          <a:prstGeom prst="ellipse">
            <a:avLst/>
          </a:prstGeom>
          <a:solidFill>
            <a:srgbClr val="A3905D"/>
          </a:solidFill>
          <a:ln>
            <a:noFill/>
          </a:ln>
        </p:spPr>
        <p:txBody>
          <a:bodyPr rtlCol="0" anchor="ctr"/>
          <a:lstStyle/>
          <a:p/>
        </p:txBody>
      </p:sp>
      <p:sp>
        <p:nvSpPr>
          <p:cNvPr id="10" name="Oval 9"/>
          <p:cNvSpPr/>
          <p:nvPr/>
        </p:nvSpPr>
        <p:spPr>
          <a:xfrm>
            <a:off x="7855115" y="4939762"/>
            <a:ext cx="27432" cy="27432"/>
          </a:xfrm>
          <a:prstGeom prst="ellipse">
            <a:avLst/>
          </a:prstGeom>
          <a:solidFill>
            <a:srgbClr val="584922"/>
          </a:solidFill>
          <a:ln>
            <a:noFill/>
          </a:ln>
        </p:spPr>
        <p:txBody>
          <a:bodyPr rtlCol="0" anchor="ctr"/>
          <a:lstStyle/>
          <a:p/>
        </p:txBody>
      </p:sp>
      <p:sp>
        <p:nvSpPr>
          <p:cNvPr id="11" name="Oval 10"/>
          <p:cNvSpPr/>
          <p:nvPr/>
        </p:nvSpPr>
        <p:spPr>
          <a:xfrm>
            <a:off x="4421196" y="4279638"/>
            <a:ext cx="27432" cy="27432"/>
          </a:xfrm>
          <a:prstGeom prst="ellipse">
            <a:avLst/>
          </a:prstGeom>
          <a:solidFill>
            <a:srgbClr val="645327"/>
          </a:solidFill>
          <a:ln>
            <a:noFill/>
          </a:ln>
        </p:spPr>
        <p:txBody>
          <a:bodyPr rtlCol="0" anchor="ctr"/>
          <a:lstStyle/>
          <a:p/>
        </p:txBody>
      </p:sp>
      <p:sp>
        <p:nvSpPr>
          <p:cNvPr id="12" name="Oval 11"/>
          <p:cNvSpPr/>
          <p:nvPr/>
        </p:nvSpPr>
        <p:spPr>
          <a:xfrm>
            <a:off x="8243611" y="5591296"/>
            <a:ext cx="36576" cy="36576"/>
          </a:xfrm>
          <a:prstGeom prst="ellipse">
            <a:avLst/>
          </a:prstGeom>
          <a:solidFill>
            <a:srgbClr val="AD702C"/>
          </a:solidFill>
          <a:ln>
            <a:noFill/>
          </a:ln>
        </p:spPr>
        <p:txBody>
          <a:bodyPr rtlCol="0" anchor="ctr"/>
          <a:lstStyle/>
          <a:p/>
        </p:txBody>
      </p:sp>
      <p:sp>
        <p:nvSpPr>
          <p:cNvPr id="13" name="Oval 12"/>
          <p:cNvSpPr/>
          <p:nvPr/>
        </p:nvSpPr>
        <p:spPr>
          <a:xfrm>
            <a:off x="10130540" y="742128"/>
            <a:ext cx="73152" cy="73152"/>
          </a:xfrm>
          <a:prstGeom prst="ellipse">
            <a:avLst/>
          </a:prstGeom>
          <a:solidFill>
            <a:srgbClr val="544930"/>
          </a:solidFill>
          <a:ln>
            <a:noFill/>
          </a:ln>
        </p:spPr>
        <p:txBody>
          <a:bodyPr rtlCol="0" anchor="ctr"/>
          <a:lstStyle/>
          <a:p/>
        </p:txBody>
      </p:sp>
      <p:sp>
        <p:nvSpPr>
          <p:cNvPr id="14" name="Oval 13"/>
          <p:cNvSpPr/>
          <p:nvPr/>
        </p:nvSpPr>
        <p:spPr>
          <a:xfrm>
            <a:off x="400586" y="2802580"/>
            <a:ext cx="45720" cy="45720"/>
          </a:xfrm>
          <a:prstGeom prst="ellipse">
            <a:avLst/>
          </a:prstGeom>
          <a:solidFill>
            <a:srgbClr val="5C3C19"/>
          </a:solidFill>
          <a:ln>
            <a:noFill/>
          </a:ln>
        </p:spPr>
        <p:txBody>
          <a:bodyPr rtlCol="0" anchor="ctr"/>
          <a:lstStyle/>
          <a:p/>
        </p:txBody>
      </p:sp>
      <p:sp>
        <p:nvSpPr>
          <p:cNvPr id="15" name="Oval 14"/>
          <p:cNvSpPr/>
          <p:nvPr/>
        </p:nvSpPr>
        <p:spPr>
          <a:xfrm>
            <a:off x="8121853" y="2675136"/>
            <a:ext cx="36576" cy="36576"/>
          </a:xfrm>
          <a:prstGeom prst="ellipse">
            <a:avLst/>
          </a:prstGeom>
          <a:solidFill>
            <a:srgbClr val="6C5A2A"/>
          </a:solidFill>
          <a:ln>
            <a:noFill/>
          </a:ln>
        </p:spPr>
        <p:txBody>
          <a:bodyPr rtlCol="0" anchor="ctr"/>
          <a:lstStyle/>
          <a:p/>
        </p:txBody>
      </p:sp>
      <p:sp>
        <p:nvSpPr>
          <p:cNvPr id="16" name="Oval 15"/>
          <p:cNvSpPr/>
          <p:nvPr/>
        </p:nvSpPr>
        <p:spPr>
          <a:xfrm>
            <a:off x="7123016" y="3065785"/>
            <a:ext cx="45720" cy="45720"/>
          </a:xfrm>
          <a:prstGeom prst="ellipse">
            <a:avLst/>
          </a:prstGeom>
          <a:solidFill>
            <a:srgbClr val="7E5221"/>
          </a:solidFill>
          <a:ln>
            <a:noFill/>
          </a:ln>
        </p:spPr>
        <p:txBody>
          <a:bodyPr rtlCol="0" anchor="ctr"/>
          <a:lstStyle/>
          <a:p/>
        </p:txBody>
      </p:sp>
      <p:sp>
        <p:nvSpPr>
          <p:cNvPr id="17" name="Oval 16"/>
          <p:cNvSpPr/>
          <p:nvPr/>
        </p:nvSpPr>
        <p:spPr>
          <a:xfrm>
            <a:off x="5880065" y="2619388"/>
            <a:ext cx="27432" cy="27432"/>
          </a:xfrm>
          <a:prstGeom prst="ellipse">
            <a:avLst/>
          </a:prstGeom>
          <a:solidFill>
            <a:srgbClr val="503516"/>
          </a:solidFill>
          <a:ln>
            <a:noFill/>
          </a:ln>
        </p:spPr>
        <p:txBody>
          <a:bodyPr rtlCol="0" anchor="ctr"/>
          <a:lstStyle/>
          <a:p/>
        </p:txBody>
      </p:sp>
      <p:sp>
        <p:nvSpPr>
          <p:cNvPr id="18" name="Oval 17"/>
          <p:cNvSpPr/>
          <p:nvPr/>
        </p:nvSpPr>
        <p:spPr>
          <a:xfrm>
            <a:off x="535679" y="3588597"/>
            <a:ext cx="36576" cy="36576"/>
          </a:xfrm>
          <a:prstGeom prst="ellipse">
            <a:avLst/>
          </a:prstGeom>
          <a:solidFill>
            <a:srgbClr val="9A6428"/>
          </a:solidFill>
          <a:ln>
            <a:noFill/>
          </a:ln>
        </p:spPr>
        <p:txBody>
          <a:bodyPr rtlCol="0" anchor="ctr"/>
          <a:lstStyle/>
          <a:p/>
        </p:txBody>
      </p:sp>
      <p:sp>
        <p:nvSpPr>
          <p:cNvPr id="19" name="Oval 18"/>
          <p:cNvSpPr/>
          <p:nvPr/>
        </p:nvSpPr>
        <p:spPr>
          <a:xfrm>
            <a:off x="10792791" y="4700821"/>
            <a:ext cx="36576" cy="36576"/>
          </a:xfrm>
          <a:prstGeom prst="ellipse">
            <a:avLst/>
          </a:prstGeom>
          <a:solidFill>
            <a:srgbClr val="472F14"/>
          </a:solidFill>
          <a:ln>
            <a:noFill/>
          </a:ln>
        </p:spPr>
        <p:txBody>
          <a:bodyPr rtlCol="0" anchor="ctr"/>
          <a:lstStyle/>
          <a:p/>
        </p:txBody>
      </p:sp>
      <p:sp>
        <p:nvSpPr>
          <p:cNvPr id="20" name="Oval 19"/>
          <p:cNvSpPr/>
          <p:nvPr/>
        </p:nvSpPr>
        <p:spPr>
          <a:xfrm>
            <a:off x="10514558" y="5894802"/>
            <a:ext cx="27432" cy="27432"/>
          </a:xfrm>
          <a:prstGeom prst="ellipse">
            <a:avLst/>
          </a:prstGeom>
          <a:solidFill>
            <a:srgbClr val="7B5020"/>
          </a:solidFill>
          <a:ln>
            <a:noFill/>
          </a:ln>
        </p:spPr>
        <p:txBody>
          <a:bodyPr rtlCol="0" anchor="ctr"/>
          <a:lstStyle/>
          <a:p/>
        </p:txBody>
      </p:sp>
      <p:sp>
        <p:nvSpPr>
          <p:cNvPr id="21" name="Oval 20"/>
          <p:cNvSpPr/>
          <p:nvPr/>
        </p:nvSpPr>
        <p:spPr>
          <a:xfrm>
            <a:off x="11216437" y="2781166"/>
            <a:ext cx="54864" cy="54864"/>
          </a:xfrm>
          <a:prstGeom prst="ellipse">
            <a:avLst/>
          </a:prstGeom>
          <a:solidFill>
            <a:srgbClr val="AD702C"/>
          </a:solidFill>
          <a:ln>
            <a:noFill/>
          </a:ln>
        </p:spPr>
        <p:txBody>
          <a:bodyPr rtlCol="0" anchor="ctr"/>
          <a:lstStyle/>
          <a:p/>
        </p:txBody>
      </p:sp>
      <p:sp>
        <p:nvSpPr>
          <p:cNvPr id="22" name="Oval 21"/>
          <p:cNvSpPr/>
          <p:nvPr/>
        </p:nvSpPr>
        <p:spPr>
          <a:xfrm>
            <a:off x="4810247" y="4877212"/>
            <a:ext cx="54864" cy="54864"/>
          </a:xfrm>
          <a:prstGeom prst="ellipse">
            <a:avLst/>
          </a:prstGeom>
          <a:solidFill>
            <a:srgbClr val="A46B2A"/>
          </a:solidFill>
          <a:ln>
            <a:noFill/>
          </a:ln>
        </p:spPr>
        <p:txBody>
          <a:bodyPr rtlCol="0" anchor="ctr"/>
          <a:lstStyle/>
          <a:p/>
        </p:txBody>
      </p:sp>
      <p:sp>
        <p:nvSpPr>
          <p:cNvPr id="23" name="Oval 22"/>
          <p:cNvSpPr/>
          <p:nvPr/>
        </p:nvSpPr>
        <p:spPr>
          <a:xfrm>
            <a:off x="2287090" y="6060126"/>
            <a:ext cx="45720" cy="45720"/>
          </a:xfrm>
          <a:prstGeom prst="ellipse">
            <a:avLst/>
          </a:prstGeom>
          <a:solidFill>
            <a:srgbClr val="5C4D24"/>
          </a:solidFill>
          <a:ln>
            <a:noFill/>
          </a:ln>
        </p:spPr>
        <p:txBody>
          <a:bodyPr rtlCol="0" anchor="ctr"/>
          <a:lstStyle/>
          <a:p/>
        </p:txBody>
      </p:sp>
      <p:sp>
        <p:nvSpPr>
          <p:cNvPr id="24" name="Oval 23"/>
          <p:cNvSpPr/>
          <p:nvPr/>
        </p:nvSpPr>
        <p:spPr>
          <a:xfrm>
            <a:off x="10767797" y="1390940"/>
            <a:ext cx="45720" cy="45720"/>
          </a:xfrm>
          <a:prstGeom prst="ellipse">
            <a:avLst/>
          </a:prstGeom>
          <a:solidFill>
            <a:srgbClr val="A0853D"/>
          </a:solidFill>
          <a:ln>
            <a:noFill/>
          </a:ln>
        </p:spPr>
        <p:txBody>
          <a:bodyPr rtlCol="0" anchor="ctr"/>
          <a:lstStyle/>
          <a:p/>
        </p:txBody>
      </p:sp>
      <p:sp>
        <p:nvSpPr>
          <p:cNvPr id="25" name="Oval 24"/>
          <p:cNvSpPr/>
          <p:nvPr/>
        </p:nvSpPr>
        <p:spPr>
          <a:xfrm>
            <a:off x="5339123" y="5177518"/>
            <a:ext cx="54864" cy="54864"/>
          </a:xfrm>
          <a:prstGeom prst="ellipse">
            <a:avLst/>
          </a:prstGeom>
          <a:solidFill>
            <a:srgbClr val="967D39"/>
          </a:solidFill>
          <a:ln>
            <a:noFill/>
          </a:ln>
        </p:spPr>
        <p:txBody>
          <a:bodyPr rtlCol="0" anchor="ctr"/>
          <a:lstStyle/>
          <a:p/>
        </p:txBody>
      </p:sp>
      <p:sp>
        <p:nvSpPr>
          <p:cNvPr id="26" name="Oval 25"/>
          <p:cNvSpPr/>
          <p:nvPr/>
        </p:nvSpPr>
        <p:spPr>
          <a:xfrm>
            <a:off x="7894127" y="572821"/>
            <a:ext cx="73152" cy="73152"/>
          </a:xfrm>
          <a:prstGeom prst="ellipse">
            <a:avLst/>
          </a:prstGeom>
          <a:solidFill>
            <a:srgbClr val="7C6730"/>
          </a:solidFill>
          <a:ln>
            <a:noFill/>
          </a:ln>
        </p:spPr>
        <p:txBody>
          <a:bodyPr rtlCol="0" anchor="ctr"/>
          <a:lstStyle/>
          <a:p/>
        </p:txBody>
      </p:sp>
      <p:sp>
        <p:nvSpPr>
          <p:cNvPr id="27" name="Oval 26"/>
          <p:cNvSpPr/>
          <p:nvPr/>
        </p:nvSpPr>
        <p:spPr>
          <a:xfrm>
            <a:off x="2977720" y="913668"/>
            <a:ext cx="27432" cy="27432"/>
          </a:xfrm>
          <a:prstGeom prst="ellipse">
            <a:avLst/>
          </a:prstGeom>
          <a:solidFill>
            <a:srgbClr val="AA6E2B"/>
          </a:solidFill>
          <a:ln>
            <a:noFill/>
          </a:ln>
        </p:spPr>
        <p:txBody>
          <a:bodyPr rtlCol="0" anchor="ctr"/>
          <a:lstStyle/>
          <a:p/>
        </p:txBody>
      </p:sp>
      <p:sp>
        <p:nvSpPr>
          <p:cNvPr id="28" name="Oval 27"/>
          <p:cNvSpPr/>
          <p:nvPr/>
        </p:nvSpPr>
        <p:spPr>
          <a:xfrm>
            <a:off x="6932339" y="1546330"/>
            <a:ext cx="27432" cy="27432"/>
          </a:xfrm>
          <a:prstGeom prst="ellipse">
            <a:avLst/>
          </a:prstGeom>
          <a:solidFill>
            <a:srgbClr val="5E5235"/>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3908145" y="1136903"/>
            <a:ext cx="4375403" cy="329184"/>
          </a:xfrm>
          <a:prstGeom prst="rect">
            <a:avLst/>
          </a:prstGeom>
          <a:noFill/>
        </p:spPr>
        <p:txBody>
          <a:bodyPr wrap="square" lIns="0" rIns="0" tIns="0" bIns="0" anchor="ctr">
            <a:spAutoFit/>
          </a:bodyPr>
          <a:lstStyle/>
          <a:p>
            <a:pPr algn="ctr"/>
            <a:r>
              <a:rPr sz="1300" b="1" i="0" spc="400">
                <a:solidFill>
                  <a:srgbClr val="C9A84C"/>
                </a:solidFill>
                <a:latin typeface="Montserrat"/>
              </a:rPr>
              <a:t>LEVEL 3 · CAPITAL READINESS</a:t>
            </a:r>
          </a:p>
        </p:txBody>
      </p:sp>
      <p:cxnSp>
        <p:nvCxnSpPr>
          <p:cNvPr id="50" name="Connector 49"/>
          <p:cNvCxnSpPr/>
          <p:nvPr/>
        </p:nvCxnSpPr>
        <p:spPr>
          <a:xfrm>
            <a:off x="2536545" y="1301495"/>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486253" y="1251203"/>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8420709" y="1301495"/>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604857" y="1251203"/>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530095"/>
            <a:ext cx="10362895" cy="1051560"/>
          </a:xfrm>
          <a:prstGeom prst="rect">
            <a:avLst/>
          </a:prstGeom>
          <a:noFill/>
        </p:spPr>
        <p:txBody>
          <a:bodyPr wrap="square" lIns="0" rIns="0" tIns="0" bIns="0" anchor="ctr">
            <a:spAutoFit/>
          </a:bodyPr>
          <a:lstStyle/>
          <a:p>
            <a:pPr algn="ctr">
              <a:lnSpc>
                <a:spcPct val="105000"/>
              </a:lnSpc>
            </a:pPr>
            <a:r>
              <a:rPr sz="3600" b="1" i="0">
                <a:solidFill>
                  <a:srgbClr val="F0D58A"/>
                </a:solidFill>
                <a:latin typeface="Cinzel"/>
              </a:rPr>
              <a:t>Borrow to build assets. Never borrow to cover your bills.</a:t>
            </a:r>
          </a:p>
        </p:txBody>
      </p:sp>
      <p:sp>
        <p:nvSpPr>
          <p:cNvPr id="55" name="Rounded Rectangle 54"/>
          <p:cNvSpPr/>
          <p:nvPr/>
        </p:nvSpPr>
        <p:spPr>
          <a:xfrm>
            <a:off x="1523847" y="2764535"/>
            <a:ext cx="9144000" cy="1911096"/>
          </a:xfrm>
          <a:prstGeom prst="roundRect">
            <a:avLst>
              <a:gd name="adj" fmla="val 6000"/>
            </a:avLst>
          </a:prstGeom>
          <a:solidFill>
            <a:srgbClr val="100D07"/>
          </a:solidFill>
          <a:ln w="15875">
            <a:solidFill>
              <a:srgbClr val="877034"/>
            </a:solidFill>
          </a:ln>
        </p:spPr>
        <p:txBody>
          <a:bodyPr rtlCol="0" anchor="ctr"/>
          <a:lstStyle/>
          <a:p/>
        </p:txBody>
      </p:sp>
      <p:sp>
        <p:nvSpPr>
          <p:cNvPr id="56" name="Diamond 55"/>
          <p:cNvSpPr/>
          <p:nvPr/>
        </p:nvSpPr>
        <p:spPr>
          <a:xfrm>
            <a:off x="2026767" y="3093719"/>
            <a:ext cx="137160" cy="137160"/>
          </a:xfrm>
          <a:prstGeom prst="diamond">
            <a:avLst/>
          </a:prstGeom>
          <a:solidFill>
            <a:srgbClr val="F0D58A"/>
          </a:solidFill>
          <a:ln>
            <a:noFill/>
          </a:ln>
        </p:spPr>
        <p:txBody>
          <a:bodyPr rtlCol="0" anchor="ctr"/>
          <a:lstStyle/>
          <a:p/>
        </p:txBody>
      </p:sp>
      <p:sp>
        <p:nvSpPr>
          <p:cNvPr id="57" name="TextBox 56"/>
          <p:cNvSpPr txBox="1"/>
          <p:nvPr/>
        </p:nvSpPr>
        <p:spPr>
          <a:xfrm>
            <a:off x="2346807" y="2965703"/>
            <a:ext cx="7955279" cy="93268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A fundable business — credit strong, structure in place</a:t>
            </a:r>
          </a:p>
        </p:txBody>
      </p:sp>
      <p:sp>
        <p:nvSpPr>
          <p:cNvPr id="58" name="Diamond 57"/>
          <p:cNvSpPr/>
          <p:nvPr/>
        </p:nvSpPr>
        <p:spPr>
          <a:xfrm>
            <a:off x="2026767" y="4026407"/>
            <a:ext cx="137160" cy="137160"/>
          </a:xfrm>
          <a:prstGeom prst="diamond">
            <a:avLst/>
          </a:prstGeom>
          <a:solidFill>
            <a:srgbClr val="F0D58A"/>
          </a:solidFill>
          <a:ln>
            <a:noFill/>
          </a:ln>
        </p:spPr>
        <p:txBody>
          <a:bodyPr rtlCol="0" anchor="ctr"/>
          <a:lstStyle/>
          <a:p/>
        </p:txBody>
      </p:sp>
      <p:sp>
        <p:nvSpPr>
          <p:cNvPr id="59" name="TextBox 58"/>
          <p:cNvSpPr txBox="1"/>
          <p:nvPr/>
        </p:nvSpPr>
        <p:spPr>
          <a:xfrm>
            <a:off x="2346807" y="3898391"/>
            <a:ext cx="7955279"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A plan for every dollar borrowed</a:t>
            </a:r>
          </a:p>
        </p:txBody>
      </p:sp>
      <p:sp>
        <p:nvSpPr>
          <p:cNvPr id="60" name="TextBox 59"/>
          <p:cNvSpPr txBox="1"/>
          <p:nvPr/>
        </p:nvSpPr>
        <p:spPr>
          <a:xfrm>
            <a:off x="1097280" y="4812792"/>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Using credit to get to the end of the month? The answer is Level 1 — not more credit.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983584" y="1225472"/>
            <a:ext cx="27432" cy="27432"/>
          </a:xfrm>
          <a:prstGeom prst="ellipse">
            <a:avLst/>
          </a:prstGeom>
          <a:solidFill>
            <a:srgbClr val="997F3A"/>
          </a:solidFill>
          <a:ln>
            <a:noFill/>
          </a:ln>
        </p:spPr>
        <p:txBody>
          <a:bodyPr rtlCol="0" anchor="ctr"/>
          <a:lstStyle/>
          <a:p/>
        </p:txBody>
      </p:sp>
      <p:sp>
        <p:nvSpPr>
          <p:cNvPr id="4" name="Oval 3"/>
          <p:cNvSpPr/>
          <p:nvPr/>
        </p:nvSpPr>
        <p:spPr>
          <a:xfrm>
            <a:off x="644489" y="594887"/>
            <a:ext cx="54864" cy="54864"/>
          </a:xfrm>
          <a:prstGeom prst="ellipse">
            <a:avLst/>
          </a:prstGeom>
          <a:solidFill>
            <a:srgbClr val="815422"/>
          </a:solidFill>
          <a:ln>
            <a:noFill/>
          </a:ln>
        </p:spPr>
        <p:txBody>
          <a:bodyPr rtlCol="0" anchor="ctr"/>
          <a:lstStyle/>
          <a:p/>
        </p:txBody>
      </p:sp>
      <p:sp>
        <p:nvSpPr>
          <p:cNvPr id="5" name="Oval 4"/>
          <p:cNvSpPr/>
          <p:nvPr/>
        </p:nvSpPr>
        <p:spPr>
          <a:xfrm>
            <a:off x="6357131" y="5980683"/>
            <a:ext cx="27432" cy="27432"/>
          </a:xfrm>
          <a:prstGeom prst="ellipse">
            <a:avLst/>
          </a:prstGeom>
          <a:solidFill>
            <a:srgbClr val="70491E"/>
          </a:solidFill>
          <a:ln>
            <a:noFill/>
          </a:ln>
        </p:spPr>
        <p:txBody>
          <a:bodyPr rtlCol="0" anchor="ctr"/>
          <a:lstStyle/>
          <a:p/>
        </p:txBody>
      </p:sp>
      <p:sp>
        <p:nvSpPr>
          <p:cNvPr id="6" name="Oval 5"/>
          <p:cNvSpPr/>
          <p:nvPr/>
        </p:nvSpPr>
        <p:spPr>
          <a:xfrm>
            <a:off x="6581868" y="5010890"/>
            <a:ext cx="27432" cy="27432"/>
          </a:xfrm>
          <a:prstGeom prst="ellipse">
            <a:avLst/>
          </a:prstGeom>
          <a:solidFill>
            <a:srgbClr val="3C3218"/>
          </a:solidFill>
          <a:ln>
            <a:noFill/>
          </a:ln>
        </p:spPr>
        <p:txBody>
          <a:bodyPr rtlCol="0" anchor="ctr"/>
          <a:lstStyle/>
          <a:p/>
        </p:txBody>
      </p:sp>
      <p:sp>
        <p:nvSpPr>
          <p:cNvPr id="7" name="Oval 6"/>
          <p:cNvSpPr/>
          <p:nvPr/>
        </p:nvSpPr>
        <p:spPr>
          <a:xfrm>
            <a:off x="9953085" y="6032601"/>
            <a:ext cx="36576" cy="36576"/>
          </a:xfrm>
          <a:prstGeom prst="ellipse">
            <a:avLst/>
          </a:prstGeom>
          <a:solidFill>
            <a:srgbClr val="7D6E47"/>
          </a:solidFill>
          <a:ln>
            <a:noFill/>
          </a:ln>
        </p:spPr>
        <p:txBody>
          <a:bodyPr rtlCol="0" anchor="ctr"/>
          <a:lstStyle/>
          <a:p/>
        </p:txBody>
      </p:sp>
      <p:sp>
        <p:nvSpPr>
          <p:cNvPr id="8" name="Oval 7"/>
          <p:cNvSpPr/>
          <p:nvPr/>
        </p:nvSpPr>
        <p:spPr>
          <a:xfrm>
            <a:off x="1749576" y="6177089"/>
            <a:ext cx="45720" cy="45720"/>
          </a:xfrm>
          <a:prstGeom prst="ellipse">
            <a:avLst/>
          </a:prstGeom>
          <a:solidFill>
            <a:srgbClr val="A08E5C"/>
          </a:solidFill>
          <a:ln>
            <a:noFill/>
          </a:ln>
        </p:spPr>
        <p:txBody>
          <a:bodyPr rtlCol="0" anchor="ctr"/>
          <a:lstStyle/>
          <a:p/>
        </p:txBody>
      </p:sp>
      <p:sp>
        <p:nvSpPr>
          <p:cNvPr id="9" name="Oval 8"/>
          <p:cNvSpPr/>
          <p:nvPr/>
        </p:nvSpPr>
        <p:spPr>
          <a:xfrm>
            <a:off x="596104" y="658971"/>
            <a:ext cx="54864" cy="54864"/>
          </a:xfrm>
          <a:prstGeom prst="ellipse">
            <a:avLst/>
          </a:prstGeom>
          <a:solidFill>
            <a:srgbClr val="8B7A4F"/>
          </a:solidFill>
          <a:ln>
            <a:noFill/>
          </a:ln>
        </p:spPr>
        <p:txBody>
          <a:bodyPr rtlCol="0" anchor="ctr"/>
          <a:lstStyle/>
          <a:p/>
        </p:txBody>
      </p:sp>
      <p:sp>
        <p:nvSpPr>
          <p:cNvPr id="10" name="Oval 9"/>
          <p:cNvSpPr/>
          <p:nvPr/>
        </p:nvSpPr>
        <p:spPr>
          <a:xfrm>
            <a:off x="2236843" y="2206342"/>
            <a:ext cx="36576" cy="36576"/>
          </a:xfrm>
          <a:prstGeom prst="ellipse">
            <a:avLst/>
          </a:prstGeom>
          <a:solidFill>
            <a:srgbClr val="573918"/>
          </a:solidFill>
          <a:ln>
            <a:noFill/>
          </a:ln>
        </p:spPr>
        <p:txBody>
          <a:bodyPr rtlCol="0" anchor="ctr"/>
          <a:lstStyle/>
          <a:p/>
        </p:txBody>
      </p:sp>
      <p:sp>
        <p:nvSpPr>
          <p:cNvPr id="11" name="Oval 10"/>
          <p:cNvSpPr/>
          <p:nvPr/>
        </p:nvSpPr>
        <p:spPr>
          <a:xfrm>
            <a:off x="6881122" y="3787460"/>
            <a:ext cx="45720" cy="45720"/>
          </a:xfrm>
          <a:prstGeom prst="ellipse">
            <a:avLst/>
          </a:prstGeom>
          <a:solidFill>
            <a:srgbClr val="8F7E52"/>
          </a:solidFill>
          <a:ln>
            <a:noFill/>
          </a:ln>
        </p:spPr>
        <p:txBody>
          <a:bodyPr rtlCol="0" anchor="ctr"/>
          <a:lstStyle/>
          <a:p/>
        </p:txBody>
      </p:sp>
      <p:sp>
        <p:nvSpPr>
          <p:cNvPr id="12" name="Oval 11"/>
          <p:cNvSpPr/>
          <p:nvPr/>
        </p:nvSpPr>
        <p:spPr>
          <a:xfrm>
            <a:off x="3670985" y="833413"/>
            <a:ext cx="36576" cy="36576"/>
          </a:xfrm>
          <a:prstGeom prst="ellipse">
            <a:avLst/>
          </a:prstGeom>
          <a:solidFill>
            <a:srgbClr val="655427"/>
          </a:solidFill>
          <a:ln>
            <a:noFill/>
          </a:ln>
        </p:spPr>
        <p:txBody>
          <a:bodyPr rtlCol="0" anchor="ctr"/>
          <a:lstStyle/>
          <a:p/>
        </p:txBody>
      </p:sp>
      <p:sp>
        <p:nvSpPr>
          <p:cNvPr id="13" name="Oval 12"/>
          <p:cNvSpPr/>
          <p:nvPr/>
        </p:nvSpPr>
        <p:spPr>
          <a:xfrm>
            <a:off x="5256411" y="779678"/>
            <a:ext cx="45720" cy="45720"/>
          </a:xfrm>
          <a:prstGeom prst="ellipse">
            <a:avLst/>
          </a:prstGeom>
          <a:solidFill>
            <a:srgbClr val="442D13"/>
          </a:solidFill>
          <a:ln>
            <a:noFill/>
          </a:ln>
        </p:spPr>
        <p:txBody>
          <a:bodyPr rtlCol="0" anchor="ctr"/>
          <a:lstStyle/>
          <a:p/>
        </p:txBody>
      </p:sp>
      <p:sp>
        <p:nvSpPr>
          <p:cNvPr id="14" name="Oval 13"/>
          <p:cNvSpPr/>
          <p:nvPr/>
        </p:nvSpPr>
        <p:spPr>
          <a:xfrm>
            <a:off x="5471848" y="4539959"/>
            <a:ext cx="36576" cy="36576"/>
          </a:xfrm>
          <a:prstGeom prst="ellipse">
            <a:avLst/>
          </a:prstGeom>
          <a:solidFill>
            <a:srgbClr val="B19D66"/>
          </a:solidFill>
          <a:ln>
            <a:noFill/>
          </a:ln>
        </p:spPr>
        <p:txBody>
          <a:bodyPr rtlCol="0" anchor="ctr"/>
          <a:lstStyle/>
          <a:p/>
        </p:txBody>
      </p:sp>
      <p:sp>
        <p:nvSpPr>
          <p:cNvPr id="15" name="Oval 14"/>
          <p:cNvSpPr/>
          <p:nvPr/>
        </p:nvSpPr>
        <p:spPr>
          <a:xfrm>
            <a:off x="7949478" y="652631"/>
            <a:ext cx="36576" cy="36576"/>
          </a:xfrm>
          <a:prstGeom prst="ellipse">
            <a:avLst/>
          </a:prstGeom>
          <a:solidFill>
            <a:srgbClr val="553817"/>
          </a:solidFill>
          <a:ln>
            <a:noFill/>
          </a:ln>
        </p:spPr>
        <p:txBody>
          <a:bodyPr rtlCol="0" anchor="ctr"/>
          <a:lstStyle/>
          <a:p/>
        </p:txBody>
      </p:sp>
      <p:sp>
        <p:nvSpPr>
          <p:cNvPr id="16" name="Oval 15"/>
          <p:cNvSpPr/>
          <p:nvPr/>
        </p:nvSpPr>
        <p:spPr>
          <a:xfrm>
            <a:off x="2583460" y="581897"/>
            <a:ext cx="27432" cy="27432"/>
          </a:xfrm>
          <a:prstGeom prst="ellipse">
            <a:avLst/>
          </a:prstGeom>
          <a:solidFill>
            <a:srgbClr val="84754C"/>
          </a:solidFill>
          <a:ln>
            <a:noFill/>
          </a:ln>
        </p:spPr>
        <p:txBody>
          <a:bodyPr rtlCol="0" anchor="ctr"/>
          <a:lstStyle/>
          <a:p/>
        </p:txBody>
      </p:sp>
      <p:sp>
        <p:nvSpPr>
          <p:cNvPr id="17" name="Oval 16"/>
          <p:cNvSpPr/>
          <p:nvPr/>
        </p:nvSpPr>
        <p:spPr>
          <a:xfrm>
            <a:off x="8258396" y="6022833"/>
            <a:ext cx="73152" cy="73152"/>
          </a:xfrm>
          <a:prstGeom prst="ellipse">
            <a:avLst/>
          </a:prstGeom>
          <a:solidFill>
            <a:srgbClr val="7D5121"/>
          </a:solidFill>
          <a:ln>
            <a:noFill/>
          </a:ln>
        </p:spPr>
        <p:txBody>
          <a:bodyPr rtlCol="0" anchor="ctr"/>
          <a:lstStyle/>
          <a:p/>
        </p:txBody>
      </p:sp>
      <p:sp>
        <p:nvSpPr>
          <p:cNvPr id="18" name="Oval 17"/>
          <p:cNvSpPr/>
          <p:nvPr/>
        </p:nvSpPr>
        <p:spPr>
          <a:xfrm>
            <a:off x="7448489" y="3487103"/>
            <a:ext cx="36576" cy="36576"/>
          </a:xfrm>
          <a:prstGeom prst="ellipse">
            <a:avLst/>
          </a:prstGeom>
          <a:solidFill>
            <a:srgbClr val="534520"/>
          </a:solidFill>
          <a:ln>
            <a:noFill/>
          </a:ln>
        </p:spPr>
        <p:txBody>
          <a:bodyPr rtlCol="0" anchor="ctr"/>
          <a:lstStyle/>
          <a:p/>
        </p:txBody>
      </p:sp>
      <p:sp>
        <p:nvSpPr>
          <p:cNvPr id="19" name="Oval 18"/>
          <p:cNvSpPr/>
          <p:nvPr/>
        </p:nvSpPr>
        <p:spPr>
          <a:xfrm>
            <a:off x="4677219" y="4662404"/>
            <a:ext cx="54864" cy="54864"/>
          </a:xfrm>
          <a:prstGeom prst="ellipse">
            <a:avLst/>
          </a:prstGeom>
          <a:solidFill>
            <a:srgbClr val="AD9963"/>
          </a:solidFill>
          <a:ln>
            <a:noFill/>
          </a:ln>
        </p:spPr>
        <p:txBody>
          <a:bodyPr rtlCol="0" anchor="ctr"/>
          <a:lstStyle/>
          <a:p/>
        </p:txBody>
      </p:sp>
      <p:sp>
        <p:nvSpPr>
          <p:cNvPr id="20" name="Oval 19"/>
          <p:cNvSpPr/>
          <p:nvPr/>
        </p:nvSpPr>
        <p:spPr>
          <a:xfrm>
            <a:off x="1839796" y="4433191"/>
            <a:ext cx="73152" cy="73152"/>
          </a:xfrm>
          <a:prstGeom prst="ellipse">
            <a:avLst/>
          </a:prstGeom>
          <a:solidFill>
            <a:srgbClr val="915E25"/>
          </a:solidFill>
          <a:ln>
            <a:noFill/>
          </a:ln>
        </p:spPr>
        <p:txBody>
          <a:bodyPr rtlCol="0" anchor="ctr"/>
          <a:lstStyle/>
          <a:p/>
        </p:txBody>
      </p:sp>
      <p:sp>
        <p:nvSpPr>
          <p:cNvPr id="21" name="Oval 20"/>
          <p:cNvSpPr/>
          <p:nvPr/>
        </p:nvSpPr>
        <p:spPr>
          <a:xfrm>
            <a:off x="7484753" y="6117751"/>
            <a:ext cx="36576" cy="36576"/>
          </a:xfrm>
          <a:prstGeom prst="ellipse">
            <a:avLst/>
          </a:prstGeom>
          <a:solidFill>
            <a:srgbClr val="462E14"/>
          </a:solidFill>
          <a:ln>
            <a:noFill/>
          </a:ln>
        </p:spPr>
        <p:txBody>
          <a:bodyPr rtlCol="0" anchor="ctr"/>
          <a:lstStyle/>
          <a:p/>
        </p:txBody>
      </p:sp>
      <p:sp>
        <p:nvSpPr>
          <p:cNvPr id="22" name="Oval 21"/>
          <p:cNvSpPr/>
          <p:nvPr/>
        </p:nvSpPr>
        <p:spPr>
          <a:xfrm>
            <a:off x="7161524" y="6123821"/>
            <a:ext cx="27432" cy="27432"/>
          </a:xfrm>
          <a:prstGeom prst="ellipse">
            <a:avLst/>
          </a:prstGeom>
          <a:solidFill>
            <a:srgbClr val="A16929"/>
          </a:solidFill>
          <a:ln>
            <a:noFill/>
          </a:ln>
        </p:spPr>
        <p:txBody>
          <a:bodyPr rtlCol="0" anchor="ctr"/>
          <a:lstStyle/>
          <a:p/>
        </p:txBody>
      </p:sp>
      <p:sp>
        <p:nvSpPr>
          <p:cNvPr id="23" name="Oval 22"/>
          <p:cNvSpPr/>
          <p:nvPr/>
        </p:nvSpPr>
        <p:spPr>
          <a:xfrm>
            <a:off x="10938473" y="3077962"/>
            <a:ext cx="54864" cy="54864"/>
          </a:xfrm>
          <a:prstGeom prst="ellipse">
            <a:avLst/>
          </a:prstGeom>
          <a:solidFill>
            <a:srgbClr val="C0AA6E"/>
          </a:solidFill>
          <a:ln>
            <a:noFill/>
          </a:ln>
        </p:spPr>
        <p:txBody>
          <a:bodyPr rtlCol="0" anchor="ctr"/>
          <a:lstStyle/>
          <a:p/>
        </p:txBody>
      </p:sp>
      <p:sp>
        <p:nvSpPr>
          <p:cNvPr id="24" name="Oval 23"/>
          <p:cNvSpPr/>
          <p:nvPr/>
        </p:nvSpPr>
        <p:spPr>
          <a:xfrm>
            <a:off x="2271572" y="2538643"/>
            <a:ext cx="54864" cy="54864"/>
          </a:xfrm>
          <a:prstGeom prst="ellipse">
            <a:avLst/>
          </a:prstGeom>
          <a:solidFill>
            <a:srgbClr val="B8A36A"/>
          </a:solidFill>
          <a:ln>
            <a:noFill/>
          </a:ln>
        </p:spPr>
        <p:txBody>
          <a:bodyPr rtlCol="0" anchor="ctr"/>
          <a:lstStyle/>
          <a:p/>
        </p:txBody>
      </p:sp>
      <p:sp>
        <p:nvSpPr>
          <p:cNvPr id="25" name="Oval 24"/>
          <p:cNvSpPr/>
          <p:nvPr/>
        </p:nvSpPr>
        <p:spPr>
          <a:xfrm>
            <a:off x="11591654" y="1618439"/>
            <a:ext cx="73152" cy="73152"/>
          </a:xfrm>
          <a:prstGeom prst="ellipse">
            <a:avLst/>
          </a:prstGeom>
          <a:solidFill>
            <a:srgbClr val="78642E"/>
          </a:solidFill>
          <a:ln>
            <a:noFill/>
          </a:ln>
        </p:spPr>
        <p:txBody>
          <a:bodyPr rtlCol="0" anchor="ctr"/>
          <a:lstStyle/>
          <a:p/>
        </p:txBody>
      </p:sp>
      <p:sp>
        <p:nvSpPr>
          <p:cNvPr id="26" name="Oval 25"/>
          <p:cNvSpPr/>
          <p:nvPr/>
        </p:nvSpPr>
        <p:spPr>
          <a:xfrm>
            <a:off x="8163286" y="2544011"/>
            <a:ext cx="54864" cy="54864"/>
          </a:xfrm>
          <a:prstGeom prst="ellipse">
            <a:avLst/>
          </a:prstGeom>
          <a:solidFill>
            <a:srgbClr val="AC9863"/>
          </a:solidFill>
          <a:ln>
            <a:noFill/>
          </a:ln>
        </p:spPr>
        <p:txBody>
          <a:bodyPr rtlCol="0" anchor="ctr"/>
          <a:lstStyle/>
          <a:p/>
        </p:txBody>
      </p:sp>
      <p:sp>
        <p:nvSpPr>
          <p:cNvPr id="27" name="Oval 26"/>
          <p:cNvSpPr/>
          <p:nvPr/>
        </p:nvSpPr>
        <p:spPr>
          <a:xfrm>
            <a:off x="7328753" y="5546219"/>
            <a:ext cx="27432" cy="27432"/>
          </a:xfrm>
          <a:prstGeom prst="ellipse">
            <a:avLst/>
          </a:prstGeom>
          <a:solidFill>
            <a:srgbClr val="4B412B"/>
          </a:solidFill>
          <a:ln>
            <a:noFill/>
          </a:ln>
        </p:spPr>
        <p:txBody>
          <a:bodyPr rtlCol="0" anchor="ctr"/>
          <a:lstStyle/>
          <a:p/>
        </p:txBody>
      </p:sp>
      <p:sp>
        <p:nvSpPr>
          <p:cNvPr id="28" name="Oval 27"/>
          <p:cNvSpPr/>
          <p:nvPr/>
        </p:nvSpPr>
        <p:spPr>
          <a:xfrm>
            <a:off x="8633456" y="4376551"/>
            <a:ext cx="73152" cy="73152"/>
          </a:xfrm>
          <a:prstGeom prst="ellipse">
            <a:avLst/>
          </a:prstGeom>
          <a:solidFill>
            <a:srgbClr val="714A1E"/>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404207" y="658368"/>
            <a:ext cx="3383280" cy="329184"/>
          </a:xfrm>
          <a:prstGeom prst="rect">
            <a:avLst/>
          </a:prstGeom>
          <a:noFill/>
        </p:spPr>
        <p:txBody>
          <a:bodyPr wrap="square" lIns="0" rIns="0" tIns="0" bIns="0" anchor="ctr">
            <a:spAutoFit/>
          </a:bodyPr>
          <a:lstStyle/>
          <a:p>
            <a:pPr algn="ctr"/>
            <a:r>
              <a:rPr sz="1300" b="1" i="0" spc="400">
                <a:solidFill>
                  <a:srgbClr val="C9A84C"/>
                </a:solidFill>
                <a:latin typeface="Montserrat"/>
              </a:rPr>
              <a:t>LEVEL 4 · THE ENGINE</a:t>
            </a:r>
          </a:p>
        </p:txBody>
      </p:sp>
      <p:cxnSp>
        <p:nvCxnSpPr>
          <p:cNvPr id="50" name="Connector 49"/>
          <p:cNvCxnSpPr/>
          <p:nvPr/>
        </p:nvCxnSpPr>
        <p:spPr>
          <a:xfrm>
            <a:off x="303260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982315"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92464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108795"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051560"/>
            <a:ext cx="10362895" cy="914400"/>
          </a:xfrm>
          <a:prstGeom prst="rect">
            <a:avLst/>
          </a:prstGeom>
          <a:noFill/>
        </p:spPr>
        <p:txBody>
          <a:bodyPr wrap="square" lIns="0" rIns="0" tIns="0" bIns="0" anchor="ctr">
            <a:spAutoFit/>
          </a:bodyPr>
          <a:lstStyle/>
          <a:p>
            <a:pPr algn="ctr">
              <a:lnSpc>
                <a:spcPct val="105000"/>
              </a:lnSpc>
            </a:pPr>
            <a:r>
              <a:rPr sz="4400" b="1" i="0">
                <a:solidFill>
                  <a:srgbClr val="F0D58A"/>
                </a:solidFill>
                <a:latin typeface="Cinzel"/>
              </a:rPr>
              <a:t>The Engine</a:t>
            </a:r>
          </a:p>
        </p:txBody>
      </p:sp>
      <p:sp>
        <p:nvSpPr>
          <p:cNvPr id="55" name="Rounded Rectangle 54"/>
          <p:cNvSpPr/>
          <p:nvPr/>
        </p:nvSpPr>
        <p:spPr>
          <a:xfrm>
            <a:off x="914400" y="2240280"/>
            <a:ext cx="4846320" cy="3200400"/>
          </a:xfrm>
          <a:prstGeom prst="roundRect">
            <a:avLst>
              <a:gd name="adj" fmla="val 6000"/>
            </a:avLst>
          </a:prstGeom>
          <a:solidFill>
            <a:srgbClr val="100D07"/>
          </a:solidFill>
          <a:ln w="15875">
            <a:solidFill>
              <a:srgbClr val="877034"/>
            </a:solidFill>
          </a:ln>
        </p:spPr>
        <p:txBody>
          <a:bodyPr rtlCol="0" anchor="ctr"/>
          <a:lstStyle/>
          <a:p/>
        </p:txBody>
      </p:sp>
      <p:sp>
        <p:nvSpPr>
          <p:cNvPr id="56" name="TextBox 55"/>
          <p:cNvSpPr txBox="1"/>
          <p:nvPr/>
        </p:nvSpPr>
        <p:spPr>
          <a:xfrm>
            <a:off x="1234440" y="2468880"/>
            <a:ext cx="4206240" cy="2743200"/>
          </a:xfrm>
          <a:prstGeom prst="rect">
            <a:avLst/>
          </a:prstGeom>
          <a:noFill/>
        </p:spPr>
        <p:txBody>
          <a:bodyPr wrap="square" lIns="0" rIns="0" tIns="0" bIns="0" anchor="ctr">
            <a:spAutoFit/>
          </a:bodyPr>
          <a:lstStyle/>
          <a:p>
            <a:pPr algn="l">
              <a:lnSpc>
                <a:spcPct val="120000"/>
              </a:lnSpc>
            </a:pPr>
            <a:r>
              <a:rPr sz="2200" b="0" i="0">
                <a:solidFill>
                  <a:srgbClr val="EFE3C6"/>
                </a:solidFill>
                <a:latin typeface="Montserrat"/>
              </a:rPr>
              <a:t>A properly designed, overfunded permanent life insurance policy can build cash value you can borrow against — and it carries a death benefit for your family.</a:t>
            </a:r>
          </a:p>
        </p:txBody>
      </p:sp>
      <p:sp>
        <p:nvSpPr>
          <p:cNvPr id="57" name="Rounded Rectangle 56"/>
          <p:cNvSpPr/>
          <p:nvPr/>
        </p:nvSpPr>
        <p:spPr>
          <a:xfrm>
            <a:off x="6080760" y="2240280"/>
            <a:ext cx="5166360" cy="3200400"/>
          </a:xfrm>
          <a:prstGeom prst="roundRect">
            <a:avLst>
              <a:gd name="adj" fmla="val 6000"/>
            </a:avLst>
          </a:prstGeom>
          <a:solidFill>
            <a:srgbClr val="100D07"/>
          </a:solidFill>
          <a:ln w="15875">
            <a:solidFill>
              <a:srgbClr val="D9C17D"/>
            </a:solidFill>
          </a:ln>
        </p:spPr>
        <p:txBody>
          <a:bodyPr rtlCol="0" anchor="ctr"/>
          <a:lstStyle/>
          <a:p/>
        </p:txBody>
      </p:sp>
      <p:sp>
        <p:nvSpPr>
          <p:cNvPr id="58" name="TextBox 57"/>
          <p:cNvSpPr txBox="1"/>
          <p:nvPr/>
        </p:nvSpPr>
        <p:spPr>
          <a:xfrm>
            <a:off x="6355080" y="2377440"/>
            <a:ext cx="4572000" cy="457200"/>
          </a:xfrm>
          <a:prstGeom prst="rect">
            <a:avLst/>
          </a:prstGeom>
          <a:noFill/>
        </p:spPr>
        <p:txBody>
          <a:bodyPr wrap="square" lIns="0" rIns="0" tIns="0" bIns="0" anchor="t">
            <a:spAutoFit/>
          </a:bodyPr>
          <a:lstStyle/>
          <a:p>
            <a:pPr algn="l"/>
            <a:r>
              <a:rPr sz="1400" b="1" i="0" spc="400">
                <a:solidFill>
                  <a:srgbClr val="F0D58A"/>
                </a:solidFill>
                <a:latin typeface="Montserrat"/>
              </a:rPr>
              <a:t>THE TRUTH</a:t>
            </a:r>
          </a:p>
        </p:txBody>
      </p:sp>
      <p:sp>
        <p:nvSpPr>
          <p:cNvPr id="59" name="Diamond 58"/>
          <p:cNvSpPr/>
          <p:nvPr/>
        </p:nvSpPr>
        <p:spPr>
          <a:xfrm>
            <a:off x="6400800" y="2981706"/>
            <a:ext cx="137160" cy="137160"/>
          </a:xfrm>
          <a:prstGeom prst="diamond">
            <a:avLst/>
          </a:prstGeom>
          <a:solidFill>
            <a:srgbClr val="F0D58A"/>
          </a:solidFill>
          <a:ln>
            <a:noFill/>
          </a:ln>
        </p:spPr>
        <p:txBody>
          <a:bodyPr rtlCol="0" anchor="ctr"/>
          <a:lstStyle/>
          <a:p/>
        </p:txBody>
      </p:sp>
      <p:sp>
        <p:nvSpPr>
          <p:cNvPr id="60" name="TextBox 59"/>
          <p:cNvSpPr txBox="1"/>
          <p:nvPr/>
        </p:nvSpPr>
        <p:spPr>
          <a:xfrm>
            <a:off x="6720840" y="2880360"/>
            <a:ext cx="4343400" cy="490727"/>
          </a:xfrm>
          <a:prstGeom prst="rect">
            <a:avLst/>
          </a:prstGeom>
          <a:noFill/>
        </p:spPr>
        <p:txBody>
          <a:bodyPr wrap="square" lIns="0" rIns="0" tIns="0" bIns="0" anchor="t">
            <a:spAutoFit/>
          </a:bodyPr>
          <a:lstStyle/>
          <a:p>
            <a:pPr algn="l">
              <a:lnSpc>
                <a:spcPct val="120000"/>
              </a:lnSpc>
            </a:pPr>
            <a:r>
              <a:rPr sz="1900" b="0" i="0">
                <a:solidFill>
                  <a:srgbClr val="EFE3C6"/>
                </a:solidFill>
                <a:latin typeface="Montserrat"/>
              </a:rPr>
              <a:t>It has real costs inside it</a:t>
            </a:r>
          </a:p>
        </p:txBody>
      </p:sp>
      <p:sp>
        <p:nvSpPr>
          <p:cNvPr id="61" name="Diamond 60"/>
          <p:cNvSpPr/>
          <p:nvPr/>
        </p:nvSpPr>
        <p:spPr>
          <a:xfrm>
            <a:off x="6400800" y="3472434"/>
            <a:ext cx="137160" cy="137160"/>
          </a:xfrm>
          <a:prstGeom prst="diamond">
            <a:avLst/>
          </a:prstGeom>
          <a:solidFill>
            <a:srgbClr val="F0D58A"/>
          </a:solidFill>
          <a:ln>
            <a:noFill/>
          </a:ln>
        </p:spPr>
        <p:txBody>
          <a:bodyPr rtlCol="0" anchor="ctr"/>
          <a:lstStyle/>
          <a:p/>
        </p:txBody>
      </p:sp>
      <p:sp>
        <p:nvSpPr>
          <p:cNvPr id="62" name="TextBox 61"/>
          <p:cNvSpPr txBox="1"/>
          <p:nvPr/>
        </p:nvSpPr>
        <p:spPr>
          <a:xfrm>
            <a:off x="6720840" y="3371088"/>
            <a:ext cx="4343400" cy="490727"/>
          </a:xfrm>
          <a:prstGeom prst="rect">
            <a:avLst/>
          </a:prstGeom>
          <a:noFill/>
        </p:spPr>
        <p:txBody>
          <a:bodyPr wrap="square" lIns="0" rIns="0" tIns="0" bIns="0" anchor="t">
            <a:spAutoFit/>
          </a:bodyPr>
          <a:lstStyle/>
          <a:p>
            <a:pPr algn="l">
              <a:lnSpc>
                <a:spcPct val="120000"/>
              </a:lnSpc>
            </a:pPr>
            <a:r>
              <a:rPr sz="1900" b="0" i="0">
                <a:solidFill>
                  <a:srgbClr val="EFE3C6"/>
                </a:solidFill>
                <a:latin typeface="Montserrat"/>
              </a:rPr>
              <a:t>Loans accrue interest</a:t>
            </a:r>
          </a:p>
        </p:txBody>
      </p:sp>
      <p:sp>
        <p:nvSpPr>
          <p:cNvPr id="63" name="Diamond 62"/>
          <p:cNvSpPr/>
          <p:nvPr/>
        </p:nvSpPr>
        <p:spPr>
          <a:xfrm>
            <a:off x="6400800" y="3963161"/>
            <a:ext cx="137160" cy="137160"/>
          </a:xfrm>
          <a:prstGeom prst="diamond">
            <a:avLst/>
          </a:prstGeom>
          <a:solidFill>
            <a:srgbClr val="F0D58A"/>
          </a:solidFill>
          <a:ln>
            <a:noFill/>
          </a:ln>
        </p:spPr>
        <p:txBody>
          <a:bodyPr rtlCol="0" anchor="ctr"/>
          <a:lstStyle/>
          <a:p/>
        </p:txBody>
      </p:sp>
      <p:sp>
        <p:nvSpPr>
          <p:cNvPr id="64" name="TextBox 63"/>
          <p:cNvSpPr txBox="1"/>
          <p:nvPr/>
        </p:nvSpPr>
        <p:spPr>
          <a:xfrm>
            <a:off x="6720840" y="3861815"/>
            <a:ext cx="4343400" cy="490727"/>
          </a:xfrm>
          <a:prstGeom prst="rect">
            <a:avLst/>
          </a:prstGeom>
          <a:noFill/>
        </p:spPr>
        <p:txBody>
          <a:bodyPr wrap="square" lIns="0" rIns="0" tIns="0" bIns="0" anchor="t">
            <a:spAutoFit/>
          </a:bodyPr>
          <a:lstStyle/>
          <a:p>
            <a:pPr algn="l">
              <a:lnSpc>
                <a:spcPct val="120000"/>
              </a:lnSpc>
            </a:pPr>
            <a:r>
              <a:rPr sz="1900" b="0" i="0">
                <a:solidFill>
                  <a:srgbClr val="EFE3C6"/>
                </a:solidFill>
                <a:latin typeface="Montserrat"/>
              </a:rPr>
              <a:t>Underfunding can lapse a policy</a:t>
            </a:r>
          </a:p>
        </p:txBody>
      </p:sp>
      <p:sp>
        <p:nvSpPr>
          <p:cNvPr id="65" name="Diamond 64"/>
          <p:cNvSpPr/>
          <p:nvPr/>
        </p:nvSpPr>
        <p:spPr>
          <a:xfrm>
            <a:off x="6400800" y="4453889"/>
            <a:ext cx="137160" cy="137160"/>
          </a:xfrm>
          <a:prstGeom prst="diamond">
            <a:avLst/>
          </a:prstGeom>
          <a:solidFill>
            <a:srgbClr val="F0D58A"/>
          </a:solidFill>
          <a:ln>
            <a:noFill/>
          </a:ln>
        </p:spPr>
        <p:txBody>
          <a:bodyPr rtlCol="0" anchor="ctr"/>
          <a:lstStyle/>
          <a:p/>
        </p:txBody>
      </p:sp>
      <p:sp>
        <p:nvSpPr>
          <p:cNvPr id="66" name="TextBox 65"/>
          <p:cNvSpPr txBox="1"/>
          <p:nvPr/>
        </p:nvSpPr>
        <p:spPr>
          <a:xfrm>
            <a:off x="6720840" y="4352544"/>
            <a:ext cx="4343400" cy="780288"/>
          </a:xfrm>
          <a:prstGeom prst="rect">
            <a:avLst/>
          </a:prstGeom>
          <a:noFill/>
        </p:spPr>
        <p:txBody>
          <a:bodyPr wrap="square" lIns="0" rIns="0" tIns="0" bIns="0" anchor="t">
            <a:spAutoFit/>
          </a:bodyPr>
          <a:lstStyle/>
          <a:p>
            <a:pPr algn="l">
              <a:lnSpc>
                <a:spcPct val="120000"/>
              </a:lnSpc>
            </a:pPr>
            <a:r>
              <a:rPr sz="1900" b="0" i="0">
                <a:solidFill>
                  <a:srgbClr val="EFE3C6"/>
                </a:solidFill>
                <a:latin typeface="Montserrat"/>
              </a:rPr>
              <a:t>Only for people who want the insurance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415541" y="4037813"/>
            <a:ext cx="73152" cy="73152"/>
          </a:xfrm>
          <a:prstGeom prst="ellipse">
            <a:avLst/>
          </a:prstGeom>
          <a:solidFill>
            <a:srgbClr val="927A38"/>
          </a:solidFill>
          <a:ln>
            <a:noFill/>
          </a:ln>
        </p:spPr>
        <p:txBody>
          <a:bodyPr rtlCol="0" anchor="ctr"/>
          <a:lstStyle/>
          <a:p/>
        </p:txBody>
      </p:sp>
      <p:sp>
        <p:nvSpPr>
          <p:cNvPr id="4" name="Oval 3"/>
          <p:cNvSpPr/>
          <p:nvPr/>
        </p:nvSpPr>
        <p:spPr>
          <a:xfrm>
            <a:off x="771930" y="6212649"/>
            <a:ext cx="73152" cy="73152"/>
          </a:xfrm>
          <a:prstGeom prst="ellipse">
            <a:avLst/>
          </a:prstGeom>
          <a:solidFill>
            <a:srgbClr val="835522"/>
          </a:solidFill>
          <a:ln>
            <a:noFill/>
          </a:ln>
        </p:spPr>
        <p:txBody>
          <a:bodyPr rtlCol="0" anchor="ctr"/>
          <a:lstStyle/>
          <a:p/>
        </p:txBody>
      </p:sp>
      <p:sp>
        <p:nvSpPr>
          <p:cNvPr id="5" name="Oval 4"/>
          <p:cNvSpPr/>
          <p:nvPr/>
        </p:nvSpPr>
        <p:spPr>
          <a:xfrm>
            <a:off x="11625476" y="3081125"/>
            <a:ext cx="27432" cy="27432"/>
          </a:xfrm>
          <a:prstGeom prst="ellipse">
            <a:avLst/>
          </a:prstGeom>
          <a:solidFill>
            <a:srgbClr val="B3742D"/>
          </a:solidFill>
          <a:ln>
            <a:noFill/>
          </a:ln>
        </p:spPr>
        <p:txBody>
          <a:bodyPr rtlCol="0" anchor="ctr"/>
          <a:lstStyle/>
          <a:p/>
        </p:txBody>
      </p:sp>
      <p:sp>
        <p:nvSpPr>
          <p:cNvPr id="6" name="Oval 5"/>
          <p:cNvSpPr/>
          <p:nvPr/>
        </p:nvSpPr>
        <p:spPr>
          <a:xfrm>
            <a:off x="5452673" y="6069334"/>
            <a:ext cx="54864" cy="54864"/>
          </a:xfrm>
          <a:prstGeom prst="ellipse">
            <a:avLst/>
          </a:prstGeom>
          <a:solidFill>
            <a:srgbClr val="50462E"/>
          </a:solidFill>
          <a:ln>
            <a:noFill/>
          </a:ln>
        </p:spPr>
        <p:txBody>
          <a:bodyPr rtlCol="0" anchor="ctr"/>
          <a:lstStyle/>
          <a:p/>
        </p:txBody>
      </p:sp>
      <p:sp>
        <p:nvSpPr>
          <p:cNvPr id="7" name="Oval 6"/>
          <p:cNvSpPr/>
          <p:nvPr/>
        </p:nvSpPr>
        <p:spPr>
          <a:xfrm>
            <a:off x="6596301" y="5891540"/>
            <a:ext cx="27432" cy="27432"/>
          </a:xfrm>
          <a:prstGeom prst="ellipse">
            <a:avLst/>
          </a:prstGeom>
          <a:solidFill>
            <a:srgbClr val="856E33"/>
          </a:solidFill>
          <a:ln>
            <a:noFill/>
          </a:ln>
        </p:spPr>
        <p:txBody>
          <a:bodyPr rtlCol="0" anchor="ctr"/>
          <a:lstStyle/>
          <a:p/>
        </p:txBody>
      </p:sp>
      <p:sp>
        <p:nvSpPr>
          <p:cNvPr id="8" name="Oval 7"/>
          <p:cNvSpPr/>
          <p:nvPr/>
        </p:nvSpPr>
        <p:spPr>
          <a:xfrm>
            <a:off x="6813533" y="4164856"/>
            <a:ext cx="73152" cy="73152"/>
          </a:xfrm>
          <a:prstGeom prst="ellipse">
            <a:avLst/>
          </a:prstGeom>
          <a:solidFill>
            <a:srgbClr val="A0863D"/>
          </a:solidFill>
          <a:ln>
            <a:noFill/>
          </a:ln>
        </p:spPr>
        <p:txBody>
          <a:bodyPr rtlCol="0" anchor="ctr"/>
          <a:lstStyle/>
          <a:p/>
        </p:txBody>
      </p:sp>
      <p:sp>
        <p:nvSpPr>
          <p:cNvPr id="9" name="Oval 8"/>
          <p:cNvSpPr/>
          <p:nvPr/>
        </p:nvSpPr>
        <p:spPr>
          <a:xfrm>
            <a:off x="7464185" y="3368447"/>
            <a:ext cx="73152" cy="73152"/>
          </a:xfrm>
          <a:prstGeom prst="ellipse">
            <a:avLst/>
          </a:prstGeom>
          <a:solidFill>
            <a:srgbClr val="463D28"/>
          </a:solidFill>
          <a:ln>
            <a:noFill/>
          </a:ln>
        </p:spPr>
        <p:txBody>
          <a:bodyPr rtlCol="0" anchor="ctr"/>
          <a:lstStyle/>
          <a:p/>
        </p:txBody>
      </p:sp>
      <p:sp>
        <p:nvSpPr>
          <p:cNvPr id="10" name="Oval 9"/>
          <p:cNvSpPr/>
          <p:nvPr/>
        </p:nvSpPr>
        <p:spPr>
          <a:xfrm>
            <a:off x="10797076" y="773555"/>
            <a:ext cx="73152" cy="73152"/>
          </a:xfrm>
          <a:prstGeom prst="ellipse">
            <a:avLst/>
          </a:prstGeom>
          <a:solidFill>
            <a:srgbClr val="534420"/>
          </a:solidFill>
          <a:ln>
            <a:noFill/>
          </a:ln>
        </p:spPr>
        <p:txBody>
          <a:bodyPr rtlCol="0" anchor="ctr"/>
          <a:lstStyle/>
          <a:p/>
        </p:txBody>
      </p:sp>
      <p:sp>
        <p:nvSpPr>
          <p:cNvPr id="11" name="Oval 10"/>
          <p:cNvSpPr/>
          <p:nvPr/>
        </p:nvSpPr>
        <p:spPr>
          <a:xfrm>
            <a:off x="4398286" y="1312491"/>
            <a:ext cx="45720" cy="45720"/>
          </a:xfrm>
          <a:prstGeom prst="ellipse">
            <a:avLst/>
          </a:prstGeom>
          <a:solidFill>
            <a:srgbClr val="A08E5C"/>
          </a:solidFill>
          <a:ln>
            <a:noFill/>
          </a:ln>
        </p:spPr>
        <p:txBody>
          <a:bodyPr rtlCol="0" anchor="ctr"/>
          <a:lstStyle/>
          <a:p/>
        </p:txBody>
      </p:sp>
      <p:sp>
        <p:nvSpPr>
          <p:cNvPr id="12" name="Oval 11"/>
          <p:cNvSpPr/>
          <p:nvPr/>
        </p:nvSpPr>
        <p:spPr>
          <a:xfrm>
            <a:off x="8798687" y="2217574"/>
            <a:ext cx="36576" cy="36576"/>
          </a:xfrm>
          <a:prstGeom prst="ellipse">
            <a:avLst/>
          </a:prstGeom>
          <a:solidFill>
            <a:srgbClr val="85754C"/>
          </a:solidFill>
          <a:ln>
            <a:noFill/>
          </a:ln>
        </p:spPr>
        <p:txBody>
          <a:bodyPr rtlCol="0" anchor="ctr"/>
          <a:lstStyle/>
          <a:p/>
        </p:txBody>
      </p:sp>
      <p:sp>
        <p:nvSpPr>
          <p:cNvPr id="13" name="Oval 12"/>
          <p:cNvSpPr/>
          <p:nvPr/>
        </p:nvSpPr>
        <p:spPr>
          <a:xfrm>
            <a:off x="7527524" y="2046658"/>
            <a:ext cx="45720" cy="45720"/>
          </a:xfrm>
          <a:prstGeom prst="ellipse">
            <a:avLst/>
          </a:prstGeom>
          <a:solidFill>
            <a:srgbClr val="50431F"/>
          </a:solidFill>
          <a:ln>
            <a:noFill/>
          </a:ln>
        </p:spPr>
        <p:txBody>
          <a:bodyPr rtlCol="0" anchor="ctr"/>
          <a:lstStyle/>
          <a:p/>
        </p:txBody>
      </p:sp>
      <p:sp>
        <p:nvSpPr>
          <p:cNvPr id="14" name="Oval 13"/>
          <p:cNvSpPr/>
          <p:nvPr/>
        </p:nvSpPr>
        <p:spPr>
          <a:xfrm>
            <a:off x="2807150" y="4037745"/>
            <a:ext cx="36576" cy="36576"/>
          </a:xfrm>
          <a:prstGeom prst="ellipse">
            <a:avLst/>
          </a:prstGeom>
          <a:solidFill>
            <a:srgbClr val="7C6D47"/>
          </a:solidFill>
          <a:ln>
            <a:noFill/>
          </a:ln>
        </p:spPr>
        <p:txBody>
          <a:bodyPr rtlCol="0" anchor="ctr"/>
          <a:lstStyle/>
          <a:p/>
        </p:txBody>
      </p:sp>
      <p:sp>
        <p:nvSpPr>
          <p:cNvPr id="15" name="Oval 14"/>
          <p:cNvSpPr/>
          <p:nvPr/>
        </p:nvSpPr>
        <p:spPr>
          <a:xfrm>
            <a:off x="6746399" y="380845"/>
            <a:ext cx="27432" cy="27432"/>
          </a:xfrm>
          <a:prstGeom prst="ellipse">
            <a:avLst/>
          </a:prstGeom>
          <a:solidFill>
            <a:srgbClr val="544621"/>
          </a:solidFill>
          <a:ln>
            <a:noFill/>
          </a:ln>
        </p:spPr>
        <p:txBody>
          <a:bodyPr rtlCol="0" anchor="ctr"/>
          <a:lstStyle/>
          <a:p/>
        </p:txBody>
      </p:sp>
      <p:sp>
        <p:nvSpPr>
          <p:cNvPr id="16" name="Oval 15"/>
          <p:cNvSpPr/>
          <p:nvPr/>
        </p:nvSpPr>
        <p:spPr>
          <a:xfrm>
            <a:off x="7811944" y="2393299"/>
            <a:ext cx="54864" cy="54864"/>
          </a:xfrm>
          <a:prstGeom prst="ellipse">
            <a:avLst/>
          </a:prstGeom>
          <a:solidFill>
            <a:srgbClr val="51472E"/>
          </a:solidFill>
          <a:ln>
            <a:noFill/>
          </a:ln>
        </p:spPr>
        <p:txBody>
          <a:bodyPr rtlCol="0" anchor="ctr"/>
          <a:lstStyle/>
          <a:p/>
        </p:txBody>
      </p:sp>
      <p:sp>
        <p:nvSpPr>
          <p:cNvPr id="17" name="Oval 16"/>
          <p:cNvSpPr/>
          <p:nvPr/>
        </p:nvSpPr>
        <p:spPr>
          <a:xfrm>
            <a:off x="1101184" y="1294682"/>
            <a:ext cx="36576" cy="36576"/>
          </a:xfrm>
          <a:prstGeom prst="ellipse">
            <a:avLst/>
          </a:prstGeom>
          <a:solidFill>
            <a:srgbClr val="806A31"/>
          </a:solidFill>
          <a:ln>
            <a:noFill/>
          </a:ln>
        </p:spPr>
        <p:txBody>
          <a:bodyPr rtlCol="0" anchor="ctr"/>
          <a:lstStyle/>
          <a:p/>
        </p:txBody>
      </p:sp>
      <p:sp>
        <p:nvSpPr>
          <p:cNvPr id="18" name="Oval 17"/>
          <p:cNvSpPr/>
          <p:nvPr/>
        </p:nvSpPr>
        <p:spPr>
          <a:xfrm>
            <a:off x="3672437" y="520437"/>
            <a:ext cx="73152" cy="73152"/>
          </a:xfrm>
          <a:prstGeom prst="ellipse">
            <a:avLst/>
          </a:prstGeom>
          <a:solidFill>
            <a:srgbClr val="89794E"/>
          </a:solidFill>
          <a:ln>
            <a:noFill/>
          </a:ln>
        </p:spPr>
        <p:txBody>
          <a:bodyPr rtlCol="0" anchor="ctr"/>
          <a:lstStyle/>
          <a:p/>
        </p:txBody>
      </p:sp>
      <p:sp>
        <p:nvSpPr>
          <p:cNvPr id="19" name="Oval 18"/>
          <p:cNvSpPr/>
          <p:nvPr/>
        </p:nvSpPr>
        <p:spPr>
          <a:xfrm>
            <a:off x="1927168" y="1031175"/>
            <a:ext cx="45720" cy="45720"/>
          </a:xfrm>
          <a:prstGeom prst="ellipse">
            <a:avLst/>
          </a:prstGeom>
          <a:solidFill>
            <a:srgbClr val="7B6C46"/>
          </a:solidFill>
          <a:ln>
            <a:noFill/>
          </a:ln>
        </p:spPr>
        <p:txBody>
          <a:bodyPr rtlCol="0" anchor="ctr"/>
          <a:lstStyle/>
          <a:p/>
        </p:txBody>
      </p:sp>
      <p:sp>
        <p:nvSpPr>
          <p:cNvPr id="20" name="Oval 19"/>
          <p:cNvSpPr/>
          <p:nvPr/>
        </p:nvSpPr>
        <p:spPr>
          <a:xfrm>
            <a:off x="6561224" y="4438704"/>
            <a:ext cx="73152" cy="73152"/>
          </a:xfrm>
          <a:prstGeom prst="ellipse">
            <a:avLst/>
          </a:prstGeom>
          <a:solidFill>
            <a:srgbClr val="65421B"/>
          </a:solidFill>
          <a:ln>
            <a:noFill/>
          </a:ln>
        </p:spPr>
        <p:txBody>
          <a:bodyPr rtlCol="0" anchor="ctr"/>
          <a:lstStyle/>
          <a:p/>
        </p:txBody>
      </p:sp>
      <p:sp>
        <p:nvSpPr>
          <p:cNvPr id="21" name="Oval 20"/>
          <p:cNvSpPr/>
          <p:nvPr/>
        </p:nvSpPr>
        <p:spPr>
          <a:xfrm>
            <a:off x="9952092" y="1698452"/>
            <a:ext cx="73152" cy="73152"/>
          </a:xfrm>
          <a:prstGeom prst="ellipse">
            <a:avLst/>
          </a:prstGeom>
          <a:solidFill>
            <a:srgbClr val="776944"/>
          </a:solidFill>
          <a:ln>
            <a:noFill/>
          </a:ln>
        </p:spPr>
        <p:txBody>
          <a:bodyPr rtlCol="0" anchor="ctr"/>
          <a:lstStyle/>
          <a:p/>
        </p:txBody>
      </p:sp>
      <p:sp>
        <p:nvSpPr>
          <p:cNvPr id="22" name="Oval 21"/>
          <p:cNvSpPr/>
          <p:nvPr/>
        </p:nvSpPr>
        <p:spPr>
          <a:xfrm>
            <a:off x="1138915" y="907185"/>
            <a:ext cx="45720" cy="45720"/>
          </a:xfrm>
          <a:prstGeom prst="ellipse">
            <a:avLst/>
          </a:prstGeom>
          <a:solidFill>
            <a:srgbClr val="493014"/>
          </a:solidFill>
          <a:ln>
            <a:noFill/>
          </a:ln>
        </p:spPr>
        <p:txBody>
          <a:bodyPr rtlCol="0" anchor="ctr"/>
          <a:lstStyle/>
          <a:p/>
        </p:txBody>
      </p:sp>
      <p:sp>
        <p:nvSpPr>
          <p:cNvPr id="23" name="Oval 22"/>
          <p:cNvSpPr/>
          <p:nvPr/>
        </p:nvSpPr>
        <p:spPr>
          <a:xfrm>
            <a:off x="8440094" y="5700058"/>
            <a:ext cx="36576" cy="36576"/>
          </a:xfrm>
          <a:prstGeom prst="ellipse">
            <a:avLst/>
          </a:prstGeom>
          <a:solidFill>
            <a:srgbClr val="6F5C2B"/>
          </a:solidFill>
          <a:ln>
            <a:noFill/>
          </a:ln>
        </p:spPr>
        <p:txBody>
          <a:bodyPr rtlCol="0" anchor="ctr"/>
          <a:lstStyle/>
          <a:p/>
        </p:txBody>
      </p:sp>
      <p:sp>
        <p:nvSpPr>
          <p:cNvPr id="24" name="Oval 23"/>
          <p:cNvSpPr/>
          <p:nvPr/>
        </p:nvSpPr>
        <p:spPr>
          <a:xfrm>
            <a:off x="3571700" y="3922453"/>
            <a:ext cx="73152" cy="73152"/>
          </a:xfrm>
          <a:prstGeom prst="ellipse">
            <a:avLst/>
          </a:prstGeom>
          <a:solidFill>
            <a:srgbClr val="816C31"/>
          </a:solidFill>
          <a:ln>
            <a:noFill/>
          </a:ln>
        </p:spPr>
        <p:txBody>
          <a:bodyPr rtlCol="0" anchor="ctr"/>
          <a:lstStyle/>
          <a:p/>
        </p:txBody>
      </p:sp>
      <p:sp>
        <p:nvSpPr>
          <p:cNvPr id="25" name="Oval 24"/>
          <p:cNvSpPr/>
          <p:nvPr/>
        </p:nvSpPr>
        <p:spPr>
          <a:xfrm>
            <a:off x="8612552" y="5384744"/>
            <a:ext cx="36576" cy="36576"/>
          </a:xfrm>
          <a:prstGeom prst="ellipse">
            <a:avLst/>
          </a:prstGeom>
          <a:solidFill>
            <a:srgbClr val="3C3118"/>
          </a:solidFill>
          <a:ln>
            <a:noFill/>
          </a:ln>
        </p:spPr>
        <p:txBody>
          <a:bodyPr rtlCol="0" anchor="ctr"/>
          <a:lstStyle/>
          <a:p/>
        </p:txBody>
      </p:sp>
      <p:sp>
        <p:nvSpPr>
          <p:cNvPr id="26" name="Oval 25"/>
          <p:cNvSpPr/>
          <p:nvPr/>
        </p:nvSpPr>
        <p:spPr>
          <a:xfrm>
            <a:off x="7008021" y="5556888"/>
            <a:ext cx="45720" cy="45720"/>
          </a:xfrm>
          <a:prstGeom prst="ellipse">
            <a:avLst/>
          </a:prstGeom>
          <a:solidFill>
            <a:srgbClr val="8B5A24"/>
          </a:solidFill>
          <a:ln>
            <a:noFill/>
          </a:ln>
        </p:spPr>
        <p:txBody>
          <a:bodyPr rtlCol="0" anchor="ctr"/>
          <a:lstStyle/>
          <a:p/>
        </p:txBody>
      </p:sp>
      <p:sp>
        <p:nvSpPr>
          <p:cNvPr id="27" name="Oval 26"/>
          <p:cNvSpPr/>
          <p:nvPr/>
        </p:nvSpPr>
        <p:spPr>
          <a:xfrm>
            <a:off x="2884260" y="6256668"/>
            <a:ext cx="54864" cy="54864"/>
          </a:xfrm>
          <a:prstGeom prst="ellipse">
            <a:avLst/>
          </a:prstGeom>
          <a:solidFill>
            <a:srgbClr val="605025"/>
          </a:solidFill>
          <a:ln>
            <a:noFill/>
          </a:ln>
        </p:spPr>
        <p:txBody>
          <a:bodyPr rtlCol="0" anchor="ctr"/>
          <a:lstStyle/>
          <a:p/>
        </p:txBody>
      </p:sp>
      <p:sp>
        <p:nvSpPr>
          <p:cNvPr id="28" name="Oval 27"/>
          <p:cNvSpPr/>
          <p:nvPr/>
        </p:nvSpPr>
        <p:spPr>
          <a:xfrm>
            <a:off x="10332588" y="5478128"/>
            <a:ext cx="36576" cy="36576"/>
          </a:xfrm>
          <a:prstGeom prst="ellipse">
            <a:avLst/>
          </a:prstGeom>
          <a:solidFill>
            <a:srgbClr val="B09B65"/>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545939" y="726567"/>
            <a:ext cx="3099816" cy="329184"/>
          </a:xfrm>
          <a:prstGeom prst="rect">
            <a:avLst/>
          </a:prstGeom>
          <a:noFill/>
        </p:spPr>
        <p:txBody>
          <a:bodyPr wrap="square" lIns="0" rIns="0" tIns="0" bIns="0" anchor="ctr">
            <a:spAutoFit/>
          </a:bodyPr>
          <a:lstStyle/>
          <a:p>
            <a:pPr algn="ctr"/>
            <a:r>
              <a:rPr sz="1300" b="1" i="0" spc="400">
                <a:solidFill>
                  <a:srgbClr val="C9A84C"/>
                </a:solidFill>
                <a:latin typeface="Montserrat"/>
              </a:rPr>
              <a:t>CHOOSE YOUR ENGINE</a:t>
            </a:r>
          </a:p>
        </p:txBody>
      </p:sp>
      <p:cxnSp>
        <p:nvCxnSpPr>
          <p:cNvPr id="50" name="Connector 49"/>
          <p:cNvCxnSpPr/>
          <p:nvPr/>
        </p:nvCxnSpPr>
        <p:spPr>
          <a:xfrm>
            <a:off x="3174339" y="8911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124047" y="8408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782915" y="8911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967063" y="8408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119759"/>
            <a:ext cx="10362895" cy="998220"/>
          </a:xfrm>
          <a:prstGeom prst="rect">
            <a:avLst/>
          </a:prstGeom>
          <a:noFill/>
        </p:spPr>
        <p:txBody>
          <a:bodyPr wrap="square" lIns="0" rIns="0" tIns="0" bIns="0" anchor="ctr">
            <a:spAutoFit/>
          </a:bodyPr>
          <a:lstStyle/>
          <a:p>
            <a:pPr algn="ctr">
              <a:lnSpc>
                <a:spcPct val="105000"/>
              </a:lnSpc>
            </a:pPr>
            <a:r>
              <a:rPr sz="3400" b="1" i="0">
                <a:solidFill>
                  <a:srgbClr val="F0D58A"/>
                </a:solidFill>
                <a:latin typeface="Cinzel"/>
              </a:rPr>
              <a:t>Whole Life vs. Indexed Universal Life</a:t>
            </a:r>
          </a:p>
        </p:txBody>
      </p:sp>
      <p:sp>
        <p:nvSpPr>
          <p:cNvPr id="55" name="Rounded Rectangle 54"/>
          <p:cNvSpPr/>
          <p:nvPr/>
        </p:nvSpPr>
        <p:spPr>
          <a:xfrm>
            <a:off x="914400" y="2300859"/>
            <a:ext cx="5021427" cy="3074670"/>
          </a:xfrm>
          <a:prstGeom prst="roundRect">
            <a:avLst>
              <a:gd name="adj" fmla="val 6000"/>
            </a:avLst>
          </a:prstGeom>
          <a:solidFill>
            <a:srgbClr val="100D07"/>
          </a:solidFill>
          <a:ln w="15875">
            <a:solidFill>
              <a:srgbClr val="877034"/>
            </a:solidFill>
          </a:ln>
        </p:spPr>
        <p:txBody>
          <a:bodyPr rtlCol="0" anchor="ctr"/>
          <a:lstStyle/>
          <a:p/>
        </p:txBody>
      </p:sp>
      <p:sp>
        <p:nvSpPr>
          <p:cNvPr id="56" name="TextBox 55"/>
          <p:cNvSpPr txBox="1"/>
          <p:nvPr/>
        </p:nvSpPr>
        <p:spPr>
          <a:xfrm>
            <a:off x="1097280" y="2529459"/>
            <a:ext cx="4655667" cy="560070"/>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Whole Life · The Paladin</a:t>
            </a:r>
          </a:p>
        </p:txBody>
      </p:sp>
      <p:sp>
        <p:nvSpPr>
          <p:cNvPr id="57" name="TextBox 56"/>
          <p:cNvSpPr txBox="1"/>
          <p:nvPr/>
        </p:nvSpPr>
        <p:spPr>
          <a:xfrm>
            <a:off x="1143000" y="3272409"/>
            <a:ext cx="4564227" cy="1737360"/>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Guarantees</a:t>
            </a:r>
          </a:p>
          <a:p>
            <a:pPr algn="ctr">
              <a:lnSpc>
                <a:spcPct val="120000"/>
              </a:lnSpc>
              <a:spcAft>
                <a:spcPts val="600"/>
              </a:spcAft>
            </a:pPr>
            <a:r>
              <a:rPr sz="1800" b="0" i="0">
                <a:solidFill>
                  <a:srgbClr val="EFE3C6"/>
                </a:solidFill>
                <a:latin typeface="Montserrat"/>
              </a:rPr>
              <a:t>Fixed premium</a:t>
            </a:r>
          </a:p>
          <a:p>
            <a:pPr algn="ctr">
              <a:lnSpc>
                <a:spcPct val="120000"/>
              </a:lnSpc>
              <a:spcAft>
                <a:spcPts val="600"/>
              </a:spcAft>
            </a:pPr>
            <a:r>
              <a:rPr sz="1800" b="0" i="0">
                <a:solidFill>
                  <a:srgbClr val="EFE3C6"/>
                </a:solidFill>
                <a:latin typeface="Montserrat"/>
              </a:rPr>
              <a:t>Dividends with a long track record</a:t>
            </a:r>
          </a:p>
          <a:p>
            <a:pPr algn="ctr">
              <a:lnSpc>
                <a:spcPct val="120000"/>
              </a:lnSpc>
              <a:spcAft>
                <a:spcPts val="600"/>
              </a:spcAft>
            </a:pPr>
            <a:r>
              <a:rPr sz="1800" b="0" i="0">
                <a:solidFill>
                  <a:srgbClr val="EFE3C6"/>
                </a:solidFill>
                <a:latin typeface="Montserrat"/>
              </a:rPr>
              <a:t>Contractual growth floor</a:t>
            </a:r>
          </a:p>
          <a:p>
            <a:pPr algn="ctr">
              <a:lnSpc>
                <a:spcPct val="120000"/>
              </a:lnSpc>
              <a:spcAft>
                <a:spcPts val="600"/>
              </a:spcAft>
            </a:pPr>
            <a:r>
              <a:rPr sz="1800" b="0" i="0">
                <a:solidFill>
                  <a:srgbClr val="EFE3C6"/>
                </a:solidFill>
                <a:latin typeface="Montserrat"/>
              </a:rPr>
              <a:t>An engine that never surprises you.</a:t>
            </a:r>
          </a:p>
        </p:txBody>
      </p:sp>
      <p:sp>
        <p:nvSpPr>
          <p:cNvPr id="58" name="Rounded Rectangle 57"/>
          <p:cNvSpPr/>
          <p:nvPr/>
        </p:nvSpPr>
        <p:spPr>
          <a:xfrm>
            <a:off x="6255867" y="2300859"/>
            <a:ext cx="5021427" cy="3074670"/>
          </a:xfrm>
          <a:prstGeom prst="roundRect">
            <a:avLst>
              <a:gd name="adj" fmla="val 6000"/>
            </a:avLst>
          </a:prstGeom>
          <a:solidFill>
            <a:srgbClr val="100D07"/>
          </a:solidFill>
          <a:ln w="15875">
            <a:solidFill>
              <a:srgbClr val="877034"/>
            </a:solidFill>
          </a:ln>
        </p:spPr>
        <p:txBody>
          <a:bodyPr rtlCol="0" anchor="ctr"/>
          <a:lstStyle/>
          <a:p/>
        </p:txBody>
      </p:sp>
      <p:sp>
        <p:nvSpPr>
          <p:cNvPr id="59" name="TextBox 58"/>
          <p:cNvSpPr txBox="1"/>
          <p:nvPr/>
        </p:nvSpPr>
        <p:spPr>
          <a:xfrm>
            <a:off x="6438747" y="2529459"/>
            <a:ext cx="4655667" cy="560070"/>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IUL · The Rogue</a:t>
            </a:r>
          </a:p>
        </p:txBody>
      </p:sp>
      <p:sp>
        <p:nvSpPr>
          <p:cNvPr id="60" name="TextBox 59"/>
          <p:cNvSpPr txBox="1"/>
          <p:nvPr/>
        </p:nvSpPr>
        <p:spPr>
          <a:xfrm>
            <a:off x="6484467" y="3272409"/>
            <a:ext cx="4564227" cy="1737360"/>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Market-linked upside</a:t>
            </a:r>
          </a:p>
          <a:p>
            <a:pPr algn="ctr">
              <a:lnSpc>
                <a:spcPct val="120000"/>
              </a:lnSpc>
              <a:spcAft>
                <a:spcPts val="600"/>
              </a:spcAft>
            </a:pPr>
            <a:r>
              <a:rPr sz="1800" b="0" i="0">
                <a:solidFill>
                  <a:srgbClr val="EFE3C6"/>
                </a:solidFill>
                <a:latin typeface="Montserrat"/>
              </a:rPr>
              <a:t>Capped gains</a:t>
            </a:r>
          </a:p>
          <a:p>
            <a:pPr algn="ctr">
              <a:lnSpc>
                <a:spcPct val="120000"/>
              </a:lnSpc>
              <a:spcAft>
                <a:spcPts val="600"/>
              </a:spcAft>
            </a:pPr>
            <a:r>
              <a:rPr sz="1800" b="0" i="0">
                <a:solidFill>
                  <a:srgbClr val="EFE3C6"/>
                </a:solidFill>
                <a:latin typeface="Montserrat"/>
              </a:rPr>
              <a:t>Floor under index losses</a:t>
            </a:r>
          </a:p>
          <a:p>
            <a:pPr algn="ctr">
              <a:lnSpc>
                <a:spcPct val="120000"/>
              </a:lnSpc>
              <a:spcAft>
                <a:spcPts val="600"/>
              </a:spcAft>
            </a:pPr>
            <a:r>
              <a:rPr sz="1800" b="0" i="0">
                <a:solidFill>
                  <a:srgbClr val="EFE3C6"/>
                </a:solidFill>
                <a:latin typeface="Montserrat"/>
              </a:rPr>
              <a:t>Flexible premiums</a:t>
            </a:r>
          </a:p>
          <a:p>
            <a:pPr algn="ctr">
              <a:lnSpc>
                <a:spcPct val="120000"/>
              </a:lnSpc>
              <a:spcAft>
                <a:spcPts val="600"/>
              </a:spcAft>
            </a:pPr>
            <a:r>
              <a:rPr sz="1800" b="0" i="0">
                <a:solidFill>
                  <a:srgbClr val="EFE3C6"/>
                </a:solidFill>
                <a:latin typeface="Montserrat"/>
              </a:rPr>
              <a:t>Trades rigidity for potential.</a:t>
            </a:r>
          </a:p>
        </p:txBody>
      </p:sp>
      <p:sp>
        <p:nvSpPr>
          <p:cNvPr id="61" name="TextBox 60"/>
          <p:cNvSpPr txBox="1"/>
          <p:nvPr/>
        </p:nvSpPr>
        <p:spPr>
          <a:xfrm>
            <a:off x="1097280" y="5558409"/>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Neither is the winner. The situation and the design decide.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34687" y="489681"/>
            <a:ext cx="45720" cy="45720"/>
          </a:xfrm>
          <a:prstGeom prst="ellipse">
            <a:avLst/>
          </a:prstGeom>
          <a:solidFill>
            <a:srgbClr val="AD702C"/>
          </a:solidFill>
          <a:ln>
            <a:noFill/>
          </a:ln>
        </p:spPr>
        <p:txBody>
          <a:bodyPr rtlCol="0" anchor="ctr"/>
          <a:lstStyle/>
          <a:p/>
        </p:txBody>
      </p:sp>
      <p:sp>
        <p:nvSpPr>
          <p:cNvPr id="4" name="Oval 3"/>
          <p:cNvSpPr/>
          <p:nvPr/>
        </p:nvSpPr>
        <p:spPr>
          <a:xfrm>
            <a:off x="6124710" y="1414541"/>
            <a:ext cx="27432" cy="27432"/>
          </a:xfrm>
          <a:prstGeom prst="ellipse">
            <a:avLst/>
          </a:prstGeom>
          <a:solidFill>
            <a:srgbClr val="9B6528"/>
          </a:solidFill>
          <a:ln>
            <a:noFill/>
          </a:ln>
        </p:spPr>
        <p:txBody>
          <a:bodyPr rtlCol="0" anchor="ctr"/>
          <a:lstStyle/>
          <a:p/>
        </p:txBody>
      </p:sp>
      <p:sp>
        <p:nvSpPr>
          <p:cNvPr id="5" name="Oval 4"/>
          <p:cNvSpPr/>
          <p:nvPr/>
        </p:nvSpPr>
        <p:spPr>
          <a:xfrm>
            <a:off x="4543151" y="1959163"/>
            <a:ext cx="54864" cy="54864"/>
          </a:xfrm>
          <a:prstGeom prst="ellipse">
            <a:avLst/>
          </a:prstGeom>
          <a:solidFill>
            <a:srgbClr val="8D7D51"/>
          </a:solidFill>
          <a:ln>
            <a:noFill/>
          </a:ln>
        </p:spPr>
        <p:txBody>
          <a:bodyPr rtlCol="0" anchor="ctr"/>
          <a:lstStyle/>
          <a:p/>
        </p:txBody>
      </p:sp>
      <p:sp>
        <p:nvSpPr>
          <p:cNvPr id="6" name="Oval 5"/>
          <p:cNvSpPr/>
          <p:nvPr/>
        </p:nvSpPr>
        <p:spPr>
          <a:xfrm>
            <a:off x="11614459" y="2419557"/>
            <a:ext cx="54864" cy="54864"/>
          </a:xfrm>
          <a:prstGeom prst="ellipse">
            <a:avLst/>
          </a:prstGeom>
          <a:solidFill>
            <a:srgbClr val="AF712C"/>
          </a:solidFill>
          <a:ln>
            <a:noFill/>
          </a:ln>
        </p:spPr>
        <p:txBody>
          <a:bodyPr rtlCol="0" anchor="ctr"/>
          <a:lstStyle/>
          <a:p/>
        </p:txBody>
      </p:sp>
      <p:sp>
        <p:nvSpPr>
          <p:cNvPr id="7" name="Oval 6"/>
          <p:cNvSpPr/>
          <p:nvPr/>
        </p:nvSpPr>
        <p:spPr>
          <a:xfrm>
            <a:off x="2287164" y="3421596"/>
            <a:ext cx="54864" cy="54864"/>
          </a:xfrm>
          <a:prstGeom prst="ellipse">
            <a:avLst/>
          </a:prstGeom>
          <a:solidFill>
            <a:srgbClr val="8B7435"/>
          </a:solidFill>
          <a:ln>
            <a:noFill/>
          </a:ln>
        </p:spPr>
        <p:txBody>
          <a:bodyPr rtlCol="0" anchor="ctr"/>
          <a:lstStyle/>
          <a:p/>
        </p:txBody>
      </p:sp>
      <p:sp>
        <p:nvSpPr>
          <p:cNvPr id="8" name="Oval 7"/>
          <p:cNvSpPr/>
          <p:nvPr/>
        </p:nvSpPr>
        <p:spPr>
          <a:xfrm>
            <a:off x="3738675" y="3288350"/>
            <a:ext cx="73152" cy="73152"/>
          </a:xfrm>
          <a:prstGeom prst="ellipse">
            <a:avLst/>
          </a:prstGeom>
          <a:solidFill>
            <a:srgbClr val="5D4D24"/>
          </a:solidFill>
          <a:ln>
            <a:noFill/>
          </a:ln>
        </p:spPr>
        <p:txBody>
          <a:bodyPr rtlCol="0" anchor="ctr"/>
          <a:lstStyle/>
          <a:p/>
        </p:txBody>
      </p:sp>
      <p:sp>
        <p:nvSpPr>
          <p:cNvPr id="9" name="Oval 8"/>
          <p:cNvSpPr/>
          <p:nvPr/>
        </p:nvSpPr>
        <p:spPr>
          <a:xfrm>
            <a:off x="2296728" y="3895563"/>
            <a:ext cx="73152" cy="73152"/>
          </a:xfrm>
          <a:prstGeom prst="ellipse">
            <a:avLst/>
          </a:prstGeom>
          <a:solidFill>
            <a:srgbClr val="B0722D"/>
          </a:solidFill>
          <a:ln>
            <a:noFill/>
          </a:ln>
        </p:spPr>
        <p:txBody>
          <a:bodyPr rtlCol="0" anchor="ctr"/>
          <a:lstStyle/>
          <a:p/>
        </p:txBody>
      </p:sp>
      <p:sp>
        <p:nvSpPr>
          <p:cNvPr id="10" name="Oval 9"/>
          <p:cNvSpPr/>
          <p:nvPr/>
        </p:nvSpPr>
        <p:spPr>
          <a:xfrm>
            <a:off x="1954376" y="5596796"/>
            <a:ext cx="54864" cy="54864"/>
          </a:xfrm>
          <a:prstGeom prst="ellipse">
            <a:avLst/>
          </a:prstGeom>
          <a:solidFill>
            <a:srgbClr val="B0722D"/>
          </a:solidFill>
          <a:ln>
            <a:noFill/>
          </a:ln>
        </p:spPr>
        <p:txBody>
          <a:bodyPr rtlCol="0" anchor="ctr"/>
          <a:lstStyle/>
          <a:p/>
        </p:txBody>
      </p:sp>
      <p:sp>
        <p:nvSpPr>
          <p:cNvPr id="11" name="Oval 10"/>
          <p:cNvSpPr/>
          <p:nvPr/>
        </p:nvSpPr>
        <p:spPr>
          <a:xfrm>
            <a:off x="10310952" y="5913195"/>
            <a:ext cx="36576" cy="36576"/>
          </a:xfrm>
          <a:prstGeom prst="ellipse">
            <a:avLst/>
          </a:prstGeom>
          <a:solidFill>
            <a:srgbClr val="A3883E"/>
          </a:solidFill>
          <a:ln>
            <a:noFill/>
          </a:ln>
        </p:spPr>
        <p:txBody>
          <a:bodyPr rtlCol="0" anchor="ctr"/>
          <a:lstStyle/>
          <a:p/>
        </p:txBody>
      </p:sp>
      <p:sp>
        <p:nvSpPr>
          <p:cNvPr id="12" name="Oval 11"/>
          <p:cNvSpPr/>
          <p:nvPr/>
        </p:nvSpPr>
        <p:spPr>
          <a:xfrm>
            <a:off x="7370813" y="1768999"/>
            <a:ext cx="45720" cy="45720"/>
          </a:xfrm>
          <a:prstGeom prst="ellipse">
            <a:avLst/>
          </a:prstGeom>
          <a:solidFill>
            <a:srgbClr val="6B5929"/>
          </a:solidFill>
          <a:ln>
            <a:noFill/>
          </a:ln>
        </p:spPr>
        <p:txBody>
          <a:bodyPr rtlCol="0" anchor="ctr"/>
          <a:lstStyle/>
          <a:p/>
        </p:txBody>
      </p:sp>
      <p:sp>
        <p:nvSpPr>
          <p:cNvPr id="13" name="Oval 12"/>
          <p:cNvSpPr/>
          <p:nvPr/>
        </p:nvSpPr>
        <p:spPr>
          <a:xfrm>
            <a:off x="3757538" y="6231556"/>
            <a:ext cx="73152" cy="73152"/>
          </a:xfrm>
          <a:prstGeom prst="ellipse">
            <a:avLst/>
          </a:prstGeom>
          <a:solidFill>
            <a:srgbClr val="AF9B64"/>
          </a:solidFill>
          <a:ln>
            <a:noFill/>
          </a:ln>
        </p:spPr>
        <p:txBody>
          <a:bodyPr rtlCol="0" anchor="ctr"/>
          <a:lstStyle/>
          <a:p/>
        </p:txBody>
      </p:sp>
      <p:sp>
        <p:nvSpPr>
          <p:cNvPr id="14" name="Oval 13"/>
          <p:cNvSpPr/>
          <p:nvPr/>
        </p:nvSpPr>
        <p:spPr>
          <a:xfrm>
            <a:off x="2694687" y="1361533"/>
            <a:ext cx="45720" cy="45720"/>
          </a:xfrm>
          <a:prstGeom prst="ellipse">
            <a:avLst/>
          </a:prstGeom>
          <a:solidFill>
            <a:srgbClr val="A08D5C"/>
          </a:solidFill>
          <a:ln>
            <a:noFill/>
          </a:ln>
        </p:spPr>
        <p:txBody>
          <a:bodyPr rtlCol="0" anchor="ctr"/>
          <a:lstStyle/>
          <a:p/>
        </p:txBody>
      </p:sp>
      <p:sp>
        <p:nvSpPr>
          <p:cNvPr id="15" name="Oval 14"/>
          <p:cNvSpPr/>
          <p:nvPr/>
        </p:nvSpPr>
        <p:spPr>
          <a:xfrm>
            <a:off x="5336849" y="4609101"/>
            <a:ext cx="45720" cy="45720"/>
          </a:xfrm>
          <a:prstGeom prst="ellipse">
            <a:avLst/>
          </a:prstGeom>
          <a:solidFill>
            <a:srgbClr val="938254"/>
          </a:solidFill>
          <a:ln>
            <a:noFill/>
          </a:ln>
        </p:spPr>
        <p:txBody>
          <a:bodyPr rtlCol="0" anchor="ctr"/>
          <a:lstStyle/>
          <a:p/>
        </p:txBody>
      </p:sp>
      <p:sp>
        <p:nvSpPr>
          <p:cNvPr id="16" name="Oval 15"/>
          <p:cNvSpPr/>
          <p:nvPr/>
        </p:nvSpPr>
        <p:spPr>
          <a:xfrm>
            <a:off x="5967965" y="3553286"/>
            <a:ext cx="45720" cy="45720"/>
          </a:xfrm>
          <a:prstGeom prst="ellipse">
            <a:avLst/>
          </a:prstGeom>
          <a:solidFill>
            <a:srgbClr val="564721"/>
          </a:solidFill>
          <a:ln>
            <a:noFill/>
          </a:ln>
        </p:spPr>
        <p:txBody>
          <a:bodyPr rtlCol="0" anchor="ctr"/>
          <a:lstStyle/>
          <a:p/>
        </p:txBody>
      </p:sp>
      <p:sp>
        <p:nvSpPr>
          <p:cNvPr id="17" name="Oval 16"/>
          <p:cNvSpPr/>
          <p:nvPr/>
        </p:nvSpPr>
        <p:spPr>
          <a:xfrm>
            <a:off x="7807379" y="1613460"/>
            <a:ext cx="27432" cy="27432"/>
          </a:xfrm>
          <a:prstGeom prst="ellipse">
            <a:avLst/>
          </a:prstGeom>
          <a:solidFill>
            <a:srgbClr val="877033"/>
          </a:solidFill>
          <a:ln>
            <a:noFill/>
          </a:ln>
        </p:spPr>
        <p:txBody>
          <a:bodyPr rtlCol="0" anchor="ctr"/>
          <a:lstStyle/>
          <a:p/>
        </p:txBody>
      </p:sp>
      <p:sp>
        <p:nvSpPr>
          <p:cNvPr id="18" name="Oval 17"/>
          <p:cNvSpPr/>
          <p:nvPr/>
        </p:nvSpPr>
        <p:spPr>
          <a:xfrm>
            <a:off x="9225110" y="5773895"/>
            <a:ext cx="36576" cy="36576"/>
          </a:xfrm>
          <a:prstGeom prst="ellipse">
            <a:avLst/>
          </a:prstGeom>
          <a:solidFill>
            <a:srgbClr val="89794E"/>
          </a:solidFill>
          <a:ln>
            <a:noFill/>
          </a:ln>
        </p:spPr>
        <p:txBody>
          <a:bodyPr rtlCol="0" anchor="ctr"/>
          <a:lstStyle/>
          <a:p/>
        </p:txBody>
      </p:sp>
      <p:sp>
        <p:nvSpPr>
          <p:cNvPr id="19" name="Oval 18"/>
          <p:cNvSpPr/>
          <p:nvPr/>
        </p:nvSpPr>
        <p:spPr>
          <a:xfrm>
            <a:off x="5796221" y="5083680"/>
            <a:ext cx="27432" cy="27432"/>
          </a:xfrm>
          <a:prstGeom prst="ellipse">
            <a:avLst/>
          </a:prstGeom>
          <a:solidFill>
            <a:srgbClr val="67431B"/>
          </a:solidFill>
          <a:ln>
            <a:noFill/>
          </a:ln>
        </p:spPr>
        <p:txBody>
          <a:bodyPr rtlCol="0" anchor="ctr"/>
          <a:lstStyle/>
          <a:p/>
        </p:txBody>
      </p:sp>
      <p:sp>
        <p:nvSpPr>
          <p:cNvPr id="20" name="Oval 19"/>
          <p:cNvSpPr/>
          <p:nvPr/>
        </p:nvSpPr>
        <p:spPr>
          <a:xfrm>
            <a:off x="3805185" y="3693167"/>
            <a:ext cx="73152" cy="73152"/>
          </a:xfrm>
          <a:prstGeom prst="ellipse">
            <a:avLst/>
          </a:prstGeom>
          <a:solidFill>
            <a:srgbClr val="6A5E3D"/>
          </a:solidFill>
          <a:ln>
            <a:noFill/>
          </a:ln>
        </p:spPr>
        <p:txBody>
          <a:bodyPr rtlCol="0" anchor="ctr"/>
          <a:lstStyle/>
          <a:p/>
        </p:txBody>
      </p:sp>
      <p:sp>
        <p:nvSpPr>
          <p:cNvPr id="21" name="Oval 20"/>
          <p:cNvSpPr/>
          <p:nvPr/>
        </p:nvSpPr>
        <p:spPr>
          <a:xfrm>
            <a:off x="8777892" y="2596470"/>
            <a:ext cx="54864" cy="54864"/>
          </a:xfrm>
          <a:prstGeom prst="ellipse">
            <a:avLst/>
          </a:prstGeom>
          <a:solidFill>
            <a:srgbClr val="6B5E3D"/>
          </a:solidFill>
          <a:ln>
            <a:noFill/>
          </a:ln>
        </p:spPr>
        <p:txBody>
          <a:bodyPr rtlCol="0" anchor="ctr"/>
          <a:lstStyle/>
          <a:p/>
        </p:txBody>
      </p:sp>
      <p:sp>
        <p:nvSpPr>
          <p:cNvPr id="22" name="Oval 21"/>
          <p:cNvSpPr/>
          <p:nvPr/>
        </p:nvSpPr>
        <p:spPr>
          <a:xfrm>
            <a:off x="2497976" y="2287503"/>
            <a:ext cx="54864" cy="54864"/>
          </a:xfrm>
          <a:prstGeom prst="ellipse">
            <a:avLst/>
          </a:prstGeom>
          <a:solidFill>
            <a:srgbClr val="564B31"/>
          </a:solidFill>
          <a:ln>
            <a:noFill/>
          </a:ln>
        </p:spPr>
        <p:txBody>
          <a:bodyPr rtlCol="0" anchor="ctr"/>
          <a:lstStyle/>
          <a:p/>
        </p:txBody>
      </p:sp>
      <p:sp>
        <p:nvSpPr>
          <p:cNvPr id="23" name="Oval 22"/>
          <p:cNvSpPr/>
          <p:nvPr/>
        </p:nvSpPr>
        <p:spPr>
          <a:xfrm>
            <a:off x="5286670" y="4101092"/>
            <a:ext cx="54864" cy="54864"/>
          </a:xfrm>
          <a:prstGeom prst="ellipse">
            <a:avLst/>
          </a:prstGeom>
          <a:solidFill>
            <a:srgbClr val="B7A269"/>
          </a:solidFill>
          <a:ln>
            <a:noFill/>
          </a:ln>
        </p:spPr>
        <p:txBody>
          <a:bodyPr rtlCol="0" anchor="ctr"/>
          <a:lstStyle/>
          <a:p/>
        </p:txBody>
      </p:sp>
      <p:sp>
        <p:nvSpPr>
          <p:cNvPr id="24" name="Oval 23"/>
          <p:cNvSpPr/>
          <p:nvPr/>
        </p:nvSpPr>
        <p:spPr>
          <a:xfrm>
            <a:off x="5689236" y="2211403"/>
            <a:ext cx="36576" cy="36576"/>
          </a:xfrm>
          <a:prstGeom prst="ellipse">
            <a:avLst/>
          </a:prstGeom>
          <a:solidFill>
            <a:srgbClr val="6A5829"/>
          </a:solidFill>
          <a:ln>
            <a:noFill/>
          </a:ln>
        </p:spPr>
        <p:txBody>
          <a:bodyPr rtlCol="0" anchor="ctr"/>
          <a:lstStyle/>
          <a:p/>
        </p:txBody>
      </p:sp>
      <p:sp>
        <p:nvSpPr>
          <p:cNvPr id="25" name="Oval 24"/>
          <p:cNvSpPr/>
          <p:nvPr/>
        </p:nvSpPr>
        <p:spPr>
          <a:xfrm>
            <a:off x="2330401" y="836968"/>
            <a:ext cx="73152" cy="73152"/>
          </a:xfrm>
          <a:prstGeom prst="ellipse">
            <a:avLst/>
          </a:prstGeom>
          <a:solidFill>
            <a:srgbClr val="6E613F"/>
          </a:solidFill>
          <a:ln>
            <a:noFill/>
          </a:ln>
        </p:spPr>
        <p:txBody>
          <a:bodyPr rtlCol="0" anchor="ctr"/>
          <a:lstStyle/>
          <a:p/>
        </p:txBody>
      </p:sp>
      <p:sp>
        <p:nvSpPr>
          <p:cNvPr id="26" name="Oval 25"/>
          <p:cNvSpPr/>
          <p:nvPr/>
        </p:nvSpPr>
        <p:spPr>
          <a:xfrm>
            <a:off x="3146306" y="942930"/>
            <a:ext cx="54864" cy="54864"/>
          </a:xfrm>
          <a:prstGeom prst="ellipse">
            <a:avLst/>
          </a:prstGeom>
          <a:solidFill>
            <a:srgbClr val="543717"/>
          </a:solidFill>
          <a:ln>
            <a:noFill/>
          </a:ln>
        </p:spPr>
        <p:txBody>
          <a:bodyPr rtlCol="0" anchor="ctr"/>
          <a:lstStyle/>
          <a:p/>
        </p:txBody>
      </p:sp>
      <p:sp>
        <p:nvSpPr>
          <p:cNvPr id="27" name="Oval 26"/>
          <p:cNvSpPr/>
          <p:nvPr/>
        </p:nvSpPr>
        <p:spPr>
          <a:xfrm>
            <a:off x="3890378" y="3134975"/>
            <a:ext cx="45720" cy="45720"/>
          </a:xfrm>
          <a:prstGeom prst="ellipse">
            <a:avLst/>
          </a:prstGeom>
          <a:solidFill>
            <a:srgbClr val="754D1F"/>
          </a:solidFill>
          <a:ln>
            <a:noFill/>
          </a:ln>
        </p:spPr>
        <p:txBody>
          <a:bodyPr rtlCol="0" anchor="ctr"/>
          <a:lstStyle/>
          <a:p/>
        </p:txBody>
      </p:sp>
      <p:sp>
        <p:nvSpPr>
          <p:cNvPr id="28" name="Oval 27"/>
          <p:cNvSpPr/>
          <p:nvPr/>
        </p:nvSpPr>
        <p:spPr>
          <a:xfrm>
            <a:off x="4945388" y="905688"/>
            <a:ext cx="54864" cy="54864"/>
          </a:xfrm>
          <a:prstGeom prst="ellipse">
            <a:avLst/>
          </a:prstGeom>
          <a:solidFill>
            <a:srgbClr val="725F2C"/>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5181447" y="1395984"/>
            <a:ext cx="1828800" cy="329184"/>
          </a:xfrm>
          <a:prstGeom prst="rect">
            <a:avLst/>
          </a:prstGeom>
          <a:noFill/>
        </p:spPr>
        <p:txBody>
          <a:bodyPr wrap="square" lIns="0" rIns="0" tIns="0" bIns="0" anchor="ctr">
            <a:spAutoFit/>
          </a:bodyPr>
          <a:lstStyle/>
          <a:p>
            <a:pPr algn="ctr"/>
            <a:r>
              <a:rPr sz="1300" b="1" i="0" spc="400">
                <a:solidFill>
                  <a:srgbClr val="D9654A"/>
                </a:solidFill>
                <a:latin typeface="Montserrat"/>
              </a:rPr>
              <a:t>WARNING</a:t>
            </a:r>
          </a:p>
        </p:txBody>
      </p:sp>
      <p:cxnSp>
        <p:nvCxnSpPr>
          <p:cNvPr id="50" name="Connector 49"/>
          <p:cNvCxnSpPr/>
          <p:nvPr/>
        </p:nvCxnSpPr>
        <p:spPr>
          <a:xfrm>
            <a:off x="3809847" y="1560576"/>
            <a:ext cx="1234440" cy="0"/>
          </a:xfrm>
          <a:prstGeom prst="line">
            <a:avLst/>
          </a:prstGeom>
          <a:ln w="12700">
            <a:solidFill>
              <a:srgbClr val="9B4936"/>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759555" y="1510284"/>
            <a:ext cx="100584" cy="100584"/>
          </a:xfrm>
          <a:prstGeom prst="diamond">
            <a:avLst/>
          </a:prstGeom>
          <a:solidFill>
            <a:srgbClr val="D9654A"/>
          </a:solidFill>
          <a:ln>
            <a:noFill/>
          </a:ln>
        </p:spPr>
        <p:txBody>
          <a:bodyPr rtlCol="0" anchor="ctr"/>
          <a:lstStyle/>
          <a:p/>
        </p:txBody>
      </p:sp>
      <p:cxnSp>
        <p:nvCxnSpPr>
          <p:cNvPr id="52" name="Connector 51"/>
          <p:cNvCxnSpPr/>
          <p:nvPr/>
        </p:nvCxnSpPr>
        <p:spPr>
          <a:xfrm>
            <a:off x="7147407" y="1560576"/>
            <a:ext cx="1234440" cy="0"/>
          </a:xfrm>
          <a:prstGeom prst="line">
            <a:avLst/>
          </a:prstGeom>
          <a:ln w="12700">
            <a:solidFill>
              <a:srgbClr val="9B4936"/>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331555" y="1510284"/>
            <a:ext cx="100584" cy="100584"/>
          </a:xfrm>
          <a:prstGeom prst="diamond">
            <a:avLst/>
          </a:prstGeom>
          <a:solidFill>
            <a:srgbClr val="D9654A"/>
          </a:solidFill>
          <a:ln>
            <a:noFill/>
          </a:ln>
        </p:spPr>
        <p:txBody>
          <a:bodyPr rtlCol="0" anchor="ctr"/>
          <a:lstStyle/>
          <a:p/>
        </p:txBody>
      </p:sp>
      <p:sp>
        <p:nvSpPr>
          <p:cNvPr id="54" name="TextBox 53"/>
          <p:cNvSpPr txBox="1"/>
          <p:nvPr/>
        </p:nvSpPr>
        <p:spPr>
          <a:xfrm>
            <a:off x="914400" y="1789176"/>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The MEC trap</a:t>
            </a:r>
          </a:p>
        </p:txBody>
      </p:sp>
      <p:sp>
        <p:nvSpPr>
          <p:cNvPr id="55" name="Rounded Rectangle 54"/>
          <p:cNvSpPr/>
          <p:nvPr/>
        </p:nvSpPr>
        <p:spPr>
          <a:xfrm>
            <a:off x="1523847" y="2596896"/>
            <a:ext cx="9144000" cy="2581656"/>
          </a:xfrm>
          <a:prstGeom prst="roundRect">
            <a:avLst>
              <a:gd name="adj" fmla="val 6000"/>
            </a:avLst>
          </a:prstGeom>
          <a:solidFill>
            <a:srgbClr val="100D07"/>
          </a:solidFill>
          <a:ln w="15875">
            <a:solidFill>
              <a:srgbClr val="914532"/>
            </a:solidFill>
          </a:ln>
        </p:spPr>
        <p:txBody>
          <a:bodyPr rtlCol="0" anchor="ctr"/>
          <a:lstStyle/>
          <a:p/>
        </p:txBody>
      </p:sp>
      <p:sp>
        <p:nvSpPr>
          <p:cNvPr id="56" name="Diamond 55"/>
          <p:cNvSpPr/>
          <p:nvPr/>
        </p:nvSpPr>
        <p:spPr>
          <a:xfrm>
            <a:off x="2026767" y="2910078"/>
            <a:ext cx="137160" cy="137160"/>
          </a:xfrm>
          <a:prstGeom prst="diamond">
            <a:avLst/>
          </a:prstGeom>
          <a:solidFill>
            <a:srgbClr val="F0D58A"/>
          </a:solidFill>
          <a:ln>
            <a:noFill/>
          </a:ln>
        </p:spPr>
        <p:txBody>
          <a:bodyPr rtlCol="0" anchor="ctr"/>
          <a:lstStyle/>
          <a:p/>
        </p:txBody>
      </p:sp>
      <p:sp>
        <p:nvSpPr>
          <p:cNvPr id="57" name="TextBox 56"/>
          <p:cNvSpPr txBox="1"/>
          <p:nvPr/>
        </p:nvSpPr>
        <p:spPr>
          <a:xfrm>
            <a:off x="2346807" y="2798064"/>
            <a:ext cx="7955279" cy="841247"/>
          </a:xfrm>
          <a:prstGeom prst="rect">
            <a:avLst/>
          </a:prstGeom>
          <a:noFill/>
        </p:spPr>
        <p:txBody>
          <a:bodyPr wrap="square" lIns="0" rIns="0" tIns="0" bIns="0" anchor="t">
            <a:spAutoFit/>
          </a:bodyPr>
          <a:lstStyle/>
          <a:p>
            <a:pPr algn="l">
              <a:lnSpc>
                <a:spcPct val="120000"/>
              </a:lnSpc>
            </a:pPr>
            <a:r>
              <a:rPr sz="2100" b="0" i="0">
                <a:solidFill>
                  <a:srgbClr val="EFE3C6"/>
                </a:solidFill>
                <a:latin typeface="Montserrat"/>
              </a:rPr>
              <a:t>Fund too much, too fast in the first 7 years and the policy becomes a Modified Endowment Contract</a:t>
            </a:r>
          </a:p>
        </p:txBody>
      </p:sp>
      <p:sp>
        <p:nvSpPr>
          <p:cNvPr id="58" name="Diamond 57"/>
          <p:cNvSpPr/>
          <p:nvPr/>
        </p:nvSpPr>
        <p:spPr>
          <a:xfrm>
            <a:off x="2026767" y="3751326"/>
            <a:ext cx="137160" cy="137160"/>
          </a:xfrm>
          <a:prstGeom prst="diamond">
            <a:avLst/>
          </a:prstGeom>
          <a:solidFill>
            <a:srgbClr val="F0D58A"/>
          </a:solidFill>
          <a:ln>
            <a:noFill/>
          </a:ln>
        </p:spPr>
        <p:txBody>
          <a:bodyPr rtlCol="0" anchor="ctr"/>
          <a:lstStyle/>
          <a:p/>
        </p:txBody>
      </p:sp>
      <p:sp>
        <p:nvSpPr>
          <p:cNvPr id="59" name="TextBox 58"/>
          <p:cNvSpPr txBox="1"/>
          <p:nvPr/>
        </p:nvSpPr>
        <p:spPr>
          <a:xfrm>
            <a:off x="2346807" y="3639312"/>
            <a:ext cx="7955279" cy="841247"/>
          </a:xfrm>
          <a:prstGeom prst="rect">
            <a:avLst/>
          </a:prstGeom>
          <a:noFill/>
        </p:spPr>
        <p:txBody>
          <a:bodyPr wrap="square" lIns="0" rIns="0" tIns="0" bIns="0" anchor="t">
            <a:spAutoFit/>
          </a:bodyPr>
          <a:lstStyle/>
          <a:p>
            <a:pPr algn="l">
              <a:lnSpc>
                <a:spcPct val="120000"/>
              </a:lnSpc>
            </a:pPr>
            <a:r>
              <a:rPr sz="2100" b="0" i="0">
                <a:solidFill>
                  <a:srgbClr val="EFE3C6"/>
                </a:solidFill>
                <a:latin typeface="Montserrat"/>
              </a:rPr>
              <a:t>Loans and withdrawals get taxed differently — and can be penalized</a:t>
            </a:r>
          </a:p>
        </p:txBody>
      </p:sp>
      <p:sp>
        <p:nvSpPr>
          <p:cNvPr id="60" name="TextBox 59"/>
          <p:cNvSpPr txBox="1"/>
          <p:nvPr/>
        </p:nvSpPr>
        <p:spPr>
          <a:xfrm>
            <a:off x="1889607" y="4462272"/>
            <a:ext cx="8412480" cy="487680"/>
          </a:xfrm>
          <a:prstGeom prst="rect">
            <a:avLst/>
          </a:prstGeom>
          <a:noFill/>
        </p:spPr>
        <p:txBody>
          <a:bodyPr wrap="square" lIns="0" rIns="0" tIns="0" bIns="0" anchor="ctr">
            <a:spAutoFit/>
          </a:bodyPr>
          <a:lstStyle/>
          <a:p>
            <a:pPr algn="ctr">
              <a:lnSpc>
                <a:spcPct val="120000"/>
              </a:lnSpc>
            </a:pPr>
            <a:r>
              <a:rPr sz="2000" b="1" i="1">
                <a:solidFill>
                  <a:srgbClr val="F0D58A"/>
                </a:solidFill>
                <a:latin typeface="Montserrat"/>
              </a:rPr>
              <a:t>A great concept with a bad design still fails.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341552" y="519932"/>
            <a:ext cx="36576" cy="36576"/>
          </a:xfrm>
          <a:prstGeom prst="ellipse">
            <a:avLst/>
          </a:prstGeom>
          <a:solidFill>
            <a:srgbClr val="776844"/>
          </a:solidFill>
          <a:ln>
            <a:noFill/>
          </a:ln>
        </p:spPr>
        <p:txBody>
          <a:bodyPr rtlCol="0" anchor="ctr"/>
          <a:lstStyle/>
          <a:p/>
        </p:txBody>
      </p:sp>
      <p:sp>
        <p:nvSpPr>
          <p:cNvPr id="4" name="Oval 3"/>
          <p:cNvSpPr/>
          <p:nvPr/>
        </p:nvSpPr>
        <p:spPr>
          <a:xfrm>
            <a:off x="426791" y="5114243"/>
            <a:ext cx="73152" cy="73152"/>
          </a:xfrm>
          <a:prstGeom prst="ellipse">
            <a:avLst/>
          </a:prstGeom>
          <a:solidFill>
            <a:srgbClr val="605025"/>
          </a:solidFill>
          <a:ln>
            <a:noFill/>
          </a:ln>
        </p:spPr>
        <p:txBody>
          <a:bodyPr rtlCol="0" anchor="ctr"/>
          <a:lstStyle/>
          <a:p/>
        </p:txBody>
      </p:sp>
      <p:sp>
        <p:nvSpPr>
          <p:cNvPr id="5" name="Oval 4"/>
          <p:cNvSpPr/>
          <p:nvPr/>
        </p:nvSpPr>
        <p:spPr>
          <a:xfrm>
            <a:off x="11354881" y="526881"/>
            <a:ext cx="36576" cy="36576"/>
          </a:xfrm>
          <a:prstGeom prst="ellipse">
            <a:avLst/>
          </a:prstGeom>
          <a:solidFill>
            <a:srgbClr val="977E39"/>
          </a:solidFill>
          <a:ln>
            <a:noFill/>
          </a:ln>
        </p:spPr>
        <p:txBody>
          <a:bodyPr rtlCol="0" anchor="ctr"/>
          <a:lstStyle/>
          <a:p/>
        </p:txBody>
      </p:sp>
      <p:sp>
        <p:nvSpPr>
          <p:cNvPr id="6" name="Oval 5"/>
          <p:cNvSpPr/>
          <p:nvPr/>
        </p:nvSpPr>
        <p:spPr>
          <a:xfrm>
            <a:off x="4562824" y="1007435"/>
            <a:ext cx="27432" cy="27432"/>
          </a:xfrm>
          <a:prstGeom prst="ellipse">
            <a:avLst/>
          </a:prstGeom>
          <a:solidFill>
            <a:srgbClr val="764D1F"/>
          </a:solidFill>
          <a:ln>
            <a:noFill/>
          </a:ln>
        </p:spPr>
        <p:txBody>
          <a:bodyPr rtlCol="0" anchor="ctr"/>
          <a:lstStyle/>
          <a:p/>
        </p:txBody>
      </p:sp>
      <p:sp>
        <p:nvSpPr>
          <p:cNvPr id="7" name="Oval 6"/>
          <p:cNvSpPr/>
          <p:nvPr/>
        </p:nvSpPr>
        <p:spPr>
          <a:xfrm>
            <a:off x="10305317" y="3417003"/>
            <a:ext cx="27432" cy="27432"/>
          </a:xfrm>
          <a:prstGeom prst="ellipse">
            <a:avLst/>
          </a:prstGeom>
          <a:solidFill>
            <a:srgbClr val="63411B"/>
          </a:solidFill>
          <a:ln>
            <a:noFill/>
          </a:ln>
        </p:spPr>
        <p:txBody>
          <a:bodyPr rtlCol="0" anchor="ctr"/>
          <a:lstStyle/>
          <a:p/>
        </p:txBody>
      </p:sp>
      <p:sp>
        <p:nvSpPr>
          <p:cNvPr id="8" name="Oval 7"/>
          <p:cNvSpPr/>
          <p:nvPr/>
        </p:nvSpPr>
        <p:spPr>
          <a:xfrm>
            <a:off x="5639421" y="1896165"/>
            <a:ext cx="27432" cy="27432"/>
          </a:xfrm>
          <a:prstGeom prst="ellipse">
            <a:avLst/>
          </a:prstGeom>
          <a:solidFill>
            <a:srgbClr val="875823"/>
          </a:solidFill>
          <a:ln>
            <a:noFill/>
          </a:ln>
        </p:spPr>
        <p:txBody>
          <a:bodyPr rtlCol="0" anchor="ctr"/>
          <a:lstStyle/>
          <a:p/>
        </p:txBody>
      </p:sp>
      <p:sp>
        <p:nvSpPr>
          <p:cNvPr id="9" name="Oval 8"/>
          <p:cNvSpPr/>
          <p:nvPr/>
        </p:nvSpPr>
        <p:spPr>
          <a:xfrm>
            <a:off x="7834825" y="5819833"/>
            <a:ext cx="27432" cy="27432"/>
          </a:xfrm>
          <a:prstGeom prst="ellipse">
            <a:avLst/>
          </a:prstGeom>
          <a:solidFill>
            <a:srgbClr val="6D5B2A"/>
          </a:solidFill>
          <a:ln>
            <a:noFill/>
          </a:ln>
        </p:spPr>
        <p:txBody>
          <a:bodyPr rtlCol="0" anchor="ctr"/>
          <a:lstStyle/>
          <a:p/>
        </p:txBody>
      </p:sp>
      <p:sp>
        <p:nvSpPr>
          <p:cNvPr id="10" name="Oval 9"/>
          <p:cNvSpPr/>
          <p:nvPr/>
        </p:nvSpPr>
        <p:spPr>
          <a:xfrm>
            <a:off x="9543934" y="5980827"/>
            <a:ext cx="54864" cy="54864"/>
          </a:xfrm>
          <a:prstGeom prst="ellipse">
            <a:avLst/>
          </a:prstGeom>
          <a:solidFill>
            <a:srgbClr val="724A1E"/>
          </a:solidFill>
          <a:ln>
            <a:noFill/>
          </a:ln>
        </p:spPr>
        <p:txBody>
          <a:bodyPr rtlCol="0" anchor="ctr"/>
          <a:lstStyle/>
          <a:p/>
        </p:txBody>
      </p:sp>
      <p:sp>
        <p:nvSpPr>
          <p:cNvPr id="11" name="Oval 10"/>
          <p:cNvSpPr/>
          <p:nvPr/>
        </p:nvSpPr>
        <p:spPr>
          <a:xfrm>
            <a:off x="5852438" y="3520372"/>
            <a:ext cx="45720" cy="45720"/>
          </a:xfrm>
          <a:prstGeom prst="ellipse">
            <a:avLst/>
          </a:prstGeom>
          <a:solidFill>
            <a:srgbClr val="5B4F34"/>
          </a:solidFill>
          <a:ln>
            <a:noFill/>
          </a:ln>
        </p:spPr>
        <p:txBody>
          <a:bodyPr rtlCol="0" anchor="ctr"/>
          <a:lstStyle/>
          <a:p/>
        </p:txBody>
      </p:sp>
      <p:sp>
        <p:nvSpPr>
          <p:cNvPr id="12" name="Oval 11"/>
          <p:cNvSpPr/>
          <p:nvPr/>
        </p:nvSpPr>
        <p:spPr>
          <a:xfrm>
            <a:off x="3064817" y="4476992"/>
            <a:ext cx="45720" cy="45720"/>
          </a:xfrm>
          <a:prstGeom prst="ellipse">
            <a:avLst/>
          </a:prstGeom>
          <a:solidFill>
            <a:srgbClr val="937A38"/>
          </a:solidFill>
          <a:ln>
            <a:noFill/>
          </a:ln>
        </p:spPr>
        <p:txBody>
          <a:bodyPr rtlCol="0" anchor="ctr"/>
          <a:lstStyle/>
          <a:p/>
        </p:txBody>
      </p:sp>
      <p:sp>
        <p:nvSpPr>
          <p:cNvPr id="13" name="Oval 12"/>
          <p:cNvSpPr/>
          <p:nvPr/>
        </p:nvSpPr>
        <p:spPr>
          <a:xfrm>
            <a:off x="9638132" y="4723918"/>
            <a:ext cx="54864" cy="54864"/>
          </a:xfrm>
          <a:prstGeom prst="ellipse">
            <a:avLst/>
          </a:prstGeom>
          <a:solidFill>
            <a:srgbClr val="B8772F"/>
          </a:solidFill>
          <a:ln>
            <a:noFill/>
          </a:ln>
        </p:spPr>
        <p:txBody>
          <a:bodyPr rtlCol="0" anchor="ctr"/>
          <a:lstStyle/>
          <a:p/>
        </p:txBody>
      </p:sp>
      <p:sp>
        <p:nvSpPr>
          <p:cNvPr id="14" name="Oval 13"/>
          <p:cNvSpPr/>
          <p:nvPr/>
        </p:nvSpPr>
        <p:spPr>
          <a:xfrm>
            <a:off x="1376047" y="567066"/>
            <a:ext cx="73152" cy="73152"/>
          </a:xfrm>
          <a:prstGeom prst="ellipse">
            <a:avLst/>
          </a:prstGeom>
          <a:solidFill>
            <a:srgbClr val="877134"/>
          </a:solidFill>
          <a:ln>
            <a:noFill/>
          </a:ln>
        </p:spPr>
        <p:txBody>
          <a:bodyPr rtlCol="0" anchor="ctr"/>
          <a:lstStyle/>
          <a:p/>
        </p:txBody>
      </p:sp>
      <p:sp>
        <p:nvSpPr>
          <p:cNvPr id="15" name="Oval 14"/>
          <p:cNvSpPr/>
          <p:nvPr/>
        </p:nvSpPr>
        <p:spPr>
          <a:xfrm>
            <a:off x="414161" y="3965149"/>
            <a:ext cx="54864" cy="54864"/>
          </a:xfrm>
          <a:prstGeom prst="ellipse">
            <a:avLst/>
          </a:prstGeom>
          <a:solidFill>
            <a:srgbClr val="7F6A31"/>
          </a:solidFill>
          <a:ln>
            <a:noFill/>
          </a:ln>
        </p:spPr>
        <p:txBody>
          <a:bodyPr rtlCol="0" anchor="ctr"/>
          <a:lstStyle/>
          <a:p/>
        </p:txBody>
      </p:sp>
      <p:sp>
        <p:nvSpPr>
          <p:cNvPr id="16" name="Oval 15"/>
          <p:cNvSpPr/>
          <p:nvPr/>
        </p:nvSpPr>
        <p:spPr>
          <a:xfrm>
            <a:off x="11557687" y="4786903"/>
            <a:ext cx="36576" cy="36576"/>
          </a:xfrm>
          <a:prstGeom prst="ellipse">
            <a:avLst/>
          </a:prstGeom>
          <a:solidFill>
            <a:srgbClr val="7C672F"/>
          </a:solidFill>
          <a:ln>
            <a:noFill/>
          </a:ln>
        </p:spPr>
        <p:txBody>
          <a:bodyPr rtlCol="0" anchor="ctr"/>
          <a:lstStyle/>
          <a:p/>
        </p:txBody>
      </p:sp>
      <p:sp>
        <p:nvSpPr>
          <p:cNvPr id="17" name="Oval 16"/>
          <p:cNvSpPr/>
          <p:nvPr/>
        </p:nvSpPr>
        <p:spPr>
          <a:xfrm>
            <a:off x="6573716" y="4206891"/>
            <a:ext cx="27432" cy="27432"/>
          </a:xfrm>
          <a:prstGeom prst="ellipse">
            <a:avLst/>
          </a:prstGeom>
          <a:solidFill>
            <a:srgbClr val="987F3A"/>
          </a:solidFill>
          <a:ln>
            <a:noFill/>
          </a:ln>
        </p:spPr>
        <p:txBody>
          <a:bodyPr rtlCol="0" anchor="ctr"/>
          <a:lstStyle/>
          <a:p/>
        </p:txBody>
      </p:sp>
      <p:sp>
        <p:nvSpPr>
          <p:cNvPr id="18" name="Oval 17"/>
          <p:cNvSpPr/>
          <p:nvPr/>
        </p:nvSpPr>
        <p:spPr>
          <a:xfrm>
            <a:off x="10133777" y="6219602"/>
            <a:ext cx="36576" cy="36576"/>
          </a:xfrm>
          <a:prstGeom prst="ellipse">
            <a:avLst/>
          </a:prstGeom>
          <a:solidFill>
            <a:srgbClr val="554B31"/>
          </a:solidFill>
          <a:ln>
            <a:noFill/>
          </a:ln>
        </p:spPr>
        <p:txBody>
          <a:bodyPr rtlCol="0" anchor="ctr"/>
          <a:lstStyle/>
          <a:p/>
        </p:txBody>
      </p:sp>
      <p:sp>
        <p:nvSpPr>
          <p:cNvPr id="19" name="Oval 18"/>
          <p:cNvSpPr/>
          <p:nvPr/>
        </p:nvSpPr>
        <p:spPr>
          <a:xfrm>
            <a:off x="7430174" y="3271293"/>
            <a:ext cx="27432" cy="27432"/>
          </a:xfrm>
          <a:prstGeom prst="ellipse">
            <a:avLst/>
          </a:prstGeom>
          <a:solidFill>
            <a:srgbClr val="584922"/>
          </a:solidFill>
          <a:ln>
            <a:noFill/>
          </a:ln>
        </p:spPr>
        <p:txBody>
          <a:bodyPr rtlCol="0" anchor="ctr"/>
          <a:lstStyle/>
          <a:p/>
        </p:txBody>
      </p:sp>
      <p:sp>
        <p:nvSpPr>
          <p:cNvPr id="20" name="Oval 19"/>
          <p:cNvSpPr/>
          <p:nvPr/>
        </p:nvSpPr>
        <p:spPr>
          <a:xfrm>
            <a:off x="9955870" y="6211952"/>
            <a:ext cx="36576" cy="36576"/>
          </a:xfrm>
          <a:prstGeom prst="ellipse">
            <a:avLst/>
          </a:prstGeom>
          <a:solidFill>
            <a:srgbClr val="4A3D1D"/>
          </a:solidFill>
          <a:ln>
            <a:noFill/>
          </a:ln>
        </p:spPr>
        <p:txBody>
          <a:bodyPr rtlCol="0" anchor="ctr"/>
          <a:lstStyle/>
          <a:p/>
        </p:txBody>
      </p:sp>
      <p:sp>
        <p:nvSpPr>
          <p:cNvPr id="21" name="Oval 20"/>
          <p:cNvSpPr/>
          <p:nvPr/>
        </p:nvSpPr>
        <p:spPr>
          <a:xfrm>
            <a:off x="4511664" y="2063583"/>
            <a:ext cx="36576" cy="36576"/>
          </a:xfrm>
          <a:prstGeom prst="ellipse">
            <a:avLst/>
          </a:prstGeom>
          <a:solidFill>
            <a:srgbClr val="544A30"/>
          </a:solidFill>
          <a:ln>
            <a:noFill/>
          </a:ln>
        </p:spPr>
        <p:txBody>
          <a:bodyPr rtlCol="0" anchor="ctr"/>
          <a:lstStyle/>
          <a:p/>
        </p:txBody>
      </p:sp>
      <p:sp>
        <p:nvSpPr>
          <p:cNvPr id="22" name="Oval 21"/>
          <p:cNvSpPr/>
          <p:nvPr/>
        </p:nvSpPr>
        <p:spPr>
          <a:xfrm>
            <a:off x="1090372" y="1686388"/>
            <a:ext cx="73152" cy="73152"/>
          </a:xfrm>
          <a:prstGeom prst="ellipse">
            <a:avLst/>
          </a:prstGeom>
          <a:solidFill>
            <a:srgbClr val="978657"/>
          </a:solidFill>
          <a:ln>
            <a:noFill/>
          </a:ln>
        </p:spPr>
        <p:txBody>
          <a:bodyPr rtlCol="0" anchor="ctr"/>
          <a:lstStyle/>
          <a:p/>
        </p:txBody>
      </p:sp>
      <p:sp>
        <p:nvSpPr>
          <p:cNvPr id="23" name="Oval 22"/>
          <p:cNvSpPr/>
          <p:nvPr/>
        </p:nvSpPr>
        <p:spPr>
          <a:xfrm>
            <a:off x="11245363" y="5100819"/>
            <a:ext cx="27432" cy="27432"/>
          </a:xfrm>
          <a:prstGeom prst="ellipse">
            <a:avLst/>
          </a:prstGeom>
          <a:solidFill>
            <a:srgbClr val="6A5829"/>
          </a:solidFill>
          <a:ln>
            <a:noFill/>
          </a:ln>
        </p:spPr>
        <p:txBody>
          <a:bodyPr rtlCol="0" anchor="ctr"/>
          <a:lstStyle/>
          <a:p/>
        </p:txBody>
      </p:sp>
      <p:sp>
        <p:nvSpPr>
          <p:cNvPr id="24" name="Oval 23"/>
          <p:cNvSpPr/>
          <p:nvPr/>
        </p:nvSpPr>
        <p:spPr>
          <a:xfrm>
            <a:off x="3417992" y="1577234"/>
            <a:ext cx="45720" cy="45720"/>
          </a:xfrm>
          <a:prstGeom prst="ellipse">
            <a:avLst/>
          </a:prstGeom>
          <a:solidFill>
            <a:srgbClr val="593B18"/>
          </a:solidFill>
          <a:ln>
            <a:noFill/>
          </a:ln>
        </p:spPr>
        <p:txBody>
          <a:bodyPr rtlCol="0" anchor="ctr"/>
          <a:lstStyle/>
          <a:p/>
        </p:txBody>
      </p:sp>
      <p:sp>
        <p:nvSpPr>
          <p:cNvPr id="25" name="Oval 24"/>
          <p:cNvSpPr/>
          <p:nvPr/>
        </p:nvSpPr>
        <p:spPr>
          <a:xfrm>
            <a:off x="1135256" y="880727"/>
            <a:ext cx="73152" cy="73152"/>
          </a:xfrm>
          <a:prstGeom prst="ellipse">
            <a:avLst/>
          </a:prstGeom>
          <a:solidFill>
            <a:srgbClr val="695C3C"/>
          </a:solidFill>
          <a:ln>
            <a:noFill/>
          </a:ln>
        </p:spPr>
        <p:txBody>
          <a:bodyPr rtlCol="0" anchor="ctr"/>
          <a:lstStyle/>
          <a:p/>
        </p:txBody>
      </p:sp>
      <p:sp>
        <p:nvSpPr>
          <p:cNvPr id="26" name="Oval 25"/>
          <p:cNvSpPr/>
          <p:nvPr/>
        </p:nvSpPr>
        <p:spPr>
          <a:xfrm>
            <a:off x="1472639" y="1474965"/>
            <a:ext cx="73152" cy="73152"/>
          </a:xfrm>
          <a:prstGeom prst="ellipse">
            <a:avLst/>
          </a:prstGeom>
          <a:solidFill>
            <a:srgbClr val="553817"/>
          </a:solidFill>
          <a:ln>
            <a:noFill/>
          </a:ln>
        </p:spPr>
        <p:txBody>
          <a:bodyPr rtlCol="0" anchor="ctr"/>
          <a:lstStyle/>
          <a:p/>
        </p:txBody>
      </p:sp>
      <p:sp>
        <p:nvSpPr>
          <p:cNvPr id="27" name="Oval 26"/>
          <p:cNvSpPr/>
          <p:nvPr/>
        </p:nvSpPr>
        <p:spPr>
          <a:xfrm>
            <a:off x="1803819" y="5338893"/>
            <a:ext cx="54864" cy="54864"/>
          </a:xfrm>
          <a:prstGeom prst="ellipse">
            <a:avLst/>
          </a:prstGeom>
          <a:solidFill>
            <a:srgbClr val="514320"/>
          </a:solidFill>
          <a:ln>
            <a:noFill/>
          </a:ln>
        </p:spPr>
        <p:txBody>
          <a:bodyPr rtlCol="0" anchor="ctr"/>
          <a:lstStyle/>
          <a:p/>
        </p:txBody>
      </p:sp>
      <p:sp>
        <p:nvSpPr>
          <p:cNvPr id="28" name="Oval 27"/>
          <p:cNvSpPr/>
          <p:nvPr/>
        </p:nvSpPr>
        <p:spPr>
          <a:xfrm>
            <a:off x="4129380" y="3776371"/>
            <a:ext cx="36576" cy="36576"/>
          </a:xfrm>
          <a:prstGeom prst="ellipse">
            <a:avLst/>
          </a:prstGeom>
          <a:solidFill>
            <a:srgbClr val="70491E"/>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5112867" y="658368"/>
            <a:ext cx="1965960" cy="329184"/>
          </a:xfrm>
          <a:prstGeom prst="rect">
            <a:avLst/>
          </a:prstGeom>
          <a:noFill/>
        </p:spPr>
        <p:txBody>
          <a:bodyPr wrap="square" lIns="0" rIns="0" tIns="0" bIns="0" anchor="ctr">
            <a:spAutoFit/>
          </a:bodyPr>
          <a:lstStyle/>
          <a:p>
            <a:pPr algn="ctr"/>
            <a:r>
              <a:rPr sz="1300" b="1" i="0" spc="400">
                <a:solidFill>
                  <a:srgbClr val="C9A84C"/>
                </a:solidFill>
                <a:latin typeface="Montserrat"/>
              </a:rPr>
              <a:t>LEVELS 5–7</a:t>
            </a:r>
          </a:p>
        </p:txBody>
      </p:sp>
      <p:cxnSp>
        <p:nvCxnSpPr>
          <p:cNvPr id="50" name="Connector 49"/>
          <p:cNvCxnSpPr/>
          <p:nvPr/>
        </p:nvCxnSpPr>
        <p:spPr>
          <a:xfrm>
            <a:off x="374126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690975"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21598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400135"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051560"/>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The Legacy</a:t>
            </a:r>
          </a:p>
        </p:txBody>
      </p:sp>
      <p:sp>
        <p:nvSpPr>
          <p:cNvPr id="55" name="Rounded Rectangle 54"/>
          <p:cNvSpPr/>
          <p:nvPr/>
        </p:nvSpPr>
        <p:spPr>
          <a:xfrm>
            <a:off x="914400" y="1859280"/>
            <a:ext cx="3240938" cy="3382137"/>
          </a:xfrm>
          <a:prstGeom prst="roundRect">
            <a:avLst>
              <a:gd name="adj" fmla="val 6000"/>
            </a:avLst>
          </a:prstGeom>
          <a:solidFill>
            <a:srgbClr val="100D07"/>
          </a:solidFill>
          <a:ln w="15875">
            <a:solidFill>
              <a:srgbClr val="877034"/>
            </a:solidFill>
          </a:ln>
        </p:spPr>
        <p:txBody>
          <a:bodyPr rtlCol="0" anchor="ctr"/>
          <a:lstStyle/>
          <a:p/>
        </p:txBody>
      </p:sp>
      <p:sp>
        <p:nvSpPr>
          <p:cNvPr id="56" name="Oval 55"/>
          <p:cNvSpPr/>
          <p:nvPr/>
        </p:nvSpPr>
        <p:spPr>
          <a:xfrm>
            <a:off x="2223973" y="2106168"/>
            <a:ext cx="621792" cy="621792"/>
          </a:xfrm>
          <a:prstGeom prst="ellipse">
            <a:avLst/>
          </a:prstGeom>
          <a:solidFill>
            <a:srgbClr val="1A1309"/>
          </a:solidFill>
          <a:ln w="25400">
            <a:solidFill>
              <a:srgbClr val="F0D58A"/>
            </a:solidFill>
          </a:ln>
        </p:spPr>
        <p:txBody>
          <a:bodyPr rtlCol="0" anchor="ctr"/>
          <a:lstStyle/>
          <a:p/>
        </p:txBody>
      </p:sp>
      <p:sp>
        <p:nvSpPr>
          <p:cNvPr id="57" name="Oval 56"/>
          <p:cNvSpPr/>
          <p:nvPr/>
        </p:nvSpPr>
        <p:spPr>
          <a:xfrm>
            <a:off x="2278837" y="2161032"/>
            <a:ext cx="512064" cy="512064"/>
          </a:xfrm>
          <a:prstGeom prst="ellipse">
            <a:avLst/>
          </a:prstGeom>
          <a:noFill/>
          <a:ln w="9525">
            <a:solidFill>
              <a:srgbClr val="7D6830"/>
            </a:solidFill>
          </a:ln>
        </p:spPr>
        <p:txBody>
          <a:bodyPr rtlCol="0" anchor="ctr"/>
          <a:lstStyle/>
          <a:p/>
        </p:txBody>
      </p:sp>
      <p:sp>
        <p:nvSpPr>
          <p:cNvPr id="58" name="TextBox 57"/>
          <p:cNvSpPr txBox="1"/>
          <p:nvPr/>
        </p:nvSpPr>
        <p:spPr>
          <a:xfrm>
            <a:off x="2223973" y="2106168"/>
            <a:ext cx="621792" cy="621792"/>
          </a:xfrm>
          <a:prstGeom prst="rect">
            <a:avLst/>
          </a:prstGeom>
          <a:noFill/>
        </p:spPr>
        <p:txBody>
          <a:bodyPr wrap="square" lIns="0" rIns="0" tIns="0" bIns="0" anchor="ctr">
            <a:spAutoFit/>
          </a:bodyPr>
          <a:lstStyle/>
          <a:p>
            <a:pPr algn="ctr"/>
            <a:r>
              <a:rPr sz="1900" b="1" i="0">
                <a:solidFill>
                  <a:srgbClr val="F0D58A"/>
                </a:solidFill>
                <a:latin typeface="Cinzel"/>
              </a:rPr>
              <a:t>5</a:t>
            </a:r>
          </a:p>
        </p:txBody>
      </p:sp>
      <p:sp>
        <p:nvSpPr>
          <p:cNvPr id="59" name="TextBox 58"/>
          <p:cNvSpPr txBox="1"/>
          <p:nvPr/>
        </p:nvSpPr>
        <p:spPr>
          <a:xfrm>
            <a:off x="1097280" y="2956560"/>
            <a:ext cx="2875178" cy="84010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The Fortress</a:t>
            </a:r>
          </a:p>
        </p:txBody>
      </p:sp>
      <p:sp>
        <p:nvSpPr>
          <p:cNvPr id="60" name="TextBox 59"/>
          <p:cNvSpPr txBox="1"/>
          <p:nvPr/>
        </p:nvSpPr>
        <p:spPr>
          <a:xfrm>
            <a:off x="1143000" y="397954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Holding company and trust — drafted by an attorney</a:t>
            </a:r>
          </a:p>
        </p:txBody>
      </p:sp>
      <p:sp>
        <p:nvSpPr>
          <p:cNvPr id="61" name="Rounded Rectangle 60"/>
          <p:cNvSpPr/>
          <p:nvPr/>
        </p:nvSpPr>
        <p:spPr>
          <a:xfrm>
            <a:off x="4475378" y="1859280"/>
            <a:ext cx="3240938" cy="3382137"/>
          </a:xfrm>
          <a:prstGeom prst="roundRect">
            <a:avLst>
              <a:gd name="adj" fmla="val 6000"/>
            </a:avLst>
          </a:prstGeom>
          <a:solidFill>
            <a:srgbClr val="100D07"/>
          </a:solidFill>
          <a:ln w="15875">
            <a:solidFill>
              <a:srgbClr val="877034"/>
            </a:solidFill>
          </a:ln>
        </p:spPr>
        <p:txBody>
          <a:bodyPr rtlCol="0" anchor="ctr"/>
          <a:lstStyle/>
          <a:p/>
        </p:txBody>
      </p:sp>
      <p:sp>
        <p:nvSpPr>
          <p:cNvPr id="62" name="Oval 61"/>
          <p:cNvSpPr/>
          <p:nvPr/>
        </p:nvSpPr>
        <p:spPr>
          <a:xfrm>
            <a:off x="5784951" y="2106168"/>
            <a:ext cx="621792" cy="621792"/>
          </a:xfrm>
          <a:prstGeom prst="ellipse">
            <a:avLst/>
          </a:prstGeom>
          <a:solidFill>
            <a:srgbClr val="1A1309"/>
          </a:solidFill>
          <a:ln w="25400">
            <a:solidFill>
              <a:srgbClr val="F0D58A"/>
            </a:solidFill>
          </a:ln>
        </p:spPr>
        <p:txBody>
          <a:bodyPr rtlCol="0" anchor="ctr"/>
          <a:lstStyle/>
          <a:p/>
        </p:txBody>
      </p:sp>
      <p:sp>
        <p:nvSpPr>
          <p:cNvPr id="63" name="Oval 62"/>
          <p:cNvSpPr/>
          <p:nvPr/>
        </p:nvSpPr>
        <p:spPr>
          <a:xfrm>
            <a:off x="5839815" y="2161032"/>
            <a:ext cx="512064" cy="512064"/>
          </a:xfrm>
          <a:prstGeom prst="ellipse">
            <a:avLst/>
          </a:prstGeom>
          <a:noFill/>
          <a:ln w="9525">
            <a:solidFill>
              <a:srgbClr val="7D6830"/>
            </a:solidFill>
          </a:ln>
        </p:spPr>
        <p:txBody>
          <a:bodyPr rtlCol="0" anchor="ctr"/>
          <a:lstStyle/>
          <a:p/>
        </p:txBody>
      </p:sp>
      <p:sp>
        <p:nvSpPr>
          <p:cNvPr id="64" name="TextBox 63"/>
          <p:cNvSpPr txBox="1"/>
          <p:nvPr/>
        </p:nvSpPr>
        <p:spPr>
          <a:xfrm>
            <a:off x="5784951" y="2106168"/>
            <a:ext cx="621792" cy="621792"/>
          </a:xfrm>
          <a:prstGeom prst="rect">
            <a:avLst/>
          </a:prstGeom>
          <a:noFill/>
        </p:spPr>
        <p:txBody>
          <a:bodyPr wrap="square" lIns="0" rIns="0" tIns="0" bIns="0" anchor="ctr">
            <a:spAutoFit/>
          </a:bodyPr>
          <a:lstStyle/>
          <a:p>
            <a:pPr algn="ctr"/>
            <a:r>
              <a:rPr sz="1900" b="1" i="0">
                <a:solidFill>
                  <a:srgbClr val="F0D58A"/>
                </a:solidFill>
                <a:latin typeface="Cinzel"/>
              </a:rPr>
              <a:t>6</a:t>
            </a:r>
          </a:p>
        </p:txBody>
      </p:sp>
      <p:sp>
        <p:nvSpPr>
          <p:cNvPr id="65" name="TextBox 64"/>
          <p:cNvSpPr txBox="1"/>
          <p:nvPr/>
        </p:nvSpPr>
        <p:spPr>
          <a:xfrm>
            <a:off x="4658258" y="2956560"/>
            <a:ext cx="2875178" cy="84010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The Transfer</a:t>
            </a:r>
          </a:p>
        </p:txBody>
      </p:sp>
      <p:sp>
        <p:nvSpPr>
          <p:cNvPr id="66" name="TextBox 65"/>
          <p:cNvSpPr txBox="1"/>
          <p:nvPr/>
        </p:nvSpPr>
        <p:spPr>
          <a:xfrm>
            <a:off x="4703978" y="397954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Beneficiaries chosen on purpose, not by default</a:t>
            </a:r>
          </a:p>
        </p:txBody>
      </p:sp>
      <p:sp>
        <p:nvSpPr>
          <p:cNvPr id="67" name="Rounded Rectangle 66"/>
          <p:cNvSpPr/>
          <p:nvPr/>
        </p:nvSpPr>
        <p:spPr>
          <a:xfrm>
            <a:off x="8036356" y="1859280"/>
            <a:ext cx="3240938" cy="3382137"/>
          </a:xfrm>
          <a:prstGeom prst="roundRect">
            <a:avLst>
              <a:gd name="adj" fmla="val 6000"/>
            </a:avLst>
          </a:prstGeom>
          <a:solidFill>
            <a:srgbClr val="100D07"/>
          </a:solidFill>
          <a:ln w="15875">
            <a:solidFill>
              <a:srgbClr val="877034"/>
            </a:solidFill>
          </a:ln>
        </p:spPr>
        <p:txBody>
          <a:bodyPr rtlCol="0" anchor="ctr"/>
          <a:lstStyle/>
          <a:p/>
        </p:txBody>
      </p:sp>
      <p:sp>
        <p:nvSpPr>
          <p:cNvPr id="68" name="Oval 67"/>
          <p:cNvSpPr/>
          <p:nvPr/>
        </p:nvSpPr>
        <p:spPr>
          <a:xfrm>
            <a:off x="9345930" y="2106168"/>
            <a:ext cx="621792" cy="621792"/>
          </a:xfrm>
          <a:prstGeom prst="ellipse">
            <a:avLst/>
          </a:prstGeom>
          <a:solidFill>
            <a:srgbClr val="1A1309"/>
          </a:solidFill>
          <a:ln w="25400">
            <a:solidFill>
              <a:srgbClr val="F0D58A"/>
            </a:solidFill>
          </a:ln>
        </p:spPr>
        <p:txBody>
          <a:bodyPr rtlCol="0" anchor="ctr"/>
          <a:lstStyle/>
          <a:p/>
        </p:txBody>
      </p:sp>
      <p:sp>
        <p:nvSpPr>
          <p:cNvPr id="69" name="Oval 68"/>
          <p:cNvSpPr/>
          <p:nvPr/>
        </p:nvSpPr>
        <p:spPr>
          <a:xfrm>
            <a:off x="9400794" y="2161032"/>
            <a:ext cx="512064" cy="512064"/>
          </a:xfrm>
          <a:prstGeom prst="ellipse">
            <a:avLst/>
          </a:prstGeom>
          <a:noFill/>
          <a:ln w="9525">
            <a:solidFill>
              <a:srgbClr val="7D6830"/>
            </a:solidFill>
          </a:ln>
        </p:spPr>
        <p:txBody>
          <a:bodyPr rtlCol="0" anchor="ctr"/>
          <a:lstStyle/>
          <a:p/>
        </p:txBody>
      </p:sp>
      <p:sp>
        <p:nvSpPr>
          <p:cNvPr id="70" name="TextBox 69"/>
          <p:cNvSpPr txBox="1"/>
          <p:nvPr/>
        </p:nvSpPr>
        <p:spPr>
          <a:xfrm>
            <a:off x="9345930" y="2106168"/>
            <a:ext cx="621792" cy="621792"/>
          </a:xfrm>
          <a:prstGeom prst="rect">
            <a:avLst/>
          </a:prstGeom>
          <a:noFill/>
        </p:spPr>
        <p:txBody>
          <a:bodyPr wrap="square" lIns="0" rIns="0" tIns="0" bIns="0" anchor="ctr">
            <a:spAutoFit/>
          </a:bodyPr>
          <a:lstStyle/>
          <a:p>
            <a:pPr algn="ctr"/>
            <a:r>
              <a:rPr sz="1900" b="1" i="0">
                <a:solidFill>
                  <a:srgbClr val="F0D58A"/>
                </a:solidFill>
                <a:latin typeface="Cinzel"/>
              </a:rPr>
              <a:t>7</a:t>
            </a:r>
          </a:p>
        </p:txBody>
      </p:sp>
      <p:sp>
        <p:nvSpPr>
          <p:cNvPr id="71" name="TextBox 70"/>
          <p:cNvSpPr txBox="1"/>
          <p:nvPr/>
        </p:nvSpPr>
        <p:spPr>
          <a:xfrm>
            <a:off x="8219236" y="2956560"/>
            <a:ext cx="2875178" cy="84010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The Generational Tree</a:t>
            </a:r>
          </a:p>
        </p:txBody>
      </p:sp>
      <p:sp>
        <p:nvSpPr>
          <p:cNvPr id="72" name="TextBox 71"/>
          <p:cNvSpPr txBox="1"/>
          <p:nvPr/>
        </p:nvSpPr>
        <p:spPr>
          <a:xfrm>
            <a:off x="8264956" y="3979545"/>
            <a:ext cx="2783738" cy="896111"/>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The next generation starts ahead</a:t>
            </a:r>
          </a:p>
        </p:txBody>
      </p:sp>
      <p:sp>
        <p:nvSpPr>
          <p:cNvPr id="73" name="TextBox 72"/>
          <p:cNvSpPr txBox="1"/>
          <p:nvPr/>
        </p:nvSpPr>
        <p:spPr>
          <a:xfrm>
            <a:off x="1097280" y="5424297"/>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A revocable living trust avoids probate for what's in it — it doesn't shield you from creditors.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652387" y="2000424"/>
            <a:ext cx="27432" cy="27432"/>
          </a:xfrm>
          <a:prstGeom prst="ellipse">
            <a:avLst/>
          </a:prstGeom>
          <a:solidFill>
            <a:srgbClr val="564C31"/>
          </a:solidFill>
          <a:ln>
            <a:noFill/>
          </a:ln>
        </p:spPr>
        <p:txBody>
          <a:bodyPr rtlCol="0" anchor="ctr"/>
          <a:lstStyle/>
          <a:p/>
        </p:txBody>
      </p:sp>
      <p:sp>
        <p:nvSpPr>
          <p:cNvPr id="4" name="Oval 3"/>
          <p:cNvSpPr/>
          <p:nvPr/>
        </p:nvSpPr>
        <p:spPr>
          <a:xfrm>
            <a:off x="8120854" y="5668518"/>
            <a:ext cx="27432" cy="27432"/>
          </a:xfrm>
          <a:prstGeom prst="ellipse">
            <a:avLst/>
          </a:prstGeom>
          <a:solidFill>
            <a:srgbClr val="8F7E52"/>
          </a:solidFill>
          <a:ln>
            <a:noFill/>
          </a:ln>
        </p:spPr>
        <p:txBody>
          <a:bodyPr rtlCol="0" anchor="ctr"/>
          <a:lstStyle/>
          <a:p/>
        </p:txBody>
      </p:sp>
      <p:sp>
        <p:nvSpPr>
          <p:cNvPr id="5" name="Oval 4"/>
          <p:cNvSpPr/>
          <p:nvPr/>
        </p:nvSpPr>
        <p:spPr>
          <a:xfrm>
            <a:off x="707241" y="1665256"/>
            <a:ext cx="27432" cy="27432"/>
          </a:xfrm>
          <a:prstGeom prst="ellipse">
            <a:avLst/>
          </a:prstGeom>
          <a:solidFill>
            <a:srgbClr val="7A652F"/>
          </a:solidFill>
          <a:ln>
            <a:noFill/>
          </a:ln>
        </p:spPr>
        <p:txBody>
          <a:bodyPr rtlCol="0" anchor="ctr"/>
          <a:lstStyle/>
          <a:p/>
        </p:txBody>
      </p:sp>
      <p:sp>
        <p:nvSpPr>
          <p:cNvPr id="6" name="Oval 5"/>
          <p:cNvSpPr/>
          <p:nvPr/>
        </p:nvSpPr>
        <p:spPr>
          <a:xfrm>
            <a:off x="2644474" y="4228413"/>
            <a:ext cx="73152" cy="73152"/>
          </a:xfrm>
          <a:prstGeom prst="ellipse">
            <a:avLst/>
          </a:prstGeom>
          <a:solidFill>
            <a:srgbClr val="675528"/>
          </a:solidFill>
          <a:ln>
            <a:noFill/>
          </a:ln>
        </p:spPr>
        <p:txBody>
          <a:bodyPr rtlCol="0" anchor="ctr"/>
          <a:lstStyle/>
          <a:p/>
        </p:txBody>
      </p:sp>
      <p:sp>
        <p:nvSpPr>
          <p:cNvPr id="7" name="Oval 6"/>
          <p:cNvSpPr/>
          <p:nvPr/>
        </p:nvSpPr>
        <p:spPr>
          <a:xfrm>
            <a:off x="7118847" y="5176690"/>
            <a:ext cx="54864" cy="54864"/>
          </a:xfrm>
          <a:prstGeom prst="ellipse">
            <a:avLst/>
          </a:prstGeom>
          <a:solidFill>
            <a:srgbClr val="A4915E"/>
          </a:solidFill>
          <a:ln>
            <a:noFill/>
          </a:ln>
        </p:spPr>
        <p:txBody>
          <a:bodyPr rtlCol="0" anchor="ctr"/>
          <a:lstStyle/>
          <a:p/>
        </p:txBody>
      </p:sp>
      <p:sp>
        <p:nvSpPr>
          <p:cNvPr id="8" name="Oval 7"/>
          <p:cNvSpPr/>
          <p:nvPr/>
        </p:nvSpPr>
        <p:spPr>
          <a:xfrm>
            <a:off x="8366559" y="2388072"/>
            <a:ext cx="36576" cy="36576"/>
          </a:xfrm>
          <a:prstGeom prst="ellipse">
            <a:avLst/>
          </a:prstGeom>
          <a:solidFill>
            <a:srgbClr val="605437"/>
          </a:solidFill>
          <a:ln>
            <a:noFill/>
          </a:ln>
        </p:spPr>
        <p:txBody>
          <a:bodyPr rtlCol="0" anchor="ctr"/>
          <a:lstStyle/>
          <a:p/>
        </p:txBody>
      </p:sp>
      <p:sp>
        <p:nvSpPr>
          <p:cNvPr id="9" name="Oval 8"/>
          <p:cNvSpPr/>
          <p:nvPr/>
        </p:nvSpPr>
        <p:spPr>
          <a:xfrm>
            <a:off x="1537107" y="2623895"/>
            <a:ext cx="45720" cy="45720"/>
          </a:xfrm>
          <a:prstGeom prst="ellipse">
            <a:avLst/>
          </a:prstGeom>
          <a:solidFill>
            <a:srgbClr val="AA6E2B"/>
          </a:solidFill>
          <a:ln>
            <a:noFill/>
          </a:ln>
        </p:spPr>
        <p:txBody>
          <a:bodyPr rtlCol="0" anchor="ctr"/>
          <a:lstStyle/>
          <a:p/>
        </p:txBody>
      </p:sp>
      <p:sp>
        <p:nvSpPr>
          <p:cNvPr id="10" name="Oval 9"/>
          <p:cNvSpPr/>
          <p:nvPr/>
        </p:nvSpPr>
        <p:spPr>
          <a:xfrm>
            <a:off x="3397215" y="624012"/>
            <a:ext cx="73152" cy="73152"/>
          </a:xfrm>
          <a:prstGeom prst="ellipse">
            <a:avLst/>
          </a:prstGeom>
          <a:solidFill>
            <a:srgbClr val="845622"/>
          </a:solidFill>
          <a:ln>
            <a:noFill/>
          </a:ln>
        </p:spPr>
        <p:txBody>
          <a:bodyPr rtlCol="0" anchor="ctr"/>
          <a:lstStyle/>
          <a:p/>
        </p:txBody>
      </p:sp>
      <p:sp>
        <p:nvSpPr>
          <p:cNvPr id="11" name="Oval 10"/>
          <p:cNvSpPr/>
          <p:nvPr/>
        </p:nvSpPr>
        <p:spPr>
          <a:xfrm>
            <a:off x="1268824" y="2108294"/>
            <a:ext cx="54864" cy="54864"/>
          </a:xfrm>
          <a:prstGeom prst="ellipse">
            <a:avLst/>
          </a:prstGeom>
          <a:solidFill>
            <a:srgbClr val="7C672F"/>
          </a:solidFill>
          <a:ln>
            <a:noFill/>
          </a:ln>
        </p:spPr>
        <p:txBody>
          <a:bodyPr rtlCol="0" anchor="ctr"/>
          <a:lstStyle/>
          <a:p/>
        </p:txBody>
      </p:sp>
      <p:sp>
        <p:nvSpPr>
          <p:cNvPr id="12" name="Oval 11"/>
          <p:cNvSpPr/>
          <p:nvPr/>
        </p:nvSpPr>
        <p:spPr>
          <a:xfrm>
            <a:off x="6982316" y="4553453"/>
            <a:ext cx="45720" cy="45720"/>
          </a:xfrm>
          <a:prstGeom prst="ellipse">
            <a:avLst/>
          </a:prstGeom>
          <a:solidFill>
            <a:srgbClr val="988657"/>
          </a:solidFill>
          <a:ln>
            <a:noFill/>
          </a:ln>
        </p:spPr>
        <p:txBody>
          <a:bodyPr rtlCol="0" anchor="ctr"/>
          <a:lstStyle/>
          <a:p/>
        </p:txBody>
      </p:sp>
      <p:sp>
        <p:nvSpPr>
          <p:cNvPr id="13" name="Oval 12"/>
          <p:cNvSpPr/>
          <p:nvPr/>
        </p:nvSpPr>
        <p:spPr>
          <a:xfrm>
            <a:off x="11656571" y="5449426"/>
            <a:ext cx="45720" cy="45720"/>
          </a:xfrm>
          <a:prstGeom prst="ellipse">
            <a:avLst/>
          </a:prstGeom>
          <a:solidFill>
            <a:srgbClr val="756743"/>
          </a:solidFill>
          <a:ln>
            <a:noFill/>
          </a:ln>
        </p:spPr>
        <p:txBody>
          <a:bodyPr rtlCol="0" anchor="ctr"/>
          <a:lstStyle/>
          <a:p/>
        </p:txBody>
      </p:sp>
      <p:sp>
        <p:nvSpPr>
          <p:cNvPr id="14" name="Oval 13"/>
          <p:cNvSpPr/>
          <p:nvPr/>
        </p:nvSpPr>
        <p:spPr>
          <a:xfrm>
            <a:off x="7650815" y="2534176"/>
            <a:ext cx="54864" cy="54864"/>
          </a:xfrm>
          <a:prstGeom prst="ellipse">
            <a:avLst/>
          </a:prstGeom>
          <a:solidFill>
            <a:srgbClr val="6E481D"/>
          </a:solidFill>
          <a:ln>
            <a:noFill/>
          </a:ln>
        </p:spPr>
        <p:txBody>
          <a:bodyPr rtlCol="0" anchor="ctr"/>
          <a:lstStyle/>
          <a:p/>
        </p:txBody>
      </p:sp>
      <p:sp>
        <p:nvSpPr>
          <p:cNvPr id="15" name="Oval 14"/>
          <p:cNvSpPr/>
          <p:nvPr/>
        </p:nvSpPr>
        <p:spPr>
          <a:xfrm>
            <a:off x="8408743" y="4428493"/>
            <a:ext cx="45720" cy="45720"/>
          </a:xfrm>
          <a:prstGeom prst="ellipse">
            <a:avLst/>
          </a:prstGeom>
          <a:solidFill>
            <a:srgbClr val="918053"/>
          </a:solidFill>
          <a:ln>
            <a:noFill/>
          </a:ln>
        </p:spPr>
        <p:txBody>
          <a:bodyPr rtlCol="0" anchor="ctr"/>
          <a:lstStyle/>
          <a:p/>
        </p:txBody>
      </p:sp>
      <p:sp>
        <p:nvSpPr>
          <p:cNvPr id="16" name="Oval 15"/>
          <p:cNvSpPr/>
          <p:nvPr/>
        </p:nvSpPr>
        <p:spPr>
          <a:xfrm>
            <a:off x="6487096" y="1820818"/>
            <a:ext cx="36576" cy="36576"/>
          </a:xfrm>
          <a:prstGeom prst="ellipse">
            <a:avLst/>
          </a:prstGeom>
          <a:solidFill>
            <a:srgbClr val="714A1E"/>
          </a:solidFill>
          <a:ln>
            <a:noFill/>
          </a:ln>
        </p:spPr>
        <p:txBody>
          <a:bodyPr rtlCol="0" anchor="ctr"/>
          <a:lstStyle/>
          <a:p/>
        </p:txBody>
      </p:sp>
      <p:sp>
        <p:nvSpPr>
          <p:cNvPr id="17" name="Oval 16"/>
          <p:cNvSpPr/>
          <p:nvPr/>
        </p:nvSpPr>
        <p:spPr>
          <a:xfrm>
            <a:off x="2882588" y="2293166"/>
            <a:ext cx="73152" cy="73152"/>
          </a:xfrm>
          <a:prstGeom prst="ellipse">
            <a:avLst/>
          </a:prstGeom>
          <a:solidFill>
            <a:srgbClr val="625638"/>
          </a:solidFill>
          <a:ln>
            <a:noFill/>
          </a:ln>
        </p:spPr>
        <p:txBody>
          <a:bodyPr rtlCol="0" anchor="ctr"/>
          <a:lstStyle/>
          <a:p/>
        </p:txBody>
      </p:sp>
      <p:sp>
        <p:nvSpPr>
          <p:cNvPr id="18" name="Oval 17"/>
          <p:cNvSpPr/>
          <p:nvPr/>
        </p:nvSpPr>
        <p:spPr>
          <a:xfrm>
            <a:off x="9591725" y="2750123"/>
            <a:ext cx="27432" cy="27432"/>
          </a:xfrm>
          <a:prstGeom prst="ellipse">
            <a:avLst/>
          </a:prstGeom>
          <a:solidFill>
            <a:srgbClr val="5F5436"/>
          </a:solidFill>
          <a:ln>
            <a:noFill/>
          </a:ln>
        </p:spPr>
        <p:txBody>
          <a:bodyPr rtlCol="0" anchor="ctr"/>
          <a:lstStyle/>
          <a:p/>
        </p:txBody>
      </p:sp>
      <p:sp>
        <p:nvSpPr>
          <p:cNvPr id="19" name="Oval 18"/>
          <p:cNvSpPr/>
          <p:nvPr/>
        </p:nvSpPr>
        <p:spPr>
          <a:xfrm>
            <a:off x="10409086" y="2236079"/>
            <a:ext cx="73152" cy="73152"/>
          </a:xfrm>
          <a:prstGeom prst="ellipse">
            <a:avLst/>
          </a:prstGeom>
          <a:solidFill>
            <a:srgbClr val="6F5C2B"/>
          </a:solidFill>
          <a:ln>
            <a:noFill/>
          </a:ln>
        </p:spPr>
        <p:txBody>
          <a:bodyPr rtlCol="0" anchor="ctr"/>
          <a:lstStyle/>
          <a:p/>
        </p:txBody>
      </p:sp>
      <p:sp>
        <p:nvSpPr>
          <p:cNvPr id="20" name="Oval 19"/>
          <p:cNvSpPr/>
          <p:nvPr/>
        </p:nvSpPr>
        <p:spPr>
          <a:xfrm>
            <a:off x="2003093" y="1195666"/>
            <a:ext cx="54864" cy="54864"/>
          </a:xfrm>
          <a:prstGeom prst="ellipse">
            <a:avLst/>
          </a:prstGeom>
          <a:solidFill>
            <a:srgbClr val="76622D"/>
          </a:solidFill>
          <a:ln>
            <a:noFill/>
          </a:ln>
        </p:spPr>
        <p:txBody>
          <a:bodyPr rtlCol="0" anchor="ctr"/>
          <a:lstStyle/>
          <a:p/>
        </p:txBody>
      </p:sp>
      <p:sp>
        <p:nvSpPr>
          <p:cNvPr id="21" name="Oval 20"/>
          <p:cNvSpPr/>
          <p:nvPr/>
        </p:nvSpPr>
        <p:spPr>
          <a:xfrm>
            <a:off x="8926669" y="2912199"/>
            <a:ext cx="45720" cy="45720"/>
          </a:xfrm>
          <a:prstGeom prst="ellipse">
            <a:avLst/>
          </a:prstGeom>
          <a:solidFill>
            <a:srgbClr val="655427"/>
          </a:solidFill>
          <a:ln>
            <a:noFill/>
          </a:ln>
        </p:spPr>
        <p:txBody>
          <a:bodyPr rtlCol="0" anchor="ctr"/>
          <a:lstStyle/>
          <a:p/>
        </p:txBody>
      </p:sp>
      <p:sp>
        <p:nvSpPr>
          <p:cNvPr id="22" name="Oval 21"/>
          <p:cNvSpPr/>
          <p:nvPr/>
        </p:nvSpPr>
        <p:spPr>
          <a:xfrm>
            <a:off x="11795288" y="1187948"/>
            <a:ext cx="36576" cy="36576"/>
          </a:xfrm>
          <a:prstGeom prst="ellipse">
            <a:avLst/>
          </a:prstGeom>
          <a:solidFill>
            <a:srgbClr val="4E3316"/>
          </a:solidFill>
          <a:ln>
            <a:noFill/>
          </a:ln>
        </p:spPr>
        <p:txBody>
          <a:bodyPr rtlCol="0" anchor="ctr"/>
          <a:lstStyle/>
          <a:p/>
        </p:txBody>
      </p:sp>
      <p:sp>
        <p:nvSpPr>
          <p:cNvPr id="23" name="Oval 22"/>
          <p:cNvSpPr/>
          <p:nvPr/>
        </p:nvSpPr>
        <p:spPr>
          <a:xfrm>
            <a:off x="10234150" y="1274187"/>
            <a:ext cx="27432" cy="27432"/>
          </a:xfrm>
          <a:prstGeom prst="ellipse">
            <a:avLst/>
          </a:prstGeom>
          <a:solidFill>
            <a:srgbClr val="A89561"/>
          </a:solidFill>
          <a:ln>
            <a:noFill/>
          </a:ln>
        </p:spPr>
        <p:txBody>
          <a:bodyPr rtlCol="0" anchor="ctr"/>
          <a:lstStyle/>
          <a:p/>
        </p:txBody>
      </p:sp>
      <p:sp>
        <p:nvSpPr>
          <p:cNvPr id="24" name="Oval 23"/>
          <p:cNvSpPr/>
          <p:nvPr/>
        </p:nvSpPr>
        <p:spPr>
          <a:xfrm>
            <a:off x="7200711" y="2652662"/>
            <a:ext cx="54864" cy="54864"/>
          </a:xfrm>
          <a:prstGeom prst="ellipse">
            <a:avLst/>
          </a:prstGeom>
          <a:solidFill>
            <a:srgbClr val="A3883E"/>
          </a:solidFill>
          <a:ln>
            <a:noFill/>
          </a:ln>
        </p:spPr>
        <p:txBody>
          <a:bodyPr rtlCol="0" anchor="ctr"/>
          <a:lstStyle/>
          <a:p/>
        </p:txBody>
      </p:sp>
      <p:sp>
        <p:nvSpPr>
          <p:cNvPr id="25" name="Oval 24"/>
          <p:cNvSpPr/>
          <p:nvPr/>
        </p:nvSpPr>
        <p:spPr>
          <a:xfrm>
            <a:off x="3247009" y="3653913"/>
            <a:ext cx="73152" cy="73152"/>
          </a:xfrm>
          <a:prstGeom prst="ellipse">
            <a:avLst/>
          </a:prstGeom>
          <a:solidFill>
            <a:srgbClr val="9A8858"/>
          </a:solidFill>
          <a:ln>
            <a:noFill/>
          </a:ln>
        </p:spPr>
        <p:txBody>
          <a:bodyPr rtlCol="0" anchor="ctr"/>
          <a:lstStyle/>
          <a:p/>
        </p:txBody>
      </p:sp>
      <p:sp>
        <p:nvSpPr>
          <p:cNvPr id="26" name="Oval 25"/>
          <p:cNvSpPr/>
          <p:nvPr/>
        </p:nvSpPr>
        <p:spPr>
          <a:xfrm>
            <a:off x="8178280" y="3557296"/>
            <a:ext cx="27432" cy="27432"/>
          </a:xfrm>
          <a:prstGeom prst="ellipse">
            <a:avLst/>
          </a:prstGeom>
          <a:solidFill>
            <a:srgbClr val="A06829"/>
          </a:solidFill>
          <a:ln>
            <a:noFill/>
          </a:ln>
        </p:spPr>
        <p:txBody>
          <a:bodyPr rtlCol="0" anchor="ctr"/>
          <a:lstStyle/>
          <a:p/>
        </p:txBody>
      </p:sp>
      <p:sp>
        <p:nvSpPr>
          <p:cNvPr id="27" name="Oval 26"/>
          <p:cNvSpPr/>
          <p:nvPr/>
        </p:nvSpPr>
        <p:spPr>
          <a:xfrm>
            <a:off x="1644167" y="2949830"/>
            <a:ext cx="45720" cy="45720"/>
          </a:xfrm>
          <a:prstGeom prst="ellipse">
            <a:avLst/>
          </a:prstGeom>
          <a:solidFill>
            <a:srgbClr val="432D13"/>
          </a:solidFill>
          <a:ln>
            <a:noFill/>
          </a:ln>
        </p:spPr>
        <p:txBody>
          <a:bodyPr rtlCol="0" anchor="ctr"/>
          <a:lstStyle/>
          <a:p/>
        </p:txBody>
      </p:sp>
      <p:sp>
        <p:nvSpPr>
          <p:cNvPr id="28" name="Oval 27"/>
          <p:cNvSpPr/>
          <p:nvPr/>
        </p:nvSpPr>
        <p:spPr>
          <a:xfrm>
            <a:off x="11503767" y="4894558"/>
            <a:ext cx="45720" cy="45720"/>
          </a:xfrm>
          <a:prstGeom prst="ellipse">
            <a:avLst/>
          </a:prstGeom>
          <a:solidFill>
            <a:srgbClr val="9A813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 · THE SECRETS</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F0D58A"/>
          </a:solidFill>
          <a:ln>
            <a:noFill/>
          </a:ln>
        </p:spPr>
        <p:txBody>
          <a:bodyPr rtlCol="0" anchor="ctr"/>
          <a:lstStyle/>
          <a:p/>
        </p:txBody>
      </p:sp>
      <p:sp>
        <p:nvSpPr>
          <p:cNvPr id="47" name="Rectangle 46"/>
          <p:cNvSpPr/>
          <p:nvPr/>
        </p:nvSpPr>
        <p:spPr>
          <a:xfrm>
            <a:off x="10792663" y="6364224"/>
            <a:ext cx="384048" cy="64008"/>
          </a:xfrm>
          <a:prstGeom prst="rect">
            <a:avLst/>
          </a:prstGeom>
          <a:noFill/>
          <a:ln w="9525">
            <a:solidFill>
              <a:srgbClr val="6A5829"/>
            </a:solid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758537" y="2005584"/>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FULL DISCLOSURE</a:t>
            </a:r>
          </a:p>
        </p:txBody>
      </p:sp>
      <p:cxnSp>
        <p:nvCxnSpPr>
          <p:cNvPr id="51" name="Connector 50"/>
          <p:cNvCxnSpPr/>
          <p:nvPr/>
        </p:nvCxnSpPr>
        <p:spPr>
          <a:xfrm>
            <a:off x="3386937" y="217017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336645" y="2119884"/>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570317" y="217017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754465" y="2119884"/>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572512"/>
            <a:ext cx="9814255" cy="838200"/>
          </a:xfrm>
          <a:prstGeom prst="rect">
            <a:avLst/>
          </a:prstGeom>
          <a:noFill/>
        </p:spPr>
        <p:txBody>
          <a:bodyPr wrap="square" lIns="0" rIns="0" tIns="0" bIns="0" anchor="b">
            <a:spAutoFit/>
          </a:bodyPr>
          <a:lstStyle/>
          <a:p>
            <a:pPr algn="ctr">
              <a:lnSpc>
                <a:spcPct val="105000"/>
              </a:lnSpc>
            </a:pPr>
            <a:r>
              <a:rPr sz="5600" b="1" i="0">
                <a:solidFill>
                  <a:srgbClr val="F0D58A"/>
                </a:solidFill>
                <a:latin typeface="Cinzel"/>
              </a:rPr>
              <a:t>How I get paid</a:t>
            </a:r>
          </a:p>
        </p:txBody>
      </p:sp>
      <p:cxnSp>
        <p:nvCxnSpPr>
          <p:cNvPr id="56" name="Connector 55"/>
          <p:cNvCxnSpPr/>
          <p:nvPr/>
        </p:nvCxnSpPr>
        <p:spPr>
          <a:xfrm>
            <a:off x="4632807" y="359359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359359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529584"/>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3776472"/>
            <a:ext cx="9448495" cy="1377696"/>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Everything I charge for is education and preparation.</a:t>
            </a:r>
          </a:p>
          <a:p>
            <a:pPr algn="ctr">
              <a:lnSpc>
                <a:spcPct val="120000"/>
              </a:lnSpc>
              <a:spcAft>
                <a:spcPts val="800"/>
              </a:spcAft>
            </a:pPr>
            <a:r>
              <a:rPr sz="2000" b="0" i="0">
                <a:solidFill>
                  <a:srgbClr val="B9A57A"/>
                </a:solidFill>
                <a:latin typeface="Montserrat"/>
              </a:rPr>
              <a:t>If a policy is right for you, the carrier pays me a commission — and I'll tell you how much.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0.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82309" y="3656375"/>
            <a:ext cx="45720" cy="45720"/>
          </a:xfrm>
          <a:prstGeom prst="ellipse">
            <a:avLst/>
          </a:prstGeom>
          <a:solidFill>
            <a:srgbClr val="5F4F25"/>
          </a:solidFill>
          <a:ln>
            <a:noFill/>
          </a:ln>
        </p:spPr>
        <p:txBody>
          <a:bodyPr rtlCol="0" anchor="ctr"/>
          <a:lstStyle/>
          <a:p/>
        </p:txBody>
      </p:sp>
      <p:sp>
        <p:nvSpPr>
          <p:cNvPr id="4" name="Oval 3"/>
          <p:cNvSpPr/>
          <p:nvPr/>
        </p:nvSpPr>
        <p:spPr>
          <a:xfrm>
            <a:off x="4795771" y="4024410"/>
            <a:ext cx="73152" cy="73152"/>
          </a:xfrm>
          <a:prstGeom prst="ellipse">
            <a:avLst/>
          </a:prstGeom>
          <a:solidFill>
            <a:srgbClr val="935F26"/>
          </a:solidFill>
          <a:ln>
            <a:noFill/>
          </a:ln>
        </p:spPr>
        <p:txBody>
          <a:bodyPr rtlCol="0" anchor="ctr"/>
          <a:lstStyle/>
          <a:p/>
        </p:txBody>
      </p:sp>
      <p:sp>
        <p:nvSpPr>
          <p:cNvPr id="5" name="Oval 4"/>
          <p:cNvSpPr/>
          <p:nvPr/>
        </p:nvSpPr>
        <p:spPr>
          <a:xfrm>
            <a:off x="372939" y="5968491"/>
            <a:ext cx="27432" cy="27432"/>
          </a:xfrm>
          <a:prstGeom prst="ellipse">
            <a:avLst/>
          </a:prstGeom>
          <a:solidFill>
            <a:srgbClr val="9B6428"/>
          </a:solidFill>
          <a:ln>
            <a:noFill/>
          </a:ln>
        </p:spPr>
        <p:txBody>
          <a:bodyPr rtlCol="0" anchor="ctr"/>
          <a:lstStyle/>
          <a:p/>
        </p:txBody>
      </p:sp>
      <p:sp>
        <p:nvSpPr>
          <p:cNvPr id="6" name="Oval 5"/>
          <p:cNvSpPr/>
          <p:nvPr/>
        </p:nvSpPr>
        <p:spPr>
          <a:xfrm>
            <a:off x="10879368" y="5707501"/>
            <a:ext cx="27432" cy="27432"/>
          </a:xfrm>
          <a:prstGeom prst="ellipse">
            <a:avLst/>
          </a:prstGeom>
          <a:solidFill>
            <a:srgbClr val="685628"/>
          </a:solidFill>
          <a:ln>
            <a:noFill/>
          </a:ln>
        </p:spPr>
        <p:txBody>
          <a:bodyPr rtlCol="0" anchor="ctr"/>
          <a:lstStyle/>
          <a:p/>
        </p:txBody>
      </p:sp>
      <p:sp>
        <p:nvSpPr>
          <p:cNvPr id="7" name="Oval 6"/>
          <p:cNvSpPr/>
          <p:nvPr/>
        </p:nvSpPr>
        <p:spPr>
          <a:xfrm>
            <a:off x="6362521" y="2500000"/>
            <a:ext cx="36576" cy="36576"/>
          </a:xfrm>
          <a:prstGeom prst="ellipse">
            <a:avLst/>
          </a:prstGeom>
          <a:solidFill>
            <a:srgbClr val="494029"/>
          </a:solidFill>
          <a:ln>
            <a:noFill/>
          </a:ln>
        </p:spPr>
        <p:txBody>
          <a:bodyPr rtlCol="0" anchor="ctr"/>
          <a:lstStyle/>
          <a:p/>
        </p:txBody>
      </p:sp>
      <p:sp>
        <p:nvSpPr>
          <p:cNvPr id="8" name="Oval 7"/>
          <p:cNvSpPr/>
          <p:nvPr/>
        </p:nvSpPr>
        <p:spPr>
          <a:xfrm>
            <a:off x="8579636" y="2466540"/>
            <a:ext cx="45720" cy="45720"/>
          </a:xfrm>
          <a:prstGeom prst="ellipse">
            <a:avLst/>
          </a:prstGeom>
          <a:solidFill>
            <a:srgbClr val="865823"/>
          </a:solidFill>
          <a:ln>
            <a:noFill/>
          </a:ln>
        </p:spPr>
        <p:txBody>
          <a:bodyPr rtlCol="0" anchor="ctr"/>
          <a:lstStyle/>
          <a:p/>
        </p:txBody>
      </p:sp>
      <p:sp>
        <p:nvSpPr>
          <p:cNvPr id="9" name="Oval 8"/>
          <p:cNvSpPr/>
          <p:nvPr/>
        </p:nvSpPr>
        <p:spPr>
          <a:xfrm>
            <a:off x="3100377" y="5362092"/>
            <a:ext cx="36576" cy="36576"/>
          </a:xfrm>
          <a:prstGeom prst="ellipse">
            <a:avLst/>
          </a:prstGeom>
          <a:solidFill>
            <a:srgbClr val="554A30"/>
          </a:solidFill>
          <a:ln>
            <a:noFill/>
          </a:ln>
        </p:spPr>
        <p:txBody>
          <a:bodyPr rtlCol="0" anchor="ctr"/>
          <a:lstStyle/>
          <a:p/>
        </p:txBody>
      </p:sp>
      <p:sp>
        <p:nvSpPr>
          <p:cNvPr id="10" name="Oval 9"/>
          <p:cNvSpPr/>
          <p:nvPr/>
        </p:nvSpPr>
        <p:spPr>
          <a:xfrm>
            <a:off x="4523954" y="2645598"/>
            <a:ext cx="27432" cy="27432"/>
          </a:xfrm>
          <a:prstGeom prst="ellipse">
            <a:avLst/>
          </a:prstGeom>
          <a:solidFill>
            <a:srgbClr val="907837"/>
          </a:solidFill>
          <a:ln>
            <a:noFill/>
          </a:ln>
        </p:spPr>
        <p:txBody>
          <a:bodyPr rtlCol="0" anchor="ctr"/>
          <a:lstStyle/>
          <a:p/>
        </p:txBody>
      </p:sp>
      <p:sp>
        <p:nvSpPr>
          <p:cNvPr id="11" name="Oval 10"/>
          <p:cNvSpPr/>
          <p:nvPr/>
        </p:nvSpPr>
        <p:spPr>
          <a:xfrm>
            <a:off x="7801218" y="5602735"/>
            <a:ext cx="27432" cy="27432"/>
          </a:xfrm>
          <a:prstGeom prst="ellipse">
            <a:avLst/>
          </a:prstGeom>
          <a:solidFill>
            <a:srgbClr val="937B38"/>
          </a:solidFill>
          <a:ln>
            <a:noFill/>
          </a:ln>
        </p:spPr>
        <p:txBody>
          <a:bodyPr rtlCol="0" anchor="ctr"/>
          <a:lstStyle/>
          <a:p/>
        </p:txBody>
      </p:sp>
      <p:sp>
        <p:nvSpPr>
          <p:cNvPr id="12" name="Oval 11"/>
          <p:cNvSpPr/>
          <p:nvPr/>
        </p:nvSpPr>
        <p:spPr>
          <a:xfrm>
            <a:off x="5763848" y="1020421"/>
            <a:ext cx="36576" cy="36576"/>
          </a:xfrm>
          <a:prstGeom prst="ellipse">
            <a:avLst/>
          </a:prstGeom>
          <a:solidFill>
            <a:srgbClr val="8C5B24"/>
          </a:solidFill>
          <a:ln>
            <a:noFill/>
          </a:ln>
        </p:spPr>
        <p:txBody>
          <a:bodyPr rtlCol="0" anchor="ctr"/>
          <a:lstStyle/>
          <a:p/>
        </p:txBody>
      </p:sp>
      <p:sp>
        <p:nvSpPr>
          <p:cNvPr id="13" name="Oval 12"/>
          <p:cNvSpPr/>
          <p:nvPr/>
        </p:nvSpPr>
        <p:spPr>
          <a:xfrm>
            <a:off x="10440969" y="5179849"/>
            <a:ext cx="45720" cy="45720"/>
          </a:xfrm>
          <a:prstGeom prst="ellipse">
            <a:avLst/>
          </a:prstGeom>
          <a:solidFill>
            <a:srgbClr val="9B813B"/>
          </a:solidFill>
          <a:ln>
            <a:noFill/>
          </a:ln>
        </p:spPr>
        <p:txBody>
          <a:bodyPr rtlCol="0" anchor="ctr"/>
          <a:lstStyle/>
          <a:p/>
        </p:txBody>
      </p:sp>
      <p:sp>
        <p:nvSpPr>
          <p:cNvPr id="14" name="Oval 13"/>
          <p:cNvSpPr/>
          <p:nvPr/>
        </p:nvSpPr>
        <p:spPr>
          <a:xfrm>
            <a:off x="6470416" y="604156"/>
            <a:ext cx="45720" cy="45720"/>
          </a:xfrm>
          <a:prstGeom prst="ellipse">
            <a:avLst/>
          </a:prstGeom>
          <a:solidFill>
            <a:srgbClr val="875823"/>
          </a:solidFill>
          <a:ln>
            <a:noFill/>
          </a:ln>
        </p:spPr>
        <p:txBody>
          <a:bodyPr rtlCol="0" anchor="ctr"/>
          <a:lstStyle/>
          <a:p/>
        </p:txBody>
      </p:sp>
      <p:sp>
        <p:nvSpPr>
          <p:cNvPr id="15" name="Oval 14"/>
          <p:cNvSpPr/>
          <p:nvPr/>
        </p:nvSpPr>
        <p:spPr>
          <a:xfrm>
            <a:off x="3348199" y="4705842"/>
            <a:ext cx="54864" cy="54864"/>
          </a:xfrm>
          <a:prstGeom prst="ellipse">
            <a:avLst/>
          </a:prstGeom>
          <a:solidFill>
            <a:srgbClr val="918053"/>
          </a:solidFill>
          <a:ln>
            <a:noFill/>
          </a:ln>
        </p:spPr>
        <p:txBody>
          <a:bodyPr rtlCol="0" anchor="ctr"/>
          <a:lstStyle/>
          <a:p/>
        </p:txBody>
      </p:sp>
      <p:sp>
        <p:nvSpPr>
          <p:cNvPr id="16" name="Oval 15"/>
          <p:cNvSpPr/>
          <p:nvPr/>
        </p:nvSpPr>
        <p:spPr>
          <a:xfrm>
            <a:off x="4719105" y="1870315"/>
            <a:ext cx="36576" cy="36576"/>
          </a:xfrm>
          <a:prstGeom prst="ellipse">
            <a:avLst/>
          </a:prstGeom>
          <a:solidFill>
            <a:srgbClr val="A2873D"/>
          </a:solidFill>
          <a:ln>
            <a:noFill/>
          </a:ln>
        </p:spPr>
        <p:txBody>
          <a:bodyPr rtlCol="0" anchor="ctr"/>
          <a:lstStyle/>
          <a:p/>
        </p:txBody>
      </p:sp>
      <p:sp>
        <p:nvSpPr>
          <p:cNvPr id="17" name="Oval 16"/>
          <p:cNvSpPr/>
          <p:nvPr/>
        </p:nvSpPr>
        <p:spPr>
          <a:xfrm>
            <a:off x="2075644" y="456044"/>
            <a:ext cx="73152" cy="73152"/>
          </a:xfrm>
          <a:prstGeom prst="ellipse">
            <a:avLst/>
          </a:prstGeom>
          <a:solidFill>
            <a:srgbClr val="8A794F"/>
          </a:solidFill>
          <a:ln>
            <a:noFill/>
          </a:ln>
        </p:spPr>
        <p:txBody>
          <a:bodyPr rtlCol="0" anchor="ctr"/>
          <a:lstStyle/>
          <a:p/>
        </p:txBody>
      </p:sp>
      <p:sp>
        <p:nvSpPr>
          <p:cNvPr id="18" name="Oval 17"/>
          <p:cNvSpPr/>
          <p:nvPr/>
        </p:nvSpPr>
        <p:spPr>
          <a:xfrm>
            <a:off x="1220743" y="3404335"/>
            <a:ext cx="27432" cy="27432"/>
          </a:xfrm>
          <a:prstGeom prst="ellipse">
            <a:avLst/>
          </a:prstGeom>
          <a:solidFill>
            <a:srgbClr val="74612D"/>
          </a:solidFill>
          <a:ln>
            <a:noFill/>
          </a:ln>
        </p:spPr>
        <p:txBody>
          <a:bodyPr rtlCol="0" anchor="ctr"/>
          <a:lstStyle/>
          <a:p/>
        </p:txBody>
      </p:sp>
      <p:sp>
        <p:nvSpPr>
          <p:cNvPr id="19" name="Oval 18"/>
          <p:cNvSpPr/>
          <p:nvPr/>
        </p:nvSpPr>
        <p:spPr>
          <a:xfrm>
            <a:off x="4555354" y="4878014"/>
            <a:ext cx="54864" cy="54864"/>
          </a:xfrm>
          <a:prstGeom prst="ellipse">
            <a:avLst/>
          </a:prstGeom>
          <a:solidFill>
            <a:srgbClr val="574822"/>
          </a:solidFill>
          <a:ln>
            <a:noFill/>
          </a:ln>
        </p:spPr>
        <p:txBody>
          <a:bodyPr rtlCol="0" anchor="ctr"/>
          <a:lstStyle/>
          <a:p/>
        </p:txBody>
      </p:sp>
      <p:sp>
        <p:nvSpPr>
          <p:cNvPr id="20" name="Oval 19"/>
          <p:cNvSpPr/>
          <p:nvPr/>
        </p:nvSpPr>
        <p:spPr>
          <a:xfrm>
            <a:off x="6290285" y="4372401"/>
            <a:ext cx="73152" cy="73152"/>
          </a:xfrm>
          <a:prstGeom prst="ellipse">
            <a:avLst/>
          </a:prstGeom>
          <a:solidFill>
            <a:srgbClr val="B2732D"/>
          </a:solidFill>
          <a:ln>
            <a:noFill/>
          </a:ln>
        </p:spPr>
        <p:txBody>
          <a:bodyPr rtlCol="0" anchor="ctr"/>
          <a:lstStyle/>
          <a:p/>
        </p:txBody>
      </p:sp>
      <p:sp>
        <p:nvSpPr>
          <p:cNvPr id="21" name="Oval 20"/>
          <p:cNvSpPr/>
          <p:nvPr/>
        </p:nvSpPr>
        <p:spPr>
          <a:xfrm>
            <a:off x="9872312" y="3794746"/>
            <a:ext cx="45720" cy="45720"/>
          </a:xfrm>
          <a:prstGeom prst="ellipse">
            <a:avLst/>
          </a:prstGeom>
          <a:solidFill>
            <a:srgbClr val="706340"/>
          </a:solidFill>
          <a:ln>
            <a:noFill/>
          </a:ln>
        </p:spPr>
        <p:txBody>
          <a:bodyPr rtlCol="0" anchor="ctr"/>
          <a:lstStyle/>
          <a:p/>
        </p:txBody>
      </p:sp>
      <p:sp>
        <p:nvSpPr>
          <p:cNvPr id="22" name="Oval 21"/>
          <p:cNvSpPr/>
          <p:nvPr/>
        </p:nvSpPr>
        <p:spPr>
          <a:xfrm>
            <a:off x="2390514" y="5839606"/>
            <a:ext cx="36576" cy="36576"/>
          </a:xfrm>
          <a:prstGeom prst="ellipse">
            <a:avLst/>
          </a:prstGeom>
          <a:solidFill>
            <a:srgbClr val="51472E"/>
          </a:solidFill>
          <a:ln>
            <a:noFill/>
          </a:ln>
        </p:spPr>
        <p:txBody>
          <a:bodyPr rtlCol="0" anchor="ctr"/>
          <a:lstStyle/>
          <a:p/>
        </p:txBody>
      </p:sp>
      <p:sp>
        <p:nvSpPr>
          <p:cNvPr id="23" name="Oval 22"/>
          <p:cNvSpPr/>
          <p:nvPr/>
        </p:nvSpPr>
        <p:spPr>
          <a:xfrm>
            <a:off x="4308690" y="2697794"/>
            <a:ext cx="73152" cy="73152"/>
          </a:xfrm>
          <a:prstGeom prst="ellipse">
            <a:avLst/>
          </a:prstGeom>
          <a:solidFill>
            <a:srgbClr val="794F20"/>
          </a:solidFill>
          <a:ln>
            <a:noFill/>
          </a:ln>
        </p:spPr>
        <p:txBody>
          <a:bodyPr rtlCol="0" anchor="ctr"/>
          <a:lstStyle/>
          <a:p/>
        </p:txBody>
      </p:sp>
      <p:sp>
        <p:nvSpPr>
          <p:cNvPr id="24" name="Oval 23"/>
          <p:cNvSpPr/>
          <p:nvPr/>
        </p:nvSpPr>
        <p:spPr>
          <a:xfrm>
            <a:off x="5111075" y="2560425"/>
            <a:ext cx="27432" cy="27432"/>
          </a:xfrm>
          <a:prstGeom prst="ellipse">
            <a:avLst/>
          </a:prstGeom>
          <a:solidFill>
            <a:srgbClr val="482F14"/>
          </a:solidFill>
          <a:ln>
            <a:noFill/>
          </a:ln>
        </p:spPr>
        <p:txBody>
          <a:bodyPr rtlCol="0" anchor="ctr"/>
          <a:lstStyle/>
          <a:p/>
        </p:txBody>
      </p:sp>
      <p:sp>
        <p:nvSpPr>
          <p:cNvPr id="25" name="Oval 24"/>
          <p:cNvSpPr/>
          <p:nvPr/>
        </p:nvSpPr>
        <p:spPr>
          <a:xfrm>
            <a:off x="8836493" y="5332064"/>
            <a:ext cx="36576" cy="36576"/>
          </a:xfrm>
          <a:prstGeom prst="ellipse">
            <a:avLst/>
          </a:prstGeom>
          <a:solidFill>
            <a:srgbClr val="A79460"/>
          </a:solidFill>
          <a:ln>
            <a:noFill/>
          </a:ln>
        </p:spPr>
        <p:txBody>
          <a:bodyPr rtlCol="0" anchor="ctr"/>
          <a:lstStyle/>
          <a:p/>
        </p:txBody>
      </p:sp>
      <p:sp>
        <p:nvSpPr>
          <p:cNvPr id="26" name="Oval 25"/>
          <p:cNvSpPr/>
          <p:nvPr/>
        </p:nvSpPr>
        <p:spPr>
          <a:xfrm>
            <a:off x="6419882" y="3715605"/>
            <a:ext cx="54864" cy="54864"/>
          </a:xfrm>
          <a:prstGeom prst="ellipse">
            <a:avLst/>
          </a:prstGeom>
          <a:solidFill>
            <a:srgbClr val="9C8A59"/>
          </a:solidFill>
          <a:ln>
            <a:noFill/>
          </a:ln>
        </p:spPr>
        <p:txBody>
          <a:bodyPr rtlCol="0" anchor="ctr"/>
          <a:lstStyle/>
          <a:p/>
        </p:txBody>
      </p:sp>
      <p:sp>
        <p:nvSpPr>
          <p:cNvPr id="27" name="Oval 26"/>
          <p:cNvSpPr/>
          <p:nvPr/>
        </p:nvSpPr>
        <p:spPr>
          <a:xfrm>
            <a:off x="9943864" y="5844909"/>
            <a:ext cx="36576" cy="36576"/>
          </a:xfrm>
          <a:prstGeom prst="ellipse">
            <a:avLst/>
          </a:prstGeom>
          <a:solidFill>
            <a:srgbClr val="905E25"/>
          </a:solidFill>
          <a:ln>
            <a:noFill/>
          </a:ln>
        </p:spPr>
        <p:txBody>
          <a:bodyPr rtlCol="0" anchor="ctr"/>
          <a:lstStyle/>
          <a:p/>
        </p:txBody>
      </p:sp>
      <p:sp>
        <p:nvSpPr>
          <p:cNvPr id="28" name="Oval 27"/>
          <p:cNvSpPr/>
          <p:nvPr/>
        </p:nvSpPr>
        <p:spPr>
          <a:xfrm>
            <a:off x="10422523" y="1759541"/>
            <a:ext cx="27432" cy="27432"/>
          </a:xfrm>
          <a:prstGeom prst="ellipse">
            <a:avLst/>
          </a:prstGeom>
          <a:solidFill>
            <a:srgbClr val="746642"/>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III · THE PROOF</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F0D58A"/>
          </a:solidFill>
          <a:ln>
            <a:no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40.png"/>
          <p:cNvPicPr>
            <a:picLocks noChangeAspect="1"/>
          </p:cNvPicPr>
          <p:nvPr/>
        </p:nvPicPr>
        <p:blipFill>
          <a:blip r:embed="rId3"/>
          <a:stretch>
            <a:fillRect/>
          </a:stretch>
        </p:blipFill>
        <p:spPr>
          <a:xfrm>
            <a:off x="3901287" y="137159"/>
            <a:ext cx="4389120" cy="4389120"/>
          </a:xfrm>
          <a:prstGeom prst="rect">
            <a:avLst/>
          </a:prstGeom>
        </p:spPr>
      </p:pic>
      <p:sp>
        <p:nvSpPr>
          <p:cNvPr id="50" name="Oval 49"/>
          <p:cNvSpPr/>
          <p:nvPr/>
        </p:nvSpPr>
        <p:spPr>
          <a:xfrm>
            <a:off x="5044287" y="1280160"/>
            <a:ext cx="2103120" cy="2103120"/>
          </a:xfrm>
          <a:prstGeom prst="ellipse">
            <a:avLst/>
          </a:prstGeom>
          <a:noFill/>
          <a:ln w="19050">
            <a:solidFill>
              <a:srgbClr val="907837"/>
            </a:solidFill>
          </a:ln>
        </p:spPr>
        <p:txBody>
          <a:bodyPr rtlCol="0" anchor="ctr"/>
          <a:lstStyle/>
          <a:p/>
        </p:txBody>
      </p:sp>
      <p:sp>
        <p:nvSpPr>
          <p:cNvPr id="51" name="Oval 50"/>
          <p:cNvSpPr/>
          <p:nvPr/>
        </p:nvSpPr>
        <p:spPr>
          <a:xfrm>
            <a:off x="4961991" y="1197863"/>
            <a:ext cx="2267712" cy="2267712"/>
          </a:xfrm>
          <a:prstGeom prst="ellipse">
            <a:avLst/>
          </a:prstGeom>
          <a:noFill/>
          <a:ln w="6350">
            <a:solidFill>
              <a:srgbClr val="4E411E"/>
            </a:solidFill>
          </a:ln>
        </p:spPr>
        <p:txBody>
          <a:bodyPr rtlCol="0" anchor="ctr"/>
          <a:lstStyle/>
          <a:p/>
        </p:txBody>
      </p:sp>
      <p:sp>
        <p:nvSpPr>
          <p:cNvPr id="52" name="Oval 51"/>
          <p:cNvSpPr/>
          <p:nvPr/>
        </p:nvSpPr>
        <p:spPr>
          <a:xfrm>
            <a:off x="6013551" y="1197863"/>
            <a:ext cx="164592" cy="164592"/>
          </a:xfrm>
          <a:prstGeom prst="ellipse">
            <a:avLst/>
          </a:prstGeom>
          <a:solidFill>
            <a:srgbClr val="1A1309"/>
          </a:solidFill>
          <a:ln w="19050">
            <a:solidFill>
              <a:srgbClr val="F0D58A"/>
            </a:solidFill>
          </a:ln>
        </p:spPr>
        <p:txBody>
          <a:bodyPr rtlCol="0" anchor="ctr"/>
          <a:lstStyle/>
          <a:p/>
        </p:txBody>
      </p:sp>
      <p:sp>
        <p:nvSpPr>
          <p:cNvPr id="53" name="Oval 52"/>
          <p:cNvSpPr/>
          <p:nvPr/>
        </p:nvSpPr>
        <p:spPr>
          <a:xfrm>
            <a:off x="6835694" y="1593787"/>
            <a:ext cx="164592" cy="164592"/>
          </a:xfrm>
          <a:prstGeom prst="ellipse">
            <a:avLst/>
          </a:prstGeom>
          <a:solidFill>
            <a:srgbClr val="1A1309"/>
          </a:solidFill>
          <a:ln w="19050">
            <a:solidFill>
              <a:srgbClr val="F0D58A"/>
            </a:solidFill>
          </a:ln>
        </p:spPr>
        <p:txBody>
          <a:bodyPr rtlCol="0" anchor="ctr"/>
          <a:lstStyle/>
          <a:p/>
        </p:txBody>
      </p:sp>
      <p:sp>
        <p:nvSpPr>
          <p:cNvPr id="54" name="Oval 53"/>
          <p:cNvSpPr/>
          <p:nvPr/>
        </p:nvSpPr>
        <p:spPr>
          <a:xfrm>
            <a:off x="7038746" y="2483418"/>
            <a:ext cx="164592" cy="164592"/>
          </a:xfrm>
          <a:prstGeom prst="ellipse">
            <a:avLst/>
          </a:prstGeom>
          <a:solidFill>
            <a:srgbClr val="1A1309"/>
          </a:solidFill>
          <a:ln w="19050">
            <a:solidFill>
              <a:srgbClr val="F0D58A"/>
            </a:solidFill>
          </a:ln>
        </p:spPr>
        <p:txBody>
          <a:bodyPr rtlCol="0" anchor="ctr"/>
          <a:lstStyle/>
          <a:p/>
        </p:txBody>
      </p:sp>
      <p:sp>
        <p:nvSpPr>
          <p:cNvPr id="55" name="Oval 54"/>
          <p:cNvSpPr/>
          <p:nvPr/>
        </p:nvSpPr>
        <p:spPr>
          <a:xfrm>
            <a:off x="6469806" y="3196846"/>
            <a:ext cx="164592" cy="164592"/>
          </a:xfrm>
          <a:prstGeom prst="ellipse">
            <a:avLst/>
          </a:prstGeom>
          <a:solidFill>
            <a:srgbClr val="1A1309"/>
          </a:solidFill>
          <a:ln w="19050">
            <a:solidFill>
              <a:srgbClr val="F0D58A"/>
            </a:solidFill>
          </a:ln>
        </p:spPr>
        <p:txBody>
          <a:bodyPr rtlCol="0" anchor="ctr"/>
          <a:lstStyle/>
          <a:p/>
        </p:txBody>
      </p:sp>
      <p:sp>
        <p:nvSpPr>
          <p:cNvPr id="56" name="Oval 55"/>
          <p:cNvSpPr/>
          <p:nvPr/>
        </p:nvSpPr>
        <p:spPr>
          <a:xfrm>
            <a:off x="5557296" y="3196846"/>
            <a:ext cx="164592" cy="164592"/>
          </a:xfrm>
          <a:prstGeom prst="ellipse">
            <a:avLst/>
          </a:prstGeom>
          <a:solidFill>
            <a:srgbClr val="1A1309"/>
          </a:solidFill>
          <a:ln w="19050">
            <a:solidFill>
              <a:srgbClr val="F0D58A"/>
            </a:solidFill>
          </a:ln>
        </p:spPr>
        <p:txBody>
          <a:bodyPr rtlCol="0" anchor="ctr"/>
          <a:lstStyle/>
          <a:p/>
        </p:txBody>
      </p:sp>
      <p:sp>
        <p:nvSpPr>
          <p:cNvPr id="57" name="Oval 56"/>
          <p:cNvSpPr/>
          <p:nvPr/>
        </p:nvSpPr>
        <p:spPr>
          <a:xfrm>
            <a:off x="4988356" y="2483418"/>
            <a:ext cx="164592" cy="164592"/>
          </a:xfrm>
          <a:prstGeom prst="ellipse">
            <a:avLst/>
          </a:prstGeom>
          <a:solidFill>
            <a:srgbClr val="1A1309"/>
          </a:solidFill>
          <a:ln w="19050">
            <a:solidFill>
              <a:srgbClr val="F0D58A"/>
            </a:solidFill>
          </a:ln>
        </p:spPr>
        <p:txBody>
          <a:bodyPr rtlCol="0" anchor="ctr"/>
          <a:lstStyle/>
          <a:p/>
        </p:txBody>
      </p:sp>
      <p:sp>
        <p:nvSpPr>
          <p:cNvPr id="58" name="Oval 57"/>
          <p:cNvSpPr/>
          <p:nvPr/>
        </p:nvSpPr>
        <p:spPr>
          <a:xfrm>
            <a:off x="5191408" y="1593787"/>
            <a:ext cx="164592" cy="164592"/>
          </a:xfrm>
          <a:prstGeom prst="ellipse">
            <a:avLst/>
          </a:prstGeom>
          <a:solidFill>
            <a:srgbClr val="1A1309"/>
          </a:solidFill>
          <a:ln w="19050">
            <a:solidFill>
              <a:srgbClr val="F0D58A"/>
            </a:solidFill>
          </a:ln>
        </p:spPr>
        <p:txBody>
          <a:bodyPr rtlCol="0" anchor="ctr"/>
          <a:lstStyle/>
          <a:p/>
        </p:txBody>
      </p:sp>
      <p:sp>
        <p:nvSpPr>
          <p:cNvPr id="59" name="Oval 58"/>
          <p:cNvSpPr/>
          <p:nvPr/>
        </p:nvSpPr>
        <p:spPr>
          <a:xfrm>
            <a:off x="5437479" y="1673351"/>
            <a:ext cx="1316736" cy="1316736"/>
          </a:xfrm>
          <a:prstGeom prst="ellipse">
            <a:avLst/>
          </a:prstGeom>
          <a:solidFill>
            <a:srgbClr val="1A1309"/>
          </a:solidFill>
          <a:ln w="25400">
            <a:solidFill>
              <a:srgbClr val="F0D58A"/>
            </a:solidFill>
          </a:ln>
        </p:spPr>
        <p:txBody>
          <a:bodyPr rtlCol="0" anchor="ctr"/>
          <a:lstStyle/>
          <a:p/>
        </p:txBody>
      </p:sp>
      <p:sp>
        <p:nvSpPr>
          <p:cNvPr id="60" name="Oval 59"/>
          <p:cNvSpPr/>
          <p:nvPr/>
        </p:nvSpPr>
        <p:spPr>
          <a:xfrm>
            <a:off x="5492343" y="1728216"/>
            <a:ext cx="1207007" cy="1207007"/>
          </a:xfrm>
          <a:prstGeom prst="ellipse">
            <a:avLst/>
          </a:prstGeom>
          <a:noFill/>
          <a:ln w="9525">
            <a:solidFill>
              <a:srgbClr val="7D6830"/>
            </a:solidFill>
          </a:ln>
        </p:spPr>
        <p:txBody>
          <a:bodyPr rtlCol="0" anchor="ctr"/>
          <a:lstStyle/>
          <a:p/>
        </p:txBody>
      </p:sp>
      <p:sp>
        <p:nvSpPr>
          <p:cNvPr id="61" name="TextBox 60"/>
          <p:cNvSpPr txBox="1"/>
          <p:nvPr/>
        </p:nvSpPr>
        <p:spPr>
          <a:xfrm>
            <a:off x="5437479" y="1673351"/>
            <a:ext cx="1316736" cy="1316736"/>
          </a:xfrm>
          <a:prstGeom prst="rect">
            <a:avLst/>
          </a:prstGeom>
          <a:noFill/>
        </p:spPr>
        <p:txBody>
          <a:bodyPr wrap="square" lIns="0" rIns="0" tIns="0" bIns="0" anchor="ctr">
            <a:spAutoFit/>
          </a:bodyPr>
          <a:lstStyle/>
          <a:p>
            <a:pPr algn="ctr"/>
            <a:r>
              <a:rPr sz="4000" b="1" i="0">
                <a:solidFill>
                  <a:srgbClr val="F0D58A"/>
                </a:solidFill>
                <a:latin typeface="Cinzel"/>
              </a:rPr>
              <a:t>✦</a:t>
            </a:r>
          </a:p>
        </p:txBody>
      </p:sp>
      <p:sp>
        <p:nvSpPr>
          <p:cNvPr id="62" name="TextBox 61"/>
          <p:cNvSpPr txBox="1"/>
          <p:nvPr/>
        </p:nvSpPr>
        <p:spPr>
          <a:xfrm>
            <a:off x="5181447" y="3703320"/>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THE PROOF</a:t>
            </a:r>
          </a:p>
        </p:txBody>
      </p:sp>
      <p:cxnSp>
        <p:nvCxnSpPr>
          <p:cNvPr id="63" name="Connector 62"/>
          <p:cNvCxnSpPr/>
          <p:nvPr/>
        </p:nvCxnSpPr>
        <p:spPr>
          <a:xfrm>
            <a:off x="3809847"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4" name="Diamond 63"/>
          <p:cNvSpPr/>
          <p:nvPr/>
        </p:nvSpPr>
        <p:spPr>
          <a:xfrm>
            <a:off x="3759555" y="3817620"/>
            <a:ext cx="100584" cy="100584"/>
          </a:xfrm>
          <a:prstGeom prst="diamond">
            <a:avLst/>
          </a:prstGeom>
          <a:solidFill>
            <a:srgbClr val="C9A84C"/>
          </a:solidFill>
          <a:ln>
            <a:noFill/>
          </a:ln>
        </p:spPr>
        <p:txBody>
          <a:bodyPr rtlCol="0" anchor="ctr"/>
          <a:lstStyle/>
          <a:p/>
        </p:txBody>
      </p:sp>
      <p:cxnSp>
        <p:nvCxnSpPr>
          <p:cNvPr id="65" name="Connector 64"/>
          <p:cNvCxnSpPr/>
          <p:nvPr/>
        </p:nvCxnSpPr>
        <p:spPr>
          <a:xfrm>
            <a:off x="7147407"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6" name="Diamond 65"/>
          <p:cNvSpPr/>
          <p:nvPr/>
        </p:nvSpPr>
        <p:spPr>
          <a:xfrm>
            <a:off x="8331555" y="3817620"/>
            <a:ext cx="100584" cy="100584"/>
          </a:xfrm>
          <a:prstGeom prst="diamond">
            <a:avLst/>
          </a:prstGeom>
          <a:solidFill>
            <a:srgbClr val="C9A84C"/>
          </a:solidFill>
          <a:ln>
            <a:noFill/>
          </a:ln>
        </p:spPr>
        <p:txBody>
          <a:bodyPr rtlCol="0" anchor="ctr"/>
          <a:lstStyle/>
          <a:p/>
        </p:txBody>
      </p:sp>
      <p:sp>
        <p:nvSpPr>
          <p:cNvPr id="67" name="TextBox 66"/>
          <p:cNvSpPr txBox="1"/>
          <p:nvPr/>
        </p:nvSpPr>
        <p:spPr>
          <a:xfrm>
            <a:off x="914400" y="4069080"/>
            <a:ext cx="10362895" cy="1097280"/>
          </a:xfrm>
          <a:prstGeom prst="rect">
            <a:avLst/>
          </a:prstGeom>
          <a:noFill/>
        </p:spPr>
        <p:txBody>
          <a:bodyPr wrap="square" lIns="0" rIns="0" tIns="0" bIns="0" anchor="ctr">
            <a:spAutoFit/>
          </a:bodyPr>
          <a:lstStyle/>
          <a:p>
            <a:pPr algn="ctr">
              <a:lnSpc>
                <a:spcPct val="105000"/>
              </a:lnSpc>
            </a:pPr>
            <a:r>
              <a:rPr sz="6000" b="1" i="0">
                <a:solidFill>
                  <a:srgbClr val="F0D58A"/>
                </a:solidFill>
                <a:latin typeface="Cinzel"/>
              </a:rPr>
              <a:t>Proof is the truth</a:t>
            </a:r>
          </a:p>
        </p:txBody>
      </p:sp>
      <p:sp>
        <p:nvSpPr>
          <p:cNvPr id="68" name="TextBox 67"/>
          <p:cNvSpPr txBox="1"/>
          <p:nvPr/>
        </p:nvSpPr>
        <p:spPr>
          <a:xfrm>
            <a:off x="1371600" y="5166360"/>
            <a:ext cx="9448495" cy="548640"/>
          </a:xfrm>
          <a:prstGeom prst="rect">
            <a:avLst/>
          </a:prstGeom>
          <a:noFill/>
        </p:spPr>
        <p:txBody>
          <a:bodyPr wrap="square" lIns="0" rIns="0" tIns="0" bIns="0" anchor="t">
            <a:spAutoFit/>
          </a:bodyPr>
          <a:lstStyle/>
          <a:p>
            <a:pPr algn="ctr">
              <a:lnSpc>
                <a:spcPct val="120000"/>
              </a:lnSpc>
            </a:pPr>
            <a:r>
              <a:rPr sz="2200" b="0" i="1">
                <a:solidFill>
                  <a:srgbClr val="B9A57A"/>
                </a:solidFill>
                <a:latin typeface="Montserrat"/>
              </a:rPr>
              <a:t>Don't take my word for it. Let's do it right now.</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006790" y="3480043"/>
            <a:ext cx="54864" cy="54864"/>
          </a:xfrm>
          <a:prstGeom prst="ellipse">
            <a:avLst/>
          </a:prstGeom>
          <a:solidFill>
            <a:srgbClr val="685C3C"/>
          </a:solidFill>
          <a:ln>
            <a:noFill/>
          </a:ln>
        </p:spPr>
        <p:txBody>
          <a:bodyPr rtlCol="0" anchor="ctr"/>
          <a:lstStyle/>
          <a:p/>
        </p:txBody>
      </p:sp>
      <p:sp>
        <p:nvSpPr>
          <p:cNvPr id="4" name="Oval 3"/>
          <p:cNvSpPr/>
          <p:nvPr/>
        </p:nvSpPr>
        <p:spPr>
          <a:xfrm>
            <a:off x="1836929" y="2436446"/>
            <a:ext cx="36576" cy="36576"/>
          </a:xfrm>
          <a:prstGeom prst="ellipse">
            <a:avLst/>
          </a:prstGeom>
          <a:solidFill>
            <a:srgbClr val="695728"/>
          </a:solidFill>
          <a:ln>
            <a:noFill/>
          </a:ln>
        </p:spPr>
        <p:txBody>
          <a:bodyPr rtlCol="0" anchor="ctr"/>
          <a:lstStyle/>
          <a:p/>
        </p:txBody>
      </p:sp>
      <p:sp>
        <p:nvSpPr>
          <p:cNvPr id="5" name="Oval 4"/>
          <p:cNvSpPr/>
          <p:nvPr/>
        </p:nvSpPr>
        <p:spPr>
          <a:xfrm>
            <a:off x="6410959" y="4744040"/>
            <a:ext cx="27432" cy="27432"/>
          </a:xfrm>
          <a:prstGeom prst="ellipse">
            <a:avLst/>
          </a:prstGeom>
          <a:solidFill>
            <a:srgbClr val="958456"/>
          </a:solidFill>
          <a:ln>
            <a:noFill/>
          </a:ln>
        </p:spPr>
        <p:txBody>
          <a:bodyPr rtlCol="0" anchor="ctr"/>
          <a:lstStyle/>
          <a:p/>
        </p:txBody>
      </p:sp>
      <p:sp>
        <p:nvSpPr>
          <p:cNvPr id="6" name="Oval 5"/>
          <p:cNvSpPr/>
          <p:nvPr/>
        </p:nvSpPr>
        <p:spPr>
          <a:xfrm>
            <a:off x="8469483" y="5417218"/>
            <a:ext cx="73152" cy="73152"/>
          </a:xfrm>
          <a:prstGeom prst="ellipse">
            <a:avLst/>
          </a:prstGeom>
          <a:solidFill>
            <a:srgbClr val="5B5034"/>
          </a:solidFill>
          <a:ln>
            <a:noFill/>
          </a:ln>
        </p:spPr>
        <p:txBody>
          <a:bodyPr rtlCol="0" anchor="ctr"/>
          <a:lstStyle/>
          <a:p/>
        </p:txBody>
      </p:sp>
      <p:sp>
        <p:nvSpPr>
          <p:cNvPr id="7" name="Oval 6"/>
          <p:cNvSpPr/>
          <p:nvPr/>
        </p:nvSpPr>
        <p:spPr>
          <a:xfrm>
            <a:off x="3955232" y="1854408"/>
            <a:ext cx="73152" cy="73152"/>
          </a:xfrm>
          <a:prstGeom prst="ellipse">
            <a:avLst/>
          </a:prstGeom>
          <a:solidFill>
            <a:srgbClr val="553717"/>
          </a:solidFill>
          <a:ln>
            <a:noFill/>
          </a:ln>
        </p:spPr>
        <p:txBody>
          <a:bodyPr rtlCol="0" anchor="ctr"/>
          <a:lstStyle/>
          <a:p/>
        </p:txBody>
      </p:sp>
      <p:sp>
        <p:nvSpPr>
          <p:cNvPr id="8" name="Oval 7"/>
          <p:cNvSpPr/>
          <p:nvPr/>
        </p:nvSpPr>
        <p:spPr>
          <a:xfrm>
            <a:off x="8167709" y="3476575"/>
            <a:ext cx="73152" cy="73152"/>
          </a:xfrm>
          <a:prstGeom prst="ellipse">
            <a:avLst/>
          </a:prstGeom>
          <a:solidFill>
            <a:srgbClr val="786A45"/>
          </a:solidFill>
          <a:ln>
            <a:noFill/>
          </a:ln>
        </p:spPr>
        <p:txBody>
          <a:bodyPr rtlCol="0" anchor="ctr"/>
          <a:lstStyle/>
          <a:p/>
        </p:txBody>
      </p:sp>
      <p:sp>
        <p:nvSpPr>
          <p:cNvPr id="9" name="Oval 8"/>
          <p:cNvSpPr/>
          <p:nvPr/>
        </p:nvSpPr>
        <p:spPr>
          <a:xfrm>
            <a:off x="10022687" y="2242532"/>
            <a:ext cx="27432" cy="27432"/>
          </a:xfrm>
          <a:prstGeom prst="ellipse">
            <a:avLst/>
          </a:prstGeom>
          <a:solidFill>
            <a:srgbClr val="5E3E19"/>
          </a:solidFill>
          <a:ln>
            <a:noFill/>
          </a:ln>
        </p:spPr>
        <p:txBody>
          <a:bodyPr rtlCol="0" anchor="ctr"/>
          <a:lstStyle/>
          <a:p/>
        </p:txBody>
      </p:sp>
      <p:sp>
        <p:nvSpPr>
          <p:cNvPr id="10" name="Oval 9"/>
          <p:cNvSpPr/>
          <p:nvPr/>
        </p:nvSpPr>
        <p:spPr>
          <a:xfrm>
            <a:off x="3920774" y="3458730"/>
            <a:ext cx="36576" cy="36576"/>
          </a:xfrm>
          <a:prstGeom prst="ellipse">
            <a:avLst/>
          </a:prstGeom>
          <a:solidFill>
            <a:srgbClr val="917937"/>
          </a:solidFill>
          <a:ln>
            <a:noFill/>
          </a:ln>
        </p:spPr>
        <p:txBody>
          <a:bodyPr rtlCol="0" anchor="ctr"/>
          <a:lstStyle/>
          <a:p/>
        </p:txBody>
      </p:sp>
      <p:sp>
        <p:nvSpPr>
          <p:cNvPr id="11" name="Oval 10"/>
          <p:cNvSpPr/>
          <p:nvPr/>
        </p:nvSpPr>
        <p:spPr>
          <a:xfrm>
            <a:off x="9356304" y="1304723"/>
            <a:ext cx="54864" cy="54864"/>
          </a:xfrm>
          <a:prstGeom prst="ellipse">
            <a:avLst/>
          </a:prstGeom>
          <a:solidFill>
            <a:srgbClr val="514320"/>
          </a:solidFill>
          <a:ln>
            <a:noFill/>
          </a:ln>
        </p:spPr>
        <p:txBody>
          <a:bodyPr rtlCol="0" anchor="ctr"/>
          <a:lstStyle/>
          <a:p/>
        </p:txBody>
      </p:sp>
      <p:sp>
        <p:nvSpPr>
          <p:cNvPr id="12" name="Oval 11"/>
          <p:cNvSpPr/>
          <p:nvPr/>
        </p:nvSpPr>
        <p:spPr>
          <a:xfrm>
            <a:off x="6282982" y="1380932"/>
            <a:ext cx="54864" cy="54864"/>
          </a:xfrm>
          <a:prstGeom prst="ellipse">
            <a:avLst/>
          </a:prstGeom>
          <a:solidFill>
            <a:srgbClr val="918053"/>
          </a:solidFill>
          <a:ln>
            <a:noFill/>
          </a:ln>
        </p:spPr>
        <p:txBody>
          <a:bodyPr rtlCol="0" anchor="ctr"/>
          <a:lstStyle/>
          <a:p/>
        </p:txBody>
      </p:sp>
      <p:sp>
        <p:nvSpPr>
          <p:cNvPr id="13" name="Oval 12"/>
          <p:cNvSpPr/>
          <p:nvPr/>
        </p:nvSpPr>
        <p:spPr>
          <a:xfrm>
            <a:off x="468326" y="3141777"/>
            <a:ext cx="73152" cy="73152"/>
          </a:xfrm>
          <a:prstGeom prst="ellipse">
            <a:avLst/>
          </a:prstGeom>
          <a:solidFill>
            <a:srgbClr val="513516"/>
          </a:solidFill>
          <a:ln>
            <a:noFill/>
          </a:ln>
        </p:spPr>
        <p:txBody>
          <a:bodyPr rtlCol="0" anchor="ctr"/>
          <a:lstStyle/>
          <a:p/>
        </p:txBody>
      </p:sp>
      <p:sp>
        <p:nvSpPr>
          <p:cNvPr id="14" name="Oval 13"/>
          <p:cNvSpPr/>
          <p:nvPr/>
        </p:nvSpPr>
        <p:spPr>
          <a:xfrm>
            <a:off x="5652885" y="955892"/>
            <a:ext cx="36576" cy="36576"/>
          </a:xfrm>
          <a:prstGeom prst="ellipse">
            <a:avLst/>
          </a:prstGeom>
          <a:solidFill>
            <a:srgbClr val="9D833C"/>
          </a:solidFill>
          <a:ln>
            <a:noFill/>
          </a:ln>
        </p:spPr>
        <p:txBody>
          <a:bodyPr rtlCol="0" anchor="ctr"/>
          <a:lstStyle/>
          <a:p/>
        </p:txBody>
      </p:sp>
      <p:sp>
        <p:nvSpPr>
          <p:cNvPr id="15" name="Oval 14"/>
          <p:cNvSpPr/>
          <p:nvPr/>
        </p:nvSpPr>
        <p:spPr>
          <a:xfrm>
            <a:off x="7491400" y="3059294"/>
            <a:ext cx="45720" cy="45720"/>
          </a:xfrm>
          <a:prstGeom prst="ellipse">
            <a:avLst/>
          </a:prstGeom>
          <a:solidFill>
            <a:srgbClr val="9A813B"/>
          </a:solidFill>
          <a:ln>
            <a:noFill/>
          </a:ln>
        </p:spPr>
        <p:txBody>
          <a:bodyPr rtlCol="0" anchor="ctr"/>
          <a:lstStyle/>
          <a:p/>
        </p:txBody>
      </p:sp>
      <p:sp>
        <p:nvSpPr>
          <p:cNvPr id="16" name="Oval 15"/>
          <p:cNvSpPr/>
          <p:nvPr/>
        </p:nvSpPr>
        <p:spPr>
          <a:xfrm>
            <a:off x="1166006" y="586471"/>
            <a:ext cx="36576" cy="36576"/>
          </a:xfrm>
          <a:prstGeom prst="ellipse">
            <a:avLst/>
          </a:prstGeom>
          <a:solidFill>
            <a:srgbClr val="918053"/>
          </a:solidFill>
          <a:ln>
            <a:noFill/>
          </a:ln>
        </p:spPr>
        <p:txBody>
          <a:bodyPr rtlCol="0" anchor="ctr"/>
          <a:lstStyle/>
          <a:p/>
        </p:txBody>
      </p:sp>
      <p:sp>
        <p:nvSpPr>
          <p:cNvPr id="17" name="Oval 16"/>
          <p:cNvSpPr/>
          <p:nvPr/>
        </p:nvSpPr>
        <p:spPr>
          <a:xfrm>
            <a:off x="9492224" y="4664667"/>
            <a:ext cx="36576" cy="36576"/>
          </a:xfrm>
          <a:prstGeom prst="ellipse">
            <a:avLst/>
          </a:prstGeom>
          <a:solidFill>
            <a:srgbClr val="AE9A64"/>
          </a:solidFill>
          <a:ln>
            <a:noFill/>
          </a:ln>
        </p:spPr>
        <p:txBody>
          <a:bodyPr rtlCol="0" anchor="ctr"/>
          <a:lstStyle/>
          <a:p/>
        </p:txBody>
      </p:sp>
      <p:sp>
        <p:nvSpPr>
          <p:cNvPr id="18" name="Oval 17"/>
          <p:cNvSpPr/>
          <p:nvPr/>
        </p:nvSpPr>
        <p:spPr>
          <a:xfrm>
            <a:off x="2539208" y="480545"/>
            <a:ext cx="54864" cy="54864"/>
          </a:xfrm>
          <a:prstGeom prst="ellipse">
            <a:avLst/>
          </a:prstGeom>
          <a:solidFill>
            <a:srgbClr val="825522"/>
          </a:solidFill>
          <a:ln>
            <a:noFill/>
          </a:ln>
        </p:spPr>
        <p:txBody>
          <a:bodyPr rtlCol="0" anchor="ctr"/>
          <a:lstStyle/>
          <a:p/>
        </p:txBody>
      </p:sp>
      <p:sp>
        <p:nvSpPr>
          <p:cNvPr id="19" name="Oval 18"/>
          <p:cNvSpPr/>
          <p:nvPr/>
        </p:nvSpPr>
        <p:spPr>
          <a:xfrm>
            <a:off x="10748909" y="2982770"/>
            <a:ext cx="36576" cy="36576"/>
          </a:xfrm>
          <a:prstGeom prst="ellipse">
            <a:avLst/>
          </a:prstGeom>
          <a:solidFill>
            <a:srgbClr val="4F421F"/>
          </a:solidFill>
          <a:ln>
            <a:noFill/>
          </a:ln>
        </p:spPr>
        <p:txBody>
          <a:bodyPr rtlCol="0" anchor="ctr"/>
          <a:lstStyle/>
          <a:p/>
        </p:txBody>
      </p:sp>
      <p:sp>
        <p:nvSpPr>
          <p:cNvPr id="20" name="Oval 19"/>
          <p:cNvSpPr/>
          <p:nvPr/>
        </p:nvSpPr>
        <p:spPr>
          <a:xfrm>
            <a:off x="3864237" y="1867958"/>
            <a:ext cx="36576" cy="36576"/>
          </a:xfrm>
          <a:prstGeom prst="ellipse">
            <a:avLst/>
          </a:prstGeom>
          <a:solidFill>
            <a:srgbClr val="5B4F34"/>
          </a:solidFill>
          <a:ln>
            <a:noFill/>
          </a:ln>
        </p:spPr>
        <p:txBody>
          <a:bodyPr rtlCol="0" anchor="ctr"/>
          <a:lstStyle/>
          <a:p/>
        </p:txBody>
      </p:sp>
      <p:sp>
        <p:nvSpPr>
          <p:cNvPr id="21" name="Oval 20"/>
          <p:cNvSpPr/>
          <p:nvPr/>
        </p:nvSpPr>
        <p:spPr>
          <a:xfrm>
            <a:off x="2236635" y="1846752"/>
            <a:ext cx="45720" cy="45720"/>
          </a:xfrm>
          <a:prstGeom prst="ellipse">
            <a:avLst/>
          </a:prstGeom>
          <a:solidFill>
            <a:srgbClr val="5C5135"/>
          </a:solidFill>
          <a:ln>
            <a:noFill/>
          </a:ln>
        </p:spPr>
        <p:txBody>
          <a:bodyPr rtlCol="0" anchor="ctr"/>
          <a:lstStyle/>
          <a:p/>
        </p:txBody>
      </p:sp>
      <p:sp>
        <p:nvSpPr>
          <p:cNvPr id="22" name="Oval 21"/>
          <p:cNvSpPr/>
          <p:nvPr/>
        </p:nvSpPr>
        <p:spPr>
          <a:xfrm>
            <a:off x="3072903" y="2857178"/>
            <a:ext cx="73152" cy="73152"/>
          </a:xfrm>
          <a:prstGeom prst="ellipse">
            <a:avLst/>
          </a:prstGeom>
          <a:solidFill>
            <a:srgbClr val="BC792F"/>
          </a:solidFill>
          <a:ln>
            <a:noFill/>
          </a:ln>
        </p:spPr>
        <p:txBody>
          <a:bodyPr rtlCol="0" anchor="ctr"/>
          <a:lstStyle/>
          <a:p/>
        </p:txBody>
      </p:sp>
      <p:sp>
        <p:nvSpPr>
          <p:cNvPr id="23" name="Oval 22"/>
          <p:cNvSpPr/>
          <p:nvPr/>
        </p:nvSpPr>
        <p:spPr>
          <a:xfrm>
            <a:off x="3915555" y="1842689"/>
            <a:ext cx="45720" cy="45720"/>
          </a:xfrm>
          <a:prstGeom prst="ellipse">
            <a:avLst/>
          </a:prstGeom>
          <a:solidFill>
            <a:srgbClr val="8A7335"/>
          </a:solidFill>
          <a:ln>
            <a:noFill/>
          </a:ln>
        </p:spPr>
        <p:txBody>
          <a:bodyPr rtlCol="0" anchor="ctr"/>
          <a:lstStyle/>
          <a:p/>
        </p:txBody>
      </p:sp>
      <p:sp>
        <p:nvSpPr>
          <p:cNvPr id="24" name="Oval 23"/>
          <p:cNvSpPr/>
          <p:nvPr/>
        </p:nvSpPr>
        <p:spPr>
          <a:xfrm>
            <a:off x="9824869" y="4191909"/>
            <a:ext cx="27432" cy="27432"/>
          </a:xfrm>
          <a:prstGeom prst="ellipse">
            <a:avLst/>
          </a:prstGeom>
          <a:solidFill>
            <a:srgbClr val="6C5F3E"/>
          </a:solidFill>
          <a:ln>
            <a:noFill/>
          </a:ln>
        </p:spPr>
        <p:txBody>
          <a:bodyPr rtlCol="0" anchor="ctr"/>
          <a:lstStyle/>
          <a:p/>
        </p:txBody>
      </p:sp>
      <p:sp>
        <p:nvSpPr>
          <p:cNvPr id="25" name="Oval 24"/>
          <p:cNvSpPr/>
          <p:nvPr/>
        </p:nvSpPr>
        <p:spPr>
          <a:xfrm>
            <a:off x="3840914" y="2705243"/>
            <a:ext cx="27432" cy="27432"/>
          </a:xfrm>
          <a:prstGeom prst="ellipse">
            <a:avLst/>
          </a:prstGeom>
          <a:solidFill>
            <a:srgbClr val="8C7435"/>
          </a:solidFill>
          <a:ln>
            <a:noFill/>
          </a:ln>
        </p:spPr>
        <p:txBody>
          <a:bodyPr rtlCol="0" anchor="ctr"/>
          <a:lstStyle/>
          <a:p/>
        </p:txBody>
      </p:sp>
      <p:sp>
        <p:nvSpPr>
          <p:cNvPr id="26" name="Oval 25"/>
          <p:cNvSpPr/>
          <p:nvPr/>
        </p:nvSpPr>
        <p:spPr>
          <a:xfrm>
            <a:off x="6383190" y="580086"/>
            <a:ext cx="45720" cy="45720"/>
          </a:xfrm>
          <a:prstGeom prst="ellipse">
            <a:avLst/>
          </a:prstGeom>
          <a:solidFill>
            <a:srgbClr val="715E2C"/>
          </a:solidFill>
          <a:ln>
            <a:noFill/>
          </a:ln>
        </p:spPr>
        <p:txBody>
          <a:bodyPr rtlCol="0" anchor="ctr"/>
          <a:lstStyle/>
          <a:p/>
        </p:txBody>
      </p:sp>
      <p:sp>
        <p:nvSpPr>
          <p:cNvPr id="27" name="Oval 26"/>
          <p:cNvSpPr/>
          <p:nvPr/>
        </p:nvSpPr>
        <p:spPr>
          <a:xfrm>
            <a:off x="5807689" y="4163062"/>
            <a:ext cx="73152" cy="73152"/>
          </a:xfrm>
          <a:prstGeom prst="ellipse">
            <a:avLst/>
          </a:prstGeom>
          <a:solidFill>
            <a:srgbClr val="3E3318"/>
          </a:solidFill>
          <a:ln>
            <a:noFill/>
          </a:ln>
        </p:spPr>
        <p:txBody>
          <a:bodyPr rtlCol="0" anchor="ctr"/>
          <a:lstStyle/>
          <a:p/>
        </p:txBody>
      </p:sp>
      <p:sp>
        <p:nvSpPr>
          <p:cNvPr id="28" name="Oval 27"/>
          <p:cNvSpPr/>
          <p:nvPr/>
        </p:nvSpPr>
        <p:spPr>
          <a:xfrm>
            <a:off x="7108240" y="610050"/>
            <a:ext cx="36576" cy="36576"/>
          </a:xfrm>
          <a:prstGeom prst="ellipse">
            <a:avLst/>
          </a:prstGeom>
          <a:solidFill>
            <a:srgbClr val="65421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III · THE PROOF</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F0D58A"/>
          </a:solidFill>
          <a:ln>
            <a:no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687671" y="1005839"/>
            <a:ext cx="2816352" cy="329184"/>
          </a:xfrm>
          <a:prstGeom prst="rect">
            <a:avLst/>
          </a:prstGeom>
          <a:noFill/>
        </p:spPr>
        <p:txBody>
          <a:bodyPr wrap="square" lIns="0" rIns="0" tIns="0" bIns="0" anchor="ctr">
            <a:spAutoFit/>
          </a:bodyPr>
          <a:lstStyle/>
          <a:p>
            <a:pPr algn="ctr"/>
            <a:r>
              <a:rPr sz="1300" b="1" i="0" spc="400">
                <a:solidFill>
                  <a:srgbClr val="C9A84C"/>
                </a:solidFill>
                <a:latin typeface="Montserrat"/>
              </a:rPr>
              <a:t>QUICK WIN · LIVE</a:t>
            </a:r>
          </a:p>
        </p:txBody>
      </p:sp>
      <p:cxnSp>
        <p:nvCxnSpPr>
          <p:cNvPr id="50" name="Connector 49"/>
          <p:cNvCxnSpPr/>
          <p:nvPr/>
        </p:nvCxnSpPr>
        <p:spPr>
          <a:xfrm>
            <a:off x="3316071" y="117043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265779" y="1120139"/>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641183" y="117043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825331" y="1120139"/>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399031"/>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Check your file right now</a:t>
            </a:r>
          </a:p>
        </p:txBody>
      </p:sp>
      <p:sp>
        <p:nvSpPr>
          <p:cNvPr id="55" name="TextBox 54"/>
          <p:cNvSpPr txBox="1"/>
          <p:nvPr/>
        </p:nvSpPr>
        <p:spPr>
          <a:xfrm>
            <a:off x="1371600" y="2115311"/>
            <a:ext cx="9448495" cy="457200"/>
          </a:xfrm>
          <a:prstGeom prst="rect">
            <a:avLst/>
          </a:prstGeom>
          <a:noFill/>
        </p:spPr>
        <p:txBody>
          <a:bodyPr wrap="square" lIns="0" rIns="0" tIns="0" bIns="0" anchor="t">
            <a:spAutoFit/>
          </a:bodyPr>
          <a:lstStyle/>
          <a:p>
            <a:pPr algn="ctr">
              <a:lnSpc>
                <a:spcPct val="120000"/>
              </a:lnSpc>
            </a:pPr>
            <a:r>
              <a:rPr sz="2000" b="0" i="1">
                <a:solidFill>
                  <a:srgbClr val="B9A57A"/>
                </a:solidFill>
                <a:latin typeface="Montserrat"/>
              </a:rPr>
              <a:t>annualcreditreport.com — free reports from all three bureaus</a:t>
            </a:r>
          </a:p>
        </p:txBody>
      </p:sp>
      <p:sp>
        <p:nvSpPr>
          <p:cNvPr id="56" name="Rounded Rectangle 55"/>
          <p:cNvSpPr/>
          <p:nvPr/>
        </p:nvSpPr>
        <p:spPr>
          <a:xfrm>
            <a:off x="1523847" y="2618232"/>
            <a:ext cx="9144000" cy="2478024"/>
          </a:xfrm>
          <a:prstGeom prst="roundRect">
            <a:avLst>
              <a:gd name="adj" fmla="val 6000"/>
            </a:avLst>
          </a:prstGeom>
          <a:solidFill>
            <a:srgbClr val="100D07"/>
          </a:solidFill>
          <a:ln w="15875">
            <a:solidFill>
              <a:srgbClr val="877034"/>
            </a:solidFill>
          </a:ln>
        </p:spPr>
        <p:txBody>
          <a:bodyPr rtlCol="0" anchor="ctr"/>
          <a:lstStyle/>
          <a:p/>
        </p:txBody>
      </p:sp>
      <p:sp>
        <p:nvSpPr>
          <p:cNvPr id="57" name="Oval 56"/>
          <p:cNvSpPr/>
          <p:nvPr/>
        </p:nvSpPr>
        <p:spPr>
          <a:xfrm>
            <a:off x="1853031" y="2788920"/>
            <a:ext cx="438912" cy="438912"/>
          </a:xfrm>
          <a:prstGeom prst="ellipse">
            <a:avLst/>
          </a:prstGeom>
          <a:solidFill>
            <a:srgbClr val="1A1309"/>
          </a:solidFill>
          <a:ln w="25400">
            <a:solidFill>
              <a:srgbClr val="F0D58A"/>
            </a:solidFill>
          </a:ln>
        </p:spPr>
        <p:txBody>
          <a:bodyPr rtlCol="0" anchor="ctr"/>
          <a:lstStyle/>
          <a:p/>
        </p:txBody>
      </p:sp>
      <p:sp>
        <p:nvSpPr>
          <p:cNvPr id="58" name="Oval 57"/>
          <p:cNvSpPr/>
          <p:nvPr/>
        </p:nvSpPr>
        <p:spPr>
          <a:xfrm>
            <a:off x="1907895" y="2843784"/>
            <a:ext cx="329184" cy="329184"/>
          </a:xfrm>
          <a:prstGeom prst="ellipse">
            <a:avLst/>
          </a:prstGeom>
          <a:noFill/>
          <a:ln w="9525">
            <a:solidFill>
              <a:srgbClr val="7D6830"/>
            </a:solidFill>
          </a:ln>
        </p:spPr>
        <p:txBody>
          <a:bodyPr rtlCol="0" anchor="ctr"/>
          <a:lstStyle/>
          <a:p/>
        </p:txBody>
      </p:sp>
      <p:sp>
        <p:nvSpPr>
          <p:cNvPr id="59" name="TextBox 58"/>
          <p:cNvSpPr txBox="1"/>
          <p:nvPr/>
        </p:nvSpPr>
        <p:spPr>
          <a:xfrm>
            <a:off x="1853031" y="2788920"/>
            <a:ext cx="438912" cy="438912"/>
          </a:xfrm>
          <a:prstGeom prst="rect">
            <a:avLst/>
          </a:prstGeom>
          <a:noFill/>
        </p:spPr>
        <p:txBody>
          <a:bodyPr wrap="square" lIns="0" rIns="0" tIns="0" bIns="0" anchor="ctr">
            <a:spAutoFit/>
          </a:bodyPr>
          <a:lstStyle/>
          <a:p>
            <a:pPr algn="ctr"/>
            <a:r>
              <a:rPr sz="1400" b="1" i="0">
                <a:solidFill>
                  <a:srgbClr val="F0D58A"/>
                </a:solidFill>
                <a:latin typeface="Cinzel"/>
              </a:rPr>
              <a:t>1</a:t>
            </a:r>
          </a:p>
        </p:txBody>
      </p:sp>
      <p:sp>
        <p:nvSpPr>
          <p:cNvPr id="60" name="TextBox 59"/>
          <p:cNvSpPr txBox="1"/>
          <p:nvPr/>
        </p:nvSpPr>
        <p:spPr>
          <a:xfrm>
            <a:off x="2529687" y="2819400"/>
            <a:ext cx="7772400"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Personal information you don't recognize</a:t>
            </a:r>
          </a:p>
        </p:txBody>
      </p:sp>
      <p:sp>
        <p:nvSpPr>
          <p:cNvPr id="61" name="Oval 60"/>
          <p:cNvSpPr/>
          <p:nvPr/>
        </p:nvSpPr>
        <p:spPr>
          <a:xfrm>
            <a:off x="1853031" y="3355848"/>
            <a:ext cx="438912" cy="438912"/>
          </a:xfrm>
          <a:prstGeom prst="ellipse">
            <a:avLst/>
          </a:prstGeom>
          <a:solidFill>
            <a:srgbClr val="1A1309"/>
          </a:solidFill>
          <a:ln w="25400">
            <a:solidFill>
              <a:srgbClr val="F0D58A"/>
            </a:solidFill>
          </a:ln>
        </p:spPr>
        <p:txBody>
          <a:bodyPr rtlCol="0" anchor="ctr"/>
          <a:lstStyle/>
          <a:p/>
        </p:txBody>
      </p:sp>
      <p:sp>
        <p:nvSpPr>
          <p:cNvPr id="62" name="Oval 61"/>
          <p:cNvSpPr/>
          <p:nvPr/>
        </p:nvSpPr>
        <p:spPr>
          <a:xfrm>
            <a:off x="1907895" y="3410712"/>
            <a:ext cx="329184" cy="329184"/>
          </a:xfrm>
          <a:prstGeom prst="ellipse">
            <a:avLst/>
          </a:prstGeom>
          <a:noFill/>
          <a:ln w="9525">
            <a:solidFill>
              <a:srgbClr val="7D6830"/>
            </a:solidFill>
          </a:ln>
        </p:spPr>
        <p:txBody>
          <a:bodyPr rtlCol="0" anchor="ctr"/>
          <a:lstStyle/>
          <a:p/>
        </p:txBody>
      </p:sp>
      <p:sp>
        <p:nvSpPr>
          <p:cNvPr id="63" name="TextBox 62"/>
          <p:cNvSpPr txBox="1"/>
          <p:nvPr/>
        </p:nvSpPr>
        <p:spPr>
          <a:xfrm>
            <a:off x="1853031" y="3355848"/>
            <a:ext cx="438912" cy="438912"/>
          </a:xfrm>
          <a:prstGeom prst="rect">
            <a:avLst/>
          </a:prstGeom>
          <a:noFill/>
        </p:spPr>
        <p:txBody>
          <a:bodyPr wrap="square" lIns="0" rIns="0" tIns="0" bIns="0" anchor="ctr">
            <a:spAutoFit/>
          </a:bodyPr>
          <a:lstStyle/>
          <a:p>
            <a:pPr algn="ctr"/>
            <a:r>
              <a:rPr sz="1400" b="1" i="0">
                <a:solidFill>
                  <a:srgbClr val="F0D58A"/>
                </a:solidFill>
                <a:latin typeface="Cinzel"/>
              </a:rPr>
              <a:t>2</a:t>
            </a:r>
          </a:p>
        </p:txBody>
      </p:sp>
      <p:sp>
        <p:nvSpPr>
          <p:cNvPr id="64" name="TextBox 63"/>
          <p:cNvSpPr txBox="1"/>
          <p:nvPr/>
        </p:nvSpPr>
        <p:spPr>
          <a:xfrm>
            <a:off x="2529687" y="3386328"/>
            <a:ext cx="7772400" cy="93268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Accounts you don't recognize — or that appear twice</a:t>
            </a:r>
          </a:p>
        </p:txBody>
      </p:sp>
      <p:sp>
        <p:nvSpPr>
          <p:cNvPr id="65" name="Oval 64"/>
          <p:cNvSpPr/>
          <p:nvPr/>
        </p:nvSpPr>
        <p:spPr>
          <a:xfrm>
            <a:off x="1853031" y="4288536"/>
            <a:ext cx="438912" cy="438912"/>
          </a:xfrm>
          <a:prstGeom prst="ellipse">
            <a:avLst/>
          </a:prstGeom>
          <a:solidFill>
            <a:srgbClr val="1A1309"/>
          </a:solidFill>
          <a:ln w="25400">
            <a:solidFill>
              <a:srgbClr val="F0D58A"/>
            </a:solidFill>
          </a:ln>
        </p:spPr>
        <p:txBody>
          <a:bodyPr rtlCol="0" anchor="ctr"/>
          <a:lstStyle/>
          <a:p/>
        </p:txBody>
      </p:sp>
      <p:sp>
        <p:nvSpPr>
          <p:cNvPr id="66" name="Oval 65"/>
          <p:cNvSpPr/>
          <p:nvPr/>
        </p:nvSpPr>
        <p:spPr>
          <a:xfrm>
            <a:off x="1907895" y="4343400"/>
            <a:ext cx="329184" cy="329184"/>
          </a:xfrm>
          <a:prstGeom prst="ellipse">
            <a:avLst/>
          </a:prstGeom>
          <a:noFill/>
          <a:ln w="9525">
            <a:solidFill>
              <a:srgbClr val="7D6830"/>
            </a:solidFill>
          </a:ln>
        </p:spPr>
        <p:txBody>
          <a:bodyPr rtlCol="0" anchor="ctr"/>
          <a:lstStyle/>
          <a:p/>
        </p:txBody>
      </p:sp>
      <p:sp>
        <p:nvSpPr>
          <p:cNvPr id="67" name="TextBox 66"/>
          <p:cNvSpPr txBox="1"/>
          <p:nvPr/>
        </p:nvSpPr>
        <p:spPr>
          <a:xfrm>
            <a:off x="1853031" y="4288536"/>
            <a:ext cx="438912" cy="438912"/>
          </a:xfrm>
          <a:prstGeom prst="rect">
            <a:avLst/>
          </a:prstGeom>
          <a:noFill/>
        </p:spPr>
        <p:txBody>
          <a:bodyPr wrap="square" lIns="0" rIns="0" tIns="0" bIns="0" anchor="ctr">
            <a:spAutoFit/>
          </a:bodyPr>
          <a:lstStyle/>
          <a:p>
            <a:pPr algn="ctr"/>
            <a:r>
              <a:rPr sz="1400" b="1" i="0">
                <a:solidFill>
                  <a:srgbClr val="F0D58A"/>
                </a:solidFill>
                <a:latin typeface="Cinzel"/>
              </a:rPr>
              <a:t>3</a:t>
            </a:r>
          </a:p>
        </p:txBody>
      </p:sp>
      <p:sp>
        <p:nvSpPr>
          <p:cNvPr id="68" name="TextBox 67"/>
          <p:cNvSpPr txBox="1"/>
          <p:nvPr/>
        </p:nvSpPr>
        <p:spPr>
          <a:xfrm>
            <a:off x="2529687" y="4319016"/>
            <a:ext cx="7772400" cy="566928"/>
          </a:xfrm>
          <a:prstGeom prst="rect">
            <a:avLst/>
          </a:prstGeom>
          <a:noFill/>
        </p:spPr>
        <p:txBody>
          <a:bodyPr wrap="square" lIns="0" rIns="0" tIns="0" bIns="0" anchor="t">
            <a:spAutoFit/>
          </a:bodyPr>
          <a:lstStyle/>
          <a:p>
            <a:pPr algn="l">
              <a:lnSpc>
                <a:spcPct val="120000"/>
              </a:lnSpc>
            </a:pPr>
            <a:r>
              <a:rPr sz="2400" b="0" i="0">
                <a:solidFill>
                  <a:srgbClr val="EFE3C6"/>
                </a:solidFill>
                <a:latin typeface="Montserrat"/>
              </a:rPr>
              <a:t>Late payments or balances that are wrong</a:t>
            </a:r>
          </a:p>
        </p:txBody>
      </p:sp>
      <p:sp>
        <p:nvSpPr>
          <p:cNvPr id="69" name="TextBox 68"/>
          <p:cNvSpPr txBox="1"/>
          <p:nvPr/>
        </p:nvSpPr>
        <p:spPr>
          <a:xfrm>
            <a:off x="1097280" y="5233416"/>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Found one? Type FOUND ONE in the chat — not your details.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341552" y="519932"/>
            <a:ext cx="36576" cy="36576"/>
          </a:xfrm>
          <a:prstGeom prst="ellipse">
            <a:avLst/>
          </a:prstGeom>
          <a:solidFill>
            <a:srgbClr val="776844"/>
          </a:solidFill>
          <a:ln>
            <a:noFill/>
          </a:ln>
        </p:spPr>
        <p:txBody>
          <a:bodyPr rtlCol="0" anchor="ctr"/>
          <a:lstStyle/>
          <a:p/>
        </p:txBody>
      </p:sp>
      <p:sp>
        <p:nvSpPr>
          <p:cNvPr id="4" name="Oval 3"/>
          <p:cNvSpPr/>
          <p:nvPr/>
        </p:nvSpPr>
        <p:spPr>
          <a:xfrm>
            <a:off x="426791" y="5114243"/>
            <a:ext cx="73152" cy="73152"/>
          </a:xfrm>
          <a:prstGeom prst="ellipse">
            <a:avLst/>
          </a:prstGeom>
          <a:solidFill>
            <a:srgbClr val="605025"/>
          </a:solidFill>
          <a:ln>
            <a:noFill/>
          </a:ln>
        </p:spPr>
        <p:txBody>
          <a:bodyPr rtlCol="0" anchor="ctr"/>
          <a:lstStyle/>
          <a:p/>
        </p:txBody>
      </p:sp>
      <p:sp>
        <p:nvSpPr>
          <p:cNvPr id="5" name="Oval 4"/>
          <p:cNvSpPr/>
          <p:nvPr/>
        </p:nvSpPr>
        <p:spPr>
          <a:xfrm>
            <a:off x="11354881" y="526881"/>
            <a:ext cx="36576" cy="36576"/>
          </a:xfrm>
          <a:prstGeom prst="ellipse">
            <a:avLst/>
          </a:prstGeom>
          <a:solidFill>
            <a:srgbClr val="977E39"/>
          </a:solidFill>
          <a:ln>
            <a:noFill/>
          </a:ln>
        </p:spPr>
        <p:txBody>
          <a:bodyPr rtlCol="0" anchor="ctr"/>
          <a:lstStyle/>
          <a:p/>
        </p:txBody>
      </p:sp>
      <p:sp>
        <p:nvSpPr>
          <p:cNvPr id="6" name="Oval 5"/>
          <p:cNvSpPr/>
          <p:nvPr/>
        </p:nvSpPr>
        <p:spPr>
          <a:xfrm>
            <a:off x="4562824" y="1007435"/>
            <a:ext cx="27432" cy="27432"/>
          </a:xfrm>
          <a:prstGeom prst="ellipse">
            <a:avLst/>
          </a:prstGeom>
          <a:solidFill>
            <a:srgbClr val="764D1F"/>
          </a:solidFill>
          <a:ln>
            <a:noFill/>
          </a:ln>
        </p:spPr>
        <p:txBody>
          <a:bodyPr rtlCol="0" anchor="ctr"/>
          <a:lstStyle/>
          <a:p/>
        </p:txBody>
      </p:sp>
      <p:sp>
        <p:nvSpPr>
          <p:cNvPr id="7" name="Oval 6"/>
          <p:cNvSpPr/>
          <p:nvPr/>
        </p:nvSpPr>
        <p:spPr>
          <a:xfrm>
            <a:off x="10305317" y="3417003"/>
            <a:ext cx="27432" cy="27432"/>
          </a:xfrm>
          <a:prstGeom prst="ellipse">
            <a:avLst/>
          </a:prstGeom>
          <a:solidFill>
            <a:srgbClr val="63411B"/>
          </a:solidFill>
          <a:ln>
            <a:noFill/>
          </a:ln>
        </p:spPr>
        <p:txBody>
          <a:bodyPr rtlCol="0" anchor="ctr"/>
          <a:lstStyle/>
          <a:p/>
        </p:txBody>
      </p:sp>
      <p:sp>
        <p:nvSpPr>
          <p:cNvPr id="8" name="Oval 7"/>
          <p:cNvSpPr/>
          <p:nvPr/>
        </p:nvSpPr>
        <p:spPr>
          <a:xfrm>
            <a:off x="5639421" y="1896165"/>
            <a:ext cx="27432" cy="27432"/>
          </a:xfrm>
          <a:prstGeom prst="ellipse">
            <a:avLst/>
          </a:prstGeom>
          <a:solidFill>
            <a:srgbClr val="875823"/>
          </a:solidFill>
          <a:ln>
            <a:noFill/>
          </a:ln>
        </p:spPr>
        <p:txBody>
          <a:bodyPr rtlCol="0" anchor="ctr"/>
          <a:lstStyle/>
          <a:p/>
        </p:txBody>
      </p:sp>
      <p:sp>
        <p:nvSpPr>
          <p:cNvPr id="9" name="Oval 8"/>
          <p:cNvSpPr/>
          <p:nvPr/>
        </p:nvSpPr>
        <p:spPr>
          <a:xfrm>
            <a:off x="7834825" y="5819833"/>
            <a:ext cx="27432" cy="27432"/>
          </a:xfrm>
          <a:prstGeom prst="ellipse">
            <a:avLst/>
          </a:prstGeom>
          <a:solidFill>
            <a:srgbClr val="6D5B2A"/>
          </a:solidFill>
          <a:ln>
            <a:noFill/>
          </a:ln>
        </p:spPr>
        <p:txBody>
          <a:bodyPr rtlCol="0" anchor="ctr"/>
          <a:lstStyle/>
          <a:p/>
        </p:txBody>
      </p:sp>
      <p:sp>
        <p:nvSpPr>
          <p:cNvPr id="10" name="Oval 9"/>
          <p:cNvSpPr/>
          <p:nvPr/>
        </p:nvSpPr>
        <p:spPr>
          <a:xfrm>
            <a:off x="9543934" y="5980827"/>
            <a:ext cx="54864" cy="54864"/>
          </a:xfrm>
          <a:prstGeom prst="ellipse">
            <a:avLst/>
          </a:prstGeom>
          <a:solidFill>
            <a:srgbClr val="724A1E"/>
          </a:solidFill>
          <a:ln>
            <a:noFill/>
          </a:ln>
        </p:spPr>
        <p:txBody>
          <a:bodyPr rtlCol="0" anchor="ctr"/>
          <a:lstStyle/>
          <a:p/>
        </p:txBody>
      </p:sp>
      <p:sp>
        <p:nvSpPr>
          <p:cNvPr id="11" name="Oval 10"/>
          <p:cNvSpPr/>
          <p:nvPr/>
        </p:nvSpPr>
        <p:spPr>
          <a:xfrm>
            <a:off x="5852438" y="3520372"/>
            <a:ext cx="45720" cy="45720"/>
          </a:xfrm>
          <a:prstGeom prst="ellipse">
            <a:avLst/>
          </a:prstGeom>
          <a:solidFill>
            <a:srgbClr val="5B4F34"/>
          </a:solidFill>
          <a:ln>
            <a:noFill/>
          </a:ln>
        </p:spPr>
        <p:txBody>
          <a:bodyPr rtlCol="0" anchor="ctr"/>
          <a:lstStyle/>
          <a:p/>
        </p:txBody>
      </p:sp>
      <p:sp>
        <p:nvSpPr>
          <p:cNvPr id="12" name="Oval 11"/>
          <p:cNvSpPr/>
          <p:nvPr/>
        </p:nvSpPr>
        <p:spPr>
          <a:xfrm>
            <a:off x="3064817" y="4476992"/>
            <a:ext cx="45720" cy="45720"/>
          </a:xfrm>
          <a:prstGeom prst="ellipse">
            <a:avLst/>
          </a:prstGeom>
          <a:solidFill>
            <a:srgbClr val="937A38"/>
          </a:solidFill>
          <a:ln>
            <a:noFill/>
          </a:ln>
        </p:spPr>
        <p:txBody>
          <a:bodyPr rtlCol="0" anchor="ctr"/>
          <a:lstStyle/>
          <a:p/>
        </p:txBody>
      </p:sp>
      <p:sp>
        <p:nvSpPr>
          <p:cNvPr id="13" name="Oval 12"/>
          <p:cNvSpPr/>
          <p:nvPr/>
        </p:nvSpPr>
        <p:spPr>
          <a:xfrm>
            <a:off x="9638132" y="4723918"/>
            <a:ext cx="54864" cy="54864"/>
          </a:xfrm>
          <a:prstGeom prst="ellipse">
            <a:avLst/>
          </a:prstGeom>
          <a:solidFill>
            <a:srgbClr val="B8772F"/>
          </a:solidFill>
          <a:ln>
            <a:noFill/>
          </a:ln>
        </p:spPr>
        <p:txBody>
          <a:bodyPr rtlCol="0" anchor="ctr"/>
          <a:lstStyle/>
          <a:p/>
        </p:txBody>
      </p:sp>
      <p:sp>
        <p:nvSpPr>
          <p:cNvPr id="14" name="Oval 13"/>
          <p:cNvSpPr/>
          <p:nvPr/>
        </p:nvSpPr>
        <p:spPr>
          <a:xfrm>
            <a:off x="1376047" y="567066"/>
            <a:ext cx="73152" cy="73152"/>
          </a:xfrm>
          <a:prstGeom prst="ellipse">
            <a:avLst/>
          </a:prstGeom>
          <a:solidFill>
            <a:srgbClr val="877134"/>
          </a:solidFill>
          <a:ln>
            <a:noFill/>
          </a:ln>
        </p:spPr>
        <p:txBody>
          <a:bodyPr rtlCol="0" anchor="ctr"/>
          <a:lstStyle/>
          <a:p/>
        </p:txBody>
      </p:sp>
      <p:sp>
        <p:nvSpPr>
          <p:cNvPr id="15" name="Oval 14"/>
          <p:cNvSpPr/>
          <p:nvPr/>
        </p:nvSpPr>
        <p:spPr>
          <a:xfrm>
            <a:off x="414161" y="3965149"/>
            <a:ext cx="54864" cy="54864"/>
          </a:xfrm>
          <a:prstGeom prst="ellipse">
            <a:avLst/>
          </a:prstGeom>
          <a:solidFill>
            <a:srgbClr val="7F6A31"/>
          </a:solidFill>
          <a:ln>
            <a:noFill/>
          </a:ln>
        </p:spPr>
        <p:txBody>
          <a:bodyPr rtlCol="0" anchor="ctr"/>
          <a:lstStyle/>
          <a:p/>
        </p:txBody>
      </p:sp>
      <p:sp>
        <p:nvSpPr>
          <p:cNvPr id="16" name="Oval 15"/>
          <p:cNvSpPr/>
          <p:nvPr/>
        </p:nvSpPr>
        <p:spPr>
          <a:xfrm>
            <a:off x="11557687" y="4786903"/>
            <a:ext cx="36576" cy="36576"/>
          </a:xfrm>
          <a:prstGeom prst="ellipse">
            <a:avLst/>
          </a:prstGeom>
          <a:solidFill>
            <a:srgbClr val="7C672F"/>
          </a:solidFill>
          <a:ln>
            <a:noFill/>
          </a:ln>
        </p:spPr>
        <p:txBody>
          <a:bodyPr rtlCol="0" anchor="ctr"/>
          <a:lstStyle/>
          <a:p/>
        </p:txBody>
      </p:sp>
      <p:sp>
        <p:nvSpPr>
          <p:cNvPr id="17" name="Oval 16"/>
          <p:cNvSpPr/>
          <p:nvPr/>
        </p:nvSpPr>
        <p:spPr>
          <a:xfrm>
            <a:off x="6573716" y="4206891"/>
            <a:ext cx="27432" cy="27432"/>
          </a:xfrm>
          <a:prstGeom prst="ellipse">
            <a:avLst/>
          </a:prstGeom>
          <a:solidFill>
            <a:srgbClr val="987F3A"/>
          </a:solidFill>
          <a:ln>
            <a:noFill/>
          </a:ln>
        </p:spPr>
        <p:txBody>
          <a:bodyPr rtlCol="0" anchor="ctr"/>
          <a:lstStyle/>
          <a:p/>
        </p:txBody>
      </p:sp>
      <p:sp>
        <p:nvSpPr>
          <p:cNvPr id="18" name="Oval 17"/>
          <p:cNvSpPr/>
          <p:nvPr/>
        </p:nvSpPr>
        <p:spPr>
          <a:xfrm>
            <a:off x="10133777" y="6219602"/>
            <a:ext cx="36576" cy="36576"/>
          </a:xfrm>
          <a:prstGeom prst="ellipse">
            <a:avLst/>
          </a:prstGeom>
          <a:solidFill>
            <a:srgbClr val="554B31"/>
          </a:solidFill>
          <a:ln>
            <a:noFill/>
          </a:ln>
        </p:spPr>
        <p:txBody>
          <a:bodyPr rtlCol="0" anchor="ctr"/>
          <a:lstStyle/>
          <a:p/>
        </p:txBody>
      </p:sp>
      <p:sp>
        <p:nvSpPr>
          <p:cNvPr id="19" name="Oval 18"/>
          <p:cNvSpPr/>
          <p:nvPr/>
        </p:nvSpPr>
        <p:spPr>
          <a:xfrm>
            <a:off x="7430174" y="3271293"/>
            <a:ext cx="27432" cy="27432"/>
          </a:xfrm>
          <a:prstGeom prst="ellipse">
            <a:avLst/>
          </a:prstGeom>
          <a:solidFill>
            <a:srgbClr val="584922"/>
          </a:solidFill>
          <a:ln>
            <a:noFill/>
          </a:ln>
        </p:spPr>
        <p:txBody>
          <a:bodyPr rtlCol="0" anchor="ctr"/>
          <a:lstStyle/>
          <a:p/>
        </p:txBody>
      </p:sp>
      <p:sp>
        <p:nvSpPr>
          <p:cNvPr id="20" name="Oval 19"/>
          <p:cNvSpPr/>
          <p:nvPr/>
        </p:nvSpPr>
        <p:spPr>
          <a:xfrm>
            <a:off x="9955870" y="6211952"/>
            <a:ext cx="36576" cy="36576"/>
          </a:xfrm>
          <a:prstGeom prst="ellipse">
            <a:avLst/>
          </a:prstGeom>
          <a:solidFill>
            <a:srgbClr val="4A3D1D"/>
          </a:solidFill>
          <a:ln>
            <a:noFill/>
          </a:ln>
        </p:spPr>
        <p:txBody>
          <a:bodyPr rtlCol="0" anchor="ctr"/>
          <a:lstStyle/>
          <a:p/>
        </p:txBody>
      </p:sp>
      <p:sp>
        <p:nvSpPr>
          <p:cNvPr id="21" name="Oval 20"/>
          <p:cNvSpPr/>
          <p:nvPr/>
        </p:nvSpPr>
        <p:spPr>
          <a:xfrm>
            <a:off x="4511664" y="2063583"/>
            <a:ext cx="36576" cy="36576"/>
          </a:xfrm>
          <a:prstGeom prst="ellipse">
            <a:avLst/>
          </a:prstGeom>
          <a:solidFill>
            <a:srgbClr val="544A30"/>
          </a:solidFill>
          <a:ln>
            <a:noFill/>
          </a:ln>
        </p:spPr>
        <p:txBody>
          <a:bodyPr rtlCol="0" anchor="ctr"/>
          <a:lstStyle/>
          <a:p/>
        </p:txBody>
      </p:sp>
      <p:sp>
        <p:nvSpPr>
          <p:cNvPr id="22" name="Oval 21"/>
          <p:cNvSpPr/>
          <p:nvPr/>
        </p:nvSpPr>
        <p:spPr>
          <a:xfrm>
            <a:off x="1090372" y="1686388"/>
            <a:ext cx="73152" cy="73152"/>
          </a:xfrm>
          <a:prstGeom prst="ellipse">
            <a:avLst/>
          </a:prstGeom>
          <a:solidFill>
            <a:srgbClr val="978657"/>
          </a:solidFill>
          <a:ln>
            <a:noFill/>
          </a:ln>
        </p:spPr>
        <p:txBody>
          <a:bodyPr rtlCol="0" anchor="ctr"/>
          <a:lstStyle/>
          <a:p/>
        </p:txBody>
      </p:sp>
      <p:sp>
        <p:nvSpPr>
          <p:cNvPr id="23" name="Oval 22"/>
          <p:cNvSpPr/>
          <p:nvPr/>
        </p:nvSpPr>
        <p:spPr>
          <a:xfrm>
            <a:off x="11245363" y="5100819"/>
            <a:ext cx="27432" cy="27432"/>
          </a:xfrm>
          <a:prstGeom prst="ellipse">
            <a:avLst/>
          </a:prstGeom>
          <a:solidFill>
            <a:srgbClr val="6A5829"/>
          </a:solidFill>
          <a:ln>
            <a:noFill/>
          </a:ln>
        </p:spPr>
        <p:txBody>
          <a:bodyPr rtlCol="0" anchor="ctr"/>
          <a:lstStyle/>
          <a:p/>
        </p:txBody>
      </p:sp>
      <p:sp>
        <p:nvSpPr>
          <p:cNvPr id="24" name="Oval 23"/>
          <p:cNvSpPr/>
          <p:nvPr/>
        </p:nvSpPr>
        <p:spPr>
          <a:xfrm>
            <a:off x="3417992" y="1577234"/>
            <a:ext cx="45720" cy="45720"/>
          </a:xfrm>
          <a:prstGeom prst="ellipse">
            <a:avLst/>
          </a:prstGeom>
          <a:solidFill>
            <a:srgbClr val="593B18"/>
          </a:solidFill>
          <a:ln>
            <a:noFill/>
          </a:ln>
        </p:spPr>
        <p:txBody>
          <a:bodyPr rtlCol="0" anchor="ctr"/>
          <a:lstStyle/>
          <a:p/>
        </p:txBody>
      </p:sp>
      <p:sp>
        <p:nvSpPr>
          <p:cNvPr id="25" name="Oval 24"/>
          <p:cNvSpPr/>
          <p:nvPr/>
        </p:nvSpPr>
        <p:spPr>
          <a:xfrm>
            <a:off x="1135256" y="880727"/>
            <a:ext cx="73152" cy="73152"/>
          </a:xfrm>
          <a:prstGeom prst="ellipse">
            <a:avLst/>
          </a:prstGeom>
          <a:solidFill>
            <a:srgbClr val="695C3C"/>
          </a:solidFill>
          <a:ln>
            <a:noFill/>
          </a:ln>
        </p:spPr>
        <p:txBody>
          <a:bodyPr rtlCol="0" anchor="ctr"/>
          <a:lstStyle/>
          <a:p/>
        </p:txBody>
      </p:sp>
      <p:sp>
        <p:nvSpPr>
          <p:cNvPr id="26" name="Oval 25"/>
          <p:cNvSpPr/>
          <p:nvPr/>
        </p:nvSpPr>
        <p:spPr>
          <a:xfrm>
            <a:off x="1472639" y="1474965"/>
            <a:ext cx="73152" cy="73152"/>
          </a:xfrm>
          <a:prstGeom prst="ellipse">
            <a:avLst/>
          </a:prstGeom>
          <a:solidFill>
            <a:srgbClr val="553817"/>
          </a:solidFill>
          <a:ln>
            <a:noFill/>
          </a:ln>
        </p:spPr>
        <p:txBody>
          <a:bodyPr rtlCol="0" anchor="ctr"/>
          <a:lstStyle/>
          <a:p/>
        </p:txBody>
      </p:sp>
      <p:sp>
        <p:nvSpPr>
          <p:cNvPr id="27" name="Oval 26"/>
          <p:cNvSpPr/>
          <p:nvPr/>
        </p:nvSpPr>
        <p:spPr>
          <a:xfrm>
            <a:off x="1803819" y="5338893"/>
            <a:ext cx="54864" cy="54864"/>
          </a:xfrm>
          <a:prstGeom prst="ellipse">
            <a:avLst/>
          </a:prstGeom>
          <a:solidFill>
            <a:srgbClr val="514320"/>
          </a:solidFill>
          <a:ln>
            <a:noFill/>
          </a:ln>
        </p:spPr>
        <p:txBody>
          <a:bodyPr rtlCol="0" anchor="ctr"/>
          <a:lstStyle/>
          <a:p/>
        </p:txBody>
      </p:sp>
      <p:sp>
        <p:nvSpPr>
          <p:cNvPr id="28" name="Oval 27"/>
          <p:cNvSpPr/>
          <p:nvPr/>
        </p:nvSpPr>
        <p:spPr>
          <a:xfrm>
            <a:off x="4129380" y="3776371"/>
            <a:ext cx="36576" cy="36576"/>
          </a:xfrm>
          <a:prstGeom prst="ellipse">
            <a:avLst/>
          </a:prstGeom>
          <a:solidFill>
            <a:srgbClr val="70491E"/>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III · THE PROOF</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F0D58A"/>
          </a:solidFill>
          <a:ln>
            <a:no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049877" y="658368"/>
            <a:ext cx="4091939" cy="329184"/>
          </a:xfrm>
          <a:prstGeom prst="rect">
            <a:avLst/>
          </a:prstGeom>
          <a:noFill/>
        </p:spPr>
        <p:txBody>
          <a:bodyPr wrap="square" lIns="0" rIns="0" tIns="0" bIns="0" anchor="ctr">
            <a:spAutoFit/>
          </a:bodyPr>
          <a:lstStyle/>
          <a:p>
            <a:pPr algn="ctr"/>
            <a:r>
              <a:rPr sz="1300" b="1" i="0" spc="400">
                <a:solidFill>
                  <a:srgbClr val="C9A84C"/>
                </a:solidFill>
                <a:latin typeface="Montserrat"/>
              </a:rPr>
              <a:t>LIVE DEMO · SAMPLE REPORT</a:t>
            </a:r>
          </a:p>
        </p:txBody>
      </p:sp>
      <p:cxnSp>
        <p:nvCxnSpPr>
          <p:cNvPr id="50" name="Connector 49"/>
          <p:cNvCxnSpPr/>
          <p:nvPr/>
        </p:nvCxnSpPr>
        <p:spPr>
          <a:xfrm>
            <a:off x="267827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627985"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827897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463125"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051560"/>
            <a:ext cx="10362895" cy="91440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How I read a file</a:t>
            </a:r>
          </a:p>
        </p:txBody>
      </p:sp>
      <p:sp>
        <p:nvSpPr>
          <p:cNvPr id="55" name="Rounded Rectangle 54"/>
          <p:cNvSpPr/>
          <p:nvPr/>
        </p:nvSpPr>
        <p:spPr>
          <a:xfrm>
            <a:off x="914400" y="2148840"/>
            <a:ext cx="5852160" cy="3429000"/>
          </a:xfrm>
          <a:prstGeom prst="roundRect">
            <a:avLst>
              <a:gd name="adj" fmla="val 6000"/>
            </a:avLst>
          </a:prstGeom>
          <a:solidFill>
            <a:srgbClr val="100D07"/>
          </a:solidFill>
          <a:ln w="15875">
            <a:solidFill>
              <a:srgbClr val="877034"/>
            </a:solidFill>
            <a:prstDash val="dash"/>
          </a:ln>
        </p:spPr>
        <p:txBody>
          <a:bodyPr rtlCol="0" anchor="ctr"/>
          <a:lstStyle/>
          <a:p/>
        </p:txBody>
      </p:sp>
      <p:sp>
        <p:nvSpPr>
          <p:cNvPr id="56" name="TextBox 55"/>
          <p:cNvSpPr txBox="1"/>
          <p:nvPr/>
        </p:nvSpPr>
        <p:spPr>
          <a:xfrm>
            <a:off x="1188720" y="2377440"/>
            <a:ext cx="5303520" cy="2926080"/>
          </a:xfrm>
          <a:prstGeom prst="rect">
            <a:avLst/>
          </a:prstGeom>
          <a:noFill/>
        </p:spPr>
        <p:txBody>
          <a:bodyPr wrap="square" lIns="0" rIns="0" tIns="0" bIns="0" anchor="ctr">
            <a:spAutoFit/>
          </a:bodyPr>
          <a:lstStyle/>
          <a:p>
            <a:pPr algn="ctr"/>
            <a:r>
              <a:rPr sz="1400" b="1" i="0" spc="400">
                <a:solidFill>
                  <a:srgbClr val="F0D58A"/>
                </a:solidFill>
                <a:latin typeface="Montserrat"/>
              </a:rPr>
              <a:t>INSERT SAMPLE OR FULLY REDACTED REPORT</a:t>
            </a:r>
          </a:p>
          <a:p>
            <a:pPr algn="ctr">
              <a:lnSpc>
                <a:spcPct val="120000"/>
              </a:lnSpc>
            </a:pPr>
            <a:r>
              <a:rPr sz="1600" b="0" i="1">
                <a:solidFill>
                  <a:srgbClr val="B9A57A"/>
                </a:solidFill>
                <a:latin typeface="Montserrat"/>
              </a:rPr>
              <a:t>Never a real person's file on a public webinar.</a:t>
            </a:r>
          </a:p>
        </p:txBody>
      </p:sp>
      <p:sp>
        <p:nvSpPr>
          <p:cNvPr id="57" name="TextBox 56"/>
          <p:cNvSpPr txBox="1"/>
          <p:nvPr/>
        </p:nvSpPr>
        <p:spPr>
          <a:xfrm>
            <a:off x="7132320" y="2148840"/>
            <a:ext cx="4206240" cy="457200"/>
          </a:xfrm>
          <a:prstGeom prst="rect">
            <a:avLst/>
          </a:prstGeom>
          <a:noFill/>
        </p:spPr>
        <p:txBody>
          <a:bodyPr wrap="square" lIns="0" rIns="0" tIns="0" bIns="0" anchor="t">
            <a:spAutoFit/>
          </a:bodyPr>
          <a:lstStyle/>
          <a:p>
            <a:pPr algn="l">
              <a:lnSpc>
                <a:spcPct val="120000"/>
              </a:lnSpc>
            </a:pPr>
            <a:r>
              <a:rPr sz="2000" b="0" i="0">
                <a:solidFill>
                  <a:srgbClr val="B9A57A"/>
                </a:solidFill>
                <a:latin typeface="Montserrat"/>
              </a:rPr>
              <a:t>Every item gets one label:</a:t>
            </a:r>
          </a:p>
        </p:txBody>
      </p:sp>
      <p:sp>
        <p:nvSpPr>
          <p:cNvPr id="58" name="Rounded Rectangle 57"/>
          <p:cNvSpPr/>
          <p:nvPr/>
        </p:nvSpPr>
        <p:spPr>
          <a:xfrm>
            <a:off x="7132320" y="2697480"/>
            <a:ext cx="4114800" cy="566928"/>
          </a:xfrm>
          <a:prstGeom prst="roundRect">
            <a:avLst>
              <a:gd name="adj" fmla="val 6000"/>
            </a:avLst>
          </a:prstGeom>
          <a:solidFill>
            <a:srgbClr val="100D07"/>
          </a:solidFill>
          <a:ln w="15875">
            <a:solidFill>
              <a:srgbClr val="7D6830"/>
            </a:solidFill>
          </a:ln>
        </p:spPr>
        <p:txBody>
          <a:bodyPr rtlCol="0" anchor="ctr"/>
          <a:lstStyle/>
          <a:p/>
        </p:txBody>
      </p:sp>
      <p:sp>
        <p:nvSpPr>
          <p:cNvPr id="59" name="TextBox 58"/>
          <p:cNvSpPr txBox="1"/>
          <p:nvPr/>
        </p:nvSpPr>
        <p:spPr>
          <a:xfrm>
            <a:off x="7315200" y="2697480"/>
            <a:ext cx="3749039" cy="566928"/>
          </a:xfrm>
          <a:prstGeom prst="rect">
            <a:avLst/>
          </a:prstGeom>
          <a:noFill/>
        </p:spPr>
        <p:txBody>
          <a:bodyPr wrap="square" lIns="0" rIns="0" tIns="0" bIns="0" anchor="ctr">
            <a:spAutoFit/>
          </a:bodyPr>
          <a:lstStyle/>
          <a:p>
            <a:pPr algn="l"/>
            <a:r>
              <a:rPr sz="2000" b="1" i="0">
                <a:solidFill>
                  <a:srgbClr val="F0D58A"/>
                </a:solidFill>
                <a:latin typeface="Cinzel"/>
              </a:rPr>
              <a:t>Verifiable</a:t>
            </a:r>
          </a:p>
        </p:txBody>
      </p:sp>
      <p:sp>
        <p:nvSpPr>
          <p:cNvPr id="60" name="Rounded Rectangle 59"/>
          <p:cNvSpPr/>
          <p:nvPr/>
        </p:nvSpPr>
        <p:spPr>
          <a:xfrm>
            <a:off x="7132320" y="3429000"/>
            <a:ext cx="4114800" cy="566928"/>
          </a:xfrm>
          <a:prstGeom prst="roundRect">
            <a:avLst>
              <a:gd name="adj" fmla="val 6000"/>
            </a:avLst>
          </a:prstGeom>
          <a:solidFill>
            <a:srgbClr val="100D07"/>
          </a:solidFill>
          <a:ln w="15875">
            <a:solidFill>
              <a:srgbClr val="7D6830"/>
            </a:solidFill>
          </a:ln>
        </p:spPr>
        <p:txBody>
          <a:bodyPr rtlCol="0" anchor="ctr"/>
          <a:lstStyle/>
          <a:p/>
        </p:txBody>
      </p:sp>
      <p:sp>
        <p:nvSpPr>
          <p:cNvPr id="61" name="TextBox 60"/>
          <p:cNvSpPr txBox="1"/>
          <p:nvPr/>
        </p:nvSpPr>
        <p:spPr>
          <a:xfrm>
            <a:off x="7315200" y="3429000"/>
            <a:ext cx="3749039" cy="566928"/>
          </a:xfrm>
          <a:prstGeom prst="rect">
            <a:avLst/>
          </a:prstGeom>
          <a:noFill/>
        </p:spPr>
        <p:txBody>
          <a:bodyPr wrap="square" lIns="0" rIns="0" tIns="0" bIns="0" anchor="ctr">
            <a:spAutoFit/>
          </a:bodyPr>
          <a:lstStyle/>
          <a:p>
            <a:pPr algn="l"/>
            <a:r>
              <a:rPr sz="2000" b="1" i="0">
                <a:solidFill>
                  <a:srgbClr val="F0D58A"/>
                </a:solidFill>
                <a:latin typeface="Cinzel"/>
              </a:rPr>
              <a:t>Unverifiable</a:t>
            </a:r>
          </a:p>
        </p:txBody>
      </p:sp>
      <p:sp>
        <p:nvSpPr>
          <p:cNvPr id="62" name="Rounded Rectangle 61"/>
          <p:cNvSpPr/>
          <p:nvPr/>
        </p:nvSpPr>
        <p:spPr>
          <a:xfrm>
            <a:off x="7132320" y="4160520"/>
            <a:ext cx="4114800" cy="566928"/>
          </a:xfrm>
          <a:prstGeom prst="roundRect">
            <a:avLst>
              <a:gd name="adj" fmla="val 6000"/>
            </a:avLst>
          </a:prstGeom>
          <a:solidFill>
            <a:srgbClr val="100D07"/>
          </a:solidFill>
          <a:ln w="15875">
            <a:solidFill>
              <a:srgbClr val="7D6830"/>
            </a:solidFill>
          </a:ln>
        </p:spPr>
        <p:txBody>
          <a:bodyPr rtlCol="0" anchor="ctr"/>
          <a:lstStyle/>
          <a:p/>
        </p:txBody>
      </p:sp>
      <p:sp>
        <p:nvSpPr>
          <p:cNvPr id="63" name="TextBox 62"/>
          <p:cNvSpPr txBox="1"/>
          <p:nvPr/>
        </p:nvSpPr>
        <p:spPr>
          <a:xfrm>
            <a:off x="7315200" y="4160520"/>
            <a:ext cx="3749039" cy="566928"/>
          </a:xfrm>
          <a:prstGeom prst="rect">
            <a:avLst/>
          </a:prstGeom>
          <a:noFill/>
        </p:spPr>
        <p:txBody>
          <a:bodyPr wrap="square" lIns="0" rIns="0" tIns="0" bIns="0" anchor="ctr">
            <a:spAutoFit/>
          </a:bodyPr>
          <a:lstStyle/>
          <a:p>
            <a:pPr algn="l"/>
            <a:r>
              <a:rPr sz="2000" b="1" i="0">
                <a:solidFill>
                  <a:srgbClr val="F0D58A"/>
                </a:solidFill>
                <a:latin typeface="Cinzel"/>
              </a:rPr>
              <a:t>Inaccurate</a:t>
            </a:r>
          </a:p>
        </p:txBody>
      </p:sp>
      <p:sp>
        <p:nvSpPr>
          <p:cNvPr id="64" name="Rounded Rectangle 63"/>
          <p:cNvSpPr/>
          <p:nvPr/>
        </p:nvSpPr>
        <p:spPr>
          <a:xfrm>
            <a:off x="7132320" y="4892040"/>
            <a:ext cx="4114800" cy="566928"/>
          </a:xfrm>
          <a:prstGeom prst="roundRect">
            <a:avLst>
              <a:gd name="adj" fmla="val 6000"/>
            </a:avLst>
          </a:prstGeom>
          <a:solidFill>
            <a:srgbClr val="100D07"/>
          </a:solidFill>
          <a:ln w="15875">
            <a:solidFill>
              <a:srgbClr val="E5CB83"/>
            </a:solidFill>
          </a:ln>
        </p:spPr>
        <p:txBody>
          <a:bodyPr rtlCol="0" anchor="ctr"/>
          <a:lstStyle/>
          <a:p/>
        </p:txBody>
      </p:sp>
      <p:sp>
        <p:nvSpPr>
          <p:cNvPr id="65" name="TextBox 64"/>
          <p:cNvSpPr txBox="1"/>
          <p:nvPr/>
        </p:nvSpPr>
        <p:spPr>
          <a:xfrm>
            <a:off x="7315200" y="4892040"/>
            <a:ext cx="3749039" cy="566928"/>
          </a:xfrm>
          <a:prstGeom prst="rect">
            <a:avLst/>
          </a:prstGeom>
          <a:noFill/>
        </p:spPr>
        <p:txBody>
          <a:bodyPr wrap="square" lIns="0" rIns="0" tIns="0" bIns="0" anchor="ctr">
            <a:spAutoFit/>
          </a:bodyPr>
          <a:lstStyle/>
          <a:p>
            <a:pPr algn="l"/>
            <a:r>
              <a:rPr sz="2000" b="1" i="0">
                <a:solidFill>
                  <a:srgbClr val="F0D58A"/>
                </a:solidFill>
                <a:latin typeface="Cinzel"/>
              </a:rPr>
              <a:t>Accurate — and staying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6325285" y="4535874"/>
            <a:ext cx="54864" cy="54864"/>
          </a:xfrm>
          <a:prstGeom prst="ellipse">
            <a:avLst/>
          </a:prstGeom>
          <a:solidFill>
            <a:srgbClr val="5B5034"/>
          </a:solidFill>
          <a:ln>
            <a:noFill/>
          </a:ln>
        </p:spPr>
        <p:txBody>
          <a:bodyPr rtlCol="0" anchor="ctr"/>
          <a:lstStyle/>
          <a:p/>
        </p:txBody>
      </p:sp>
      <p:sp>
        <p:nvSpPr>
          <p:cNvPr id="4" name="Oval 3"/>
          <p:cNvSpPr/>
          <p:nvPr/>
        </p:nvSpPr>
        <p:spPr>
          <a:xfrm>
            <a:off x="3684261" y="1701206"/>
            <a:ext cx="36576" cy="36576"/>
          </a:xfrm>
          <a:prstGeom prst="ellipse">
            <a:avLst/>
          </a:prstGeom>
          <a:solidFill>
            <a:srgbClr val="3C3218"/>
          </a:solidFill>
          <a:ln>
            <a:noFill/>
          </a:ln>
        </p:spPr>
        <p:txBody>
          <a:bodyPr rtlCol="0" anchor="ctr"/>
          <a:lstStyle/>
          <a:p/>
        </p:txBody>
      </p:sp>
      <p:sp>
        <p:nvSpPr>
          <p:cNvPr id="5" name="Oval 4"/>
          <p:cNvSpPr/>
          <p:nvPr/>
        </p:nvSpPr>
        <p:spPr>
          <a:xfrm>
            <a:off x="9241067" y="4459827"/>
            <a:ext cx="36576" cy="36576"/>
          </a:xfrm>
          <a:prstGeom prst="ellipse">
            <a:avLst/>
          </a:prstGeom>
          <a:solidFill>
            <a:srgbClr val="976227"/>
          </a:solidFill>
          <a:ln>
            <a:noFill/>
          </a:ln>
        </p:spPr>
        <p:txBody>
          <a:bodyPr rtlCol="0" anchor="ctr"/>
          <a:lstStyle/>
          <a:p/>
        </p:txBody>
      </p:sp>
      <p:sp>
        <p:nvSpPr>
          <p:cNvPr id="6" name="Oval 5"/>
          <p:cNvSpPr/>
          <p:nvPr/>
        </p:nvSpPr>
        <p:spPr>
          <a:xfrm>
            <a:off x="7138691" y="4919127"/>
            <a:ext cx="54864" cy="54864"/>
          </a:xfrm>
          <a:prstGeom prst="ellipse">
            <a:avLst/>
          </a:prstGeom>
          <a:solidFill>
            <a:srgbClr val="5D4D24"/>
          </a:solidFill>
          <a:ln>
            <a:noFill/>
          </a:ln>
        </p:spPr>
        <p:txBody>
          <a:bodyPr rtlCol="0" anchor="ctr"/>
          <a:lstStyle/>
          <a:p/>
        </p:txBody>
      </p:sp>
      <p:sp>
        <p:nvSpPr>
          <p:cNvPr id="7" name="Oval 6"/>
          <p:cNvSpPr/>
          <p:nvPr/>
        </p:nvSpPr>
        <p:spPr>
          <a:xfrm>
            <a:off x="4248706" y="2046191"/>
            <a:ext cx="27432" cy="27432"/>
          </a:xfrm>
          <a:prstGeom prst="ellipse">
            <a:avLst/>
          </a:prstGeom>
          <a:solidFill>
            <a:srgbClr val="53492F"/>
          </a:solidFill>
          <a:ln>
            <a:noFill/>
          </a:ln>
        </p:spPr>
        <p:txBody>
          <a:bodyPr rtlCol="0" anchor="ctr"/>
          <a:lstStyle/>
          <a:p/>
        </p:txBody>
      </p:sp>
      <p:sp>
        <p:nvSpPr>
          <p:cNvPr id="8" name="Oval 7"/>
          <p:cNvSpPr/>
          <p:nvPr/>
        </p:nvSpPr>
        <p:spPr>
          <a:xfrm>
            <a:off x="7111434" y="1970541"/>
            <a:ext cx="27432" cy="27432"/>
          </a:xfrm>
          <a:prstGeom prst="ellipse">
            <a:avLst/>
          </a:prstGeom>
          <a:solidFill>
            <a:srgbClr val="503516"/>
          </a:solidFill>
          <a:ln>
            <a:noFill/>
          </a:ln>
        </p:spPr>
        <p:txBody>
          <a:bodyPr rtlCol="0" anchor="ctr"/>
          <a:lstStyle/>
          <a:p/>
        </p:txBody>
      </p:sp>
      <p:sp>
        <p:nvSpPr>
          <p:cNvPr id="9" name="Oval 8"/>
          <p:cNvSpPr/>
          <p:nvPr/>
        </p:nvSpPr>
        <p:spPr>
          <a:xfrm>
            <a:off x="766904" y="2659269"/>
            <a:ext cx="45720" cy="45720"/>
          </a:xfrm>
          <a:prstGeom prst="ellipse">
            <a:avLst/>
          </a:prstGeom>
          <a:solidFill>
            <a:srgbClr val="7D5121"/>
          </a:solidFill>
          <a:ln>
            <a:noFill/>
          </a:ln>
        </p:spPr>
        <p:txBody>
          <a:bodyPr rtlCol="0" anchor="ctr"/>
          <a:lstStyle/>
          <a:p/>
        </p:txBody>
      </p:sp>
      <p:sp>
        <p:nvSpPr>
          <p:cNvPr id="10" name="Oval 9"/>
          <p:cNvSpPr/>
          <p:nvPr/>
        </p:nvSpPr>
        <p:spPr>
          <a:xfrm>
            <a:off x="2527070" y="1901270"/>
            <a:ext cx="36576" cy="36576"/>
          </a:xfrm>
          <a:prstGeom prst="ellipse">
            <a:avLst/>
          </a:prstGeom>
          <a:solidFill>
            <a:srgbClr val="A6935F"/>
          </a:solidFill>
          <a:ln>
            <a:noFill/>
          </a:ln>
        </p:spPr>
        <p:txBody>
          <a:bodyPr rtlCol="0" anchor="ctr"/>
          <a:lstStyle/>
          <a:p/>
        </p:txBody>
      </p:sp>
      <p:sp>
        <p:nvSpPr>
          <p:cNvPr id="11" name="Oval 10"/>
          <p:cNvSpPr/>
          <p:nvPr/>
        </p:nvSpPr>
        <p:spPr>
          <a:xfrm>
            <a:off x="8086672" y="5219930"/>
            <a:ext cx="27432" cy="27432"/>
          </a:xfrm>
          <a:prstGeom prst="ellipse">
            <a:avLst/>
          </a:prstGeom>
          <a:solidFill>
            <a:srgbClr val="996327"/>
          </a:solidFill>
          <a:ln>
            <a:noFill/>
          </a:ln>
        </p:spPr>
        <p:txBody>
          <a:bodyPr rtlCol="0" anchor="ctr"/>
          <a:lstStyle/>
          <a:p/>
        </p:txBody>
      </p:sp>
      <p:sp>
        <p:nvSpPr>
          <p:cNvPr id="12" name="Oval 11"/>
          <p:cNvSpPr/>
          <p:nvPr/>
        </p:nvSpPr>
        <p:spPr>
          <a:xfrm>
            <a:off x="4600456" y="3164471"/>
            <a:ext cx="45720" cy="45720"/>
          </a:xfrm>
          <a:prstGeom prst="ellipse">
            <a:avLst/>
          </a:prstGeom>
          <a:solidFill>
            <a:srgbClr val="8A5A24"/>
          </a:solidFill>
          <a:ln>
            <a:noFill/>
          </a:ln>
        </p:spPr>
        <p:txBody>
          <a:bodyPr rtlCol="0" anchor="ctr"/>
          <a:lstStyle/>
          <a:p/>
        </p:txBody>
      </p:sp>
      <p:sp>
        <p:nvSpPr>
          <p:cNvPr id="13" name="Oval 12"/>
          <p:cNvSpPr/>
          <p:nvPr/>
        </p:nvSpPr>
        <p:spPr>
          <a:xfrm>
            <a:off x="2091511" y="3239197"/>
            <a:ext cx="73152" cy="73152"/>
          </a:xfrm>
          <a:prstGeom prst="ellipse">
            <a:avLst/>
          </a:prstGeom>
          <a:solidFill>
            <a:srgbClr val="826D32"/>
          </a:solidFill>
          <a:ln>
            <a:noFill/>
          </a:ln>
        </p:spPr>
        <p:txBody>
          <a:bodyPr rtlCol="0" anchor="ctr"/>
          <a:lstStyle/>
          <a:p/>
        </p:txBody>
      </p:sp>
      <p:sp>
        <p:nvSpPr>
          <p:cNvPr id="14" name="Oval 13"/>
          <p:cNvSpPr/>
          <p:nvPr/>
        </p:nvSpPr>
        <p:spPr>
          <a:xfrm>
            <a:off x="7428119" y="6150946"/>
            <a:ext cx="45720" cy="45720"/>
          </a:xfrm>
          <a:prstGeom prst="ellipse">
            <a:avLst/>
          </a:prstGeom>
          <a:solidFill>
            <a:srgbClr val="403519"/>
          </a:solidFill>
          <a:ln>
            <a:noFill/>
          </a:ln>
        </p:spPr>
        <p:txBody>
          <a:bodyPr rtlCol="0" anchor="ctr"/>
          <a:lstStyle/>
          <a:p/>
        </p:txBody>
      </p:sp>
      <p:sp>
        <p:nvSpPr>
          <p:cNvPr id="15" name="Oval 14"/>
          <p:cNvSpPr/>
          <p:nvPr/>
        </p:nvSpPr>
        <p:spPr>
          <a:xfrm>
            <a:off x="472223" y="5614863"/>
            <a:ext cx="36576" cy="36576"/>
          </a:xfrm>
          <a:prstGeom prst="ellipse">
            <a:avLst/>
          </a:prstGeom>
          <a:solidFill>
            <a:srgbClr val="8A7335"/>
          </a:solidFill>
          <a:ln>
            <a:noFill/>
          </a:ln>
        </p:spPr>
        <p:txBody>
          <a:bodyPr rtlCol="0" anchor="ctr"/>
          <a:lstStyle/>
          <a:p/>
        </p:txBody>
      </p:sp>
      <p:sp>
        <p:nvSpPr>
          <p:cNvPr id="16" name="Oval 15"/>
          <p:cNvSpPr/>
          <p:nvPr/>
        </p:nvSpPr>
        <p:spPr>
          <a:xfrm>
            <a:off x="6590946" y="6277653"/>
            <a:ext cx="73152" cy="73152"/>
          </a:xfrm>
          <a:prstGeom prst="ellipse">
            <a:avLst/>
          </a:prstGeom>
          <a:solidFill>
            <a:srgbClr val="875823"/>
          </a:solidFill>
          <a:ln>
            <a:noFill/>
          </a:ln>
        </p:spPr>
        <p:txBody>
          <a:bodyPr rtlCol="0" anchor="ctr"/>
          <a:lstStyle/>
          <a:p/>
        </p:txBody>
      </p:sp>
      <p:sp>
        <p:nvSpPr>
          <p:cNvPr id="17" name="Oval 16"/>
          <p:cNvSpPr/>
          <p:nvPr/>
        </p:nvSpPr>
        <p:spPr>
          <a:xfrm>
            <a:off x="1643789" y="2387359"/>
            <a:ext cx="54864" cy="54864"/>
          </a:xfrm>
          <a:prstGeom prst="ellipse">
            <a:avLst/>
          </a:prstGeom>
          <a:solidFill>
            <a:srgbClr val="918053"/>
          </a:solidFill>
          <a:ln>
            <a:noFill/>
          </a:ln>
        </p:spPr>
        <p:txBody>
          <a:bodyPr rtlCol="0" anchor="ctr"/>
          <a:lstStyle/>
          <a:p/>
        </p:txBody>
      </p:sp>
      <p:sp>
        <p:nvSpPr>
          <p:cNvPr id="18" name="Oval 17"/>
          <p:cNvSpPr/>
          <p:nvPr/>
        </p:nvSpPr>
        <p:spPr>
          <a:xfrm>
            <a:off x="11813541" y="4887139"/>
            <a:ext cx="27432" cy="27432"/>
          </a:xfrm>
          <a:prstGeom prst="ellipse">
            <a:avLst/>
          </a:prstGeom>
          <a:solidFill>
            <a:srgbClr val="7C672F"/>
          </a:solidFill>
          <a:ln>
            <a:noFill/>
          </a:ln>
        </p:spPr>
        <p:txBody>
          <a:bodyPr rtlCol="0" anchor="ctr"/>
          <a:lstStyle/>
          <a:p/>
        </p:txBody>
      </p:sp>
      <p:sp>
        <p:nvSpPr>
          <p:cNvPr id="19" name="Oval 18"/>
          <p:cNvSpPr/>
          <p:nvPr/>
        </p:nvSpPr>
        <p:spPr>
          <a:xfrm>
            <a:off x="2000925" y="5908231"/>
            <a:ext cx="27432" cy="27432"/>
          </a:xfrm>
          <a:prstGeom prst="ellipse">
            <a:avLst/>
          </a:prstGeom>
          <a:solidFill>
            <a:srgbClr val="927A38"/>
          </a:solidFill>
          <a:ln>
            <a:noFill/>
          </a:ln>
        </p:spPr>
        <p:txBody>
          <a:bodyPr rtlCol="0" anchor="ctr"/>
          <a:lstStyle/>
          <a:p/>
        </p:txBody>
      </p:sp>
      <p:sp>
        <p:nvSpPr>
          <p:cNvPr id="20" name="Oval 19"/>
          <p:cNvSpPr/>
          <p:nvPr/>
        </p:nvSpPr>
        <p:spPr>
          <a:xfrm>
            <a:off x="7808339" y="5840102"/>
            <a:ext cx="73152" cy="73152"/>
          </a:xfrm>
          <a:prstGeom prst="ellipse">
            <a:avLst/>
          </a:prstGeom>
          <a:solidFill>
            <a:srgbClr val="675B3B"/>
          </a:solidFill>
          <a:ln>
            <a:noFill/>
          </a:ln>
        </p:spPr>
        <p:txBody>
          <a:bodyPr rtlCol="0" anchor="ctr"/>
          <a:lstStyle/>
          <a:p/>
        </p:txBody>
      </p:sp>
      <p:sp>
        <p:nvSpPr>
          <p:cNvPr id="21" name="Oval 20"/>
          <p:cNvSpPr/>
          <p:nvPr/>
        </p:nvSpPr>
        <p:spPr>
          <a:xfrm>
            <a:off x="5353797" y="1426073"/>
            <a:ext cx="27432" cy="27432"/>
          </a:xfrm>
          <a:prstGeom prst="ellipse">
            <a:avLst/>
          </a:prstGeom>
          <a:solidFill>
            <a:srgbClr val="7C6830"/>
          </a:solidFill>
          <a:ln>
            <a:noFill/>
          </a:ln>
        </p:spPr>
        <p:txBody>
          <a:bodyPr rtlCol="0" anchor="ctr"/>
          <a:lstStyle/>
          <a:p/>
        </p:txBody>
      </p:sp>
      <p:sp>
        <p:nvSpPr>
          <p:cNvPr id="22" name="Oval 21"/>
          <p:cNvSpPr/>
          <p:nvPr/>
        </p:nvSpPr>
        <p:spPr>
          <a:xfrm>
            <a:off x="10199183" y="6184810"/>
            <a:ext cx="36576" cy="36576"/>
          </a:xfrm>
          <a:prstGeom prst="ellipse">
            <a:avLst/>
          </a:prstGeom>
          <a:solidFill>
            <a:srgbClr val="685B3B"/>
          </a:solidFill>
          <a:ln>
            <a:noFill/>
          </a:ln>
        </p:spPr>
        <p:txBody>
          <a:bodyPr rtlCol="0" anchor="ctr"/>
          <a:lstStyle/>
          <a:p/>
        </p:txBody>
      </p:sp>
      <p:sp>
        <p:nvSpPr>
          <p:cNvPr id="23" name="Oval 22"/>
          <p:cNvSpPr/>
          <p:nvPr/>
        </p:nvSpPr>
        <p:spPr>
          <a:xfrm>
            <a:off x="11523170" y="6289025"/>
            <a:ext cx="45720" cy="45720"/>
          </a:xfrm>
          <a:prstGeom prst="ellipse">
            <a:avLst/>
          </a:prstGeom>
          <a:solidFill>
            <a:srgbClr val="5E4E24"/>
          </a:solidFill>
          <a:ln>
            <a:noFill/>
          </a:ln>
        </p:spPr>
        <p:txBody>
          <a:bodyPr rtlCol="0" anchor="ctr"/>
          <a:lstStyle/>
          <a:p/>
        </p:txBody>
      </p:sp>
      <p:sp>
        <p:nvSpPr>
          <p:cNvPr id="24" name="Oval 23"/>
          <p:cNvSpPr/>
          <p:nvPr/>
        </p:nvSpPr>
        <p:spPr>
          <a:xfrm>
            <a:off x="1115419" y="3284885"/>
            <a:ext cx="54864" cy="54864"/>
          </a:xfrm>
          <a:prstGeom prst="ellipse">
            <a:avLst/>
          </a:prstGeom>
          <a:solidFill>
            <a:srgbClr val="744C1F"/>
          </a:solidFill>
          <a:ln>
            <a:noFill/>
          </a:ln>
        </p:spPr>
        <p:txBody>
          <a:bodyPr rtlCol="0" anchor="ctr"/>
          <a:lstStyle/>
          <a:p/>
        </p:txBody>
      </p:sp>
      <p:sp>
        <p:nvSpPr>
          <p:cNvPr id="25" name="Oval 24"/>
          <p:cNvSpPr/>
          <p:nvPr/>
        </p:nvSpPr>
        <p:spPr>
          <a:xfrm>
            <a:off x="10480956" y="3039093"/>
            <a:ext cx="73152" cy="73152"/>
          </a:xfrm>
          <a:prstGeom prst="ellipse">
            <a:avLst/>
          </a:prstGeom>
          <a:solidFill>
            <a:srgbClr val="62401A"/>
          </a:solidFill>
          <a:ln>
            <a:noFill/>
          </a:ln>
        </p:spPr>
        <p:txBody>
          <a:bodyPr rtlCol="0" anchor="ctr"/>
          <a:lstStyle/>
          <a:p/>
        </p:txBody>
      </p:sp>
      <p:sp>
        <p:nvSpPr>
          <p:cNvPr id="26" name="Oval 25"/>
          <p:cNvSpPr/>
          <p:nvPr/>
        </p:nvSpPr>
        <p:spPr>
          <a:xfrm>
            <a:off x="7898563" y="807726"/>
            <a:ext cx="36576" cy="36576"/>
          </a:xfrm>
          <a:prstGeom prst="ellipse">
            <a:avLst/>
          </a:prstGeom>
          <a:solidFill>
            <a:srgbClr val="734B1E"/>
          </a:solidFill>
          <a:ln>
            <a:noFill/>
          </a:ln>
        </p:spPr>
        <p:txBody>
          <a:bodyPr rtlCol="0" anchor="ctr"/>
          <a:lstStyle/>
          <a:p/>
        </p:txBody>
      </p:sp>
      <p:sp>
        <p:nvSpPr>
          <p:cNvPr id="27" name="Oval 26"/>
          <p:cNvSpPr/>
          <p:nvPr/>
        </p:nvSpPr>
        <p:spPr>
          <a:xfrm>
            <a:off x="10817016" y="866372"/>
            <a:ext cx="45720" cy="45720"/>
          </a:xfrm>
          <a:prstGeom prst="ellipse">
            <a:avLst/>
          </a:prstGeom>
          <a:solidFill>
            <a:srgbClr val="8B7435"/>
          </a:solidFill>
          <a:ln>
            <a:noFill/>
          </a:ln>
        </p:spPr>
        <p:txBody>
          <a:bodyPr rtlCol="0" anchor="ctr"/>
          <a:lstStyle/>
          <a:p/>
        </p:txBody>
      </p:sp>
      <p:sp>
        <p:nvSpPr>
          <p:cNvPr id="28" name="Oval 27"/>
          <p:cNvSpPr/>
          <p:nvPr/>
        </p:nvSpPr>
        <p:spPr>
          <a:xfrm>
            <a:off x="8911831" y="3356339"/>
            <a:ext cx="45720" cy="45720"/>
          </a:xfrm>
          <a:prstGeom prst="ellipse">
            <a:avLst/>
          </a:prstGeom>
          <a:solidFill>
            <a:srgbClr val="603F1A"/>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III · THE PROOF</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F0D58A"/>
          </a:solidFill>
          <a:ln>
            <a:no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5042001" y="731900"/>
            <a:ext cx="2107692" cy="329184"/>
          </a:xfrm>
          <a:prstGeom prst="rect">
            <a:avLst/>
          </a:prstGeom>
          <a:noFill/>
        </p:spPr>
        <p:txBody>
          <a:bodyPr wrap="square" lIns="0" rIns="0" tIns="0" bIns="0" anchor="ctr">
            <a:spAutoFit/>
          </a:bodyPr>
          <a:lstStyle/>
          <a:p>
            <a:pPr algn="ctr"/>
            <a:r>
              <a:rPr sz="1300" b="1" i="0" spc="400">
                <a:solidFill>
                  <a:srgbClr val="C9A84C"/>
                </a:solidFill>
                <a:latin typeface="Montserrat"/>
              </a:rPr>
              <a:t>THE PROCESS</a:t>
            </a:r>
          </a:p>
        </p:txBody>
      </p:sp>
      <p:cxnSp>
        <p:nvCxnSpPr>
          <p:cNvPr id="50" name="Connector 49"/>
          <p:cNvCxnSpPr/>
          <p:nvPr/>
        </p:nvCxnSpPr>
        <p:spPr>
          <a:xfrm>
            <a:off x="3670401" y="89649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620109" y="846200"/>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286853" y="896492"/>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471001" y="846200"/>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125092"/>
            <a:ext cx="10362895" cy="11582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What working your file looks like</a:t>
            </a:r>
          </a:p>
        </p:txBody>
      </p:sp>
      <p:sp>
        <p:nvSpPr>
          <p:cNvPr id="55" name="Rounded Rectangle 54"/>
          <p:cNvSpPr/>
          <p:nvPr/>
        </p:nvSpPr>
        <p:spPr>
          <a:xfrm>
            <a:off x="914400" y="2466212"/>
            <a:ext cx="3240938" cy="3376422"/>
          </a:xfrm>
          <a:prstGeom prst="roundRect">
            <a:avLst>
              <a:gd name="adj" fmla="val 6000"/>
            </a:avLst>
          </a:prstGeom>
          <a:solidFill>
            <a:srgbClr val="100D07"/>
          </a:solidFill>
          <a:ln w="15875">
            <a:solidFill>
              <a:srgbClr val="877034"/>
            </a:solidFill>
          </a:ln>
        </p:spPr>
        <p:txBody>
          <a:bodyPr rtlCol="0" anchor="ctr"/>
          <a:lstStyle/>
          <a:p/>
        </p:txBody>
      </p:sp>
      <p:sp>
        <p:nvSpPr>
          <p:cNvPr id="56" name="Oval 55"/>
          <p:cNvSpPr/>
          <p:nvPr/>
        </p:nvSpPr>
        <p:spPr>
          <a:xfrm>
            <a:off x="2223973" y="2713100"/>
            <a:ext cx="621792" cy="621792"/>
          </a:xfrm>
          <a:prstGeom prst="ellipse">
            <a:avLst/>
          </a:prstGeom>
          <a:solidFill>
            <a:srgbClr val="1A1309"/>
          </a:solidFill>
          <a:ln w="25400">
            <a:solidFill>
              <a:srgbClr val="F0D58A"/>
            </a:solidFill>
          </a:ln>
        </p:spPr>
        <p:txBody>
          <a:bodyPr rtlCol="0" anchor="ctr"/>
          <a:lstStyle/>
          <a:p/>
        </p:txBody>
      </p:sp>
      <p:sp>
        <p:nvSpPr>
          <p:cNvPr id="57" name="Oval 56"/>
          <p:cNvSpPr/>
          <p:nvPr/>
        </p:nvSpPr>
        <p:spPr>
          <a:xfrm>
            <a:off x="2278837" y="2767964"/>
            <a:ext cx="512064" cy="512064"/>
          </a:xfrm>
          <a:prstGeom prst="ellipse">
            <a:avLst/>
          </a:prstGeom>
          <a:noFill/>
          <a:ln w="9525">
            <a:solidFill>
              <a:srgbClr val="7D6830"/>
            </a:solidFill>
          </a:ln>
        </p:spPr>
        <p:txBody>
          <a:bodyPr rtlCol="0" anchor="ctr"/>
          <a:lstStyle/>
          <a:p/>
        </p:txBody>
      </p:sp>
      <p:sp>
        <p:nvSpPr>
          <p:cNvPr id="58" name="TextBox 57"/>
          <p:cNvSpPr txBox="1"/>
          <p:nvPr/>
        </p:nvSpPr>
        <p:spPr>
          <a:xfrm>
            <a:off x="2223973" y="2713100"/>
            <a:ext cx="621792" cy="621792"/>
          </a:xfrm>
          <a:prstGeom prst="rect">
            <a:avLst/>
          </a:prstGeom>
          <a:noFill/>
        </p:spPr>
        <p:txBody>
          <a:bodyPr wrap="square" lIns="0" rIns="0" tIns="0" bIns="0" anchor="ctr">
            <a:spAutoFit/>
          </a:bodyPr>
          <a:lstStyle/>
          <a:p>
            <a:pPr algn="ctr"/>
            <a:r>
              <a:rPr sz="1900" b="1" i="0">
                <a:solidFill>
                  <a:srgbClr val="F0D58A"/>
                </a:solidFill>
                <a:latin typeface="Cinzel"/>
              </a:rPr>
              <a:t>1</a:t>
            </a:r>
          </a:p>
        </p:txBody>
      </p:sp>
      <p:sp>
        <p:nvSpPr>
          <p:cNvPr id="59" name="TextBox 58"/>
          <p:cNvSpPr txBox="1"/>
          <p:nvPr/>
        </p:nvSpPr>
        <p:spPr>
          <a:xfrm>
            <a:off x="1097280" y="3563492"/>
            <a:ext cx="2875178" cy="560070"/>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Month 1</a:t>
            </a:r>
          </a:p>
        </p:txBody>
      </p:sp>
      <p:sp>
        <p:nvSpPr>
          <p:cNvPr id="60" name="TextBox 59"/>
          <p:cNvSpPr txBox="1"/>
          <p:nvPr/>
        </p:nvSpPr>
        <p:spPr>
          <a:xfrm>
            <a:off x="1143000" y="4306442"/>
            <a:ext cx="2783738" cy="1170432"/>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Full tri-bureau audit, a written map of your file, first dispute round</a:t>
            </a:r>
          </a:p>
        </p:txBody>
      </p:sp>
      <p:sp>
        <p:nvSpPr>
          <p:cNvPr id="61" name="Rounded Rectangle 60"/>
          <p:cNvSpPr/>
          <p:nvPr/>
        </p:nvSpPr>
        <p:spPr>
          <a:xfrm>
            <a:off x="4475378" y="2466212"/>
            <a:ext cx="3240938" cy="3376422"/>
          </a:xfrm>
          <a:prstGeom prst="roundRect">
            <a:avLst>
              <a:gd name="adj" fmla="val 6000"/>
            </a:avLst>
          </a:prstGeom>
          <a:solidFill>
            <a:srgbClr val="100D07"/>
          </a:solidFill>
          <a:ln w="15875">
            <a:solidFill>
              <a:srgbClr val="877034"/>
            </a:solidFill>
          </a:ln>
        </p:spPr>
        <p:txBody>
          <a:bodyPr rtlCol="0" anchor="ctr"/>
          <a:lstStyle/>
          <a:p/>
        </p:txBody>
      </p:sp>
      <p:sp>
        <p:nvSpPr>
          <p:cNvPr id="62" name="Oval 61"/>
          <p:cNvSpPr/>
          <p:nvPr/>
        </p:nvSpPr>
        <p:spPr>
          <a:xfrm>
            <a:off x="5784951" y="2713100"/>
            <a:ext cx="621792" cy="621792"/>
          </a:xfrm>
          <a:prstGeom prst="ellipse">
            <a:avLst/>
          </a:prstGeom>
          <a:solidFill>
            <a:srgbClr val="1A1309"/>
          </a:solidFill>
          <a:ln w="25400">
            <a:solidFill>
              <a:srgbClr val="F0D58A"/>
            </a:solidFill>
          </a:ln>
        </p:spPr>
        <p:txBody>
          <a:bodyPr rtlCol="0" anchor="ctr"/>
          <a:lstStyle/>
          <a:p/>
        </p:txBody>
      </p:sp>
      <p:sp>
        <p:nvSpPr>
          <p:cNvPr id="63" name="Oval 62"/>
          <p:cNvSpPr/>
          <p:nvPr/>
        </p:nvSpPr>
        <p:spPr>
          <a:xfrm>
            <a:off x="5839815" y="2767964"/>
            <a:ext cx="512064" cy="512064"/>
          </a:xfrm>
          <a:prstGeom prst="ellipse">
            <a:avLst/>
          </a:prstGeom>
          <a:noFill/>
          <a:ln w="9525">
            <a:solidFill>
              <a:srgbClr val="7D6830"/>
            </a:solidFill>
          </a:ln>
        </p:spPr>
        <p:txBody>
          <a:bodyPr rtlCol="0" anchor="ctr"/>
          <a:lstStyle/>
          <a:p/>
        </p:txBody>
      </p:sp>
      <p:sp>
        <p:nvSpPr>
          <p:cNvPr id="64" name="TextBox 63"/>
          <p:cNvSpPr txBox="1"/>
          <p:nvPr/>
        </p:nvSpPr>
        <p:spPr>
          <a:xfrm>
            <a:off x="5784951" y="2713100"/>
            <a:ext cx="621792" cy="621792"/>
          </a:xfrm>
          <a:prstGeom prst="rect">
            <a:avLst/>
          </a:prstGeom>
          <a:noFill/>
        </p:spPr>
        <p:txBody>
          <a:bodyPr wrap="square" lIns="0" rIns="0" tIns="0" bIns="0" anchor="ctr">
            <a:spAutoFit/>
          </a:bodyPr>
          <a:lstStyle/>
          <a:p>
            <a:pPr algn="ctr"/>
            <a:r>
              <a:rPr sz="1900" b="1" i="0">
                <a:solidFill>
                  <a:srgbClr val="F0D58A"/>
                </a:solidFill>
                <a:latin typeface="Cinzel"/>
              </a:rPr>
              <a:t>2</a:t>
            </a:r>
          </a:p>
        </p:txBody>
      </p:sp>
      <p:sp>
        <p:nvSpPr>
          <p:cNvPr id="65" name="TextBox 64"/>
          <p:cNvSpPr txBox="1"/>
          <p:nvPr/>
        </p:nvSpPr>
        <p:spPr>
          <a:xfrm>
            <a:off x="4658258" y="3563492"/>
            <a:ext cx="2875178" cy="560070"/>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Every month after</a:t>
            </a:r>
          </a:p>
        </p:txBody>
      </p:sp>
      <p:sp>
        <p:nvSpPr>
          <p:cNvPr id="66" name="TextBox 65"/>
          <p:cNvSpPr txBox="1"/>
          <p:nvPr/>
        </p:nvSpPr>
        <p:spPr>
          <a:xfrm>
            <a:off x="4703978" y="4306442"/>
            <a:ext cx="2783738" cy="1170432"/>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New round, every response explained, report updated</a:t>
            </a:r>
          </a:p>
        </p:txBody>
      </p:sp>
      <p:sp>
        <p:nvSpPr>
          <p:cNvPr id="67" name="Rounded Rectangle 66"/>
          <p:cNvSpPr/>
          <p:nvPr/>
        </p:nvSpPr>
        <p:spPr>
          <a:xfrm>
            <a:off x="8036356" y="2466212"/>
            <a:ext cx="3240938" cy="3376422"/>
          </a:xfrm>
          <a:prstGeom prst="roundRect">
            <a:avLst>
              <a:gd name="adj" fmla="val 6000"/>
            </a:avLst>
          </a:prstGeom>
          <a:solidFill>
            <a:srgbClr val="100D07"/>
          </a:solidFill>
          <a:ln w="15875">
            <a:solidFill>
              <a:srgbClr val="877034"/>
            </a:solidFill>
          </a:ln>
        </p:spPr>
        <p:txBody>
          <a:bodyPr rtlCol="0" anchor="ctr"/>
          <a:lstStyle/>
          <a:p/>
        </p:txBody>
      </p:sp>
      <p:sp>
        <p:nvSpPr>
          <p:cNvPr id="68" name="Oval 67"/>
          <p:cNvSpPr/>
          <p:nvPr/>
        </p:nvSpPr>
        <p:spPr>
          <a:xfrm>
            <a:off x="9345930" y="2713100"/>
            <a:ext cx="621792" cy="621792"/>
          </a:xfrm>
          <a:prstGeom prst="ellipse">
            <a:avLst/>
          </a:prstGeom>
          <a:solidFill>
            <a:srgbClr val="1A1309"/>
          </a:solidFill>
          <a:ln w="25400">
            <a:solidFill>
              <a:srgbClr val="F0D58A"/>
            </a:solidFill>
          </a:ln>
        </p:spPr>
        <p:txBody>
          <a:bodyPr rtlCol="0" anchor="ctr"/>
          <a:lstStyle/>
          <a:p/>
        </p:txBody>
      </p:sp>
      <p:sp>
        <p:nvSpPr>
          <p:cNvPr id="69" name="Oval 68"/>
          <p:cNvSpPr/>
          <p:nvPr/>
        </p:nvSpPr>
        <p:spPr>
          <a:xfrm>
            <a:off x="9400794" y="2767964"/>
            <a:ext cx="512064" cy="512064"/>
          </a:xfrm>
          <a:prstGeom prst="ellipse">
            <a:avLst/>
          </a:prstGeom>
          <a:noFill/>
          <a:ln w="9525">
            <a:solidFill>
              <a:srgbClr val="7D6830"/>
            </a:solidFill>
          </a:ln>
        </p:spPr>
        <p:txBody>
          <a:bodyPr rtlCol="0" anchor="ctr"/>
          <a:lstStyle/>
          <a:p/>
        </p:txBody>
      </p:sp>
      <p:sp>
        <p:nvSpPr>
          <p:cNvPr id="70" name="TextBox 69"/>
          <p:cNvSpPr txBox="1"/>
          <p:nvPr/>
        </p:nvSpPr>
        <p:spPr>
          <a:xfrm>
            <a:off x="9345930" y="2713100"/>
            <a:ext cx="621792" cy="621792"/>
          </a:xfrm>
          <a:prstGeom prst="rect">
            <a:avLst/>
          </a:prstGeom>
          <a:noFill/>
        </p:spPr>
        <p:txBody>
          <a:bodyPr wrap="square" lIns="0" rIns="0" tIns="0" bIns="0" anchor="ctr">
            <a:spAutoFit/>
          </a:bodyPr>
          <a:lstStyle/>
          <a:p>
            <a:pPr algn="ctr"/>
            <a:r>
              <a:rPr sz="1900" b="1" i="0">
                <a:solidFill>
                  <a:srgbClr val="F0D58A"/>
                </a:solidFill>
                <a:latin typeface="Cinzel"/>
              </a:rPr>
              <a:t>∞</a:t>
            </a:r>
          </a:p>
        </p:txBody>
      </p:sp>
      <p:sp>
        <p:nvSpPr>
          <p:cNvPr id="71" name="TextBox 70"/>
          <p:cNvSpPr txBox="1"/>
          <p:nvPr/>
        </p:nvSpPr>
        <p:spPr>
          <a:xfrm>
            <a:off x="8219236" y="3563492"/>
            <a:ext cx="2875178" cy="560070"/>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Throughout</a:t>
            </a:r>
          </a:p>
        </p:txBody>
      </p:sp>
      <p:sp>
        <p:nvSpPr>
          <p:cNvPr id="72" name="TextBox 71"/>
          <p:cNvSpPr txBox="1"/>
          <p:nvPr/>
        </p:nvSpPr>
        <p:spPr>
          <a:xfrm>
            <a:off x="8264956" y="4306442"/>
            <a:ext cx="2783738" cy="1170432"/>
          </a:xfrm>
          <a:prstGeom prst="rect">
            <a:avLst/>
          </a:prstGeom>
          <a:noFill/>
        </p:spPr>
        <p:txBody>
          <a:bodyPr wrap="square" lIns="0" rIns="0" tIns="0" bIns="0" anchor="t">
            <a:spAutoFit/>
          </a:bodyPr>
          <a:lstStyle/>
          <a:p>
            <a:pPr algn="ctr">
              <a:lnSpc>
                <a:spcPct val="120000"/>
              </a:lnSpc>
              <a:spcAft>
                <a:spcPts val="600"/>
              </a:spcAft>
            </a:pPr>
            <a:r>
              <a:rPr sz="1800" b="0" i="0">
                <a:solidFill>
                  <a:srgbClr val="EFE3C6"/>
                </a:solidFill>
                <a:latin typeface="Montserrat"/>
              </a:rPr>
              <a:t>The Financial Literacy Academy — so you don't re-break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5152574" y="1897191"/>
            <a:ext cx="45720" cy="45720"/>
          </a:xfrm>
          <a:prstGeom prst="ellipse">
            <a:avLst/>
          </a:prstGeom>
          <a:solidFill>
            <a:srgbClr val="6C471D"/>
          </a:solidFill>
          <a:ln>
            <a:noFill/>
          </a:ln>
        </p:spPr>
        <p:txBody>
          <a:bodyPr rtlCol="0" anchor="ctr"/>
          <a:lstStyle/>
          <a:p/>
        </p:txBody>
      </p:sp>
      <p:sp>
        <p:nvSpPr>
          <p:cNvPr id="4" name="Oval 3"/>
          <p:cNvSpPr/>
          <p:nvPr/>
        </p:nvSpPr>
        <p:spPr>
          <a:xfrm>
            <a:off x="5915417" y="1048312"/>
            <a:ext cx="27432" cy="27432"/>
          </a:xfrm>
          <a:prstGeom prst="ellipse">
            <a:avLst/>
          </a:prstGeom>
          <a:solidFill>
            <a:srgbClr val="BDA76C"/>
          </a:solidFill>
          <a:ln>
            <a:noFill/>
          </a:ln>
        </p:spPr>
        <p:txBody>
          <a:bodyPr rtlCol="0" anchor="ctr"/>
          <a:lstStyle/>
          <a:p/>
        </p:txBody>
      </p:sp>
      <p:sp>
        <p:nvSpPr>
          <p:cNvPr id="5" name="Oval 4"/>
          <p:cNvSpPr/>
          <p:nvPr/>
        </p:nvSpPr>
        <p:spPr>
          <a:xfrm>
            <a:off x="10669923" y="761799"/>
            <a:ext cx="27432" cy="27432"/>
          </a:xfrm>
          <a:prstGeom prst="ellipse">
            <a:avLst/>
          </a:prstGeom>
          <a:solidFill>
            <a:srgbClr val="A36A2A"/>
          </a:solidFill>
          <a:ln>
            <a:noFill/>
          </a:ln>
        </p:spPr>
        <p:txBody>
          <a:bodyPr rtlCol="0" anchor="ctr"/>
          <a:lstStyle/>
          <a:p/>
        </p:txBody>
      </p:sp>
      <p:sp>
        <p:nvSpPr>
          <p:cNvPr id="6" name="Oval 5"/>
          <p:cNvSpPr/>
          <p:nvPr/>
        </p:nvSpPr>
        <p:spPr>
          <a:xfrm>
            <a:off x="2783975" y="5406387"/>
            <a:ext cx="36576" cy="36576"/>
          </a:xfrm>
          <a:prstGeom prst="ellipse">
            <a:avLst/>
          </a:prstGeom>
          <a:solidFill>
            <a:srgbClr val="685628"/>
          </a:solidFill>
          <a:ln>
            <a:noFill/>
          </a:ln>
        </p:spPr>
        <p:txBody>
          <a:bodyPr rtlCol="0" anchor="ctr"/>
          <a:lstStyle/>
          <a:p/>
        </p:txBody>
      </p:sp>
      <p:sp>
        <p:nvSpPr>
          <p:cNvPr id="7" name="Oval 6"/>
          <p:cNvSpPr/>
          <p:nvPr/>
        </p:nvSpPr>
        <p:spPr>
          <a:xfrm>
            <a:off x="5043017" y="4528961"/>
            <a:ext cx="73152" cy="73152"/>
          </a:xfrm>
          <a:prstGeom prst="ellipse">
            <a:avLst/>
          </a:prstGeom>
          <a:solidFill>
            <a:srgbClr val="5B4F34"/>
          </a:solidFill>
          <a:ln>
            <a:noFill/>
          </a:ln>
        </p:spPr>
        <p:txBody>
          <a:bodyPr rtlCol="0" anchor="ctr"/>
          <a:lstStyle/>
          <a:p/>
        </p:txBody>
      </p:sp>
      <p:sp>
        <p:nvSpPr>
          <p:cNvPr id="8" name="Oval 7"/>
          <p:cNvSpPr/>
          <p:nvPr/>
        </p:nvSpPr>
        <p:spPr>
          <a:xfrm>
            <a:off x="4451753" y="4676015"/>
            <a:ext cx="45720" cy="45720"/>
          </a:xfrm>
          <a:prstGeom prst="ellipse">
            <a:avLst/>
          </a:prstGeom>
          <a:solidFill>
            <a:srgbClr val="4E3416"/>
          </a:solidFill>
          <a:ln>
            <a:noFill/>
          </a:ln>
        </p:spPr>
        <p:txBody>
          <a:bodyPr rtlCol="0" anchor="ctr"/>
          <a:lstStyle/>
          <a:p/>
        </p:txBody>
      </p:sp>
      <p:sp>
        <p:nvSpPr>
          <p:cNvPr id="9" name="Oval 8"/>
          <p:cNvSpPr/>
          <p:nvPr/>
        </p:nvSpPr>
        <p:spPr>
          <a:xfrm>
            <a:off x="609096" y="2318265"/>
            <a:ext cx="27432" cy="27432"/>
          </a:xfrm>
          <a:prstGeom prst="ellipse">
            <a:avLst/>
          </a:prstGeom>
          <a:solidFill>
            <a:srgbClr val="986227"/>
          </a:solidFill>
          <a:ln>
            <a:noFill/>
          </a:ln>
        </p:spPr>
        <p:txBody>
          <a:bodyPr rtlCol="0" anchor="ctr"/>
          <a:lstStyle/>
          <a:p/>
        </p:txBody>
      </p:sp>
      <p:sp>
        <p:nvSpPr>
          <p:cNvPr id="10" name="Oval 9"/>
          <p:cNvSpPr/>
          <p:nvPr/>
        </p:nvSpPr>
        <p:spPr>
          <a:xfrm>
            <a:off x="7937680" y="5522736"/>
            <a:ext cx="73152" cy="73152"/>
          </a:xfrm>
          <a:prstGeom prst="ellipse">
            <a:avLst/>
          </a:prstGeom>
          <a:solidFill>
            <a:srgbClr val="7C672F"/>
          </a:solidFill>
          <a:ln>
            <a:noFill/>
          </a:ln>
        </p:spPr>
        <p:txBody>
          <a:bodyPr rtlCol="0" anchor="ctr"/>
          <a:lstStyle/>
          <a:p/>
        </p:txBody>
      </p:sp>
      <p:sp>
        <p:nvSpPr>
          <p:cNvPr id="11" name="Oval 10"/>
          <p:cNvSpPr/>
          <p:nvPr/>
        </p:nvSpPr>
        <p:spPr>
          <a:xfrm>
            <a:off x="7163457" y="721573"/>
            <a:ext cx="45720" cy="45720"/>
          </a:xfrm>
          <a:prstGeom prst="ellipse">
            <a:avLst/>
          </a:prstGeom>
          <a:solidFill>
            <a:srgbClr val="B1732D"/>
          </a:solidFill>
          <a:ln>
            <a:noFill/>
          </a:ln>
        </p:spPr>
        <p:txBody>
          <a:bodyPr rtlCol="0" anchor="ctr"/>
          <a:lstStyle/>
          <a:p/>
        </p:txBody>
      </p:sp>
      <p:sp>
        <p:nvSpPr>
          <p:cNvPr id="12" name="Oval 11"/>
          <p:cNvSpPr/>
          <p:nvPr/>
        </p:nvSpPr>
        <p:spPr>
          <a:xfrm>
            <a:off x="2153019" y="5052911"/>
            <a:ext cx="45720" cy="45720"/>
          </a:xfrm>
          <a:prstGeom prst="ellipse">
            <a:avLst/>
          </a:prstGeom>
          <a:solidFill>
            <a:srgbClr val="84744B"/>
          </a:solidFill>
          <a:ln>
            <a:noFill/>
          </a:ln>
        </p:spPr>
        <p:txBody>
          <a:bodyPr rtlCol="0" anchor="ctr"/>
          <a:lstStyle/>
          <a:p/>
        </p:txBody>
      </p:sp>
      <p:sp>
        <p:nvSpPr>
          <p:cNvPr id="13" name="Oval 12"/>
          <p:cNvSpPr/>
          <p:nvPr/>
        </p:nvSpPr>
        <p:spPr>
          <a:xfrm>
            <a:off x="5225172" y="1613421"/>
            <a:ext cx="73152" cy="73152"/>
          </a:xfrm>
          <a:prstGeom prst="ellipse">
            <a:avLst/>
          </a:prstGeom>
          <a:solidFill>
            <a:srgbClr val="A86D2B"/>
          </a:solidFill>
          <a:ln>
            <a:noFill/>
          </a:ln>
        </p:spPr>
        <p:txBody>
          <a:bodyPr rtlCol="0" anchor="ctr"/>
          <a:lstStyle/>
          <a:p/>
        </p:txBody>
      </p:sp>
      <p:sp>
        <p:nvSpPr>
          <p:cNvPr id="14" name="Oval 13"/>
          <p:cNvSpPr/>
          <p:nvPr/>
        </p:nvSpPr>
        <p:spPr>
          <a:xfrm>
            <a:off x="7062609" y="3660748"/>
            <a:ext cx="36576" cy="36576"/>
          </a:xfrm>
          <a:prstGeom prst="ellipse">
            <a:avLst/>
          </a:prstGeom>
          <a:solidFill>
            <a:srgbClr val="635226"/>
          </a:solidFill>
          <a:ln>
            <a:noFill/>
          </a:ln>
        </p:spPr>
        <p:txBody>
          <a:bodyPr rtlCol="0" anchor="ctr"/>
          <a:lstStyle/>
          <a:p/>
        </p:txBody>
      </p:sp>
      <p:sp>
        <p:nvSpPr>
          <p:cNvPr id="15" name="Oval 14"/>
          <p:cNvSpPr/>
          <p:nvPr/>
        </p:nvSpPr>
        <p:spPr>
          <a:xfrm>
            <a:off x="7384561" y="538138"/>
            <a:ext cx="73152" cy="73152"/>
          </a:xfrm>
          <a:prstGeom prst="ellipse">
            <a:avLst/>
          </a:prstGeom>
          <a:solidFill>
            <a:srgbClr val="806A31"/>
          </a:solidFill>
          <a:ln>
            <a:noFill/>
          </a:ln>
        </p:spPr>
        <p:txBody>
          <a:bodyPr rtlCol="0" anchor="ctr"/>
          <a:lstStyle/>
          <a:p/>
        </p:txBody>
      </p:sp>
      <p:sp>
        <p:nvSpPr>
          <p:cNvPr id="16" name="Oval 15"/>
          <p:cNvSpPr/>
          <p:nvPr/>
        </p:nvSpPr>
        <p:spPr>
          <a:xfrm>
            <a:off x="9208599" y="2257279"/>
            <a:ext cx="73152" cy="73152"/>
          </a:xfrm>
          <a:prstGeom prst="ellipse">
            <a:avLst/>
          </a:prstGeom>
          <a:solidFill>
            <a:srgbClr val="5C5134"/>
          </a:solidFill>
          <a:ln>
            <a:noFill/>
          </a:ln>
        </p:spPr>
        <p:txBody>
          <a:bodyPr rtlCol="0" anchor="ctr"/>
          <a:lstStyle/>
          <a:p/>
        </p:txBody>
      </p:sp>
      <p:sp>
        <p:nvSpPr>
          <p:cNvPr id="17" name="Oval 16"/>
          <p:cNvSpPr/>
          <p:nvPr/>
        </p:nvSpPr>
        <p:spPr>
          <a:xfrm>
            <a:off x="3569029" y="2750580"/>
            <a:ext cx="73152" cy="73152"/>
          </a:xfrm>
          <a:prstGeom prst="ellipse">
            <a:avLst/>
          </a:prstGeom>
          <a:solidFill>
            <a:srgbClr val="453C27"/>
          </a:solidFill>
          <a:ln>
            <a:noFill/>
          </a:ln>
        </p:spPr>
        <p:txBody>
          <a:bodyPr rtlCol="0" anchor="ctr"/>
          <a:lstStyle/>
          <a:p/>
        </p:txBody>
      </p:sp>
      <p:sp>
        <p:nvSpPr>
          <p:cNvPr id="18" name="Oval 17"/>
          <p:cNvSpPr/>
          <p:nvPr/>
        </p:nvSpPr>
        <p:spPr>
          <a:xfrm>
            <a:off x="8536791" y="4046556"/>
            <a:ext cx="73152" cy="73152"/>
          </a:xfrm>
          <a:prstGeom prst="ellipse">
            <a:avLst/>
          </a:prstGeom>
          <a:solidFill>
            <a:srgbClr val="784E20"/>
          </a:solidFill>
          <a:ln>
            <a:noFill/>
          </a:ln>
        </p:spPr>
        <p:txBody>
          <a:bodyPr rtlCol="0" anchor="ctr"/>
          <a:lstStyle/>
          <a:p/>
        </p:txBody>
      </p:sp>
      <p:sp>
        <p:nvSpPr>
          <p:cNvPr id="19" name="Oval 18"/>
          <p:cNvSpPr/>
          <p:nvPr/>
        </p:nvSpPr>
        <p:spPr>
          <a:xfrm>
            <a:off x="3468129" y="1806023"/>
            <a:ext cx="45720" cy="45720"/>
          </a:xfrm>
          <a:prstGeom prst="ellipse">
            <a:avLst/>
          </a:prstGeom>
          <a:solidFill>
            <a:srgbClr val="715E2B"/>
          </a:solidFill>
          <a:ln>
            <a:noFill/>
          </a:ln>
        </p:spPr>
        <p:txBody>
          <a:bodyPr rtlCol="0" anchor="ctr"/>
          <a:lstStyle/>
          <a:p/>
        </p:txBody>
      </p:sp>
      <p:sp>
        <p:nvSpPr>
          <p:cNvPr id="20" name="Oval 19"/>
          <p:cNvSpPr/>
          <p:nvPr/>
        </p:nvSpPr>
        <p:spPr>
          <a:xfrm>
            <a:off x="6024656" y="1249462"/>
            <a:ext cx="36576" cy="36576"/>
          </a:xfrm>
          <a:prstGeom prst="ellipse">
            <a:avLst/>
          </a:prstGeom>
          <a:solidFill>
            <a:srgbClr val="907F52"/>
          </a:solidFill>
          <a:ln>
            <a:noFill/>
          </a:ln>
        </p:spPr>
        <p:txBody>
          <a:bodyPr rtlCol="0" anchor="ctr"/>
          <a:lstStyle/>
          <a:p/>
        </p:txBody>
      </p:sp>
      <p:sp>
        <p:nvSpPr>
          <p:cNvPr id="21" name="Oval 20"/>
          <p:cNvSpPr/>
          <p:nvPr/>
        </p:nvSpPr>
        <p:spPr>
          <a:xfrm>
            <a:off x="10041672" y="930904"/>
            <a:ext cx="45720" cy="45720"/>
          </a:xfrm>
          <a:prstGeom prst="ellipse">
            <a:avLst/>
          </a:prstGeom>
          <a:solidFill>
            <a:srgbClr val="524320"/>
          </a:solidFill>
          <a:ln>
            <a:noFill/>
          </a:ln>
        </p:spPr>
        <p:txBody>
          <a:bodyPr rtlCol="0" anchor="ctr"/>
          <a:lstStyle/>
          <a:p/>
        </p:txBody>
      </p:sp>
      <p:sp>
        <p:nvSpPr>
          <p:cNvPr id="22" name="Oval 21"/>
          <p:cNvSpPr/>
          <p:nvPr/>
        </p:nvSpPr>
        <p:spPr>
          <a:xfrm>
            <a:off x="10614140" y="750121"/>
            <a:ext cx="27432" cy="27432"/>
          </a:xfrm>
          <a:prstGeom prst="ellipse">
            <a:avLst/>
          </a:prstGeom>
          <a:solidFill>
            <a:srgbClr val="C0AA6E"/>
          </a:solidFill>
          <a:ln>
            <a:noFill/>
          </a:ln>
        </p:spPr>
        <p:txBody>
          <a:bodyPr rtlCol="0" anchor="ctr"/>
          <a:lstStyle/>
          <a:p/>
        </p:txBody>
      </p:sp>
      <p:sp>
        <p:nvSpPr>
          <p:cNvPr id="23" name="Oval 22"/>
          <p:cNvSpPr/>
          <p:nvPr/>
        </p:nvSpPr>
        <p:spPr>
          <a:xfrm>
            <a:off x="2241681" y="4318160"/>
            <a:ext cx="73152" cy="73152"/>
          </a:xfrm>
          <a:prstGeom prst="ellipse">
            <a:avLst/>
          </a:prstGeom>
          <a:solidFill>
            <a:srgbClr val="8A7335"/>
          </a:solidFill>
          <a:ln>
            <a:noFill/>
          </a:ln>
        </p:spPr>
        <p:txBody>
          <a:bodyPr rtlCol="0" anchor="ctr"/>
          <a:lstStyle/>
          <a:p/>
        </p:txBody>
      </p:sp>
      <p:sp>
        <p:nvSpPr>
          <p:cNvPr id="24" name="Oval 23"/>
          <p:cNvSpPr/>
          <p:nvPr/>
        </p:nvSpPr>
        <p:spPr>
          <a:xfrm>
            <a:off x="10176721" y="5717260"/>
            <a:ext cx="54864" cy="54864"/>
          </a:xfrm>
          <a:prstGeom prst="ellipse">
            <a:avLst/>
          </a:prstGeom>
          <a:solidFill>
            <a:srgbClr val="927A38"/>
          </a:solidFill>
          <a:ln>
            <a:noFill/>
          </a:ln>
        </p:spPr>
        <p:txBody>
          <a:bodyPr rtlCol="0" anchor="ctr"/>
          <a:lstStyle/>
          <a:p/>
        </p:txBody>
      </p:sp>
      <p:sp>
        <p:nvSpPr>
          <p:cNvPr id="25" name="Oval 24"/>
          <p:cNvSpPr/>
          <p:nvPr/>
        </p:nvSpPr>
        <p:spPr>
          <a:xfrm>
            <a:off x="9150625" y="5623515"/>
            <a:ext cx="54864" cy="54864"/>
          </a:xfrm>
          <a:prstGeom prst="ellipse">
            <a:avLst/>
          </a:prstGeom>
          <a:solidFill>
            <a:srgbClr val="9E8C5B"/>
          </a:solidFill>
          <a:ln>
            <a:noFill/>
          </a:ln>
        </p:spPr>
        <p:txBody>
          <a:bodyPr rtlCol="0" anchor="ctr"/>
          <a:lstStyle/>
          <a:p/>
        </p:txBody>
      </p:sp>
      <p:sp>
        <p:nvSpPr>
          <p:cNvPr id="26" name="Oval 25"/>
          <p:cNvSpPr/>
          <p:nvPr/>
        </p:nvSpPr>
        <p:spPr>
          <a:xfrm>
            <a:off x="1193626" y="3872555"/>
            <a:ext cx="27432" cy="27432"/>
          </a:xfrm>
          <a:prstGeom prst="ellipse">
            <a:avLst/>
          </a:prstGeom>
          <a:solidFill>
            <a:srgbClr val="665527"/>
          </a:solidFill>
          <a:ln>
            <a:noFill/>
          </a:ln>
        </p:spPr>
        <p:txBody>
          <a:bodyPr rtlCol="0" anchor="ctr"/>
          <a:lstStyle/>
          <a:p/>
        </p:txBody>
      </p:sp>
      <p:sp>
        <p:nvSpPr>
          <p:cNvPr id="27" name="Oval 26"/>
          <p:cNvSpPr/>
          <p:nvPr/>
        </p:nvSpPr>
        <p:spPr>
          <a:xfrm>
            <a:off x="4541758" y="5633066"/>
            <a:ext cx="45720" cy="45720"/>
          </a:xfrm>
          <a:prstGeom prst="ellipse">
            <a:avLst/>
          </a:prstGeom>
          <a:solidFill>
            <a:srgbClr val="AB9762"/>
          </a:solidFill>
          <a:ln>
            <a:noFill/>
          </a:ln>
        </p:spPr>
        <p:txBody>
          <a:bodyPr rtlCol="0" anchor="ctr"/>
          <a:lstStyle/>
          <a:p/>
        </p:txBody>
      </p:sp>
      <p:sp>
        <p:nvSpPr>
          <p:cNvPr id="28" name="Oval 27"/>
          <p:cNvSpPr/>
          <p:nvPr/>
        </p:nvSpPr>
        <p:spPr>
          <a:xfrm>
            <a:off x="10936499" y="3567631"/>
            <a:ext cx="54864" cy="54864"/>
          </a:xfrm>
          <a:prstGeom prst="ellipse">
            <a:avLst/>
          </a:prstGeom>
          <a:solidFill>
            <a:srgbClr val="9A8858"/>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III · THE PROOF</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F0D58A"/>
          </a:solidFill>
          <a:ln>
            <a:no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687671" y="1176909"/>
            <a:ext cx="2816352" cy="329184"/>
          </a:xfrm>
          <a:prstGeom prst="rect">
            <a:avLst/>
          </a:prstGeom>
          <a:noFill/>
        </p:spPr>
        <p:txBody>
          <a:bodyPr wrap="square" lIns="0" rIns="0" tIns="0" bIns="0" anchor="ctr">
            <a:spAutoFit/>
          </a:bodyPr>
          <a:lstStyle/>
          <a:p>
            <a:pPr algn="ctr"/>
            <a:r>
              <a:rPr sz="1300" b="1" i="0" spc="400">
                <a:solidFill>
                  <a:srgbClr val="C9A84C"/>
                </a:solidFill>
                <a:latin typeface="Montserrat"/>
              </a:rPr>
              <a:t>WHAT CLIENTS SAY</a:t>
            </a:r>
          </a:p>
        </p:txBody>
      </p:sp>
      <p:cxnSp>
        <p:nvCxnSpPr>
          <p:cNvPr id="50" name="Connector 49"/>
          <p:cNvCxnSpPr/>
          <p:nvPr/>
        </p:nvCxnSpPr>
        <p:spPr>
          <a:xfrm>
            <a:off x="3316071" y="134150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265779" y="1291209"/>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641183" y="134150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825331" y="1291209"/>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570101"/>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In their words</a:t>
            </a:r>
          </a:p>
        </p:txBody>
      </p:sp>
      <p:sp>
        <p:nvSpPr>
          <p:cNvPr id="55" name="Rounded Rectangle 54"/>
          <p:cNvSpPr/>
          <p:nvPr/>
        </p:nvSpPr>
        <p:spPr>
          <a:xfrm>
            <a:off x="914400" y="2377821"/>
            <a:ext cx="3240938" cy="3019806"/>
          </a:xfrm>
          <a:prstGeom prst="roundRect">
            <a:avLst>
              <a:gd name="adj" fmla="val 6000"/>
            </a:avLst>
          </a:prstGeom>
          <a:solidFill>
            <a:srgbClr val="100D07"/>
          </a:solidFill>
          <a:ln w="15875">
            <a:solidFill>
              <a:srgbClr val="877034"/>
            </a:solidFill>
            <a:prstDash val="dash"/>
          </a:ln>
        </p:spPr>
        <p:txBody>
          <a:bodyPr rtlCol="0" anchor="ctr"/>
          <a:lstStyle/>
          <a:p/>
        </p:txBody>
      </p:sp>
      <p:sp>
        <p:nvSpPr>
          <p:cNvPr id="56" name="TextBox 55"/>
          <p:cNvSpPr txBox="1"/>
          <p:nvPr/>
        </p:nvSpPr>
        <p:spPr>
          <a:xfrm>
            <a:off x="1097280" y="2606421"/>
            <a:ext cx="2875178" cy="560070"/>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ADD A REAL CLIENT QUOTE</a:t>
            </a:r>
          </a:p>
        </p:txBody>
      </p:sp>
      <p:sp>
        <p:nvSpPr>
          <p:cNvPr id="57" name="TextBox 56"/>
          <p:cNvSpPr txBox="1"/>
          <p:nvPr/>
        </p:nvSpPr>
        <p:spPr>
          <a:xfrm>
            <a:off x="1143000" y="3349371"/>
            <a:ext cx="2783738" cy="1682495"/>
          </a:xfrm>
          <a:prstGeom prst="rect">
            <a:avLst/>
          </a:prstGeom>
          <a:noFill/>
        </p:spPr>
        <p:txBody>
          <a:bodyPr wrap="square" lIns="0" rIns="0" tIns="0" bIns="0" anchor="t">
            <a:spAutoFit/>
          </a:bodyPr>
          <a:lstStyle/>
          <a:p>
            <a:pPr algn="ctr">
              <a:lnSpc>
                <a:spcPct val="120000"/>
              </a:lnSpc>
              <a:spcAft>
                <a:spcPts val="600"/>
              </a:spcAft>
            </a:pPr>
            <a:r>
              <a:rPr sz="1600" b="0" i="0">
                <a:solidFill>
                  <a:srgbClr val="EFE3C6"/>
                </a:solidFill>
                <a:latin typeface="Montserrat"/>
              </a:rPr>
              <a:t>About the process — being explained to, being told the truth.</a:t>
            </a:r>
          </a:p>
          <a:p>
            <a:pPr algn="ctr">
              <a:lnSpc>
                <a:spcPct val="120000"/>
              </a:lnSpc>
              <a:spcAft>
                <a:spcPts val="600"/>
              </a:spcAft>
            </a:pPr>
            <a:r>
              <a:rPr sz="1600" b="0" i="0">
                <a:solidFill>
                  <a:srgbClr val="EFE3C6"/>
                </a:solidFill>
                <a:latin typeface="Montserrat"/>
              </a:rPr>
              <a:t>Written permission required.</a:t>
            </a:r>
          </a:p>
          <a:p>
            <a:pPr algn="ctr">
              <a:lnSpc>
                <a:spcPct val="120000"/>
              </a:lnSpc>
              <a:spcAft>
                <a:spcPts val="600"/>
              </a:spcAft>
            </a:pPr>
            <a:r>
              <a:rPr sz="1600" b="0" i="0">
                <a:solidFill>
                  <a:srgbClr val="EFE3C6"/>
                </a:solidFill>
                <a:latin typeface="Montserrat"/>
              </a:rPr>
              <a:t>— First name, City</a:t>
            </a:r>
          </a:p>
        </p:txBody>
      </p:sp>
      <p:sp>
        <p:nvSpPr>
          <p:cNvPr id="58" name="Rounded Rectangle 57"/>
          <p:cNvSpPr/>
          <p:nvPr/>
        </p:nvSpPr>
        <p:spPr>
          <a:xfrm>
            <a:off x="4475378" y="2377821"/>
            <a:ext cx="3240938" cy="3019806"/>
          </a:xfrm>
          <a:prstGeom prst="roundRect">
            <a:avLst>
              <a:gd name="adj" fmla="val 6000"/>
            </a:avLst>
          </a:prstGeom>
          <a:solidFill>
            <a:srgbClr val="100D07"/>
          </a:solidFill>
          <a:ln w="15875">
            <a:solidFill>
              <a:srgbClr val="877034"/>
            </a:solidFill>
            <a:prstDash val="dash"/>
          </a:ln>
        </p:spPr>
        <p:txBody>
          <a:bodyPr rtlCol="0" anchor="ctr"/>
          <a:lstStyle/>
          <a:p/>
        </p:txBody>
      </p:sp>
      <p:sp>
        <p:nvSpPr>
          <p:cNvPr id="59" name="TextBox 58"/>
          <p:cNvSpPr txBox="1"/>
          <p:nvPr/>
        </p:nvSpPr>
        <p:spPr>
          <a:xfrm>
            <a:off x="4658258" y="2606421"/>
            <a:ext cx="2875178" cy="560070"/>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ADD A REAL CLIENT QUOTE</a:t>
            </a:r>
          </a:p>
        </p:txBody>
      </p:sp>
      <p:sp>
        <p:nvSpPr>
          <p:cNvPr id="60" name="TextBox 59"/>
          <p:cNvSpPr txBox="1"/>
          <p:nvPr/>
        </p:nvSpPr>
        <p:spPr>
          <a:xfrm>
            <a:off x="4703978" y="3349371"/>
            <a:ext cx="2783738" cy="1682495"/>
          </a:xfrm>
          <a:prstGeom prst="rect">
            <a:avLst/>
          </a:prstGeom>
          <a:noFill/>
        </p:spPr>
        <p:txBody>
          <a:bodyPr wrap="square" lIns="0" rIns="0" tIns="0" bIns="0" anchor="t">
            <a:spAutoFit/>
          </a:bodyPr>
          <a:lstStyle/>
          <a:p>
            <a:pPr algn="ctr">
              <a:lnSpc>
                <a:spcPct val="120000"/>
              </a:lnSpc>
              <a:spcAft>
                <a:spcPts val="600"/>
              </a:spcAft>
            </a:pPr>
            <a:r>
              <a:rPr sz="1600" b="0" i="0">
                <a:solidFill>
                  <a:srgbClr val="EFE3C6"/>
                </a:solidFill>
                <a:latin typeface="Montserrat"/>
              </a:rPr>
              <a:t>About the process — being explained to, being told the truth.</a:t>
            </a:r>
          </a:p>
          <a:p>
            <a:pPr algn="ctr">
              <a:lnSpc>
                <a:spcPct val="120000"/>
              </a:lnSpc>
              <a:spcAft>
                <a:spcPts val="600"/>
              </a:spcAft>
            </a:pPr>
            <a:r>
              <a:rPr sz="1600" b="0" i="0">
                <a:solidFill>
                  <a:srgbClr val="EFE3C6"/>
                </a:solidFill>
                <a:latin typeface="Montserrat"/>
              </a:rPr>
              <a:t>Written permission required.</a:t>
            </a:r>
          </a:p>
          <a:p>
            <a:pPr algn="ctr">
              <a:lnSpc>
                <a:spcPct val="120000"/>
              </a:lnSpc>
              <a:spcAft>
                <a:spcPts val="600"/>
              </a:spcAft>
            </a:pPr>
            <a:r>
              <a:rPr sz="1600" b="0" i="0">
                <a:solidFill>
                  <a:srgbClr val="EFE3C6"/>
                </a:solidFill>
                <a:latin typeface="Montserrat"/>
              </a:rPr>
              <a:t>— First name, City</a:t>
            </a:r>
          </a:p>
        </p:txBody>
      </p:sp>
      <p:sp>
        <p:nvSpPr>
          <p:cNvPr id="61" name="Rounded Rectangle 60"/>
          <p:cNvSpPr/>
          <p:nvPr/>
        </p:nvSpPr>
        <p:spPr>
          <a:xfrm>
            <a:off x="8036356" y="2377821"/>
            <a:ext cx="3240938" cy="3019806"/>
          </a:xfrm>
          <a:prstGeom prst="roundRect">
            <a:avLst>
              <a:gd name="adj" fmla="val 6000"/>
            </a:avLst>
          </a:prstGeom>
          <a:solidFill>
            <a:srgbClr val="100D07"/>
          </a:solidFill>
          <a:ln w="15875">
            <a:solidFill>
              <a:srgbClr val="877034"/>
            </a:solidFill>
            <a:prstDash val="dash"/>
          </a:ln>
        </p:spPr>
        <p:txBody>
          <a:bodyPr rtlCol="0" anchor="ctr"/>
          <a:lstStyle/>
          <a:p/>
        </p:txBody>
      </p:sp>
      <p:sp>
        <p:nvSpPr>
          <p:cNvPr id="62" name="TextBox 61"/>
          <p:cNvSpPr txBox="1"/>
          <p:nvPr/>
        </p:nvSpPr>
        <p:spPr>
          <a:xfrm>
            <a:off x="8219236" y="2606421"/>
            <a:ext cx="2875178" cy="560070"/>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ADD A REAL CLIENT QUOTE</a:t>
            </a:r>
          </a:p>
        </p:txBody>
      </p:sp>
      <p:sp>
        <p:nvSpPr>
          <p:cNvPr id="63" name="TextBox 62"/>
          <p:cNvSpPr txBox="1"/>
          <p:nvPr/>
        </p:nvSpPr>
        <p:spPr>
          <a:xfrm>
            <a:off x="8264956" y="3349371"/>
            <a:ext cx="2783738" cy="1682495"/>
          </a:xfrm>
          <a:prstGeom prst="rect">
            <a:avLst/>
          </a:prstGeom>
          <a:noFill/>
        </p:spPr>
        <p:txBody>
          <a:bodyPr wrap="square" lIns="0" rIns="0" tIns="0" bIns="0" anchor="t">
            <a:spAutoFit/>
          </a:bodyPr>
          <a:lstStyle/>
          <a:p>
            <a:pPr algn="ctr">
              <a:lnSpc>
                <a:spcPct val="120000"/>
              </a:lnSpc>
              <a:spcAft>
                <a:spcPts val="600"/>
              </a:spcAft>
            </a:pPr>
            <a:r>
              <a:rPr sz="1600" b="0" i="0">
                <a:solidFill>
                  <a:srgbClr val="EFE3C6"/>
                </a:solidFill>
                <a:latin typeface="Montserrat"/>
              </a:rPr>
              <a:t>About the process — being explained to, being told the truth.</a:t>
            </a:r>
          </a:p>
          <a:p>
            <a:pPr algn="ctr">
              <a:lnSpc>
                <a:spcPct val="120000"/>
              </a:lnSpc>
              <a:spcAft>
                <a:spcPts val="600"/>
              </a:spcAft>
            </a:pPr>
            <a:r>
              <a:rPr sz="1600" b="0" i="0">
                <a:solidFill>
                  <a:srgbClr val="EFE3C6"/>
                </a:solidFill>
                <a:latin typeface="Montserrat"/>
              </a:rPr>
              <a:t>Written permission required.</a:t>
            </a:r>
          </a:p>
          <a:p>
            <a:pPr algn="ctr">
              <a:lnSpc>
                <a:spcPct val="120000"/>
              </a:lnSpc>
              <a:spcAft>
                <a:spcPts val="600"/>
              </a:spcAft>
            </a:pPr>
            <a:r>
              <a:rPr sz="1600" b="0" i="0">
                <a:solidFill>
                  <a:srgbClr val="EFE3C6"/>
                </a:solidFill>
                <a:latin typeface="Montserrat"/>
              </a:rPr>
              <a:t>— First name, City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652387" y="2000424"/>
            <a:ext cx="27432" cy="27432"/>
          </a:xfrm>
          <a:prstGeom prst="ellipse">
            <a:avLst/>
          </a:prstGeom>
          <a:solidFill>
            <a:srgbClr val="564C31"/>
          </a:solidFill>
          <a:ln>
            <a:noFill/>
          </a:ln>
        </p:spPr>
        <p:txBody>
          <a:bodyPr rtlCol="0" anchor="ctr"/>
          <a:lstStyle/>
          <a:p/>
        </p:txBody>
      </p:sp>
      <p:sp>
        <p:nvSpPr>
          <p:cNvPr id="4" name="Oval 3"/>
          <p:cNvSpPr/>
          <p:nvPr/>
        </p:nvSpPr>
        <p:spPr>
          <a:xfrm>
            <a:off x="8120854" y="5668518"/>
            <a:ext cx="27432" cy="27432"/>
          </a:xfrm>
          <a:prstGeom prst="ellipse">
            <a:avLst/>
          </a:prstGeom>
          <a:solidFill>
            <a:srgbClr val="8F7E52"/>
          </a:solidFill>
          <a:ln>
            <a:noFill/>
          </a:ln>
        </p:spPr>
        <p:txBody>
          <a:bodyPr rtlCol="0" anchor="ctr"/>
          <a:lstStyle/>
          <a:p/>
        </p:txBody>
      </p:sp>
      <p:sp>
        <p:nvSpPr>
          <p:cNvPr id="5" name="Oval 4"/>
          <p:cNvSpPr/>
          <p:nvPr/>
        </p:nvSpPr>
        <p:spPr>
          <a:xfrm>
            <a:off x="707241" y="1665256"/>
            <a:ext cx="27432" cy="27432"/>
          </a:xfrm>
          <a:prstGeom prst="ellipse">
            <a:avLst/>
          </a:prstGeom>
          <a:solidFill>
            <a:srgbClr val="7A652F"/>
          </a:solidFill>
          <a:ln>
            <a:noFill/>
          </a:ln>
        </p:spPr>
        <p:txBody>
          <a:bodyPr rtlCol="0" anchor="ctr"/>
          <a:lstStyle/>
          <a:p/>
        </p:txBody>
      </p:sp>
      <p:sp>
        <p:nvSpPr>
          <p:cNvPr id="6" name="Oval 5"/>
          <p:cNvSpPr/>
          <p:nvPr/>
        </p:nvSpPr>
        <p:spPr>
          <a:xfrm>
            <a:off x="2644474" y="4228413"/>
            <a:ext cx="73152" cy="73152"/>
          </a:xfrm>
          <a:prstGeom prst="ellipse">
            <a:avLst/>
          </a:prstGeom>
          <a:solidFill>
            <a:srgbClr val="675528"/>
          </a:solidFill>
          <a:ln>
            <a:noFill/>
          </a:ln>
        </p:spPr>
        <p:txBody>
          <a:bodyPr rtlCol="0" anchor="ctr"/>
          <a:lstStyle/>
          <a:p/>
        </p:txBody>
      </p:sp>
      <p:sp>
        <p:nvSpPr>
          <p:cNvPr id="7" name="Oval 6"/>
          <p:cNvSpPr/>
          <p:nvPr/>
        </p:nvSpPr>
        <p:spPr>
          <a:xfrm>
            <a:off x="7118847" y="5176690"/>
            <a:ext cx="54864" cy="54864"/>
          </a:xfrm>
          <a:prstGeom prst="ellipse">
            <a:avLst/>
          </a:prstGeom>
          <a:solidFill>
            <a:srgbClr val="A4915E"/>
          </a:solidFill>
          <a:ln>
            <a:noFill/>
          </a:ln>
        </p:spPr>
        <p:txBody>
          <a:bodyPr rtlCol="0" anchor="ctr"/>
          <a:lstStyle/>
          <a:p/>
        </p:txBody>
      </p:sp>
      <p:sp>
        <p:nvSpPr>
          <p:cNvPr id="8" name="Oval 7"/>
          <p:cNvSpPr/>
          <p:nvPr/>
        </p:nvSpPr>
        <p:spPr>
          <a:xfrm>
            <a:off x="8366559" y="2388072"/>
            <a:ext cx="36576" cy="36576"/>
          </a:xfrm>
          <a:prstGeom prst="ellipse">
            <a:avLst/>
          </a:prstGeom>
          <a:solidFill>
            <a:srgbClr val="605437"/>
          </a:solidFill>
          <a:ln>
            <a:noFill/>
          </a:ln>
        </p:spPr>
        <p:txBody>
          <a:bodyPr rtlCol="0" anchor="ctr"/>
          <a:lstStyle/>
          <a:p/>
        </p:txBody>
      </p:sp>
      <p:sp>
        <p:nvSpPr>
          <p:cNvPr id="9" name="Oval 8"/>
          <p:cNvSpPr/>
          <p:nvPr/>
        </p:nvSpPr>
        <p:spPr>
          <a:xfrm>
            <a:off x="1537107" y="2623895"/>
            <a:ext cx="45720" cy="45720"/>
          </a:xfrm>
          <a:prstGeom prst="ellipse">
            <a:avLst/>
          </a:prstGeom>
          <a:solidFill>
            <a:srgbClr val="AA6E2B"/>
          </a:solidFill>
          <a:ln>
            <a:noFill/>
          </a:ln>
        </p:spPr>
        <p:txBody>
          <a:bodyPr rtlCol="0" anchor="ctr"/>
          <a:lstStyle/>
          <a:p/>
        </p:txBody>
      </p:sp>
      <p:sp>
        <p:nvSpPr>
          <p:cNvPr id="10" name="Oval 9"/>
          <p:cNvSpPr/>
          <p:nvPr/>
        </p:nvSpPr>
        <p:spPr>
          <a:xfrm>
            <a:off x="3397215" y="624012"/>
            <a:ext cx="73152" cy="73152"/>
          </a:xfrm>
          <a:prstGeom prst="ellipse">
            <a:avLst/>
          </a:prstGeom>
          <a:solidFill>
            <a:srgbClr val="845622"/>
          </a:solidFill>
          <a:ln>
            <a:noFill/>
          </a:ln>
        </p:spPr>
        <p:txBody>
          <a:bodyPr rtlCol="0" anchor="ctr"/>
          <a:lstStyle/>
          <a:p/>
        </p:txBody>
      </p:sp>
      <p:sp>
        <p:nvSpPr>
          <p:cNvPr id="11" name="Oval 10"/>
          <p:cNvSpPr/>
          <p:nvPr/>
        </p:nvSpPr>
        <p:spPr>
          <a:xfrm>
            <a:off x="1268824" y="2108294"/>
            <a:ext cx="54864" cy="54864"/>
          </a:xfrm>
          <a:prstGeom prst="ellipse">
            <a:avLst/>
          </a:prstGeom>
          <a:solidFill>
            <a:srgbClr val="7C672F"/>
          </a:solidFill>
          <a:ln>
            <a:noFill/>
          </a:ln>
        </p:spPr>
        <p:txBody>
          <a:bodyPr rtlCol="0" anchor="ctr"/>
          <a:lstStyle/>
          <a:p/>
        </p:txBody>
      </p:sp>
      <p:sp>
        <p:nvSpPr>
          <p:cNvPr id="12" name="Oval 11"/>
          <p:cNvSpPr/>
          <p:nvPr/>
        </p:nvSpPr>
        <p:spPr>
          <a:xfrm>
            <a:off x="6982316" y="4553453"/>
            <a:ext cx="45720" cy="45720"/>
          </a:xfrm>
          <a:prstGeom prst="ellipse">
            <a:avLst/>
          </a:prstGeom>
          <a:solidFill>
            <a:srgbClr val="988657"/>
          </a:solidFill>
          <a:ln>
            <a:noFill/>
          </a:ln>
        </p:spPr>
        <p:txBody>
          <a:bodyPr rtlCol="0" anchor="ctr"/>
          <a:lstStyle/>
          <a:p/>
        </p:txBody>
      </p:sp>
      <p:sp>
        <p:nvSpPr>
          <p:cNvPr id="13" name="Oval 12"/>
          <p:cNvSpPr/>
          <p:nvPr/>
        </p:nvSpPr>
        <p:spPr>
          <a:xfrm>
            <a:off x="11656571" y="5449426"/>
            <a:ext cx="45720" cy="45720"/>
          </a:xfrm>
          <a:prstGeom prst="ellipse">
            <a:avLst/>
          </a:prstGeom>
          <a:solidFill>
            <a:srgbClr val="756743"/>
          </a:solidFill>
          <a:ln>
            <a:noFill/>
          </a:ln>
        </p:spPr>
        <p:txBody>
          <a:bodyPr rtlCol="0" anchor="ctr"/>
          <a:lstStyle/>
          <a:p/>
        </p:txBody>
      </p:sp>
      <p:sp>
        <p:nvSpPr>
          <p:cNvPr id="14" name="Oval 13"/>
          <p:cNvSpPr/>
          <p:nvPr/>
        </p:nvSpPr>
        <p:spPr>
          <a:xfrm>
            <a:off x="7650815" y="2534176"/>
            <a:ext cx="54864" cy="54864"/>
          </a:xfrm>
          <a:prstGeom prst="ellipse">
            <a:avLst/>
          </a:prstGeom>
          <a:solidFill>
            <a:srgbClr val="6E481D"/>
          </a:solidFill>
          <a:ln>
            <a:noFill/>
          </a:ln>
        </p:spPr>
        <p:txBody>
          <a:bodyPr rtlCol="0" anchor="ctr"/>
          <a:lstStyle/>
          <a:p/>
        </p:txBody>
      </p:sp>
      <p:sp>
        <p:nvSpPr>
          <p:cNvPr id="15" name="Oval 14"/>
          <p:cNvSpPr/>
          <p:nvPr/>
        </p:nvSpPr>
        <p:spPr>
          <a:xfrm>
            <a:off x="8408743" y="4428493"/>
            <a:ext cx="45720" cy="45720"/>
          </a:xfrm>
          <a:prstGeom prst="ellipse">
            <a:avLst/>
          </a:prstGeom>
          <a:solidFill>
            <a:srgbClr val="918053"/>
          </a:solidFill>
          <a:ln>
            <a:noFill/>
          </a:ln>
        </p:spPr>
        <p:txBody>
          <a:bodyPr rtlCol="0" anchor="ctr"/>
          <a:lstStyle/>
          <a:p/>
        </p:txBody>
      </p:sp>
      <p:sp>
        <p:nvSpPr>
          <p:cNvPr id="16" name="Oval 15"/>
          <p:cNvSpPr/>
          <p:nvPr/>
        </p:nvSpPr>
        <p:spPr>
          <a:xfrm>
            <a:off x="6487096" y="1820818"/>
            <a:ext cx="36576" cy="36576"/>
          </a:xfrm>
          <a:prstGeom prst="ellipse">
            <a:avLst/>
          </a:prstGeom>
          <a:solidFill>
            <a:srgbClr val="714A1E"/>
          </a:solidFill>
          <a:ln>
            <a:noFill/>
          </a:ln>
        </p:spPr>
        <p:txBody>
          <a:bodyPr rtlCol="0" anchor="ctr"/>
          <a:lstStyle/>
          <a:p/>
        </p:txBody>
      </p:sp>
      <p:sp>
        <p:nvSpPr>
          <p:cNvPr id="17" name="Oval 16"/>
          <p:cNvSpPr/>
          <p:nvPr/>
        </p:nvSpPr>
        <p:spPr>
          <a:xfrm>
            <a:off x="2882588" y="2293166"/>
            <a:ext cx="73152" cy="73152"/>
          </a:xfrm>
          <a:prstGeom prst="ellipse">
            <a:avLst/>
          </a:prstGeom>
          <a:solidFill>
            <a:srgbClr val="625638"/>
          </a:solidFill>
          <a:ln>
            <a:noFill/>
          </a:ln>
        </p:spPr>
        <p:txBody>
          <a:bodyPr rtlCol="0" anchor="ctr"/>
          <a:lstStyle/>
          <a:p/>
        </p:txBody>
      </p:sp>
      <p:sp>
        <p:nvSpPr>
          <p:cNvPr id="18" name="Oval 17"/>
          <p:cNvSpPr/>
          <p:nvPr/>
        </p:nvSpPr>
        <p:spPr>
          <a:xfrm>
            <a:off x="9591725" y="2750123"/>
            <a:ext cx="27432" cy="27432"/>
          </a:xfrm>
          <a:prstGeom prst="ellipse">
            <a:avLst/>
          </a:prstGeom>
          <a:solidFill>
            <a:srgbClr val="5F5436"/>
          </a:solidFill>
          <a:ln>
            <a:noFill/>
          </a:ln>
        </p:spPr>
        <p:txBody>
          <a:bodyPr rtlCol="0" anchor="ctr"/>
          <a:lstStyle/>
          <a:p/>
        </p:txBody>
      </p:sp>
      <p:sp>
        <p:nvSpPr>
          <p:cNvPr id="19" name="Oval 18"/>
          <p:cNvSpPr/>
          <p:nvPr/>
        </p:nvSpPr>
        <p:spPr>
          <a:xfrm>
            <a:off x="10409086" y="2236079"/>
            <a:ext cx="73152" cy="73152"/>
          </a:xfrm>
          <a:prstGeom prst="ellipse">
            <a:avLst/>
          </a:prstGeom>
          <a:solidFill>
            <a:srgbClr val="6F5C2B"/>
          </a:solidFill>
          <a:ln>
            <a:noFill/>
          </a:ln>
        </p:spPr>
        <p:txBody>
          <a:bodyPr rtlCol="0" anchor="ctr"/>
          <a:lstStyle/>
          <a:p/>
        </p:txBody>
      </p:sp>
      <p:sp>
        <p:nvSpPr>
          <p:cNvPr id="20" name="Oval 19"/>
          <p:cNvSpPr/>
          <p:nvPr/>
        </p:nvSpPr>
        <p:spPr>
          <a:xfrm>
            <a:off x="2003093" y="1195666"/>
            <a:ext cx="54864" cy="54864"/>
          </a:xfrm>
          <a:prstGeom prst="ellipse">
            <a:avLst/>
          </a:prstGeom>
          <a:solidFill>
            <a:srgbClr val="76622D"/>
          </a:solidFill>
          <a:ln>
            <a:noFill/>
          </a:ln>
        </p:spPr>
        <p:txBody>
          <a:bodyPr rtlCol="0" anchor="ctr"/>
          <a:lstStyle/>
          <a:p/>
        </p:txBody>
      </p:sp>
      <p:sp>
        <p:nvSpPr>
          <p:cNvPr id="21" name="Oval 20"/>
          <p:cNvSpPr/>
          <p:nvPr/>
        </p:nvSpPr>
        <p:spPr>
          <a:xfrm>
            <a:off x="8926669" y="2912199"/>
            <a:ext cx="45720" cy="45720"/>
          </a:xfrm>
          <a:prstGeom prst="ellipse">
            <a:avLst/>
          </a:prstGeom>
          <a:solidFill>
            <a:srgbClr val="655427"/>
          </a:solidFill>
          <a:ln>
            <a:noFill/>
          </a:ln>
        </p:spPr>
        <p:txBody>
          <a:bodyPr rtlCol="0" anchor="ctr"/>
          <a:lstStyle/>
          <a:p/>
        </p:txBody>
      </p:sp>
      <p:sp>
        <p:nvSpPr>
          <p:cNvPr id="22" name="Oval 21"/>
          <p:cNvSpPr/>
          <p:nvPr/>
        </p:nvSpPr>
        <p:spPr>
          <a:xfrm>
            <a:off x="11795288" y="1187948"/>
            <a:ext cx="36576" cy="36576"/>
          </a:xfrm>
          <a:prstGeom prst="ellipse">
            <a:avLst/>
          </a:prstGeom>
          <a:solidFill>
            <a:srgbClr val="4E3316"/>
          </a:solidFill>
          <a:ln>
            <a:noFill/>
          </a:ln>
        </p:spPr>
        <p:txBody>
          <a:bodyPr rtlCol="0" anchor="ctr"/>
          <a:lstStyle/>
          <a:p/>
        </p:txBody>
      </p:sp>
      <p:sp>
        <p:nvSpPr>
          <p:cNvPr id="23" name="Oval 22"/>
          <p:cNvSpPr/>
          <p:nvPr/>
        </p:nvSpPr>
        <p:spPr>
          <a:xfrm>
            <a:off x="10234150" y="1274187"/>
            <a:ext cx="27432" cy="27432"/>
          </a:xfrm>
          <a:prstGeom prst="ellipse">
            <a:avLst/>
          </a:prstGeom>
          <a:solidFill>
            <a:srgbClr val="A89561"/>
          </a:solidFill>
          <a:ln>
            <a:noFill/>
          </a:ln>
        </p:spPr>
        <p:txBody>
          <a:bodyPr rtlCol="0" anchor="ctr"/>
          <a:lstStyle/>
          <a:p/>
        </p:txBody>
      </p:sp>
      <p:sp>
        <p:nvSpPr>
          <p:cNvPr id="24" name="Oval 23"/>
          <p:cNvSpPr/>
          <p:nvPr/>
        </p:nvSpPr>
        <p:spPr>
          <a:xfrm>
            <a:off x="7200711" y="2652662"/>
            <a:ext cx="54864" cy="54864"/>
          </a:xfrm>
          <a:prstGeom prst="ellipse">
            <a:avLst/>
          </a:prstGeom>
          <a:solidFill>
            <a:srgbClr val="A3883E"/>
          </a:solidFill>
          <a:ln>
            <a:noFill/>
          </a:ln>
        </p:spPr>
        <p:txBody>
          <a:bodyPr rtlCol="0" anchor="ctr"/>
          <a:lstStyle/>
          <a:p/>
        </p:txBody>
      </p:sp>
      <p:sp>
        <p:nvSpPr>
          <p:cNvPr id="25" name="Oval 24"/>
          <p:cNvSpPr/>
          <p:nvPr/>
        </p:nvSpPr>
        <p:spPr>
          <a:xfrm>
            <a:off x="3247009" y="3653913"/>
            <a:ext cx="73152" cy="73152"/>
          </a:xfrm>
          <a:prstGeom prst="ellipse">
            <a:avLst/>
          </a:prstGeom>
          <a:solidFill>
            <a:srgbClr val="9A8858"/>
          </a:solidFill>
          <a:ln>
            <a:noFill/>
          </a:ln>
        </p:spPr>
        <p:txBody>
          <a:bodyPr rtlCol="0" anchor="ctr"/>
          <a:lstStyle/>
          <a:p/>
        </p:txBody>
      </p:sp>
      <p:sp>
        <p:nvSpPr>
          <p:cNvPr id="26" name="Oval 25"/>
          <p:cNvSpPr/>
          <p:nvPr/>
        </p:nvSpPr>
        <p:spPr>
          <a:xfrm>
            <a:off x="8178280" y="3557296"/>
            <a:ext cx="27432" cy="27432"/>
          </a:xfrm>
          <a:prstGeom prst="ellipse">
            <a:avLst/>
          </a:prstGeom>
          <a:solidFill>
            <a:srgbClr val="A06829"/>
          </a:solidFill>
          <a:ln>
            <a:noFill/>
          </a:ln>
        </p:spPr>
        <p:txBody>
          <a:bodyPr rtlCol="0" anchor="ctr"/>
          <a:lstStyle/>
          <a:p/>
        </p:txBody>
      </p:sp>
      <p:sp>
        <p:nvSpPr>
          <p:cNvPr id="27" name="Oval 26"/>
          <p:cNvSpPr/>
          <p:nvPr/>
        </p:nvSpPr>
        <p:spPr>
          <a:xfrm>
            <a:off x="1644167" y="2949830"/>
            <a:ext cx="45720" cy="45720"/>
          </a:xfrm>
          <a:prstGeom prst="ellipse">
            <a:avLst/>
          </a:prstGeom>
          <a:solidFill>
            <a:srgbClr val="432D13"/>
          </a:solidFill>
          <a:ln>
            <a:noFill/>
          </a:ln>
        </p:spPr>
        <p:txBody>
          <a:bodyPr rtlCol="0" anchor="ctr"/>
          <a:lstStyle/>
          <a:p/>
        </p:txBody>
      </p:sp>
      <p:sp>
        <p:nvSpPr>
          <p:cNvPr id="28" name="Oval 27"/>
          <p:cNvSpPr/>
          <p:nvPr/>
        </p:nvSpPr>
        <p:spPr>
          <a:xfrm>
            <a:off x="11503767" y="4894558"/>
            <a:ext cx="45720" cy="45720"/>
          </a:xfrm>
          <a:prstGeom prst="ellipse">
            <a:avLst/>
          </a:prstGeom>
          <a:solidFill>
            <a:srgbClr val="9A813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III · THE PROOF</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F0D58A"/>
          </a:solidFill>
          <a:ln>
            <a:no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pic>
        <p:nvPicPr>
          <p:cNvPr id="49" name="Picture 48" descr="glow_35.png"/>
          <p:cNvPicPr>
            <a:picLocks noChangeAspect="1"/>
          </p:cNvPicPr>
          <p:nvPr/>
        </p:nvPicPr>
        <p:blipFill>
          <a:blip r:embed="rId3"/>
          <a:stretch>
            <a:fillRect/>
          </a:stretch>
        </p:blipFill>
        <p:spPr>
          <a:xfrm>
            <a:off x="822959" y="914400"/>
            <a:ext cx="4754880" cy="4754880"/>
          </a:xfrm>
          <a:prstGeom prst="rect">
            <a:avLst/>
          </a:prstGeom>
        </p:spPr>
      </p:pic>
      <p:pic>
        <p:nvPicPr>
          <p:cNvPr id="50" name="Picture 49" descr="cover.jpg"/>
          <p:cNvPicPr>
            <a:picLocks noChangeAspect="1"/>
          </p:cNvPicPr>
          <p:nvPr/>
        </p:nvPicPr>
        <p:blipFill>
          <a:blip r:embed="rId4"/>
          <a:stretch>
            <a:fillRect/>
          </a:stretch>
        </p:blipFill>
        <p:spPr>
          <a:xfrm>
            <a:off x="1737360" y="914400"/>
            <a:ext cx="3169920" cy="4754880"/>
          </a:xfrm>
          <a:prstGeom prst="rect">
            <a:avLst/>
          </a:prstGeom>
        </p:spPr>
      </p:pic>
      <p:sp>
        <p:nvSpPr>
          <p:cNvPr id="51" name="TextBox 50"/>
          <p:cNvSpPr txBox="1"/>
          <p:nvPr/>
        </p:nvSpPr>
        <p:spPr>
          <a:xfrm>
            <a:off x="7406640" y="1097280"/>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THE BOOK</a:t>
            </a:r>
          </a:p>
        </p:txBody>
      </p:sp>
      <p:cxnSp>
        <p:nvCxnSpPr>
          <p:cNvPr id="52" name="Connector 51"/>
          <p:cNvCxnSpPr/>
          <p:nvPr/>
        </p:nvCxnSpPr>
        <p:spPr>
          <a:xfrm>
            <a:off x="6446519" y="1261872"/>
            <a:ext cx="82296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6396227" y="1211580"/>
            <a:ext cx="100584" cy="100584"/>
          </a:xfrm>
          <a:prstGeom prst="diamond">
            <a:avLst/>
          </a:prstGeom>
          <a:solidFill>
            <a:srgbClr val="C9A84C"/>
          </a:solidFill>
          <a:ln>
            <a:noFill/>
          </a:ln>
        </p:spPr>
        <p:txBody>
          <a:bodyPr rtlCol="0" anchor="ctr"/>
          <a:lstStyle/>
          <a:p/>
        </p:txBody>
      </p:sp>
      <p:cxnSp>
        <p:nvCxnSpPr>
          <p:cNvPr id="54" name="Connector 53"/>
          <p:cNvCxnSpPr/>
          <p:nvPr/>
        </p:nvCxnSpPr>
        <p:spPr>
          <a:xfrm>
            <a:off x="9372600" y="1261872"/>
            <a:ext cx="82296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5" name="Diamond 54"/>
          <p:cNvSpPr/>
          <p:nvPr/>
        </p:nvSpPr>
        <p:spPr>
          <a:xfrm>
            <a:off x="10145268" y="1211580"/>
            <a:ext cx="100584" cy="100584"/>
          </a:xfrm>
          <a:prstGeom prst="diamond">
            <a:avLst/>
          </a:prstGeom>
          <a:solidFill>
            <a:srgbClr val="C9A84C"/>
          </a:solidFill>
          <a:ln>
            <a:noFill/>
          </a:ln>
        </p:spPr>
        <p:txBody>
          <a:bodyPr rtlCol="0" anchor="ctr"/>
          <a:lstStyle/>
          <a:p/>
        </p:txBody>
      </p:sp>
      <p:sp>
        <p:nvSpPr>
          <p:cNvPr id="56" name="TextBox 55"/>
          <p:cNvSpPr txBox="1"/>
          <p:nvPr/>
        </p:nvSpPr>
        <p:spPr>
          <a:xfrm>
            <a:off x="5303520" y="1600200"/>
            <a:ext cx="6035040" cy="1371600"/>
          </a:xfrm>
          <a:prstGeom prst="rect">
            <a:avLst/>
          </a:prstGeom>
          <a:noFill/>
        </p:spPr>
        <p:txBody>
          <a:bodyPr wrap="square" lIns="0" rIns="0" tIns="0" bIns="0" anchor="ctr">
            <a:spAutoFit/>
          </a:bodyPr>
          <a:lstStyle/>
          <a:p>
            <a:pPr algn="l">
              <a:lnSpc>
                <a:spcPct val="105000"/>
              </a:lnSpc>
            </a:pPr>
            <a:r>
              <a:rPr sz="4600" b="1" i="0">
                <a:solidFill>
                  <a:srgbClr val="F0D58A"/>
                </a:solidFill>
                <a:latin typeface="Cinzel"/>
              </a:rPr>
              <a:t>The American Money Tree</a:t>
            </a:r>
          </a:p>
        </p:txBody>
      </p:sp>
      <p:sp>
        <p:nvSpPr>
          <p:cNvPr id="57" name="TextBox 56"/>
          <p:cNvSpPr txBox="1"/>
          <p:nvPr/>
        </p:nvSpPr>
        <p:spPr>
          <a:xfrm>
            <a:off x="5349240" y="3017520"/>
            <a:ext cx="5852160" cy="2377440"/>
          </a:xfrm>
          <a:prstGeom prst="rect">
            <a:avLst/>
          </a:prstGeom>
          <a:noFill/>
        </p:spPr>
        <p:txBody>
          <a:bodyPr wrap="square" lIns="0" rIns="0" tIns="0" bIns="0" anchor="t">
            <a:spAutoFit/>
          </a:bodyPr>
          <a:lstStyle/>
          <a:p>
            <a:pPr algn="l">
              <a:lnSpc>
                <a:spcPct val="120000"/>
              </a:lnSpc>
              <a:spcAft>
                <a:spcPts val="1400"/>
              </a:spcAft>
            </a:pPr>
            <a:r>
              <a:rPr sz="2000" b="0" i="1">
                <a:solidFill>
                  <a:srgbClr val="F0D58A"/>
                </a:solidFill>
                <a:latin typeface="Montserrat"/>
              </a:rPr>
              <a:t>A Plain-Language Owner's Manual for Indexed Universal Life Insurance</a:t>
            </a:r>
          </a:p>
          <a:p>
            <a:pPr algn="l">
              <a:lnSpc>
                <a:spcPct val="120000"/>
              </a:lnSpc>
              <a:spcAft>
                <a:spcPts val="1400"/>
              </a:spcAft>
            </a:pPr>
            <a:r>
              <a:rPr sz="2000" b="0" i="0">
                <a:solidFill>
                  <a:srgbClr val="EFE3C6"/>
                </a:solidFill>
                <a:latin typeface="Montserrat"/>
              </a:rPr>
              <a:t>What this industry leaves out: what it costs, how agents get paid, and when not to buy.</a:t>
            </a:r>
          </a:p>
          <a:p>
            <a:pPr algn="l"/>
            <a:r>
              <a:rPr sz="1400" b="1" i="0" spc="300">
                <a:solidFill>
                  <a:srgbClr val="B9A57A"/>
                </a:solidFill>
                <a:latin typeface="Montserrat"/>
              </a:rPr>
              <a:t>BY MALIK EAST  ·  COMING SOON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82309" y="3656375"/>
            <a:ext cx="45720" cy="45720"/>
          </a:xfrm>
          <a:prstGeom prst="ellipse">
            <a:avLst/>
          </a:prstGeom>
          <a:solidFill>
            <a:srgbClr val="5F4F25"/>
          </a:solidFill>
          <a:ln>
            <a:noFill/>
          </a:ln>
        </p:spPr>
        <p:txBody>
          <a:bodyPr rtlCol="0" anchor="ctr"/>
          <a:lstStyle/>
          <a:p/>
        </p:txBody>
      </p:sp>
      <p:sp>
        <p:nvSpPr>
          <p:cNvPr id="4" name="Oval 3"/>
          <p:cNvSpPr/>
          <p:nvPr/>
        </p:nvSpPr>
        <p:spPr>
          <a:xfrm>
            <a:off x="4795771" y="4024410"/>
            <a:ext cx="73152" cy="73152"/>
          </a:xfrm>
          <a:prstGeom prst="ellipse">
            <a:avLst/>
          </a:prstGeom>
          <a:solidFill>
            <a:srgbClr val="935F26"/>
          </a:solidFill>
          <a:ln>
            <a:noFill/>
          </a:ln>
        </p:spPr>
        <p:txBody>
          <a:bodyPr rtlCol="0" anchor="ctr"/>
          <a:lstStyle/>
          <a:p/>
        </p:txBody>
      </p:sp>
      <p:sp>
        <p:nvSpPr>
          <p:cNvPr id="5" name="Oval 4"/>
          <p:cNvSpPr/>
          <p:nvPr/>
        </p:nvSpPr>
        <p:spPr>
          <a:xfrm>
            <a:off x="372939" y="5968491"/>
            <a:ext cx="27432" cy="27432"/>
          </a:xfrm>
          <a:prstGeom prst="ellipse">
            <a:avLst/>
          </a:prstGeom>
          <a:solidFill>
            <a:srgbClr val="9B6428"/>
          </a:solidFill>
          <a:ln>
            <a:noFill/>
          </a:ln>
        </p:spPr>
        <p:txBody>
          <a:bodyPr rtlCol="0" anchor="ctr"/>
          <a:lstStyle/>
          <a:p/>
        </p:txBody>
      </p:sp>
      <p:sp>
        <p:nvSpPr>
          <p:cNvPr id="6" name="Oval 5"/>
          <p:cNvSpPr/>
          <p:nvPr/>
        </p:nvSpPr>
        <p:spPr>
          <a:xfrm>
            <a:off x="10879368" y="5707501"/>
            <a:ext cx="27432" cy="27432"/>
          </a:xfrm>
          <a:prstGeom prst="ellipse">
            <a:avLst/>
          </a:prstGeom>
          <a:solidFill>
            <a:srgbClr val="685628"/>
          </a:solidFill>
          <a:ln>
            <a:noFill/>
          </a:ln>
        </p:spPr>
        <p:txBody>
          <a:bodyPr rtlCol="0" anchor="ctr"/>
          <a:lstStyle/>
          <a:p/>
        </p:txBody>
      </p:sp>
      <p:sp>
        <p:nvSpPr>
          <p:cNvPr id="7" name="Oval 6"/>
          <p:cNvSpPr/>
          <p:nvPr/>
        </p:nvSpPr>
        <p:spPr>
          <a:xfrm>
            <a:off x="6362521" y="2500000"/>
            <a:ext cx="36576" cy="36576"/>
          </a:xfrm>
          <a:prstGeom prst="ellipse">
            <a:avLst/>
          </a:prstGeom>
          <a:solidFill>
            <a:srgbClr val="494029"/>
          </a:solidFill>
          <a:ln>
            <a:noFill/>
          </a:ln>
        </p:spPr>
        <p:txBody>
          <a:bodyPr rtlCol="0" anchor="ctr"/>
          <a:lstStyle/>
          <a:p/>
        </p:txBody>
      </p:sp>
      <p:sp>
        <p:nvSpPr>
          <p:cNvPr id="8" name="Oval 7"/>
          <p:cNvSpPr/>
          <p:nvPr/>
        </p:nvSpPr>
        <p:spPr>
          <a:xfrm>
            <a:off x="8579636" y="2466540"/>
            <a:ext cx="45720" cy="45720"/>
          </a:xfrm>
          <a:prstGeom prst="ellipse">
            <a:avLst/>
          </a:prstGeom>
          <a:solidFill>
            <a:srgbClr val="865823"/>
          </a:solidFill>
          <a:ln>
            <a:noFill/>
          </a:ln>
        </p:spPr>
        <p:txBody>
          <a:bodyPr rtlCol="0" anchor="ctr"/>
          <a:lstStyle/>
          <a:p/>
        </p:txBody>
      </p:sp>
      <p:sp>
        <p:nvSpPr>
          <p:cNvPr id="9" name="Oval 8"/>
          <p:cNvSpPr/>
          <p:nvPr/>
        </p:nvSpPr>
        <p:spPr>
          <a:xfrm>
            <a:off x="3100377" y="5362092"/>
            <a:ext cx="36576" cy="36576"/>
          </a:xfrm>
          <a:prstGeom prst="ellipse">
            <a:avLst/>
          </a:prstGeom>
          <a:solidFill>
            <a:srgbClr val="554A30"/>
          </a:solidFill>
          <a:ln>
            <a:noFill/>
          </a:ln>
        </p:spPr>
        <p:txBody>
          <a:bodyPr rtlCol="0" anchor="ctr"/>
          <a:lstStyle/>
          <a:p/>
        </p:txBody>
      </p:sp>
      <p:sp>
        <p:nvSpPr>
          <p:cNvPr id="10" name="Oval 9"/>
          <p:cNvSpPr/>
          <p:nvPr/>
        </p:nvSpPr>
        <p:spPr>
          <a:xfrm>
            <a:off x="4523954" y="2645598"/>
            <a:ext cx="27432" cy="27432"/>
          </a:xfrm>
          <a:prstGeom prst="ellipse">
            <a:avLst/>
          </a:prstGeom>
          <a:solidFill>
            <a:srgbClr val="907837"/>
          </a:solidFill>
          <a:ln>
            <a:noFill/>
          </a:ln>
        </p:spPr>
        <p:txBody>
          <a:bodyPr rtlCol="0" anchor="ctr"/>
          <a:lstStyle/>
          <a:p/>
        </p:txBody>
      </p:sp>
      <p:sp>
        <p:nvSpPr>
          <p:cNvPr id="11" name="Oval 10"/>
          <p:cNvSpPr/>
          <p:nvPr/>
        </p:nvSpPr>
        <p:spPr>
          <a:xfrm>
            <a:off x="7801218" y="5602735"/>
            <a:ext cx="27432" cy="27432"/>
          </a:xfrm>
          <a:prstGeom prst="ellipse">
            <a:avLst/>
          </a:prstGeom>
          <a:solidFill>
            <a:srgbClr val="937B38"/>
          </a:solidFill>
          <a:ln>
            <a:noFill/>
          </a:ln>
        </p:spPr>
        <p:txBody>
          <a:bodyPr rtlCol="0" anchor="ctr"/>
          <a:lstStyle/>
          <a:p/>
        </p:txBody>
      </p:sp>
      <p:sp>
        <p:nvSpPr>
          <p:cNvPr id="12" name="Oval 11"/>
          <p:cNvSpPr/>
          <p:nvPr/>
        </p:nvSpPr>
        <p:spPr>
          <a:xfrm>
            <a:off x="5763848" y="1020421"/>
            <a:ext cx="36576" cy="36576"/>
          </a:xfrm>
          <a:prstGeom prst="ellipse">
            <a:avLst/>
          </a:prstGeom>
          <a:solidFill>
            <a:srgbClr val="8C5B24"/>
          </a:solidFill>
          <a:ln>
            <a:noFill/>
          </a:ln>
        </p:spPr>
        <p:txBody>
          <a:bodyPr rtlCol="0" anchor="ctr"/>
          <a:lstStyle/>
          <a:p/>
        </p:txBody>
      </p:sp>
      <p:sp>
        <p:nvSpPr>
          <p:cNvPr id="13" name="Oval 12"/>
          <p:cNvSpPr/>
          <p:nvPr/>
        </p:nvSpPr>
        <p:spPr>
          <a:xfrm>
            <a:off x="10440969" y="5179849"/>
            <a:ext cx="45720" cy="45720"/>
          </a:xfrm>
          <a:prstGeom prst="ellipse">
            <a:avLst/>
          </a:prstGeom>
          <a:solidFill>
            <a:srgbClr val="9B813B"/>
          </a:solidFill>
          <a:ln>
            <a:noFill/>
          </a:ln>
        </p:spPr>
        <p:txBody>
          <a:bodyPr rtlCol="0" anchor="ctr"/>
          <a:lstStyle/>
          <a:p/>
        </p:txBody>
      </p:sp>
      <p:sp>
        <p:nvSpPr>
          <p:cNvPr id="14" name="Oval 13"/>
          <p:cNvSpPr/>
          <p:nvPr/>
        </p:nvSpPr>
        <p:spPr>
          <a:xfrm>
            <a:off x="6470416" y="604156"/>
            <a:ext cx="45720" cy="45720"/>
          </a:xfrm>
          <a:prstGeom prst="ellipse">
            <a:avLst/>
          </a:prstGeom>
          <a:solidFill>
            <a:srgbClr val="875823"/>
          </a:solidFill>
          <a:ln>
            <a:noFill/>
          </a:ln>
        </p:spPr>
        <p:txBody>
          <a:bodyPr rtlCol="0" anchor="ctr"/>
          <a:lstStyle/>
          <a:p/>
        </p:txBody>
      </p:sp>
      <p:sp>
        <p:nvSpPr>
          <p:cNvPr id="15" name="Oval 14"/>
          <p:cNvSpPr/>
          <p:nvPr/>
        </p:nvSpPr>
        <p:spPr>
          <a:xfrm>
            <a:off x="3348199" y="4705842"/>
            <a:ext cx="54864" cy="54864"/>
          </a:xfrm>
          <a:prstGeom prst="ellipse">
            <a:avLst/>
          </a:prstGeom>
          <a:solidFill>
            <a:srgbClr val="918053"/>
          </a:solidFill>
          <a:ln>
            <a:noFill/>
          </a:ln>
        </p:spPr>
        <p:txBody>
          <a:bodyPr rtlCol="0" anchor="ctr"/>
          <a:lstStyle/>
          <a:p/>
        </p:txBody>
      </p:sp>
      <p:sp>
        <p:nvSpPr>
          <p:cNvPr id="16" name="Oval 15"/>
          <p:cNvSpPr/>
          <p:nvPr/>
        </p:nvSpPr>
        <p:spPr>
          <a:xfrm>
            <a:off x="4719105" y="1870315"/>
            <a:ext cx="36576" cy="36576"/>
          </a:xfrm>
          <a:prstGeom prst="ellipse">
            <a:avLst/>
          </a:prstGeom>
          <a:solidFill>
            <a:srgbClr val="A2873D"/>
          </a:solidFill>
          <a:ln>
            <a:noFill/>
          </a:ln>
        </p:spPr>
        <p:txBody>
          <a:bodyPr rtlCol="0" anchor="ctr"/>
          <a:lstStyle/>
          <a:p/>
        </p:txBody>
      </p:sp>
      <p:sp>
        <p:nvSpPr>
          <p:cNvPr id="17" name="Oval 16"/>
          <p:cNvSpPr/>
          <p:nvPr/>
        </p:nvSpPr>
        <p:spPr>
          <a:xfrm>
            <a:off x="2075644" y="456044"/>
            <a:ext cx="73152" cy="73152"/>
          </a:xfrm>
          <a:prstGeom prst="ellipse">
            <a:avLst/>
          </a:prstGeom>
          <a:solidFill>
            <a:srgbClr val="8A794F"/>
          </a:solidFill>
          <a:ln>
            <a:noFill/>
          </a:ln>
        </p:spPr>
        <p:txBody>
          <a:bodyPr rtlCol="0" anchor="ctr"/>
          <a:lstStyle/>
          <a:p/>
        </p:txBody>
      </p:sp>
      <p:sp>
        <p:nvSpPr>
          <p:cNvPr id="18" name="Oval 17"/>
          <p:cNvSpPr/>
          <p:nvPr/>
        </p:nvSpPr>
        <p:spPr>
          <a:xfrm>
            <a:off x="1220743" y="3404335"/>
            <a:ext cx="27432" cy="27432"/>
          </a:xfrm>
          <a:prstGeom prst="ellipse">
            <a:avLst/>
          </a:prstGeom>
          <a:solidFill>
            <a:srgbClr val="74612D"/>
          </a:solidFill>
          <a:ln>
            <a:noFill/>
          </a:ln>
        </p:spPr>
        <p:txBody>
          <a:bodyPr rtlCol="0" anchor="ctr"/>
          <a:lstStyle/>
          <a:p/>
        </p:txBody>
      </p:sp>
      <p:sp>
        <p:nvSpPr>
          <p:cNvPr id="19" name="Oval 18"/>
          <p:cNvSpPr/>
          <p:nvPr/>
        </p:nvSpPr>
        <p:spPr>
          <a:xfrm>
            <a:off x="4555354" y="4878014"/>
            <a:ext cx="54864" cy="54864"/>
          </a:xfrm>
          <a:prstGeom prst="ellipse">
            <a:avLst/>
          </a:prstGeom>
          <a:solidFill>
            <a:srgbClr val="574822"/>
          </a:solidFill>
          <a:ln>
            <a:noFill/>
          </a:ln>
        </p:spPr>
        <p:txBody>
          <a:bodyPr rtlCol="0" anchor="ctr"/>
          <a:lstStyle/>
          <a:p/>
        </p:txBody>
      </p:sp>
      <p:sp>
        <p:nvSpPr>
          <p:cNvPr id="20" name="Oval 19"/>
          <p:cNvSpPr/>
          <p:nvPr/>
        </p:nvSpPr>
        <p:spPr>
          <a:xfrm>
            <a:off x="6290285" y="4372401"/>
            <a:ext cx="73152" cy="73152"/>
          </a:xfrm>
          <a:prstGeom prst="ellipse">
            <a:avLst/>
          </a:prstGeom>
          <a:solidFill>
            <a:srgbClr val="B2732D"/>
          </a:solidFill>
          <a:ln>
            <a:noFill/>
          </a:ln>
        </p:spPr>
        <p:txBody>
          <a:bodyPr rtlCol="0" anchor="ctr"/>
          <a:lstStyle/>
          <a:p/>
        </p:txBody>
      </p:sp>
      <p:sp>
        <p:nvSpPr>
          <p:cNvPr id="21" name="Oval 20"/>
          <p:cNvSpPr/>
          <p:nvPr/>
        </p:nvSpPr>
        <p:spPr>
          <a:xfrm>
            <a:off x="9872312" y="3794746"/>
            <a:ext cx="45720" cy="45720"/>
          </a:xfrm>
          <a:prstGeom prst="ellipse">
            <a:avLst/>
          </a:prstGeom>
          <a:solidFill>
            <a:srgbClr val="706340"/>
          </a:solidFill>
          <a:ln>
            <a:noFill/>
          </a:ln>
        </p:spPr>
        <p:txBody>
          <a:bodyPr rtlCol="0" anchor="ctr"/>
          <a:lstStyle/>
          <a:p/>
        </p:txBody>
      </p:sp>
      <p:sp>
        <p:nvSpPr>
          <p:cNvPr id="22" name="Oval 21"/>
          <p:cNvSpPr/>
          <p:nvPr/>
        </p:nvSpPr>
        <p:spPr>
          <a:xfrm>
            <a:off x="2390514" y="5839606"/>
            <a:ext cx="36576" cy="36576"/>
          </a:xfrm>
          <a:prstGeom prst="ellipse">
            <a:avLst/>
          </a:prstGeom>
          <a:solidFill>
            <a:srgbClr val="51472E"/>
          </a:solidFill>
          <a:ln>
            <a:noFill/>
          </a:ln>
        </p:spPr>
        <p:txBody>
          <a:bodyPr rtlCol="0" anchor="ctr"/>
          <a:lstStyle/>
          <a:p/>
        </p:txBody>
      </p:sp>
      <p:sp>
        <p:nvSpPr>
          <p:cNvPr id="23" name="Oval 22"/>
          <p:cNvSpPr/>
          <p:nvPr/>
        </p:nvSpPr>
        <p:spPr>
          <a:xfrm>
            <a:off x="4308690" y="2697794"/>
            <a:ext cx="73152" cy="73152"/>
          </a:xfrm>
          <a:prstGeom prst="ellipse">
            <a:avLst/>
          </a:prstGeom>
          <a:solidFill>
            <a:srgbClr val="794F20"/>
          </a:solidFill>
          <a:ln>
            <a:noFill/>
          </a:ln>
        </p:spPr>
        <p:txBody>
          <a:bodyPr rtlCol="0" anchor="ctr"/>
          <a:lstStyle/>
          <a:p/>
        </p:txBody>
      </p:sp>
      <p:sp>
        <p:nvSpPr>
          <p:cNvPr id="24" name="Oval 23"/>
          <p:cNvSpPr/>
          <p:nvPr/>
        </p:nvSpPr>
        <p:spPr>
          <a:xfrm>
            <a:off x="5111075" y="2560425"/>
            <a:ext cx="27432" cy="27432"/>
          </a:xfrm>
          <a:prstGeom prst="ellipse">
            <a:avLst/>
          </a:prstGeom>
          <a:solidFill>
            <a:srgbClr val="482F14"/>
          </a:solidFill>
          <a:ln>
            <a:noFill/>
          </a:ln>
        </p:spPr>
        <p:txBody>
          <a:bodyPr rtlCol="0" anchor="ctr"/>
          <a:lstStyle/>
          <a:p/>
        </p:txBody>
      </p:sp>
      <p:sp>
        <p:nvSpPr>
          <p:cNvPr id="25" name="Oval 24"/>
          <p:cNvSpPr/>
          <p:nvPr/>
        </p:nvSpPr>
        <p:spPr>
          <a:xfrm>
            <a:off x="8836493" y="5332064"/>
            <a:ext cx="36576" cy="36576"/>
          </a:xfrm>
          <a:prstGeom prst="ellipse">
            <a:avLst/>
          </a:prstGeom>
          <a:solidFill>
            <a:srgbClr val="A79460"/>
          </a:solidFill>
          <a:ln>
            <a:noFill/>
          </a:ln>
        </p:spPr>
        <p:txBody>
          <a:bodyPr rtlCol="0" anchor="ctr"/>
          <a:lstStyle/>
          <a:p/>
        </p:txBody>
      </p:sp>
      <p:sp>
        <p:nvSpPr>
          <p:cNvPr id="26" name="Oval 25"/>
          <p:cNvSpPr/>
          <p:nvPr/>
        </p:nvSpPr>
        <p:spPr>
          <a:xfrm>
            <a:off x="6419882" y="3715605"/>
            <a:ext cx="54864" cy="54864"/>
          </a:xfrm>
          <a:prstGeom prst="ellipse">
            <a:avLst/>
          </a:prstGeom>
          <a:solidFill>
            <a:srgbClr val="9C8A59"/>
          </a:solidFill>
          <a:ln>
            <a:noFill/>
          </a:ln>
        </p:spPr>
        <p:txBody>
          <a:bodyPr rtlCol="0" anchor="ctr"/>
          <a:lstStyle/>
          <a:p/>
        </p:txBody>
      </p:sp>
      <p:sp>
        <p:nvSpPr>
          <p:cNvPr id="27" name="Oval 26"/>
          <p:cNvSpPr/>
          <p:nvPr/>
        </p:nvSpPr>
        <p:spPr>
          <a:xfrm>
            <a:off x="9943864" y="5844909"/>
            <a:ext cx="36576" cy="36576"/>
          </a:xfrm>
          <a:prstGeom prst="ellipse">
            <a:avLst/>
          </a:prstGeom>
          <a:solidFill>
            <a:srgbClr val="905E25"/>
          </a:solidFill>
          <a:ln>
            <a:noFill/>
          </a:ln>
        </p:spPr>
        <p:txBody>
          <a:bodyPr rtlCol="0" anchor="ctr"/>
          <a:lstStyle/>
          <a:p/>
        </p:txBody>
      </p:sp>
      <p:sp>
        <p:nvSpPr>
          <p:cNvPr id="28" name="Oval 27"/>
          <p:cNvSpPr/>
          <p:nvPr/>
        </p:nvSpPr>
        <p:spPr>
          <a:xfrm>
            <a:off x="10422523" y="1759541"/>
            <a:ext cx="27432" cy="27432"/>
          </a:xfrm>
          <a:prstGeom prst="ellipse">
            <a:avLst/>
          </a:prstGeom>
          <a:solidFill>
            <a:srgbClr val="746642"/>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III · THE PROOF</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F0D58A"/>
          </a:solidFill>
          <a:ln>
            <a:noFill/>
          </a:ln>
        </p:spPr>
        <p:txBody>
          <a:bodyPr rtlCol="0" anchor="ctr"/>
          <a:lstStyle/>
          <a:p/>
        </p:txBody>
      </p:sp>
      <p:sp>
        <p:nvSpPr>
          <p:cNvPr id="48" name="Rectangle 47"/>
          <p:cNvSpPr/>
          <p:nvPr/>
        </p:nvSpPr>
        <p:spPr>
          <a:xfrm>
            <a:off x="11240719" y="6364224"/>
            <a:ext cx="384048" cy="64008"/>
          </a:xfrm>
          <a:prstGeom prst="rect">
            <a:avLst/>
          </a:prstGeom>
          <a:noFill/>
          <a:ln w="9525">
            <a:solidFill>
              <a:srgbClr val="6A5829"/>
            </a:solidFill>
          </a:ln>
        </p:spPr>
        <p:txBody>
          <a:bodyPr rtlCol="0" anchor="ctr"/>
          <a:lstStyle/>
          <a:p/>
        </p:txBody>
      </p:sp>
      <p:sp>
        <p:nvSpPr>
          <p:cNvPr id="49" name="TextBox 48"/>
          <p:cNvSpPr txBox="1"/>
          <p:nvPr/>
        </p:nvSpPr>
        <p:spPr>
          <a:xfrm>
            <a:off x="4191609" y="1469326"/>
            <a:ext cx="3808476" cy="329184"/>
          </a:xfrm>
          <a:prstGeom prst="rect">
            <a:avLst/>
          </a:prstGeom>
          <a:noFill/>
        </p:spPr>
        <p:txBody>
          <a:bodyPr wrap="square" lIns="0" rIns="0" tIns="0" bIns="0" anchor="ctr">
            <a:spAutoFit/>
          </a:bodyPr>
          <a:lstStyle/>
          <a:p>
            <a:pPr algn="ctr"/>
            <a:r>
              <a:rPr sz="1300" b="1" i="0" spc="400">
                <a:solidFill>
                  <a:srgbClr val="C9A84C"/>
                </a:solidFill>
                <a:latin typeface="Montserrat"/>
              </a:rPr>
              <a:t>BE HONEST WITH YOURSELF</a:t>
            </a:r>
          </a:p>
        </p:txBody>
      </p:sp>
      <p:cxnSp>
        <p:nvCxnSpPr>
          <p:cNvPr id="50" name="Connector 49"/>
          <p:cNvCxnSpPr/>
          <p:nvPr/>
        </p:nvCxnSpPr>
        <p:spPr>
          <a:xfrm>
            <a:off x="2820009" y="1633918"/>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769717" y="1583626"/>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8137245" y="1633918"/>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321393" y="1583626"/>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862518"/>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Is this for you?</a:t>
            </a:r>
          </a:p>
        </p:txBody>
      </p:sp>
      <p:sp>
        <p:nvSpPr>
          <p:cNvPr id="55" name="Rounded Rectangle 54"/>
          <p:cNvSpPr/>
          <p:nvPr/>
        </p:nvSpPr>
        <p:spPr>
          <a:xfrm>
            <a:off x="914400" y="2670238"/>
            <a:ext cx="5021427" cy="2434970"/>
          </a:xfrm>
          <a:prstGeom prst="roundRect">
            <a:avLst>
              <a:gd name="adj" fmla="val 6000"/>
            </a:avLst>
          </a:prstGeom>
          <a:solidFill>
            <a:srgbClr val="100D07"/>
          </a:solidFill>
          <a:ln w="15875">
            <a:solidFill>
              <a:srgbClr val="877034"/>
            </a:solidFill>
          </a:ln>
        </p:spPr>
        <p:txBody>
          <a:bodyPr rtlCol="0" anchor="ctr"/>
          <a:lstStyle/>
          <a:p/>
        </p:txBody>
      </p:sp>
      <p:sp>
        <p:nvSpPr>
          <p:cNvPr id="56" name="TextBox 55"/>
          <p:cNvSpPr txBox="1"/>
          <p:nvPr/>
        </p:nvSpPr>
        <p:spPr>
          <a:xfrm>
            <a:off x="1097280" y="2898838"/>
            <a:ext cx="4655667"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Good fit</a:t>
            </a:r>
          </a:p>
        </p:txBody>
      </p:sp>
      <p:sp>
        <p:nvSpPr>
          <p:cNvPr id="57" name="TextBox 56"/>
          <p:cNvSpPr txBox="1"/>
          <p:nvPr/>
        </p:nvSpPr>
        <p:spPr>
          <a:xfrm>
            <a:off x="1143000" y="3361753"/>
            <a:ext cx="4564227" cy="1377696"/>
          </a:xfrm>
          <a:prstGeom prst="rect">
            <a:avLst/>
          </a:prstGeom>
          <a:noFill/>
        </p:spPr>
        <p:txBody>
          <a:bodyPr wrap="square" lIns="0" rIns="0" tIns="0" bIns="0" anchor="t">
            <a:spAutoFit/>
          </a:bodyPr>
          <a:lstStyle/>
          <a:p>
            <a:pPr algn="ctr">
              <a:lnSpc>
                <a:spcPct val="120000"/>
              </a:lnSpc>
              <a:spcAft>
                <a:spcPts val="600"/>
              </a:spcAft>
            </a:pPr>
            <a:r>
              <a:rPr sz="1900" b="0" i="0">
                <a:solidFill>
                  <a:srgbClr val="EFE3C6"/>
                </a:solidFill>
                <a:latin typeface="Montserrat"/>
              </a:rPr>
              <a:t>You want your file worked every month</a:t>
            </a:r>
          </a:p>
          <a:p>
            <a:pPr algn="ctr">
              <a:lnSpc>
                <a:spcPct val="120000"/>
              </a:lnSpc>
              <a:spcAft>
                <a:spcPts val="600"/>
              </a:spcAft>
            </a:pPr>
            <a:r>
              <a:rPr sz="1900" b="0" i="0">
                <a:solidFill>
                  <a:srgbClr val="EFE3C6"/>
                </a:solidFill>
                <a:latin typeface="Montserrat"/>
              </a:rPr>
              <a:t>You want every step explained</a:t>
            </a:r>
          </a:p>
          <a:p>
            <a:pPr algn="ctr">
              <a:lnSpc>
                <a:spcPct val="120000"/>
              </a:lnSpc>
              <a:spcAft>
                <a:spcPts val="600"/>
              </a:spcAft>
            </a:pPr>
            <a:r>
              <a:rPr sz="1900" b="0" i="0">
                <a:solidFill>
                  <a:srgbClr val="EFE3C6"/>
                </a:solidFill>
                <a:latin typeface="Montserrat"/>
              </a:rPr>
              <a:t>You're willing to do your part</a:t>
            </a:r>
          </a:p>
        </p:txBody>
      </p:sp>
      <p:sp>
        <p:nvSpPr>
          <p:cNvPr id="58" name="Rounded Rectangle 57"/>
          <p:cNvSpPr/>
          <p:nvPr/>
        </p:nvSpPr>
        <p:spPr>
          <a:xfrm>
            <a:off x="6255867" y="2670238"/>
            <a:ext cx="5021427" cy="2434970"/>
          </a:xfrm>
          <a:prstGeom prst="roundRect">
            <a:avLst>
              <a:gd name="adj" fmla="val 6000"/>
            </a:avLst>
          </a:prstGeom>
          <a:solidFill>
            <a:srgbClr val="100D07"/>
          </a:solidFill>
          <a:ln w="15875">
            <a:solidFill>
              <a:srgbClr val="877034"/>
            </a:solidFill>
          </a:ln>
        </p:spPr>
        <p:txBody>
          <a:bodyPr rtlCol="0" anchor="ctr"/>
          <a:lstStyle/>
          <a:p/>
        </p:txBody>
      </p:sp>
      <p:sp>
        <p:nvSpPr>
          <p:cNvPr id="59" name="TextBox 58"/>
          <p:cNvSpPr txBox="1"/>
          <p:nvPr/>
        </p:nvSpPr>
        <p:spPr>
          <a:xfrm>
            <a:off x="6438747" y="2898838"/>
            <a:ext cx="4655667"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Not a fit</a:t>
            </a:r>
          </a:p>
        </p:txBody>
      </p:sp>
      <p:sp>
        <p:nvSpPr>
          <p:cNvPr id="60" name="TextBox 59"/>
          <p:cNvSpPr txBox="1"/>
          <p:nvPr/>
        </p:nvSpPr>
        <p:spPr>
          <a:xfrm>
            <a:off x="6484467" y="3361753"/>
            <a:ext cx="4564227" cy="1377696"/>
          </a:xfrm>
          <a:prstGeom prst="rect">
            <a:avLst/>
          </a:prstGeom>
          <a:noFill/>
        </p:spPr>
        <p:txBody>
          <a:bodyPr wrap="square" lIns="0" rIns="0" tIns="0" bIns="0" anchor="t">
            <a:spAutoFit/>
          </a:bodyPr>
          <a:lstStyle/>
          <a:p>
            <a:pPr algn="ctr">
              <a:lnSpc>
                <a:spcPct val="120000"/>
              </a:lnSpc>
              <a:spcAft>
                <a:spcPts val="600"/>
              </a:spcAft>
            </a:pPr>
            <a:r>
              <a:rPr sz="1900" b="0" i="0">
                <a:solidFill>
                  <a:srgbClr val="EFE3C6"/>
                </a:solidFill>
                <a:latin typeface="Montserrat"/>
              </a:rPr>
              <a:t>You want “everything deleted”</a:t>
            </a:r>
          </a:p>
          <a:p>
            <a:pPr algn="ctr">
              <a:lnSpc>
                <a:spcPct val="120000"/>
              </a:lnSpc>
              <a:spcAft>
                <a:spcPts val="600"/>
              </a:spcAft>
            </a:pPr>
            <a:r>
              <a:rPr sz="1900" b="0" i="0">
                <a:solidFill>
                  <a:srgbClr val="EFE3C6"/>
                </a:solidFill>
                <a:latin typeface="Montserrat"/>
              </a:rPr>
              <a:t>You want a guaranteed score</a:t>
            </a:r>
          </a:p>
          <a:p>
            <a:pPr algn="ctr">
              <a:lnSpc>
                <a:spcPct val="120000"/>
              </a:lnSpc>
              <a:spcAft>
                <a:spcPts val="600"/>
              </a:spcAft>
            </a:pPr>
            <a:r>
              <a:rPr sz="1900" b="0" i="0">
                <a:solidFill>
                  <a:srgbClr val="EFE3C6"/>
                </a:solidFill>
                <a:latin typeface="Montserrat"/>
              </a:rPr>
              <a:t>You won't look at your own numbers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0.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5396062" y="2136511"/>
            <a:ext cx="36576" cy="36576"/>
          </a:xfrm>
          <a:prstGeom prst="ellipse">
            <a:avLst/>
          </a:prstGeom>
          <a:solidFill>
            <a:srgbClr val="714A1E"/>
          </a:solidFill>
          <a:ln>
            <a:noFill/>
          </a:ln>
        </p:spPr>
        <p:txBody>
          <a:bodyPr rtlCol="0" anchor="ctr"/>
          <a:lstStyle/>
          <a:p/>
        </p:txBody>
      </p:sp>
      <p:sp>
        <p:nvSpPr>
          <p:cNvPr id="4" name="Oval 3"/>
          <p:cNvSpPr/>
          <p:nvPr/>
        </p:nvSpPr>
        <p:spPr>
          <a:xfrm>
            <a:off x="4148437" y="4712277"/>
            <a:ext cx="54864" cy="54864"/>
          </a:xfrm>
          <a:prstGeom prst="ellipse">
            <a:avLst/>
          </a:prstGeom>
          <a:solidFill>
            <a:srgbClr val="A08D5C"/>
          </a:solidFill>
          <a:ln>
            <a:noFill/>
          </a:ln>
        </p:spPr>
        <p:txBody>
          <a:bodyPr rtlCol="0" anchor="ctr"/>
          <a:lstStyle/>
          <a:p/>
        </p:txBody>
      </p:sp>
      <p:sp>
        <p:nvSpPr>
          <p:cNvPr id="5" name="Oval 4"/>
          <p:cNvSpPr/>
          <p:nvPr/>
        </p:nvSpPr>
        <p:spPr>
          <a:xfrm>
            <a:off x="6046163" y="5118571"/>
            <a:ext cx="27432" cy="27432"/>
          </a:xfrm>
          <a:prstGeom prst="ellipse">
            <a:avLst/>
          </a:prstGeom>
          <a:solidFill>
            <a:srgbClr val="8B5B24"/>
          </a:solidFill>
          <a:ln>
            <a:noFill/>
          </a:ln>
        </p:spPr>
        <p:txBody>
          <a:bodyPr rtlCol="0" anchor="ctr"/>
          <a:lstStyle/>
          <a:p/>
        </p:txBody>
      </p:sp>
      <p:sp>
        <p:nvSpPr>
          <p:cNvPr id="6" name="Oval 5"/>
          <p:cNvSpPr/>
          <p:nvPr/>
        </p:nvSpPr>
        <p:spPr>
          <a:xfrm>
            <a:off x="4263452" y="2108844"/>
            <a:ext cx="73152" cy="73152"/>
          </a:xfrm>
          <a:prstGeom prst="ellipse">
            <a:avLst/>
          </a:prstGeom>
          <a:solidFill>
            <a:srgbClr val="64411B"/>
          </a:solidFill>
          <a:ln>
            <a:noFill/>
          </a:ln>
        </p:spPr>
        <p:txBody>
          <a:bodyPr rtlCol="0" anchor="ctr"/>
          <a:lstStyle/>
          <a:p/>
        </p:txBody>
      </p:sp>
      <p:sp>
        <p:nvSpPr>
          <p:cNvPr id="7" name="Oval 6"/>
          <p:cNvSpPr/>
          <p:nvPr/>
        </p:nvSpPr>
        <p:spPr>
          <a:xfrm>
            <a:off x="1474612" y="4202669"/>
            <a:ext cx="36576" cy="36576"/>
          </a:xfrm>
          <a:prstGeom prst="ellipse">
            <a:avLst/>
          </a:prstGeom>
          <a:solidFill>
            <a:srgbClr val="BA792F"/>
          </a:solidFill>
          <a:ln>
            <a:noFill/>
          </a:ln>
        </p:spPr>
        <p:txBody>
          <a:bodyPr rtlCol="0" anchor="ctr"/>
          <a:lstStyle/>
          <a:p/>
        </p:txBody>
      </p:sp>
      <p:sp>
        <p:nvSpPr>
          <p:cNvPr id="8" name="Oval 7"/>
          <p:cNvSpPr/>
          <p:nvPr/>
        </p:nvSpPr>
        <p:spPr>
          <a:xfrm>
            <a:off x="10652670" y="2600448"/>
            <a:ext cx="73152" cy="73152"/>
          </a:xfrm>
          <a:prstGeom prst="ellipse">
            <a:avLst/>
          </a:prstGeom>
          <a:solidFill>
            <a:srgbClr val="726541"/>
          </a:solidFill>
          <a:ln>
            <a:noFill/>
          </a:ln>
        </p:spPr>
        <p:txBody>
          <a:bodyPr rtlCol="0" anchor="ctr"/>
          <a:lstStyle/>
          <a:p/>
        </p:txBody>
      </p:sp>
      <p:sp>
        <p:nvSpPr>
          <p:cNvPr id="9" name="Oval 8"/>
          <p:cNvSpPr/>
          <p:nvPr/>
        </p:nvSpPr>
        <p:spPr>
          <a:xfrm>
            <a:off x="2993299" y="488028"/>
            <a:ext cx="27432" cy="27432"/>
          </a:xfrm>
          <a:prstGeom prst="ellipse">
            <a:avLst/>
          </a:prstGeom>
          <a:solidFill>
            <a:srgbClr val="977E39"/>
          </a:solidFill>
          <a:ln>
            <a:noFill/>
          </a:ln>
        </p:spPr>
        <p:txBody>
          <a:bodyPr rtlCol="0" anchor="ctr"/>
          <a:lstStyle/>
          <a:p/>
        </p:txBody>
      </p:sp>
      <p:sp>
        <p:nvSpPr>
          <p:cNvPr id="10" name="Oval 9"/>
          <p:cNvSpPr/>
          <p:nvPr/>
        </p:nvSpPr>
        <p:spPr>
          <a:xfrm>
            <a:off x="3147728" y="6194289"/>
            <a:ext cx="54864" cy="54864"/>
          </a:xfrm>
          <a:prstGeom prst="ellipse">
            <a:avLst/>
          </a:prstGeom>
          <a:solidFill>
            <a:srgbClr val="514320"/>
          </a:solidFill>
          <a:ln>
            <a:noFill/>
          </a:ln>
        </p:spPr>
        <p:txBody>
          <a:bodyPr rtlCol="0" anchor="ctr"/>
          <a:lstStyle/>
          <a:p/>
        </p:txBody>
      </p:sp>
      <p:sp>
        <p:nvSpPr>
          <p:cNvPr id="11" name="Oval 10"/>
          <p:cNvSpPr/>
          <p:nvPr/>
        </p:nvSpPr>
        <p:spPr>
          <a:xfrm>
            <a:off x="7002673" y="6207648"/>
            <a:ext cx="54864" cy="54864"/>
          </a:xfrm>
          <a:prstGeom prst="ellipse">
            <a:avLst/>
          </a:prstGeom>
          <a:solidFill>
            <a:srgbClr val="645739"/>
          </a:solidFill>
          <a:ln>
            <a:noFill/>
          </a:ln>
        </p:spPr>
        <p:txBody>
          <a:bodyPr rtlCol="0" anchor="ctr"/>
          <a:lstStyle/>
          <a:p/>
        </p:txBody>
      </p:sp>
      <p:sp>
        <p:nvSpPr>
          <p:cNvPr id="12" name="Oval 11"/>
          <p:cNvSpPr/>
          <p:nvPr/>
        </p:nvSpPr>
        <p:spPr>
          <a:xfrm>
            <a:off x="549489" y="3248330"/>
            <a:ext cx="73152" cy="73152"/>
          </a:xfrm>
          <a:prstGeom prst="ellipse">
            <a:avLst/>
          </a:prstGeom>
          <a:solidFill>
            <a:srgbClr val="AB9762"/>
          </a:solidFill>
          <a:ln>
            <a:noFill/>
          </a:ln>
        </p:spPr>
        <p:txBody>
          <a:bodyPr rtlCol="0" anchor="ctr"/>
          <a:lstStyle/>
          <a:p/>
        </p:txBody>
      </p:sp>
      <p:sp>
        <p:nvSpPr>
          <p:cNvPr id="13" name="Oval 12"/>
          <p:cNvSpPr/>
          <p:nvPr/>
        </p:nvSpPr>
        <p:spPr>
          <a:xfrm>
            <a:off x="5170788" y="2673630"/>
            <a:ext cx="54864" cy="54864"/>
          </a:xfrm>
          <a:prstGeom prst="ellipse">
            <a:avLst/>
          </a:prstGeom>
          <a:solidFill>
            <a:srgbClr val="865723"/>
          </a:solidFill>
          <a:ln>
            <a:noFill/>
          </a:ln>
        </p:spPr>
        <p:txBody>
          <a:bodyPr rtlCol="0" anchor="ctr"/>
          <a:lstStyle/>
          <a:p/>
        </p:txBody>
      </p:sp>
      <p:sp>
        <p:nvSpPr>
          <p:cNvPr id="14" name="Oval 13"/>
          <p:cNvSpPr/>
          <p:nvPr/>
        </p:nvSpPr>
        <p:spPr>
          <a:xfrm>
            <a:off x="10942552" y="5375053"/>
            <a:ext cx="54864" cy="54864"/>
          </a:xfrm>
          <a:prstGeom prst="ellipse">
            <a:avLst/>
          </a:prstGeom>
          <a:solidFill>
            <a:srgbClr val="5D3D19"/>
          </a:solidFill>
          <a:ln>
            <a:noFill/>
          </a:ln>
        </p:spPr>
        <p:txBody>
          <a:bodyPr rtlCol="0" anchor="ctr"/>
          <a:lstStyle/>
          <a:p/>
        </p:txBody>
      </p:sp>
      <p:sp>
        <p:nvSpPr>
          <p:cNvPr id="15" name="Oval 14"/>
          <p:cNvSpPr/>
          <p:nvPr/>
        </p:nvSpPr>
        <p:spPr>
          <a:xfrm>
            <a:off x="9145192" y="848528"/>
            <a:ext cx="54864" cy="54864"/>
          </a:xfrm>
          <a:prstGeom prst="ellipse">
            <a:avLst/>
          </a:prstGeom>
          <a:solidFill>
            <a:srgbClr val="978657"/>
          </a:solidFill>
          <a:ln>
            <a:noFill/>
          </a:ln>
        </p:spPr>
        <p:txBody>
          <a:bodyPr rtlCol="0" anchor="ctr"/>
          <a:lstStyle/>
          <a:p/>
        </p:txBody>
      </p:sp>
      <p:sp>
        <p:nvSpPr>
          <p:cNvPr id="16" name="Oval 15"/>
          <p:cNvSpPr/>
          <p:nvPr/>
        </p:nvSpPr>
        <p:spPr>
          <a:xfrm>
            <a:off x="3000615" y="3117945"/>
            <a:ext cx="54864" cy="54864"/>
          </a:xfrm>
          <a:prstGeom prst="ellipse">
            <a:avLst/>
          </a:prstGeom>
          <a:solidFill>
            <a:srgbClr val="BAA46A"/>
          </a:solidFill>
          <a:ln>
            <a:noFill/>
          </a:ln>
        </p:spPr>
        <p:txBody>
          <a:bodyPr rtlCol="0" anchor="ctr"/>
          <a:lstStyle/>
          <a:p/>
        </p:txBody>
      </p:sp>
      <p:sp>
        <p:nvSpPr>
          <p:cNvPr id="17" name="Oval 16"/>
          <p:cNvSpPr/>
          <p:nvPr/>
        </p:nvSpPr>
        <p:spPr>
          <a:xfrm>
            <a:off x="7142155" y="3350284"/>
            <a:ext cx="54864" cy="54864"/>
          </a:xfrm>
          <a:prstGeom prst="ellipse">
            <a:avLst/>
          </a:prstGeom>
          <a:solidFill>
            <a:srgbClr val="64421B"/>
          </a:solidFill>
          <a:ln>
            <a:noFill/>
          </a:ln>
        </p:spPr>
        <p:txBody>
          <a:bodyPr rtlCol="0" anchor="ctr"/>
          <a:lstStyle/>
          <a:p/>
        </p:txBody>
      </p:sp>
      <p:sp>
        <p:nvSpPr>
          <p:cNvPr id="18" name="Oval 17"/>
          <p:cNvSpPr/>
          <p:nvPr/>
        </p:nvSpPr>
        <p:spPr>
          <a:xfrm>
            <a:off x="11036582" y="3959380"/>
            <a:ext cx="27432" cy="27432"/>
          </a:xfrm>
          <a:prstGeom prst="ellipse">
            <a:avLst/>
          </a:prstGeom>
          <a:solidFill>
            <a:srgbClr val="744B1E"/>
          </a:solidFill>
          <a:ln>
            <a:noFill/>
          </a:ln>
        </p:spPr>
        <p:txBody>
          <a:bodyPr rtlCol="0" anchor="ctr"/>
          <a:lstStyle/>
          <a:p/>
        </p:txBody>
      </p:sp>
      <p:sp>
        <p:nvSpPr>
          <p:cNvPr id="19" name="Oval 18"/>
          <p:cNvSpPr/>
          <p:nvPr/>
        </p:nvSpPr>
        <p:spPr>
          <a:xfrm>
            <a:off x="1889132" y="2540534"/>
            <a:ext cx="54864" cy="54864"/>
          </a:xfrm>
          <a:prstGeom prst="ellipse">
            <a:avLst/>
          </a:prstGeom>
          <a:solidFill>
            <a:srgbClr val="784E1F"/>
          </a:solidFill>
          <a:ln>
            <a:noFill/>
          </a:ln>
        </p:spPr>
        <p:txBody>
          <a:bodyPr rtlCol="0" anchor="ctr"/>
          <a:lstStyle/>
          <a:p/>
        </p:txBody>
      </p:sp>
      <p:sp>
        <p:nvSpPr>
          <p:cNvPr id="20" name="Oval 19"/>
          <p:cNvSpPr/>
          <p:nvPr/>
        </p:nvSpPr>
        <p:spPr>
          <a:xfrm>
            <a:off x="9393557" y="1202722"/>
            <a:ext cx="73152" cy="73152"/>
          </a:xfrm>
          <a:prstGeom prst="ellipse">
            <a:avLst/>
          </a:prstGeom>
          <a:solidFill>
            <a:srgbClr val="5F4E25"/>
          </a:solidFill>
          <a:ln>
            <a:noFill/>
          </a:ln>
        </p:spPr>
        <p:txBody>
          <a:bodyPr rtlCol="0" anchor="ctr"/>
          <a:lstStyle/>
          <a:p/>
        </p:txBody>
      </p:sp>
      <p:sp>
        <p:nvSpPr>
          <p:cNvPr id="21" name="Oval 20"/>
          <p:cNvSpPr/>
          <p:nvPr/>
        </p:nvSpPr>
        <p:spPr>
          <a:xfrm>
            <a:off x="7188115" y="4277062"/>
            <a:ext cx="45720" cy="45720"/>
          </a:xfrm>
          <a:prstGeom prst="ellipse">
            <a:avLst/>
          </a:prstGeom>
          <a:solidFill>
            <a:srgbClr val="6D471D"/>
          </a:solidFill>
          <a:ln>
            <a:noFill/>
          </a:ln>
        </p:spPr>
        <p:txBody>
          <a:bodyPr rtlCol="0" anchor="ctr"/>
          <a:lstStyle/>
          <a:p/>
        </p:txBody>
      </p:sp>
      <p:sp>
        <p:nvSpPr>
          <p:cNvPr id="22" name="Oval 21"/>
          <p:cNvSpPr/>
          <p:nvPr/>
        </p:nvSpPr>
        <p:spPr>
          <a:xfrm>
            <a:off x="9224534" y="3675505"/>
            <a:ext cx="36576" cy="36576"/>
          </a:xfrm>
          <a:prstGeom prst="ellipse">
            <a:avLst/>
          </a:prstGeom>
          <a:solidFill>
            <a:srgbClr val="986227"/>
          </a:solidFill>
          <a:ln>
            <a:noFill/>
          </a:ln>
        </p:spPr>
        <p:txBody>
          <a:bodyPr rtlCol="0" anchor="ctr"/>
          <a:lstStyle/>
          <a:p/>
        </p:txBody>
      </p:sp>
      <p:sp>
        <p:nvSpPr>
          <p:cNvPr id="23" name="Oval 22"/>
          <p:cNvSpPr/>
          <p:nvPr/>
        </p:nvSpPr>
        <p:spPr>
          <a:xfrm>
            <a:off x="5707529" y="5066018"/>
            <a:ext cx="27432" cy="27432"/>
          </a:xfrm>
          <a:prstGeom prst="ellipse">
            <a:avLst/>
          </a:prstGeom>
          <a:solidFill>
            <a:srgbClr val="8F7E52"/>
          </a:solidFill>
          <a:ln>
            <a:noFill/>
          </a:ln>
        </p:spPr>
        <p:txBody>
          <a:bodyPr rtlCol="0" anchor="ctr"/>
          <a:lstStyle/>
          <a:p/>
        </p:txBody>
      </p:sp>
      <p:sp>
        <p:nvSpPr>
          <p:cNvPr id="24" name="Oval 23"/>
          <p:cNvSpPr/>
          <p:nvPr/>
        </p:nvSpPr>
        <p:spPr>
          <a:xfrm>
            <a:off x="2404502" y="4521929"/>
            <a:ext cx="36576" cy="36576"/>
          </a:xfrm>
          <a:prstGeom prst="ellipse">
            <a:avLst/>
          </a:prstGeom>
          <a:solidFill>
            <a:srgbClr val="584922"/>
          </a:solidFill>
          <a:ln>
            <a:noFill/>
          </a:ln>
        </p:spPr>
        <p:txBody>
          <a:bodyPr rtlCol="0" anchor="ctr"/>
          <a:lstStyle/>
          <a:p/>
        </p:txBody>
      </p:sp>
      <p:sp>
        <p:nvSpPr>
          <p:cNvPr id="25" name="Oval 24"/>
          <p:cNvSpPr/>
          <p:nvPr/>
        </p:nvSpPr>
        <p:spPr>
          <a:xfrm>
            <a:off x="2674185" y="4785272"/>
            <a:ext cx="36576" cy="36576"/>
          </a:xfrm>
          <a:prstGeom prst="ellipse">
            <a:avLst/>
          </a:prstGeom>
          <a:solidFill>
            <a:srgbClr val="6A451C"/>
          </a:solidFill>
          <a:ln>
            <a:noFill/>
          </a:ln>
        </p:spPr>
        <p:txBody>
          <a:bodyPr rtlCol="0" anchor="ctr"/>
          <a:lstStyle/>
          <a:p/>
        </p:txBody>
      </p:sp>
      <p:sp>
        <p:nvSpPr>
          <p:cNvPr id="26" name="Oval 25"/>
          <p:cNvSpPr/>
          <p:nvPr/>
        </p:nvSpPr>
        <p:spPr>
          <a:xfrm>
            <a:off x="9580885" y="1910339"/>
            <a:ext cx="36576" cy="36576"/>
          </a:xfrm>
          <a:prstGeom prst="ellipse">
            <a:avLst/>
          </a:prstGeom>
          <a:solidFill>
            <a:srgbClr val="BDA86D"/>
          </a:solidFill>
          <a:ln>
            <a:noFill/>
          </a:ln>
        </p:spPr>
        <p:txBody>
          <a:bodyPr rtlCol="0" anchor="ctr"/>
          <a:lstStyle/>
          <a:p/>
        </p:txBody>
      </p:sp>
      <p:sp>
        <p:nvSpPr>
          <p:cNvPr id="27" name="Oval 26"/>
          <p:cNvSpPr/>
          <p:nvPr/>
        </p:nvSpPr>
        <p:spPr>
          <a:xfrm>
            <a:off x="414359" y="4098721"/>
            <a:ext cx="27432" cy="27432"/>
          </a:xfrm>
          <a:prstGeom prst="ellipse">
            <a:avLst/>
          </a:prstGeom>
          <a:solidFill>
            <a:srgbClr val="6B5E3D"/>
          </a:solidFill>
          <a:ln>
            <a:noFill/>
          </a:ln>
        </p:spPr>
        <p:txBody>
          <a:bodyPr rtlCol="0" anchor="ctr"/>
          <a:lstStyle/>
          <a:p/>
        </p:txBody>
      </p:sp>
      <p:sp>
        <p:nvSpPr>
          <p:cNvPr id="28" name="Oval 27"/>
          <p:cNvSpPr/>
          <p:nvPr/>
        </p:nvSpPr>
        <p:spPr>
          <a:xfrm>
            <a:off x="5745364" y="2390868"/>
            <a:ext cx="54864" cy="54864"/>
          </a:xfrm>
          <a:prstGeom prst="ellipse">
            <a:avLst/>
          </a:prstGeom>
          <a:solidFill>
            <a:srgbClr val="A66C2A"/>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pic>
        <p:nvPicPr>
          <p:cNvPr id="49" name="Picture 48" descr="glow_40.png"/>
          <p:cNvPicPr>
            <a:picLocks noChangeAspect="1"/>
          </p:cNvPicPr>
          <p:nvPr/>
        </p:nvPicPr>
        <p:blipFill>
          <a:blip r:embed="rId3"/>
          <a:stretch>
            <a:fillRect/>
          </a:stretch>
        </p:blipFill>
        <p:spPr>
          <a:xfrm>
            <a:off x="3901287" y="137159"/>
            <a:ext cx="4389120" cy="4389120"/>
          </a:xfrm>
          <a:prstGeom prst="rect">
            <a:avLst/>
          </a:prstGeom>
        </p:spPr>
      </p:pic>
      <p:sp>
        <p:nvSpPr>
          <p:cNvPr id="50" name="Oval 49"/>
          <p:cNvSpPr/>
          <p:nvPr/>
        </p:nvSpPr>
        <p:spPr>
          <a:xfrm>
            <a:off x="5044287" y="1280160"/>
            <a:ext cx="2103120" cy="2103120"/>
          </a:xfrm>
          <a:prstGeom prst="ellipse">
            <a:avLst/>
          </a:prstGeom>
          <a:noFill/>
          <a:ln w="19050">
            <a:solidFill>
              <a:srgbClr val="907837"/>
            </a:solidFill>
          </a:ln>
        </p:spPr>
        <p:txBody>
          <a:bodyPr rtlCol="0" anchor="ctr"/>
          <a:lstStyle/>
          <a:p/>
        </p:txBody>
      </p:sp>
      <p:sp>
        <p:nvSpPr>
          <p:cNvPr id="51" name="Oval 50"/>
          <p:cNvSpPr/>
          <p:nvPr/>
        </p:nvSpPr>
        <p:spPr>
          <a:xfrm>
            <a:off x="4961991" y="1197863"/>
            <a:ext cx="2267712" cy="2267712"/>
          </a:xfrm>
          <a:prstGeom prst="ellipse">
            <a:avLst/>
          </a:prstGeom>
          <a:noFill/>
          <a:ln w="6350">
            <a:solidFill>
              <a:srgbClr val="4E411E"/>
            </a:solidFill>
          </a:ln>
        </p:spPr>
        <p:txBody>
          <a:bodyPr rtlCol="0" anchor="ctr"/>
          <a:lstStyle/>
          <a:p/>
        </p:txBody>
      </p:sp>
      <p:sp>
        <p:nvSpPr>
          <p:cNvPr id="52" name="Oval 51"/>
          <p:cNvSpPr/>
          <p:nvPr/>
        </p:nvSpPr>
        <p:spPr>
          <a:xfrm>
            <a:off x="6013551" y="1197863"/>
            <a:ext cx="164592" cy="164592"/>
          </a:xfrm>
          <a:prstGeom prst="ellipse">
            <a:avLst/>
          </a:prstGeom>
          <a:solidFill>
            <a:srgbClr val="1A1309"/>
          </a:solidFill>
          <a:ln w="19050">
            <a:solidFill>
              <a:srgbClr val="F0D58A"/>
            </a:solidFill>
          </a:ln>
        </p:spPr>
        <p:txBody>
          <a:bodyPr rtlCol="0" anchor="ctr"/>
          <a:lstStyle/>
          <a:p/>
        </p:txBody>
      </p:sp>
      <p:sp>
        <p:nvSpPr>
          <p:cNvPr id="53" name="Oval 52"/>
          <p:cNvSpPr/>
          <p:nvPr/>
        </p:nvSpPr>
        <p:spPr>
          <a:xfrm>
            <a:off x="6835694" y="1593787"/>
            <a:ext cx="164592" cy="164592"/>
          </a:xfrm>
          <a:prstGeom prst="ellipse">
            <a:avLst/>
          </a:prstGeom>
          <a:solidFill>
            <a:srgbClr val="1A1309"/>
          </a:solidFill>
          <a:ln w="19050">
            <a:solidFill>
              <a:srgbClr val="F0D58A"/>
            </a:solidFill>
          </a:ln>
        </p:spPr>
        <p:txBody>
          <a:bodyPr rtlCol="0" anchor="ctr"/>
          <a:lstStyle/>
          <a:p/>
        </p:txBody>
      </p:sp>
      <p:sp>
        <p:nvSpPr>
          <p:cNvPr id="54" name="Oval 53"/>
          <p:cNvSpPr/>
          <p:nvPr/>
        </p:nvSpPr>
        <p:spPr>
          <a:xfrm>
            <a:off x="7038746" y="2483418"/>
            <a:ext cx="164592" cy="164592"/>
          </a:xfrm>
          <a:prstGeom prst="ellipse">
            <a:avLst/>
          </a:prstGeom>
          <a:solidFill>
            <a:srgbClr val="1A1309"/>
          </a:solidFill>
          <a:ln w="19050">
            <a:solidFill>
              <a:srgbClr val="F0D58A"/>
            </a:solidFill>
          </a:ln>
        </p:spPr>
        <p:txBody>
          <a:bodyPr rtlCol="0" anchor="ctr"/>
          <a:lstStyle/>
          <a:p/>
        </p:txBody>
      </p:sp>
      <p:sp>
        <p:nvSpPr>
          <p:cNvPr id="55" name="Oval 54"/>
          <p:cNvSpPr/>
          <p:nvPr/>
        </p:nvSpPr>
        <p:spPr>
          <a:xfrm>
            <a:off x="6469806" y="3196846"/>
            <a:ext cx="164592" cy="164592"/>
          </a:xfrm>
          <a:prstGeom prst="ellipse">
            <a:avLst/>
          </a:prstGeom>
          <a:solidFill>
            <a:srgbClr val="1A1309"/>
          </a:solidFill>
          <a:ln w="19050">
            <a:solidFill>
              <a:srgbClr val="F0D58A"/>
            </a:solidFill>
          </a:ln>
        </p:spPr>
        <p:txBody>
          <a:bodyPr rtlCol="0" anchor="ctr"/>
          <a:lstStyle/>
          <a:p/>
        </p:txBody>
      </p:sp>
      <p:sp>
        <p:nvSpPr>
          <p:cNvPr id="56" name="Oval 55"/>
          <p:cNvSpPr/>
          <p:nvPr/>
        </p:nvSpPr>
        <p:spPr>
          <a:xfrm>
            <a:off x="5557296" y="3196846"/>
            <a:ext cx="164592" cy="164592"/>
          </a:xfrm>
          <a:prstGeom prst="ellipse">
            <a:avLst/>
          </a:prstGeom>
          <a:solidFill>
            <a:srgbClr val="1A1309"/>
          </a:solidFill>
          <a:ln w="19050">
            <a:solidFill>
              <a:srgbClr val="F0D58A"/>
            </a:solidFill>
          </a:ln>
        </p:spPr>
        <p:txBody>
          <a:bodyPr rtlCol="0" anchor="ctr"/>
          <a:lstStyle/>
          <a:p/>
        </p:txBody>
      </p:sp>
      <p:sp>
        <p:nvSpPr>
          <p:cNvPr id="57" name="Oval 56"/>
          <p:cNvSpPr/>
          <p:nvPr/>
        </p:nvSpPr>
        <p:spPr>
          <a:xfrm>
            <a:off x="4988356" y="2483418"/>
            <a:ext cx="164592" cy="164592"/>
          </a:xfrm>
          <a:prstGeom prst="ellipse">
            <a:avLst/>
          </a:prstGeom>
          <a:solidFill>
            <a:srgbClr val="1A1309"/>
          </a:solidFill>
          <a:ln w="19050">
            <a:solidFill>
              <a:srgbClr val="F0D58A"/>
            </a:solidFill>
          </a:ln>
        </p:spPr>
        <p:txBody>
          <a:bodyPr rtlCol="0" anchor="ctr"/>
          <a:lstStyle/>
          <a:p/>
        </p:txBody>
      </p:sp>
      <p:sp>
        <p:nvSpPr>
          <p:cNvPr id="58" name="Oval 57"/>
          <p:cNvSpPr/>
          <p:nvPr/>
        </p:nvSpPr>
        <p:spPr>
          <a:xfrm>
            <a:off x="5191408" y="1593787"/>
            <a:ext cx="164592" cy="164592"/>
          </a:xfrm>
          <a:prstGeom prst="ellipse">
            <a:avLst/>
          </a:prstGeom>
          <a:solidFill>
            <a:srgbClr val="1A1309"/>
          </a:solidFill>
          <a:ln w="19050">
            <a:solidFill>
              <a:srgbClr val="F0D58A"/>
            </a:solidFill>
          </a:ln>
        </p:spPr>
        <p:txBody>
          <a:bodyPr rtlCol="0" anchor="ctr"/>
          <a:lstStyle/>
          <a:p/>
        </p:txBody>
      </p:sp>
      <p:sp>
        <p:nvSpPr>
          <p:cNvPr id="59" name="Oval 58"/>
          <p:cNvSpPr/>
          <p:nvPr/>
        </p:nvSpPr>
        <p:spPr>
          <a:xfrm>
            <a:off x="5437479" y="1673351"/>
            <a:ext cx="1316736" cy="1316736"/>
          </a:xfrm>
          <a:prstGeom prst="ellipse">
            <a:avLst/>
          </a:prstGeom>
          <a:solidFill>
            <a:srgbClr val="1A1309"/>
          </a:solidFill>
          <a:ln w="25400">
            <a:solidFill>
              <a:srgbClr val="F0D58A"/>
            </a:solidFill>
          </a:ln>
        </p:spPr>
        <p:txBody>
          <a:bodyPr rtlCol="0" anchor="ctr"/>
          <a:lstStyle/>
          <a:p/>
        </p:txBody>
      </p:sp>
      <p:sp>
        <p:nvSpPr>
          <p:cNvPr id="60" name="Oval 59"/>
          <p:cNvSpPr/>
          <p:nvPr/>
        </p:nvSpPr>
        <p:spPr>
          <a:xfrm>
            <a:off x="5492343" y="1728216"/>
            <a:ext cx="1207007" cy="1207007"/>
          </a:xfrm>
          <a:prstGeom prst="ellipse">
            <a:avLst/>
          </a:prstGeom>
          <a:noFill/>
          <a:ln w="9525">
            <a:solidFill>
              <a:srgbClr val="7D6830"/>
            </a:solidFill>
          </a:ln>
        </p:spPr>
        <p:txBody>
          <a:bodyPr rtlCol="0" anchor="ctr"/>
          <a:lstStyle/>
          <a:p/>
        </p:txBody>
      </p:sp>
      <p:sp>
        <p:nvSpPr>
          <p:cNvPr id="61" name="TextBox 60"/>
          <p:cNvSpPr txBox="1"/>
          <p:nvPr/>
        </p:nvSpPr>
        <p:spPr>
          <a:xfrm>
            <a:off x="5437479" y="1673351"/>
            <a:ext cx="1316736" cy="1316736"/>
          </a:xfrm>
          <a:prstGeom prst="rect">
            <a:avLst/>
          </a:prstGeom>
          <a:noFill/>
        </p:spPr>
        <p:txBody>
          <a:bodyPr wrap="square" lIns="0" rIns="0" tIns="0" bIns="0" anchor="ctr">
            <a:spAutoFit/>
          </a:bodyPr>
          <a:lstStyle/>
          <a:p>
            <a:pPr algn="ctr"/>
            <a:r>
              <a:rPr sz="4000" b="1" i="0">
                <a:solidFill>
                  <a:srgbClr val="F0D58A"/>
                </a:solidFill>
                <a:latin typeface="Cinzel"/>
              </a:rPr>
              <a:t>◆</a:t>
            </a:r>
          </a:p>
        </p:txBody>
      </p:sp>
      <p:sp>
        <p:nvSpPr>
          <p:cNvPr id="62" name="TextBox 61"/>
          <p:cNvSpPr txBox="1"/>
          <p:nvPr/>
        </p:nvSpPr>
        <p:spPr>
          <a:xfrm>
            <a:off x="4900269" y="3703320"/>
            <a:ext cx="2391156" cy="329184"/>
          </a:xfrm>
          <a:prstGeom prst="rect">
            <a:avLst/>
          </a:prstGeom>
          <a:noFill/>
        </p:spPr>
        <p:txBody>
          <a:bodyPr wrap="square" lIns="0" rIns="0" tIns="0" bIns="0" anchor="ctr">
            <a:spAutoFit/>
          </a:bodyPr>
          <a:lstStyle/>
          <a:p>
            <a:pPr algn="ctr"/>
            <a:r>
              <a:rPr sz="1300" b="1" i="0" spc="400">
                <a:solidFill>
                  <a:srgbClr val="C9A84C"/>
                </a:solidFill>
                <a:latin typeface="Montserrat"/>
              </a:rPr>
              <a:t>THE NEXT STEP</a:t>
            </a:r>
          </a:p>
        </p:txBody>
      </p:sp>
      <p:cxnSp>
        <p:nvCxnSpPr>
          <p:cNvPr id="63" name="Connector 62"/>
          <p:cNvCxnSpPr/>
          <p:nvPr/>
        </p:nvCxnSpPr>
        <p:spPr>
          <a:xfrm>
            <a:off x="3528669"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4" name="Diamond 63"/>
          <p:cNvSpPr/>
          <p:nvPr/>
        </p:nvSpPr>
        <p:spPr>
          <a:xfrm>
            <a:off x="3478377" y="3817620"/>
            <a:ext cx="100584" cy="100584"/>
          </a:xfrm>
          <a:prstGeom prst="diamond">
            <a:avLst/>
          </a:prstGeom>
          <a:solidFill>
            <a:srgbClr val="C9A84C"/>
          </a:solidFill>
          <a:ln>
            <a:noFill/>
          </a:ln>
        </p:spPr>
        <p:txBody>
          <a:bodyPr rtlCol="0" anchor="ctr"/>
          <a:lstStyle/>
          <a:p/>
        </p:txBody>
      </p:sp>
      <p:cxnSp>
        <p:nvCxnSpPr>
          <p:cNvPr id="65" name="Connector 64"/>
          <p:cNvCxnSpPr/>
          <p:nvPr/>
        </p:nvCxnSpPr>
        <p:spPr>
          <a:xfrm>
            <a:off x="7428585" y="3867911"/>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66" name="Diamond 65"/>
          <p:cNvSpPr/>
          <p:nvPr/>
        </p:nvSpPr>
        <p:spPr>
          <a:xfrm>
            <a:off x="8612733" y="3817620"/>
            <a:ext cx="100584" cy="100584"/>
          </a:xfrm>
          <a:prstGeom prst="diamond">
            <a:avLst/>
          </a:prstGeom>
          <a:solidFill>
            <a:srgbClr val="C9A84C"/>
          </a:solidFill>
          <a:ln>
            <a:noFill/>
          </a:ln>
        </p:spPr>
        <p:txBody>
          <a:bodyPr rtlCol="0" anchor="ctr"/>
          <a:lstStyle/>
          <a:p/>
        </p:txBody>
      </p:sp>
      <p:sp>
        <p:nvSpPr>
          <p:cNvPr id="67" name="TextBox 66"/>
          <p:cNvSpPr txBox="1"/>
          <p:nvPr/>
        </p:nvSpPr>
        <p:spPr>
          <a:xfrm>
            <a:off x="914400" y="4069080"/>
            <a:ext cx="10362895" cy="1097280"/>
          </a:xfrm>
          <a:prstGeom prst="rect">
            <a:avLst/>
          </a:prstGeom>
          <a:noFill/>
        </p:spPr>
        <p:txBody>
          <a:bodyPr wrap="square" lIns="0" rIns="0" tIns="0" bIns="0" anchor="ctr">
            <a:spAutoFit/>
          </a:bodyPr>
          <a:lstStyle/>
          <a:p>
            <a:pPr algn="ctr">
              <a:lnSpc>
                <a:spcPct val="105000"/>
              </a:lnSpc>
            </a:pPr>
            <a:r>
              <a:rPr sz="6000" b="1" i="0">
                <a:solidFill>
                  <a:srgbClr val="F0D58A"/>
                </a:solidFill>
                <a:latin typeface="Cinzel"/>
              </a:rPr>
              <a:t>Gift, not grift</a:t>
            </a:r>
          </a:p>
        </p:txBody>
      </p:sp>
      <p:sp>
        <p:nvSpPr>
          <p:cNvPr id="68" name="TextBox 67"/>
          <p:cNvSpPr txBox="1"/>
          <p:nvPr/>
        </p:nvSpPr>
        <p:spPr>
          <a:xfrm>
            <a:off x="1371600" y="5166360"/>
            <a:ext cx="9448495" cy="548640"/>
          </a:xfrm>
          <a:prstGeom prst="rect">
            <a:avLst/>
          </a:prstGeom>
          <a:noFill/>
        </p:spPr>
        <p:txBody>
          <a:bodyPr wrap="square" lIns="0" rIns="0" tIns="0" bIns="0" anchor="t">
            <a:spAutoFit/>
          </a:bodyPr>
          <a:lstStyle/>
          <a:p>
            <a:pPr algn="ctr">
              <a:lnSpc>
                <a:spcPct val="120000"/>
              </a:lnSpc>
            </a:pPr>
            <a:r>
              <a:rPr sz="2200" b="0" i="1">
                <a:solidFill>
                  <a:srgbClr val="B9A57A"/>
                </a:solidFill>
                <a:latin typeface="Montserrat"/>
              </a:rPr>
              <a:t>No pressure. No timer. Just the next step for those who want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4311840" y="5913052"/>
            <a:ext cx="27432" cy="27432"/>
          </a:xfrm>
          <a:prstGeom prst="ellipse">
            <a:avLst/>
          </a:prstGeom>
          <a:solidFill>
            <a:srgbClr val="9E6729"/>
          </a:solidFill>
          <a:ln>
            <a:noFill/>
          </a:ln>
        </p:spPr>
        <p:txBody>
          <a:bodyPr rtlCol="0" anchor="ctr"/>
          <a:lstStyle/>
          <a:p/>
        </p:txBody>
      </p:sp>
      <p:sp>
        <p:nvSpPr>
          <p:cNvPr id="4" name="Oval 3"/>
          <p:cNvSpPr/>
          <p:nvPr/>
        </p:nvSpPr>
        <p:spPr>
          <a:xfrm>
            <a:off x="9622606" y="4406584"/>
            <a:ext cx="73152" cy="73152"/>
          </a:xfrm>
          <a:prstGeom prst="ellipse">
            <a:avLst/>
          </a:prstGeom>
          <a:solidFill>
            <a:srgbClr val="584922"/>
          </a:solidFill>
          <a:ln>
            <a:noFill/>
          </a:ln>
        </p:spPr>
        <p:txBody>
          <a:bodyPr rtlCol="0" anchor="ctr"/>
          <a:lstStyle/>
          <a:p/>
        </p:txBody>
      </p:sp>
      <p:sp>
        <p:nvSpPr>
          <p:cNvPr id="5" name="Oval 4"/>
          <p:cNvSpPr/>
          <p:nvPr/>
        </p:nvSpPr>
        <p:spPr>
          <a:xfrm>
            <a:off x="8774604" y="4112865"/>
            <a:ext cx="54864" cy="54864"/>
          </a:xfrm>
          <a:prstGeom prst="ellipse">
            <a:avLst/>
          </a:prstGeom>
          <a:solidFill>
            <a:srgbClr val="524420"/>
          </a:solidFill>
          <a:ln>
            <a:noFill/>
          </a:ln>
        </p:spPr>
        <p:txBody>
          <a:bodyPr rtlCol="0" anchor="ctr"/>
          <a:lstStyle/>
          <a:p/>
        </p:txBody>
      </p:sp>
      <p:sp>
        <p:nvSpPr>
          <p:cNvPr id="6" name="Oval 5"/>
          <p:cNvSpPr/>
          <p:nvPr/>
        </p:nvSpPr>
        <p:spPr>
          <a:xfrm>
            <a:off x="3642866" y="2571955"/>
            <a:ext cx="73152" cy="73152"/>
          </a:xfrm>
          <a:prstGeom prst="ellipse">
            <a:avLst/>
          </a:prstGeom>
          <a:solidFill>
            <a:srgbClr val="645839"/>
          </a:solidFill>
          <a:ln>
            <a:noFill/>
          </a:ln>
        </p:spPr>
        <p:txBody>
          <a:bodyPr rtlCol="0" anchor="ctr"/>
          <a:lstStyle/>
          <a:p/>
        </p:txBody>
      </p:sp>
      <p:sp>
        <p:nvSpPr>
          <p:cNvPr id="7" name="Oval 6"/>
          <p:cNvSpPr/>
          <p:nvPr/>
        </p:nvSpPr>
        <p:spPr>
          <a:xfrm>
            <a:off x="1462686" y="4698343"/>
            <a:ext cx="36576" cy="36576"/>
          </a:xfrm>
          <a:prstGeom prst="ellipse">
            <a:avLst/>
          </a:prstGeom>
          <a:solidFill>
            <a:srgbClr val="A06829"/>
          </a:solidFill>
          <a:ln>
            <a:noFill/>
          </a:ln>
        </p:spPr>
        <p:txBody>
          <a:bodyPr rtlCol="0" anchor="ctr"/>
          <a:lstStyle/>
          <a:p/>
        </p:txBody>
      </p:sp>
      <p:sp>
        <p:nvSpPr>
          <p:cNvPr id="8" name="Oval 7"/>
          <p:cNvSpPr/>
          <p:nvPr/>
        </p:nvSpPr>
        <p:spPr>
          <a:xfrm>
            <a:off x="7876348" y="6082696"/>
            <a:ext cx="45720" cy="45720"/>
          </a:xfrm>
          <a:prstGeom prst="ellipse">
            <a:avLst/>
          </a:prstGeom>
          <a:solidFill>
            <a:srgbClr val="7C672F"/>
          </a:solidFill>
          <a:ln>
            <a:noFill/>
          </a:ln>
        </p:spPr>
        <p:txBody>
          <a:bodyPr rtlCol="0" anchor="ctr"/>
          <a:lstStyle/>
          <a:p/>
        </p:txBody>
      </p:sp>
      <p:sp>
        <p:nvSpPr>
          <p:cNvPr id="9" name="Oval 8"/>
          <p:cNvSpPr/>
          <p:nvPr/>
        </p:nvSpPr>
        <p:spPr>
          <a:xfrm>
            <a:off x="8249226" y="5775117"/>
            <a:ext cx="54864" cy="54864"/>
          </a:xfrm>
          <a:prstGeom prst="ellipse">
            <a:avLst/>
          </a:prstGeom>
          <a:solidFill>
            <a:srgbClr val="968556"/>
          </a:solidFill>
          <a:ln>
            <a:noFill/>
          </a:ln>
        </p:spPr>
        <p:txBody>
          <a:bodyPr rtlCol="0" anchor="ctr"/>
          <a:lstStyle/>
          <a:p/>
        </p:txBody>
      </p:sp>
      <p:sp>
        <p:nvSpPr>
          <p:cNvPr id="10" name="Oval 9"/>
          <p:cNvSpPr/>
          <p:nvPr/>
        </p:nvSpPr>
        <p:spPr>
          <a:xfrm>
            <a:off x="6820464" y="3579302"/>
            <a:ext cx="27432" cy="27432"/>
          </a:xfrm>
          <a:prstGeom prst="ellipse">
            <a:avLst/>
          </a:prstGeom>
          <a:solidFill>
            <a:srgbClr val="5C4D24"/>
          </a:solidFill>
          <a:ln>
            <a:noFill/>
          </a:ln>
        </p:spPr>
        <p:txBody>
          <a:bodyPr rtlCol="0" anchor="ctr"/>
          <a:lstStyle/>
          <a:p/>
        </p:txBody>
      </p:sp>
      <p:sp>
        <p:nvSpPr>
          <p:cNvPr id="11" name="Oval 10"/>
          <p:cNvSpPr/>
          <p:nvPr/>
        </p:nvSpPr>
        <p:spPr>
          <a:xfrm>
            <a:off x="11109900" y="2304459"/>
            <a:ext cx="54864" cy="54864"/>
          </a:xfrm>
          <a:prstGeom prst="ellipse">
            <a:avLst/>
          </a:prstGeom>
          <a:solidFill>
            <a:srgbClr val="695728"/>
          </a:solidFill>
          <a:ln>
            <a:noFill/>
          </a:ln>
        </p:spPr>
        <p:txBody>
          <a:bodyPr rtlCol="0" anchor="ctr"/>
          <a:lstStyle/>
          <a:p/>
        </p:txBody>
      </p:sp>
      <p:sp>
        <p:nvSpPr>
          <p:cNvPr id="12" name="Oval 11"/>
          <p:cNvSpPr/>
          <p:nvPr/>
        </p:nvSpPr>
        <p:spPr>
          <a:xfrm>
            <a:off x="5977934" y="4539230"/>
            <a:ext cx="73152" cy="73152"/>
          </a:xfrm>
          <a:prstGeom prst="ellipse">
            <a:avLst/>
          </a:prstGeom>
          <a:solidFill>
            <a:srgbClr val="64411B"/>
          </a:solidFill>
          <a:ln>
            <a:noFill/>
          </a:ln>
        </p:spPr>
        <p:txBody>
          <a:bodyPr rtlCol="0" anchor="ctr"/>
          <a:lstStyle/>
          <a:p/>
        </p:txBody>
      </p:sp>
      <p:sp>
        <p:nvSpPr>
          <p:cNvPr id="13" name="Oval 12"/>
          <p:cNvSpPr/>
          <p:nvPr/>
        </p:nvSpPr>
        <p:spPr>
          <a:xfrm>
            <a:off x="620811" y="5791856"/>
            <a:ext cx="73152" cy="73152"/>
          </a:xfrm>
          <a:prstGeom prst="ellipse">
            <a:avLst/>
          </a:prstGeom>
          <a:solidFill>
            <a:srgbClr val="5E5235"/>
          </a:solidFill>
          <a:ln>
            <a:noFill/>
          </a:ln>
        </p:spPr>
        <p:txBody>
          <a:bodyPr rtlCol="0" anchor="ctr"/>
          <a:lstStyle/>
          <a:p/>
        </p:txBody>
      </p:sp>
      <p:sp>
        <p:nvSpPr>
          <p:cNvPr id="14" name="Oval 13"/>
          <p:cNvSpPr/>
          <p:nvPr/>
        </p:nvSpPr>
        <p:spPr>
          <a:xfrm>
            <a:off x="10149729" y="5969033"/>
            <a:ext cx="27432" cy="27432"/>
          </a:xfrm>
          <a:prstGeom prst="ellipse">
            <a:avLst/>
          </a:prstGeom>
          <a:solidFill>
            <a:srgbClr val="4B3115"/>
          </a:solidFill>
          <a:ln>
            <a:noFill/>
          </a:ln>
        </p:spPr>
        <p:txBody>
          <a:bodyPr rtlCol="0" anchor="ctr"/>
          <a:lstStyle/>
          <a:p/>
        </p:txBody>
      </p:sp>
      <p:sp>
        <p:nvSpPr>
          <p:cNvPr id="15" name="Oval 14"/>
          <p:cNvSpPr/>
          <p:nvPr/>
        </p:nvSpPr>
        <p:spPr>
          <a:xfrm>
            <a:off x="8324949" y="711791"/>
            <a:ext cx="45720" cy="45720"/>
          </a:xfrm>
          <a:prstGeom prst="ellipse">
            <a:avLst/>
          </a:prstGeom>
          <a:solidFill>
            <a:srgbClr val="A96E2B"/>
          </a:solidFill>
          <a:ln>
            <a:noFill/>
          </a:ln>
        </p:spPr>
        <p:txBody>
          <a:bodyPr rtlCol="0" anchor="ctr"/>
          <a:lstStyle/>
          <a:p/>
        </p:txBody>
      </p:sp>
      <p:sp>
        <p:nvSpPr>
          <p:cNvPr id="16" name="Oval 15"/>
          <p:cNvSpPr/>
          <p:nvPr/>
        </p:nvSpPr>
        <p:spPr>
          <a:xfrm>
            <a:off x="2576681" y="2900243"/>
            <a:ext cx="54864" cy="54864"/>
          </a:xfrm>
          <a:prstGeom prst="ellipse">
            <a:avLst/>
          </a:prstGeom>
          <a:solidFill>
            <a:srgbClr val="6D5B2A"/>
          </a:solidFill>
          <a:ln>
            <a:noFill/>
          </a:ln>
        </p:spPr>
        <p:txBody>
          <a:bodyPr rtlCol="0" anchor="ctr"/>
          <a:lstStyle/>
          <a:p/>
        </p:txBody>
      </p:sp>
      <p:sp>
        <p:nvSpPr>
          <p:cNvPr id="17" name="Oval 16"/>
          <p:cNvSpPr/>
          <p:nvPr/>
        </p:nvSpPr>
        <p:spPr>
          <a:xfrm>
            <a:off x="5405323" y="6110842"/>
            <a:ext cx="45720" cy="45720"/>
          </a:xfrm>
          <a:prstGeom prst="ellipse">
            <a:avLst/>
          </a:prstGeom>
          <a:solidFill>
            <a:srgbClr val="9F8C5B"/>
          </a:solidFill>
          <a:ln>
            <a:noFill/>
          </a:ln>
        </p:spPr>
        <p:txBody>
          <a:bodyPr rtlCol="0" anchor="ctr"/>
          <a:lstStyle/>
          <a:p/>
        </p:txBody>
      </p:sp>
      <p:sp>
        <p:nvSpPr>
          <p:cNvPr id="18" name="Oval 17"/>
          <p:cNvSpPr/>
          <p:nvPr/>
        </p:nvSpPr>
        <p:spPr>
          <a:xfrm>
            <a:off x="10164157" y="4234706"/>
            <a:ext cx="54864" cy="54864"/>
          </a:xfrm>
          <a:prstGeom prst="ellipse">
            <a:avLst/>
          </a:prstGeom>
          <a:solidFill>
            <a:srgbClr val="7A662F"/>
          </a:solidFill>
          <a:ln>
            <a:noFill/>
          </a:ln>
        </p:spPr>
        <p:txBody>
          <a:bodyPr rtlCol="0" anchor="ctr"/>
          <a:lstStyle/>
          <a:p/>
        </p:txBody>
      </p:sp>
      <p:sp>
        <p:nvSpPr>
          <p:cNvPr id="19" name="Oval 18"/>
          <p:cNvSpPr/>
          <p:nvPr/>
        </p:nvSpPr>
        <p:spPr>
          <a:xfrm>
            <a:off x="3159504" y="2382047"/>
            <a:ext cx="36576" cy="36576"/>
          </a:xfrm>
          <a:prstGeom prst="ellipse">
            <a:avLst/>
          </a:prstGeom>
          <a:solidFill>
            <a:srgbClr val="967D39"/>
          </a:solidFill>
          <a:ln>
            <a:noFill/>
          </a:ln>
        </p:spPr>
        <p:txBody>
          <a:bodyPr rtlCol="0" anchor="ctr"/>
          <a:lstStyle/>
          <a:p/>
        </p:txBody>
      </p:sp>
      <p:sp>
        <p:nvSpPr>
          <p:cNvPr id="20" name="Oval 19"/>
          <p:cNvSpPr/>
          <p:nvPr/>
        </p:nvSpPr>
        <p:spPr>
          <a:xfrm>
            <a:off x="4628849" y="5599198"/>
            <a:ext cx="36576" cy="36576"/>
          </a:xfrm>
          <a:prstGeom prst="ellipse">
            <a:avLst/>
          </a:prstGeom>
          <a:solidFill>
            <a:srgbClr val="947B38"/>
          </a:solidFill>
          <a:ln>
            <a:noFill/>
          </a:ln>
        </p:spPr>
        <p:txBody>
          <a:bodyPr rtlCol="0" anchor="ctr"/>
          <a:lstStyle/>
          <a:p/>
        </p:txBody>
      </p:sp>
      <p:sp>
        <p:nvSpPr>
          <p:cNvPr id="21" name="Oval 20"/>
          <p:cNvSpPr/>
          <p:nvPr/>
        </p:nvSpPr>
        <p:spPr>
          <a:xfrm>
            <a:off x="2361343" y="1927624"/>
            <a:ext cx="27432" cy="27432"/>
          </a:xfrm>
          <a:prstGeom prst="ellipse">
            <a:avLst/>
          </a:prstGeom>
          <a:solidFill>
            <a:srgbClr val="A2873D"/>
          </a:solidFill>
          <a:ln>
            <a:noFill/>
          </a:ln>
        </p:spPr>
        <p:txBody>
          <a:bodyPr rtlCol="0" anchor="ctr"/>
          <a:lstStyle/>
          <a:p/>
        </p:txBody>
      </p:sp>
      <p:sp>
        <p:nvSpPr>
          <p:cNvPr id="22" name="Oval 21"/>
          <p:cNvSpPr/>
          <p:nvPr/>
        </p:nvSpPr>
        <p:spPr>
          <a:xfrm>
            <a:off x="3299370" y="5830115"/>
            <a:ext cx="27432" cy="27432"/>
          </a:xfrm>
          <a:prstGeom prst="ellipse">
            <a:avLst/>
          </a:prstGeom>
          <a:solidFill>
            <a:srgbClr val="826C32"/>
          </a:solidFill>
          <a:ln>
            <a:noFill/>
          </a:ln>
        </p:spPr>
        <p:txBody>
          <a:bodyPr rtlCol="0" anchor="ctr"/>
          <a:lstStyle/>
          <a:p/>
        </p:txBody>
      </p:sp>
      <p:sp>
        <p:nvSpPr>
          <p:cNvPr id="23" name="Oval 22"/>
          <p:cNvSpPr/>
          <p:nvPr/>
        </p:nvSpPr>
        <p:spPr>
          <a:xfrm>
            <a:off x="8636407" y="3074824"/>
            <a:ext cx="73152" cy="73152"/>
          </a:xfrm>
          <a:prstGeom prst="ellipse">
            <a:avLst/>
          </a:prstGeom>
          <a:solidFill>
            <a:srgbClr val="A5925F"/>
          </a:solidFill>
          <a:ln>
            <a:noFill/>
          </a:ln>
        </p:spPr>
        <p:txBody>
          <a:bodyPr rtlCol="0" anchor="ctr"/>
          <a:lstStyle/>
          <a:p/>
        </p:txBody>
      </p:sp>
      <p:sp>
        <p:nvSpPr>
          <p:cNvPr id="24" name="Oval 23"/>
          <p:cNvSpPr/>
          <p:nvPr/>
        </p:nvSpPr>
        <p:spPr>
          <a:xfrm>
            <a:off x="10759043" y="3761700"/>
            <a:ext cx="54864" cy="54864"/>
          </a:xfrm>
          <a:prstGeom prst="ellipse">
            <a:avLst/>
          </a:prstGeom>
          <a:solidFill>
            <a:srgbClr val="806B31"/>
          </a:solidFill>
          <a:ln>
            <a:noFill/>
          </a:ln>
        </p:spPr>
        <p:txBody>
          <a:bodyPr rtlCol="0" anchor="ctr"/>
          <a:lstStyle/>
          <a:p/>
        </p:txBody>
      </p:sp>
      <p:sp>
        <p:nvSpPr>
          <p:cNvPr id="25" name="Oval 24"/>
          <p:cNvSpPr/>
          <p:nvPr/>
        </p:nvSpPr>
        <p:spPr>
          <a:xfrm>
            <a:off x="671533" y="3405493"/>
            <a:ext cx="73152" cy="73152"/>
          </a:xfrm>
          <a:prstGeom prst="ellipse">
            <a:avLst/>
          </a:prstGeom>
          <a:solidFill>
            <a:srgbClr val="8C5B24"/>
          </a:solidFill>
          <a:ln>
            <a:noFill/>
          </a:ln>
        </p:spPr>
        <p:txBody>
          <a:bodyPr rtlCol="0" anchor="ctr"/>
          <a:lstStyle/>
          <a:p/>
        </p:txBody>
      </p:sp>
      <p:sp>
        <p:nvSpPr>
          <p:cNvPr id="26" name="Oval 25"/>
          <p:cNvSpPr/>
          <p:nvPr/>
        </p:nvSpPr>
        <p:spPr>
          <a:xfrm>
            <a:off x="11516926" y="6010047"/>
            <a:ext cx="45720" cy="45720"/>
          </a:xfrm>
          <a:prstGeom prst="ellipse">
            <a:avLst/>
          </a:prstGeom>
          <a:solidFill>
            <a:srgbClr val="7F6930"/>
          </a:solidFill>
          <a:ln>
            <a:noFill/>
          </a:ln>
        </p:spPr>
        <p:txBody>
          <a:bodyPr rtlCol="0" anchor="ctr"/>
          <a:lstStyle/>
          <a:p/>
        </p:txBody>
      </p:sp>
      <p:sp>
        <p:nvSpPr>
          <p:cNvPr id="27" name="Oval 26"/>
          <p:cNvSpPr/>
          <p:nvPr/>
        </p:nvSpPr>
        <p:spPr>
          <a:xfrm>
            <a:off x="10178898" y="4703175"/>
            <a:ext cx="73152" cy="73152"/>
          </a:xfrm>
          <a:prstGeom prst="ellipse">
            <a:avLst/>
          </a:prstGeom>
          <a:solidFill>
            <a:srgbClr val="463D28"/>
          </a:solidFill>
          <a:ln>
            <a:noFill/>
          </a:ln>
        </p:spPr>
        <p:txBody>
          <a:bodyPr rtlCol="0" anchor="ctr"/>
          <a:lstStyle/>
          <a:p/>
        </p:txBody>
      </p:sp>
      <p:sp>
        <p:nvSpPr>
          <p:cNvPr id="28" name="Oval 27"/>
          <p:cNvSpPr/>
          <p:nvPr/>
        </p:nvSpPr>
        <p:spPr>
          <a:xfrm>
            <a:off x="4056193" y="3262158"/>
            <a:ext cx="27432" cy="27432"/>
          </a:xfrm>
          <a:prstGeom prst="ellipse">
            <a:avLst/>
          </a:prstGeom>
          <a:solidFill>
            <a:srgbClr val="BA792F"/>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sp>
        <p:nvSpPr>
          <p:cNvPr id="49" name="TextBox 48"/>
          <p:cNvSpPr txBox="1"/>
          <p:nvPr/>
        </p:nvSpPr>
        <p:spPr>
          <a:xfrm>
            <a:off x="4900269" y="1239202"/>
            <a:ext cx="2391156" cy="329184"/>
          </a:xfrm>
          <a:prstGeom prst="rect">
            <a:avLst/>
          </a:prstGeom>
          <a:noFill/>
        </p:spPr>
        <p:txBody>
          <a:bodyPr wrap="square" lIns="0" rIns="0" tIns="0" bIns="0" anchor="ctr">
            <a:spAutoFit/>
          </a:bodyPr>
          <a:lstStyle/>
          <a:p>
            <a:pPr algn="ctr"/>
            <a:r>
              <a:rPr sz="1300" b="1" i="0" spc="400">
                <a:solidFill>
                  <a:srgbClr val="C9A84C"/>
                </a:solidFill>
                <a:latin typeface="Montserrat"/>
              </a:rPr>
              <a:t>THE NEXT STEP</a:t>
            </a:r>
          </a:p>
        </p:txBody>
      </p:sp>
      <p:cxnSp>
        <p:nvCxnSpPr>
          <p:cNvPr id="50" name="Connector 49"/>
          <p:cNvCxnSpPr/>
          <p:nvPr/>
        </p:nvCxnSpPr>
        <p:spPr>
          <a:xfrm>
            <a:off x="3528669" y="1403794"/>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478377" y="1353502"/>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428585" y="1403794"/>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612733" y="1353502"/>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632394"/>
            <a:ext cx="10362895" cy="62484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Two paths</a:t>
            </a:r>
          </a:p>
        </p:txBody>
      </p:sp>
      <p:sp>
        <p:nvSpPr>
          <p:cNvPr id="55" name="Rounded Rectangle 54"/>
          <p:cNvSpPr/>
          <p:nvPr/>
        </p:nvSpPr>
        <p:spPr>
          <a:xfrm>
            <a:off x="914400" y="2440114"/>
            <a:ext cx="5021427" cy="2422779"/>
          </a:xfrm>
          <a:prstGeom prst="roundRect">
            <a:avLst>
              <a:gd name="adj" fmla="val 6000"/>
            </a:avLst>
          </a:prstGeom>
          <a:solidFill>
            <a:srgbClr val="100D07"/>
          </a:solidFill>
          <a:ln w="15875">
            <a:solidFill>
              <a:srgbClr val="877034"/>
            </a:solidFill>
          </a:ln>
        </p:spPr>
        <p:txBody>
          <a:bodyPr rtlCol="0" anchor="ctr"/>
          <a:lstStyle/>
          <a:p/>
        </p:txBody>
      </p:sp>
      <p:sp>
        <p:nvSpPr>
          <p:cNvPr id="56" name="TextBox 55"/>
          <p:cNvSpPr txBox="1"/>
          <p:nvPr/>
        </p:nvSpPr>
        <p:spPr>
          <a:xfrm>
            <a:off x="1097280" y="2668714"/>
            <a:ext cx="4655667"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Path 1 · Do it yourself</a:t>
            </a:r>
          </a:p>
        </p:txBody>
      </p:sp>
      <p:sp>
        <p:nvSpPr>
          <p:cNvPr id="57" name="TextBox 56"/>
          <p:cNvSpPr txBox="1"/>
          <p:nvPr/>
        </p:nvSpPr>
        <p:spPr>
          <a:xfrm>
            <a:off x="1143000" y="3131629"/>
            <a:ext cx="4564227" cy="1365503"/>
          </a:xfrm>
          <a:prstGeom prst="rect">
            <a:avLst/>
          </a:prstGeom>
          <a:noFill/>
        </p:spPr>
        <p:txBody>
          <a:bodyPr wrap="square" lIns="0" rIns="0" tIns="0" bIns="0" anchor="t">
            <a:spAutoFit/>
          </a:bodyPr>
          <a:lstStyle/>
          <a:p>
            <a:pPr algn="ctr">
              <a:lnSpc>
                <a:spcPct val="120000"/>
              </a:lnSpc>
              <a:spcAft>
                <a:spcPts val="600"/>
              </a:spcAft>
            </a:pPr>
            <a:r>
              <a:rPr sz="2000" b="0" i="0">
                <a:solidFill>
                  <a:srgbClr val="EFE3C6"/>
                </a:solidFill>
                <a:latin typeface="Montserrat"/>
              </a:rPr>
              <a:t>Free reports at annualcreditreport.com</a:t>
            </a:r>
          </a:p>
          <a:p>
            <a:pPr algn="ctr">
              <a:lnSpc>
                <a:spcPct val="120000"/>
              </a:lnSpc>
              <a:spcAft>
                <a:spcPts val="600"/>
              </a:spcAft>
            </a:pPr>
            <a:r>
              <a:rPr sz="2000" b="0" i="0">
                <a:solidFill>
                  <a:srgbClr val="EFE3C6"/>
                </a:solidFill>
                <a:latin typeface="Montserrat"/>
              </a:rPr>
              <a:t>The Fix Your File guide — $27 — if you want the templates</a:t>
            </a:r>
          </a:p>
        </p:txBody>
      </p:sp>
      <p:sp>
        <p:nvSpPr>
          <p:cNvPr id="58" name="Rounded Rectangle 57"/>
          <p:cNvSpPr/>
          <p:nvPr/>
        </p:nvSpPr>
        <p:spPr>
          <a:xfrm>
            <a:off x="6255867" y="2440114"/>
            <a:ext cx="5021427" cy="2422779"/>
          </a:xfrm>
          <a:prstGeom prst="roundRect">
            <a:avLst>
              <a:gd name="adj" fmla="val 6000"/>
            </a:avLst>
          </a:prstGeom>
          <a:solidFill>
            <a:srgbClr val="100D07"/>
          </a:solidFill>
          <a:ln w="15875">
            <a:solidFill>
              <a:srgbClr val="877034"/>
            </a:solidFill>
          </a:ln>
        </p:spPr>
        <p:txBody>
          <a:bodyPr rtlCol="0" anchor="ctr"/>
          <a:lstStyle/>
          <a:p/>
        </p:txBody>
      </p:sp>
      <p:sp>
        <p:nvSpPr>
          <p:cNvPr id="59" name="TextBox 58"/>
          <p:cNvSpPr txBox="1"/>
          <p:nvPr/>
        </p:nvSpPr>
        <p:spPr>
          <a:xfrm>
            <a:off x="6438747" y="2668714"/>
            <a:ext cx="4655667" cy="280035"/>
          </a:xfrm>
          <a:prstGeom prst="rect">
            <a:avLst/>
          </a:prstGeom>
          <a:noFill/>
        </p:spPr>
        <p:txBody>
          <a:bodyPr wrap="square" lIns="0" rIns="0" tIns="0" bIns="0" anchor="ctr">
            <a:spAutoFit/>
          </a:bodyPr>
          <a:lstStyle/>
          <a:p>
            <a:pPr algn="ctr">
              <a:lnSpc>
                <a:spcPct val="105000"/>
              </a:lnSpc>
            </a:pPr>
            <a:r>
              <a:rPr sz="2100" b="1" i="0">
                <a:solidFill>
                  <a:srgbClr val="F0D58A"/>
                </a:solidFill>
                <a:latin typeface="Cinzel"/>
              </a:rPr>
              <a:t>Path 2 · Done with you</a:t>
            </a:r>
          </a:p>
        </p:txBody>
      </p:sp>
      <p:sp>
        <p:nvSpPr>
          <p:cNvPr id="60" name="TextBox 59"/>
          <p:cNvSpPr txBox="1"/>
          <p:nvPr/>
        </p:nvSpPr>
        <p:spPr>
          <a:xfrm>
            <a:off x="6484467" y="3131629"/>
            <a:ext cx="4564227" cy="1365503"/>
          </a:xfrm>
          <a:prstGeom prst="rect">
            <a:avLst/>
          </a:prstGeom>
          <a:noFill/>
        </p:spPr>
        <p:txBody>
          <a:bodyPr wrap="square" lIns="0" rIns="0" tIns="0" bIns="0" anchor="t">
            <a:spAutoFit/>
          </a:bodyPr>
          <a:lstStyle/>
          <a:p>
            <a:pPr algn="ctr">
              <a:lnSpc>
                <a:spcPct val="120000"/>
              </a:lnSpc>
              <a:spcAft>
                <a:spcPts val="600"/>
              </a:spcAft>
            </a:pPr>
            <a:r>
              <a:rPr sz="2000" b="0" i="0">
                <a:solidFill>
                  <a:srgbClr val="EFE3C6"/>
                </a:solidFill>
                <a:latin typeface="Montserrat"/>
              </a:rPr>
              <a:t>The Restoration Program</a:t>
            </a:r>
          </a:p>
        </p:txBody>
      </p:sp>
      <p:sp>
        <p:nvSpPr>
          <p:cNvPr id="61" name="TextBox 60"/>
          <p:cNvSpPr txBox="1"/>
          <p:nvPr/>
        </p:nvSpPr>
        <p:spPr>
          <a:xfrm>
            <a:off x="1097280" y="5045773"/>
            <a:ext cx="9997135" cy="64008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Both are honorable. Doing nothing is the only wrong one.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4949765" y="3864282"/>
            <a:ext cx="27432" cy="27432"/>
          </a:xfrm>
          <a:prstGeom prst="ellipse">
            <a:avLst/>
          </a:prstGeom>
          <a:solidFill>
            <a:srgbClr val="958355"/>
          </a:solidFill>
          <a:ln>
            <a:noFill/>
          </a:ln>
        </p:spPr>
        <p:txBody>
          <a:bodyPr rtlCol="0" anchor="ctr"/>
          <a:lstStyle/>
          <a:p/>
        </p:txBody>
      </p:sp>
      <p:sp>
        <p:nvSpPr>
          <p:cNvPr id="4" name="Oval 3"/>
          <p:cNvSpPr/>
          <p:nvPr/>
        </p:nvSpPr>
        <p:spPr>
          <a:xfrm>
            <a:off x="7055413" y="5995535"/>
            <a:ext cx="36576" cy="36576"/>
          </a:xfrm>
          <a:prstGeom prst="ellipse">
            <a:avLst/>
          </a:prstGeom>
          <a:solidFill>
            <a:srgbClr val="493F29"/>
          </a:solidFill>
          <a:ln>
            <a:noFill/>
          </a:ln>
        </p:spPr>
        <p:txBody>
          <a:bodyPr rtlCol="0" anchor="ctr"/>
          <a:lstStyle/>
          <a:p/>
        </p:txBody>
      </p:sp>
      <p:sp>
        <p:nvSpPr>
          <p:cNvPr id="5" name="Oval 4"/>
          <p:cNvSpPr/>
          <p:nvPr/>
        </p:nvSpPr>
        <p:spPr>
          <a:xfrm>
            <a:off x="7610438" y="689438"/>
            <a:ext cx="45720" cy="45720"/>
          </a:xfrm>
          <a:prstGeom prst="ellipse">
            <a:avLst/>
          </a:prstGeom>
          <a:solidFill>
            <a:srgbClr val="564B31"/>
          </a:solidFill>
          <a:ln>
            <a:noFill/>
          </a:ln>
        </p:spPr>
        <p:txBody>
          <a:bodyPr rtlCol="0" anchor="ctr"/>
          <a:lstStyle/>
          <a:p/>
        </p:txBody>
      </p:sp>
      <p:sp>
        <p:nvSpPr>
          <p:cNvPr id="6" name="Oval 5"/>
          <p:cNvSpPr/>
          <p:nvPr/>
        </p:nvSpPr>
        <p:spPr>
          <a:xfrm>
            <a:off x="6414089" y="6118550"/>
            <a:ext cx="45720" cy="45720"/>
          </a:xfrm>
          <a:prstGeom prst="ellipse">
            <a:avLst/>
          </a:prstGeom>
          <a:solidFill>
            <a:srgbClr val="776944"/>
          </a:solidFill>
          <a:ln>
            <a:noFill/>
          </a:ln>
        </p:spPr>
        <p:txBody>
          <a:bodyPr rtlCol="0" anchor="ctr"/>
          <a:lstStyle/>
          <a:p/>
        </p:txBody>
      </p:sp>
      <p:sp>
        <p:nvSpPr>
          <p:cNvPr id="7" name="Oval 6"/>
          <p:cNvSpPr/>
          <p:nvPr/>
        </p:nvSpPr>
        <p:spPr>
          <a:xfrm>
            <a:off x="4495760" y="3163551"/>
            <a:ext cx="54864" cy="54864"/>
          </a:xfrm>
          <a:prstGeom prst="ellipse">
            <a:avLst/>
          </a:prstGeom>
          <a:solidFill>
            <a:srgbClr val="7F7048"/>
          </a:solidFill>
          <a:ln>
            <a:noFill/>
          </a:ln>
        </p:spPr>
        <p:txBody>
          <a:bodyPr rtlCol="0" anchor="ctr"/>
          <a:lstStyle/>
          <a:p/>
        </p:txBody>
      </p:sp>
      <p:sp>
        <p:nvSpPr>
          <p:cNvPr id="8" name="Oval 7"/>
          <p:cNvSpPr/>
          <p:nvPr/>
        </p:nvSpPr>
        <p:spPr>
          <a:xfrm>
            <a:off x="7463409" y="2937340"/>
            <a:ext cx="73152" cy="73152"/>
          </a:xfrm>
          <a:prstGeom prst="ellipse">
            <a:avLst/>
          </a:prstGeom>
          <a:solidFill>
            <a:srgbClr val="805421"/>
          </a:solidFill>
          <a:ln>
            <a:noFill/>
          </a:ln>
        </p:spPr>
        <p:txBody>
          <a:bodyPr rtlCol="0" anchor="ctr"/>
          <a:lstStyle/>
          <a:p/>
        </p:txBody>
      </p:sp>
      <p:sp>
        <p:nvSpPr>
          <p:cNvPr id="9" name="Oval 8"/>
          <p:cNvSpPr/>
          <p:nvPr/>
        </p:nvSpPr>
        <p:spPr>
          <a:xfrm>
            <a:off x="2122817" y="3900661"/>
            <a:ext cx="45720" cy="45720"/>
          </a:xfrm>
          <a:prstGeom prst="ellipse">
            <a:avLst/>
          </a:prstGeom>
          <a:solidFill>
            <a:srgbClr val="918053"/>
          </a:solidFill>
          <a:ln>
            <a:noFill/>
          </a:ln>
        </p:spPr>
        <p:txBody>
          <a:bodyPr rtlCol="0" anchor="ctr"/>
          <a:lstStyle/>
          <a:p/>
        </p:txBody>
      </p:sp>
      <p:sp>
        <p:nvSpPr>
          <p:cNvPr id="10" name="Oval 9"/>
          <p:cNvSpPr/>
          <p:nvPr/>
        </p:nvSpPr>
        <p:spPr>
          <a:xfrm>
            <a:off x="10357244" y="1457864"/>
            <a:ext cx="54864" cy="54864"/>
          </a:xfrm>
          <a:prstGeom prst="ellipse">
            <a:avLst/>
          </a:prstGeom>
          <a:solidFill>
            <a:srgbClr val="6E481D"/>
          </a:solidFill>
          <a:ln>
            <a:noFill/>
          </a:ln>
        </p:spPr>
        <p:txBody>
          <a:bodyPr rtlCol="0" anchor="ctr"/>
          <a:lstStyle/>
          <a:p/>
        </p:txBody>
      </p:sp>
      <p:sp>
        <p:nvSpPr>
          <p:cNvPr id="11" name="Oval 10"/>
          <p:cNvSpPr/>
          <p:nvPr/>
        </p:nvSpPr>
        <p:spPr>
          <a:xfrm>
            <a:off x="9866842" y="3832584"/>
            <a:ext cx="36576" cy="36576"/>
          </a:xfrm>
          <a:prstGeom prst="ellipse">
            <a:avLst/>
          </a:prstGeom>
          <a:solidFill>
            <a:srgbClr val="866F33"/>
          </a:solidFill>
          <a:ln>
            <a:noFill/>
          </a:ln>
        </p:spPr>
        <p:txBody>
          <a:bodyPr rtlCol="0" anchor="ctr"/>
          <a:lstStyle/>
          <a:p/>
        </p:txBody>
      </p:sp>
      <p:sp>
        <p:nvSpPr>
          <p:cNvPr id="12" name="Oval 11"/>
          <p:cNvSpPr/>
          <p:nvPr/>
        </p:nvSpPr>
        <p:spPr>
          <a:xfrm>
            <a:off x="1105965" y="2053353"/>
            <a:ext cx="45720" cy="45720"/>
          </a:xfrm>
          <a:prstGeom prst="ellipse">
            <a:avLst/>
          </a:prstGeom>
          <a:solidFill>
            <a:srgbClr val="736542"/>
          </a:solidFill>
          <a:ln>
            <a:noFill/>
          </a:ln>
        </p:spPr>
        <p:txBody>
          <a:bodyPr rtlCol="0" anchor="ctr"/>
          <a:lstStyle/>
          <a:p/>
        </p:txBody>
      </p:sp>
      <p:sp>
        <p:nvSpPr>
          <p:cNvPr id="13" name="Oval 12"/>
          <p:cNvSpPr/>
          <p:nvPr/>
        </p:nvSpPr>
        <p:spPr>
          <a:xfrm>
            <a:off x="4558477" y="4830733"/>
            <a:ext cx="36576" cy="36576"/>
          </a:xfrm>
          <a:prstGeom prst="ellipse">
            <a:avLst/>
          </a:prstGeom>
          <a:solidFill>
            <a:srgbClr val="7E6930"/>
          </a:solidFill>
          <a:ln>
            <a:noFill/>
          </a:ln>
        </p:spPr>
        <p:txBody>
          <a:bodyPr rtlCol="0" anchor="ctr"/>
          <a:lstStyle/>
          <a:p/>
        </p:txBody>
      </p:sp>
      <p:sp>
        <p:nvSpPr>
          <p:cNvPr id="14" name="Oval 13"/>
          <p:cNvSpPr/>
          <p:nvPr/>
        </p:nvSpPr>
        <p:spPr>
          <a:xfrm>
            <a:off x="8617492" y="1491925"/>
            <a:ext cx="36576" cy="36576"/>
          </a:xfrm>
          <a:prstGeom prst="ellipse">
            <a:avLst/>
          </a:prstGeom>
          <a:solidFill>
            <a:srgbClr val="4F3416"/>
          </a:solidFill>
          <a:ln>
            <a:noFill/>
          </a:ln>
        </p:spPr>
        <p:txBody>
          <a:bodyPr rtlCol="0" anchor="ctr"/>
          <a:lstStyle/>
          <a:p/>
        </p:txBody>
      </p:sp>
      <p:sp>
        <p:nvSpPr>
          <p:cNvPr id="15" name="Oval 14"/>
          <p:cNvSpPr/>
          <p:nvPr/>
        </p:nvSpPr>
        <p:spPr>
          <a:xfrm>
            <a:off x="2362438" y="371758"/>
            <a:ext cx="45720" cy="45720"/>
          </a:xfrm>
          <a:prstGeom prst="ellipse">
            <a:avLst/>
          </a:prstGeom>
          <a:solidFill>
            <a:srgbClr val="977E3A"/>
          </a:solidFill>
          <a:ln>
            <a:noFill/>
          </a:ln>
        </p:spPr>
        <p:txBody>
          <a:bodyPr rtlCol="0" anchor="ctr"/>
          <a:lstStyle/>
          <a:p/>
        </p:txBody>
      </p:sp>
      <p:sp>
        <p:nvSpPr>
          <p:cNvPr id="16" name="Oval 15"/>
          <p:cNvSpPr/>
          <p:nvPr/>
        </p:nvSpPr>
        <p:spPr>
          <a:xfrm>
            <a:off x="4997565" y="4295003"/>
            <a:ext cx="45720" cy="45720"/>
          </a:xfrm>
          <a:prstGeom prst="ellipse">
            <a:avLst/>
          </a:prstGeom>
          <a:solidFill>
            <a:srgbClr val="86764D"/>
          </a:solidFill>
          <a:ln>
            <a:noFill/>
          </a:ln>
        </p:spPr>
        <p:txBody>
          <a:bodyPr rtlCol="0" anchor="ctr"/>
          <a:lstStyle/>
          <a:p/>
        </p:txBody>
      </p:sp>
      <p:sp>
        <p:nvSpPr>
          <p:cNvPr id="17" name="Oval 16"/>
          <p:cNvSpPr/>
          <p:nvPr/>
        </p:nvSpPr>
        <p:spPr>
          <a:xfrm>
            <a:off x="2630122" y="1760395"/>
            <a:ext cx="27432" cy="27432"/>
          </a:xfrm>
          <a:prstGeom prst="ellipse">
            <a:avLst/>
          </a:prstGeom>
          <a:solidFill>
            <a:srgbClr val="4F452D"/>
          </a:solidFill>
          <a:ln>
            <a:noFill/>
          </a:ln>
        </p:spPr>
        <p:txBody>
          <a:bodyPr rtlCol="0" anchor="ctr"/>
          <a:lstStyle/>
          <a:p/>
        </p:txBody>
      </p:sp>
      <p:sp>
        <p:nvSpPr>
          <p:cNvPr id="18" name="Oval 17"/>
          <p:cNvSpPr/>
          <p:nvPr/>
        </p:nvSpPr>
        <p:spPr>
          <a:xfrm>
            <a:off x="7821463" y="1172668"/>
            <a:ext cx="54864" cy="54864"/>
          </a:xfrm>
          <a:prstGeom prst="ellipse">
            <a:avLst/>
          </a:prstGeom>
          <a:solidFill>
            <a:srgbClr val="855623"/>
          </a:solidFill>
          <a:ln>
            <a:noFill/>
          </a:ln>
        </p:spPr>
        <p:txBody>
          <a:bodyPr rtlCol="0" anchor="ctr"/>
          <a:lstStyle/>
          <a:p/>
        </p:txBody>
      </p:sp>
      <p:sp>
        <p:nvSpPr>
          <p:cNvPr id="19" name="Oval 18"/>
          <p:cNvSpPr/>
          <p:nvPr/>
        </p:nvSpPr>
        <p:spPr>
          <a:xfrm>
            <a:off x="8707108" y="3165090"/>
            <a:ext cx="45720" cy="45720"/>
          </a:xfrm>
          <a:prstGeom prst="ellipse">
            <a:avLst/>
          </a:prstGeom>
          <a:solidFill>
            <a:srgbClr val="A2873E"/>
          </a:solidFill>
          <a:ln>
            <a:noFill/>
          </a:ln>
        </p:spPr>
        <p:txBody>
          <a:bodyPr rtlCol="0" anchor="ctr"/>
          <a:lstStyle/>
          <a:p/>
        </p:txBody>
      </p:sp>
      <p:sp>
        <p:nvSpPr>
          <p:cNvPr id="20" name="Oval 19"/>
          <p:cNvSpPr/>
          <p:nvPr/>
        </p:nvSpPr>
        <p:spPr>
          <a:xfrm>
            <a:off x="7907405" y="2623154"/>
            <a:ext cx="54864" cy="54864"/>
          </a:xfrm>
          <a:prstGeom prst="ellipse">
            <a:avLst/>
          </a:prstGeom>
          <a:solidFill>
            <a:srgbClr val="482F14"/>
          </a:solidFill>
          <a:ln>
            <a:noFill/>
          </a:ln>
        </p:spPr>
        <p:txBody>
          <a:bodyPr rtlCol="0" anchor="ctr"/>
          <a:lstStyle/>
          <a:p/>
        </p:txBody>
      </p:sp>
      <p:sp>
        <p:nvSpPr>
          <p:cNvPr id="21" name="Oval 20"/>
          <p:cNvSpPr/>
          <p:nvPr/>
        </p:nvSpPr>
        <p:spPr>
          <a:xfrm>
            <a:off x="2648481" y="1084991"/>
            <a:ext cx="27432" cy="27432"/>
          </a:xfrm>
          <a:prstGeom prst="ellipse">
            <a:avLst/>
          </a:prstGeom>
          <a:solidFill>
            <a:srgbClr val="65421B"/>
          </a:solidFill>
          <a:ln>
            <a:noFill/>
          </a:ln>
        </p:spPr>
        <p:txBody>
          <a:bodyPr rtlCol="0" anchor="ctr"/>
          <a:lstStyle/>
          <a:p/>
        </p:txBody>
      </p:sp>
      <p:sp>
        <p:nvSpPr>
          <p:cNvPr id="22" name="Oval 21"/>
          <p:cNvSpPr/>
          <p:nvPr/>
        </p:nvSpPr>
        <p:spPr>
          <a:xfrm>
            <a:off x="8673140" y="5700851"/>
            <a:ext cx="73152" cy="73152"/>
          </a:xfrm>
          <a:prstGeom prst="ellipse">
            <a:avLst/>
          </a:prstGeom>
          <a:solidFill>
            <a:srgbClr val="4A3115"/>
          </a:solidFill>
          <a:ln>
            <a:noFill/>
          </a:ln>
        </p:spPr>
        <p:txBody>
          <a:bodyPr rtlCol="0" anchor="ctr"/>
          <a:lstStyle/>
          <a:p/>
        </p:txBody>
      </p:sp>
      <p:sp>
        <p:nvSpPr>
          <p:cNvPr id="23" name="Oval 22"/>
          <p:cNvSpPr/>
          <p:nvPr/>
        </p:nvSpPr>
        <p:spPr>
          <a:xfrm>
            <a:off x="3485851" y="3310627"/>
            <a:ext cx="36576" cy="36576"/>
          </a:xfrm>
          <a:prstGeom prst="ellipse">
            <a:avLst/>
          </a:prstGeom>
          <a:solidFill>
            <a:srgbClr val="865723"/>
          </a:solidFill>
          <a:ln>
            <a:noFill/>
          </a:ln>
        </p:spPr>
        <p:txBody>
          <a:bodyPr rtlCol="0" anchor="ctr"/>
          <a:lstStyle/>
          <a:p/>
        </p:txBody>
      </p:sp>
      <p:sp>
        <p:nvSpPr>
          <p:cNvPr id="24" name="Oval 23"/>
          <p:cNvSpPr/>
          <p:nvPr/>
        </p:nvSpPr>
        <p:spPr>
          <a:xfrm>
            <a:off x="401351" y="4033394"/>
            <a:ext cx="36576" cy="36576"/>
          </a:xfrm>
          <a:prstGeom prst="ellipse">
            <a:avLst/>
          </a:prstGeom>
          <a:solidFill>
            <a:srgbClr val="645327"/>
          </a:solidFill>
          <a:ln>
            <a:noFill/>
          </a:ln>
        </p:spPr>
        <p:txBody>
          <a:bodyPr rtlCol="0" anchor="ctr"/>
          <a:lstStyle/>
          <a:p/>
        </p:txBody>
      </p:sp>
      <p:sp>
        <p:nvSpPr>
          <p:cNvPr id="25" name="Oval 24"/>
          <p:cNvSpPr/>
          <p:nvPr/>
        </p:nvSpPr>
        <p:spPr>
          <a:xfrm>
            <a:off x="7337513" y="4819780"/>
            <a:ext cx="27432" cy="27432"/>
          </a:xfrm>
          <a:prstGeom prst="ellipse">
            <a:avLst/>
          </a:prstGeom>
          <a:solidFill>
            <a:srgbClr val="6E5C2A"/>
          </a:solidFill>
          <a:ln>
            <a:noFill/>
          </a:ln>
        </p:spPr>
        <p:txBody>
          <a:bodyPr rtlCol="0" anchor="ctr"/>
          <a:lstStyle/>
          <a:p/>
        </p:txBody>
      </p:sp>
      <p:sp>
        <p:nvSpPr>
          <p:cNvPr id="26" name="Oval 25"/>
          <p:cNvSpPr/>
          <p:nvPr/>
        </p:nvSpPr>
        <p:spPr>
          <a:xfrm>
            <a:off x="8511133" y="2338014"/>
            <a:ext cx="27432" cy="27432"/>
          </a:xfrm>
          <a:prstGeom prst="ellipse">
            <a:avLst/>
          </a:prstGeom>
          <a:solidFill>
            <a:srgbClr val="695728"/>
          </a:solidFill>
          <a:ln>
            <a:noFill/>
          </a:ln>
        </p:spPr>
        <p:txBody>
          <a:bodyPr rtlCol="0" anchor="ctr"/>
          <a:lstStyle/>
          <a:p/>
        </p:txBody>
      </p:sp>
      <p:sp>
        <p:nvSpPr>
          <p:cNvPr id="27" name="Oval 26"/>
          <p:cNvSpPr/>
          <p:nvPr/>
        </p:nvSpPr>
        <p:spPr>
          <a:xfrm>
            <a:off x="10085734" y="810111"/>
            <a:ext cx="27432" cy="27432"/>
          </a:xfrm>
          <a:prstGeom prst="ellipse">
            <a:avLst/>
          </a:prstGeom>
          <a:solidFill>
            <a:srgbClr val="907837"/>
          </a:solidFill>
          <a:ln>
            <a:noFill/>
          </a:ln>
        </p:spPr>
        <p:txBody>
          <a:bodyPr rtlCol="0" anchor="ctr"/>
          <a:lstStyle/>
          <a:p/>
        </p:txBody>
      </p:sp>
      <p:sp>
        <p:nvSpPr>
          <p:cNvPr id="28" name="Oval 27"/>
          <p:cNvSpPr/>
          <p:nvPr/>
        </p:nvSpPr>
        <p:spPr>
          <a:xfrm>
            <a:off x="8578561" y="460886"/>
            <a:ext cx="73152" cy="73152"/>
          </a:xfrm>
          <a:prstGeom prst="ellipse">
            <a:avLst/>
          </a:prstGeom>
          <a:solidFill>
            <a:srgbClr val="573918"/>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sp>
        <p:nvSpPr>
          <p:cNvPr id="49" name="TextBox 48"/>
          <p:cNvSpPr txBox="1"/>
          <p:nvPr/>
        </p:nvSpPr>
        <p:spPr>
          <a:xfrm>
            <a:off x="4191609" y="658368"/>
            <a:ext cx="3808476" cy="329184"/>
          </a:xfrm>
          <a:prstGeom prst="rect">
            <a:avLst/>
          </a:prstGeom>
          <a:noFill/>
        </p:spPr>
        <p:txBody>
          <a:bodyPr wrap="square" lIns="0" rIns="0" tIns="0" bIns="0" anchor="ctr">
            <a:spAutoFit/>
          </a:bodyPr>
          <a:lstStyle/>
          <a:p>
            <a:pPr algn="ctr"/>
            <a:r>
              <a:rPr sz="1300" b="1" i="0" spc="400">
                <a:solidFill>
                  <a:srgbClr val="C9A84C"/>
                </a:solidFill>
                <a:latin typeface="Montserrat"/>
              </a:rPr>
              <a:t>THE RESTORATION PROGRAM</a:t>
            </a:r>
          </a:p>
        </p:txBody>
      </p:sp>
      <p:cxnSp>
        <p:nvCxnSpPr>
          <p:cNvPr id="50" name="Connector 49"/>
          <p:cNvCxnSpPr/>
          <p:nvPr/>
        </p:nvCxnSpPr>
        <p:spPr>
          <a:xfrm>
            <a:off x="2820009"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2769717"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8137245"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9321393"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005840"/>
            <a:ext cx="10362895" cy="914400"/>
          </a:xfrm>
          <a:prstGeom prst="rect">
            <a:avLst/>
          </a:prstGeom>
          <a:noFill/>
        </p:spPr>
        <p:txBody>
          <a:bodyPr wrap="square" lIns="0" rIns="0" tIns="0" bIns="0" anchor="ctr">
            <a:spAutoFit/>
          </a:bodyPr>
          <a:lstStyle/>
          <a:p>
            <a:pPr algn="ctr">
              <a:lnSpc>
                <a:spcPct val="105000"/>
              </a:lnSpc>
            </a:pPr>
            <a:r>
              <a:rPr sz="4400" b="1" i="0">
                <a:solidFill>
                  <a:srgbClr val="F0D58A"/>
                </a:solidFill>
                <a:latin typeface="Cinzel"/>
              </a:rPr>
              <a:t>The Restoration Program</a:t>
            </a:r>
          </a:p>
        </p:txBody>
      </p:sp>
      <p:sp>
        <p:nvSpPr>
          <p:cNvPr id="55" name="TextBox 54"/>
          <p:cNvSpPr txBox="1"/>
          <p:nvPr/>
        </p:nvSpPr>
        <p:spPr>
          <a:xfrm>
            <a:off x="914400" y="1874519"/>
            <a:ext cx="10362895" cy="548640"/>
          </a:xfrm>
          <a:prstGeom prst="rect">
            <a:avLst/>
          </a:prstGeom>
          <a:noFill/>
        </p:spPr>
        <p:txBody>
          <a:bodyPr wrap="square" lIns="0" rIns="0" tIns="0" bIns="0" anchor="t">
            <a:spAutoFit/>
          </a:bodyPr>
          <a:lstStyle/>
          <a:p>
            <a:pPr algn="ctr">
              <a:lnSpc>
                <a:spcPct val="120000"/>
              </a:lnSpc>
            </a:pPr>
            <a:r>
              <a:rPr sz="1900" b="0" i="1">
                <a:solidFill>
                  <a:srgbClr val="F0D58A"/>
                </a:solidFill>
                <a:latin typeface="Montserrat"/>
              </a:rPr>
              <a:t>I work your file every month — and you only pay for the month I worked.</a:t>
            </a:r>
          </a:p>
        </p:txBody>
      </p:sp>
      <p:sp>
        <p:nvSpPr>
          <p:cNvPr id="56" name="Rounded Rectangle 55"/>
          <p:cNvSpPr/>
          <p:nvPr/>
        </p:nvSpPr>
        <p:spPr>
          <a:xfrm>
            <a:off x="914400" y="2560320"/>
            <a:ext cx="10362895" cy="3017520"/>
          </a:xfrm>
          <a:prstGeom prst="roundRect">
            <a:avLst>
              <a:gd name="adj" fmla="val 6000"/>
            </a:avLst>
          </a:prstGeom>
          <a:solidFill>
            <a:srgbClr val="100D07"/>
          </a:solidFill>
          <a:ln w="15875">
            <a:solidFill>
              <a:srgbClr val="877034"/>
            </a:solidFill>
          </a:ln>
        </p:spPr>
        <p:txBody>
          <a:bodyPr rtlCol="0" anchor="ctr"/>
          <a:lstStyle/>
          <a:p/>
        </p:txBody>
      </p:sp>
      <p:sp>
        <p:nvSpPr>
          <p:cNvPr id="57" name="Diamond 56"/>
          <p:cNvSpPr/>
          <p:nvPr/>
        </p:nvSpPr>
        <p:spPr>
          <a:xfrm>
            <a:off x="1371600" y="2941320"/>
            <a:ext cx="137160" cy="137160"/>
          </a:xfrm>
          <a:prstGeom prst="diamond">
            <a:avLst/>
          </a:prstGeom>
          <a:solidFill>
            <a:srgbClr val="F0D58A"/>
          </a:solidFill>
          <a:ln>
            <a:noFill/>
          </a:ln>
        </p:spPr>
        <p:txBody>
          <a:bodyPr rtlCol="0" anchor="ctr"/>
          <a:lstStyle/>
          <a:p/>
        </p:txBody>
      </p:sp>
      <p:sp>
        <p:nvSpPr>
          <p:cNvPr id="58" name="TextBox 57"/>
          <p:cNvSpPr txBox="1"/>
          <p:nvPr/>
        </p:nvSpPr>
        <p:spPr>
          <a:xfrm>
            <a:off x="1691640" y="2834640"/>
            <a:ext cx="4434840" cy="822960"/>
          </a:xfrm>
          <a:prstGeom prst="rect">
            <a:avLst/>
          </a:prstGeom>
          <a:noFill/>
        </p:spPr>
        <p:txBody>
          <a:bodyPr wrap="square" lIns="0" rIns="0" tIns="0" bIns="0" anchor="t">
            <a:spAutoFit/>
          </a:bodyPr>
          <a:lstStyle/>
          <a:p>
            <a:pPr algn="l">
              <a:lnSpc>
                <a:spcPct val="120000"/>
              </a:lnSpc>
            </a:pPr>
            <a:r>
              <a:rPr sz="2000" b="0" i="0">
                <a:solidFill>
                  <a:srgbClr val="EFE3C6"/>
                </a:solidFill>
                <a:latin typeface="Montserrat"/>
              </a:rPr>
              <a:t>Full tri-bureau audit</a:t>
            </a:r>
          </a:p>
        </p:txBody>
      </p:sp>
      <p:sp>
        <p:nvSpPr>
          <p:cNvPr id="59" name="Diamond 58"/>
          <p:cNvSpPr/>
          <p:nvPr/>
        </p:nvSpPr>
        <p:spPr>
          <a:xfrm>
            <a:off x="1371600" y="3764279"/>
            <a:ext cx="137160" cy="137160"/>
          </a:xfrm>
          <a:prstGeom prst="diamond">
            <a:avLst/>
          </a:prstGeom>
          <a:solidFill>
            <a:srgbClr val="F0D58A"/>
          </a:solidFill>
          <a:ln>
            <a:noFill/>
          </a:ln>
        </p:spPr>
        <p:txBody>
          <a:bodyPr rtlCol="0" anchor="ctr"/>
          <a:lstStyle/>
          <a:p/>
        </p:txBody>
      </p:sp>
      <p:sp>
        <p:nvSpPr>
          <p:cNvPr id="60" name="TextBox 59"/>
          <p:cNvSpPr txBox="1"/>
          <p:nvPr/>
        </p:nvSpPr>
        <p:spPr>
          <a:xfrm>
            <a:off x="1691640" y="3657600"/>
            <a:ext cx="4434840" cy="822960"/>
          </a:xfrm>
          <a:prstGeom prst="rect">
            <a:avLst/>
          </a:prstGeom>
          <a:noFill/>
        </p:spPr>
        <p:txBody>
          <a:bodyPr wrap="square" lIns="0" rIns="0" tIns="0" bIns="0" anchor="t">
            <a:spAutoFit/>
          </a:bodyPr>
          <a:lstStyle/>
          <a:p>
            <a:pPr algn="l">
              <a:lnSpc>
                <a:spcPct val="120000"/>
              </a:lnSpc>
            </a:pPr>
            <a:r>
              <a:rPr sz="2000" b="0" i="0">
                <a:solidFill>
                  <a:srgbClr val="EFE3C6"/>
                </a:solidFill>
                <a:latin typeface="Montserrat"/>
              </a:rPr>
              <a:t>Monthly dispute rounds — up to 30 items, all 3 bureaus</a:t>
            </a:r>
          </a:p>
        </p:txBody>
      </p:sp>
      <p:sp>
        <p:nvSpPr>
          <p:cNvPr id="61" name="Diamond 60"/>
          <p:cNvSpPr/>
          <p:nvPr/>
        </p:nvSpPr>
        <p:spPr>
          <a:xfrm>
            <a:off x="1371600" y="4587240"/>
            <a:ext cx="137160" cy="137160"/>
          </a:xfrm>
          <a:prstGeom prst="diamond">
            <a:avLst/>
          </a:prstGeom>
          <a:solidFill>
            <a:srgbClr val="F0D58A"/>
          </a:solidFill>
          <a:ln>
            <a:noFill/>
          </a:ln>
        </p:spPr>
        <p:txBody>
          <a:bodyPr rtlCol="0" anchor="ctr"/>
          <a:lstStyle/>
          <a:p/>
        </p:txBody>
      </p:sp>
      <p:sp>
        <p:nvSpPr>
          <p:cNvPr id="62" name="TextBox 61"/>
          <p:cNvSpPr txBox="1"/>
          <p:nvPr/>
        </p:nvSpPr>
        <p:spPr>
          <a:xfrm>
            <a:off x="1691640" y="4480560"/>
            <a:ext cx="4434840" cy="822960"/>
          </a:xfrm>
          <a:prstGeom prst="rect">
            <a:avLst/>
          </a:prstGeom>
          <a:noFill/>
        </p:spPr>
        <p:txBody>
          <a:bodyPr wrap="square" lIns="0" rIns="0" tIns="0" bIns="0" anchor="t">
            <a:spAutoFit/>
          </a:bodyPr>
          <a:lstStyle/>
          <a:p>
            <a:pPr algn="l">
              <a:lnSpc>
                <a:spcPct val="120000"/>
              </a:lnSpc>
            </a:pPr>
            <a:r>
              <a:rPr sz="2000" b="0" i="0">
                <a:solidFill>
                  <a:srgbClr val="EFE3C6"/>
                </a:solidFill>
                <a:latin typeface="Montserrat"/>
              </a:rPr>
              <a:t>Monitoring dashboard</a:t>
            </a:r>
          </a:p>
        </p:txBody>
      </p:sp>
      <p:sp>
        <p:nvSpPr>
          <p:cNvPr id="63" name="Diamond 62"/>
          <p:cNvSpPr/>
          <p:nvPr/>
        </p:nvSpPr>
        <p:spPr>
          <a:xfrm>
            <a:off x="6400800" y="2941320"/>
            <a:ext cx="137160" cy="137160"/>
          </a:xfrm>
          <a:prstGeom prst="diamond">
            <a:avLst/>
          </a:prstGeom>
          <a:solidFill>
            <a:srgbClr val="F0D58A"/>
          </a:solidFill>
          <a:ln>
            <a:noFill/>
          </a:ln>
        </p:spPr>
        <p:txBody>
          <a:bodyPr rtlCol="0" anchor="ctr"/>
          <a:lstStyle/>
          <a:p/>
        </p:txBody>
      </p:sp>
      <p:sp>
        <p:nvSpPr>
          <p:cNvPr id="64" name="TextBox 63"/>
          <p:cNvSpPr txBox="1"/>
          <p:nvPr/>
        </p:nvSpPr>
        <p:spPr>
          <a:xfrm>
            <a:off x="6720840" y="2834640"/>
            <a:ext cx="4251960" cy="822960"/>
          </a:xfrm>
          <a:prstGeom prst="rect">
            <a:avLst/>
          </a:prstGeom>
          <a:noFill/>
        </p:spPr>
        <p:txBody>
          <a:bodyPr wrap="square" lIns="0" rIns="0" tIns="0" bIns="0" anchor="t">
            <a:spAutoFit/>
          </a:bodyPr>
          <a:lstStyle/>
          <a:p>
            <a:pPr algn="l">
              <a:lnSpc>
                <a:spcPct val="120000"/>
              </a:lnSpc>
            </a:pPr>
            <a:r>
              <a:rPr sz="2000" b="0" i="0">
                <a:solidFill>
                  <a:srgbClr val="EFE3C6"/>
                </a:solidFill>
                <a:latin typeface="Montserrat"/>
              </a:rPr>
              <a:t>Monthly written report</a:t>
            </a:r>
          </a:p>
        </p:txBody>
      </p:sp>
      <p:sp>
        <p:nvSpPr>
          <p:cNvPr id="65" name="Diamond 64"/>
          <p:cNvSpPr/>
          <p:nvPr/>
        </p:nvSpPr>
        <p:spPr>
          <a:xfrm>
            <a:off x="6400800" y="3764279"/>
            <a:ext cx="137160" cy="137160"/>
          </a:xfrm>
          <a:prstGeom prst="diamond">
            <a:avLst/>
          </a:prstGeom>
          <a:solidFill>
            <a:srgbClr val="F0D58A"/>
          </a:solidFill>
          <a:ln>
            <a:noFill/>
          </a:ln>
        </p:spPr>
        <p:txBody>
          <a:bodyPr rtlCol="0" anchor="ctr"/>
          <a:lstStyle/>
          <a:p/>
        </p:txBody>
      </p:sp>
      <p:sp>
        <p:nvSpPr>
          <p:cNvPr id="66" name="TextBox 65"/>
          <p:cNvSpPr txBox="1"/>
          <p:nvPr/>
        </p:nvSpPr>
        <p:spPr>
          <a:xfrm>
            <a:off x="6720840" y="3657600"/>
            <a:ext cx="4251960" cy="822960"/>
          </a:xfrm>
          <a:prstGeom prst="rect">
            <a:avLst/>
          </a:prstGeom>
          <a:noFill/>
        </p:spPr>
        <p:txBody>
          <a:bodyPr wrap="square" lIns="0" rIns="0" tIns="0" bIns="0" anchor="t">
            <a:spAutoFit/>
          </a:bodyPr>
          <a:lstStyle/>
          <a:p>
            <a:pPr algn="l">
              <a:lnSpc>
                <a:spcPct val="120000"/>
              </a:lnSpc>
            </a:pPr>
            <a:r>
              <a:rPr sz="2000" b="0" i="0">
                <a:solidFill>
                  <a:srgbClr val="EFE3C6"/>
                </a:solidFill>
                <a:latin typeface="Montserrat"/>
              </a:rPr>
              <a:t>Financial Literacy Academy</a:t>
            </a:r>
          </a:p>
        </p:txBody>
      </p:sp>
      <p:sp>
        <p:nvSpPr>
          <p:cNvPr id="67" name="Diamond 66"/>
          <p:cNvSpPr/>
          <p:nvPr/>
        </p:nvSpPr>
        <p:spPr>
          <a:xfrm>
            <a:off x="6400800" y="4587240"/>
            <a:ext cx="137160" cy="137160"/>
          </a:xfrm>
          <a:prstGeom prst="diamond">
            <a:avLst/>
          </a:prstGeom>
          <a:solidFill>
            <a:srgbClr val="F0D58A"/>
          </a:solidFill>
          <a:ln>
            <a:noFill/>
          </a:ln>
        </p:spPr>
        <p:txBody>
          <a:bodyPr rtlCol="0" anchor="ctr"/>
          <a:lstStyle/>
          <a:p/>
        </p:txBody>
      </p:sp>
      <p:sp>
        <p:nvSpPr>
          <p:cNvPr id="68" name="TextBox 67"/>
          <p:cNvSpPr txBox="1"/>
          <p:nvPr/>
        </p:nvSpPr>
        <p:spPr>
          <a:xfrm>
            <a:off x="6720840" y="4480560"/>
            <a:ext cx="4251960" cy="822960"/>
          </a:xfrm>
          <a:prstGeom prst="rect">
            <a:avLst/>
          </a:prstGeom>
          <a:noFill/>
        </p:spPr>
        <p:txBody>
          <a:bodyPr wrap="square" lIns="0" rIns="0" tIns="0" bIns="0" anchor="t">
            <a:spAutoFit/>
          </a:bodyPr>
          <a:lstStyle/>
          <a:p>
            <a:pPr algn="l">
              <a:lnSpc>
                <a:spcPct val="120000"/>
              </a:lnSpc>
            </a:pPr>
            <a:r>
              <a:rPr sz="2000" b="0" i="0">
                <a:solidFill>
                  <a:srgbClr val="EFE3C6"/>
                </a:solidFill>
                <a:latin typeface="Montserrat"/>
              </a:rPr>
              <a:t>Optional monthly 15-minute check-in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82309" y="3656375"/>
            <a:ext cx="45720" cy="45720"/>
          </a:xfrm>
          <a:prstGeom prst="ellipse">
            <a:avLst/>
          </a:prstGeom>
          <a:solidFill>
            <a:srgbClr val="5F4F25"/>
          </a:solidFill>
          <a:ln>
            <a:noFill/>
          </a:ln>
        </p:spPr>
        <p:txBody>
          <a:bodyPr rtlCol="0" anchor="ctr"/>
          <a:lstStyle/>
          <a:p/>
        </p:txBody>
      </p:sp>
      <p:sp>
        <p:nvSpPr>
          <p:cNvPr id="4" name="Oval 3"/>
          <p:cNvSpPr/>
          <p:nvPr/>
        </p:nvSpPr>
        <p:spPr>
          <a:xfrm>
            <a:off x="4795771" y="4024410"/>
            <a:ext cx="73152" cy="73152"/>
          </a:xfrm>
          <a:prstGeom prst="ellipse">
            <a:avLst/>
          </a:prstGeom>
          <a:solidFill>
            <a:srgbClr val="935F26"/>
          </a:solidFill>
          <a:ln>
            <a:noFill/>
          </a:ln>
        </p:spPr>
        <p:txBody>
          <a:bodyPr rtlCol="0" anchor="ctr"/>
          <a:lstStyle/>
          <a:p/>
        </p:txBody>
      </p:sp>
      <p:sp>
        <p:nvSpPr>
          <p:cNvPr id="5" name="Oval 4"/>
          <p:cNvSpPr/>
          <p:nvPr/>
        </p:nvSpPr>
        <p:spPr>
          <a:xfrm>
            <a:off x="372939" y="5968491"/>
            <a:ext cx="27432" cy="27432"/>
          </a:xfrm>
          <a:prstGeom prst="ellipse">
            <a:avLst/>
          </a:prstGeom>
          <a:solidFill>
            <a:srgbClr val="9B6428"/>
          </a:solidFill>
          <a:ln>
            <a:noFill/>
          </a:ln>
        </p:spPr>
        <p:txBody>
          <a:bodyPr rtlCol="0" anchor="ctr"/>
          <a:lstStyle/>
          <a:p/>
        </p:txBody>
      </p:sp>
      <p:sp>
        <p:nvSpPr>
          <p:cNvPr id="6" name="Oval 5"/>
          <p:cNvSpPr/>
          <p:nvPr/>
        </p:nvSpPr>
        <p:spPr>
          <a:xfrm>
            <a:off x="10879368" y="5707501"/>
            <a:ext cx="27432" cy="27432"/>
          </a:xfrm>
          <a:prstGeom prst="ellipse">
            <a:avLst/>
          </a:prstGeom>
          <a:solidFill>
            <a:srgbClr val="685628"/>
          </a:solidFill>
          <a:ln>
            <a:noFill/>
          </a:ln>
        </p:spPr>
        <p:txBody>
          <a:bodyPr rtlCol="0" anchor="ctr"/>
          <a:lstStyle/>
          <a:p/>
        </p:txBody>
      </p:sp>
      <p:sp>
        <p:nvSpPr>
          <p:cNvPr id="7" name="Oval 6"/>
          <p:cNvSpPr/>
          <p:nvPr/>
        </p:nvSpPr>
        <p:spPr>
          <a:xfrm>
            <a:off x="6362521" y="2500000"/>
            <a:ext cx="36576" cy="36576"/>
          </a:xfrm>
          <a:prstGeom prst="ellipse">
            <a:avLst/>
          </a:prstGeom>
          <a:solidFill>
            <a:srgbClr val="494029"/>
          </a:solidFill>
          <a:ln>
            <a:noFill/>
          </a:ln>
        </p:spPr>
        <p:txBody>
          <a:bodyPr rtlCol="0" anchor="ctr"/>
          <a:lstStyle/>
          <a:p/>
        </p:txBody>
      </p:sp>
      <p:sp>
        <p:nvSpPr>
          <p:cNvPr id="8" name="Oval 7"/>
          <p:cNvSpPr/>
          <p:nvPr/>
        </p:nvSpPr>
        <p:spPr>
          <a:xfrm>
            <a:off x="8579636" y="2466540"/>
            <a:ext cx="45720" cy="45720"/>
          </a:xfrm>
          <a:prstGeom prst="ellipse">
            <a:avLst/>
          </a:prstGeom>
          <a:solidFill>
            <a:srgbClr val="865823"/>
          </a:solidFill>
          <a:ln>
            <a:noFill/>
          </a:ln>
        </p:spPr>
        <p:txBody>
          <a:bodyPr rtlCol="0" anchor="ctr"/>
          <a:lstStyle/>
          <a:p/>
        </p:txBody>
      </p:sp>
      <p:sp>
        <p:nvSpPr>
          <p:cNvPr id="9" name="Oval 8"/>
          <p:cNvSpPr/>
          <p:nvPr/>
        </p:nvSpPr>
        <p:spPr>
          <a:xfrm>
            <a:off x="3100377" y="5362092"/>
            <a:ext cx="36576" cy="36576"/>
          </a:xfrm>
          <a:prstGeom prst="ellipse">
            <a:avLst/>
          </a:prstGeom>
          <a:solidFill>
            <a:srgbClr val="554A30"/>
          </a:solidFill>
          <a:ln>
            <a:noFill/>
          </a:ln>
        </p:spPr>
        <p:txBody>
          <a:bodyPr rtlCol="0" anchor="ctr"/>
          <a:lstStyle/>
          <a:p/>
        </p:txBody>
      </p:sp>
      <p:sp>
        <p:nvSpPr>
          <p:cNvPr id="10" name="Oval 9"/>
          <p:cNvSpPr/>
          <p:nvPr/>
        </p:nvSpPr>
        <p:spPr>
          <a:xfrm>
            <a:off x="4523954" y="2645598"/>
            <a:ext cx="27432" cy="27432"/>
          </a:xfrm>
          <a:prstGeom prst="ellipse">
            <a:avLst/>
          </a:prstGeom>
          <a:solidFill>
            <a:srgbClr val="907837"/>
          </a:solidFill>
          <a:ln>
            <a:noFill/>
          </a:ln>
        </p:spPr>
        <p:txBody>
          <a:bodyPr rtlCol="0" anchor="ctr"/>
          <a:lstStyle/>
          <a:p/>
        </p:txBody>
      </p:sp>
      <p:sp>
        <p:nvSpPr>
          <p:cNvPr id="11" name="Oval 10"/>
          <p:cNvSpPr/>
          <p:nvPr/>
        </p:nvSpPr>
        <p:spPr>
          <a:xfrm>
            <a:off x="7801218" y="5602735"/>
            <a:ext cx="27432" cy="27432"/>
          </a:xfrm>
          <a:prstGeom prst="ellipse">
            <a:avLst/>
          </a:prstGeom>
          <a:solidFill>
            <a:srgbClr val="937B38"/>
          </a:solidFill>
          <a:ln>
            <a:noFill/>
          </a:ln>
        </p:spPr>
        <p:txBody>
          <a:bodyPr rtlCol="0" anchor="ctr"/>
          <a:lstStyle/>
          <a:p/>
        </p:txBody>
      </p:sp>
      <p:sp>
        <p:nvSpPr>
          <p:cNvPr id="12" name="Oval 11"/>
          <p:cNvSpPr/>
          <p:nvPr/>
        </p:nvSpPr>
        <p:spPr>
          <a:xfrm>
            <a:off x="5763848" y="1020421"/>
            <a:ext cx="36576" cy="36576"/>
          </a:xfrm>
          <a:prstGeom prst="ellipse">
            <a:avLst/>
          </a:prstGeom>
          <a:solidFill>
            <a:srgbClr val="8C5B24"/>
          </a:solidFill>
          <a:ln>
            <a:noFill/>
          </a:ln>
        </p:spPr>
        <p:txBody>
          <a:bodyPr rtlCol="0" anchor="ctr"/>
          <a:lstStyle/>
          <a:p/>
        </p:txBody>
      </p:sp>
      <p:sp>
        <p:nvSpPr>
          <p:cNvPr id="13" name="Oval 12"/>
          <p:cNvSpPr/>
          <p:nvPr/>
        </p:nvSpPr>
        <p:spPr>
          <a:xfrm>
            <a:off x="10440969" y="5179849"/>
            <a:ext cx="45720" cy="45720"/>
          </a:xfrm>
          <a:prstGeom prst="ellipse">
            <a:avLst/>
          </a:prstGeom>
          <a:solidFill>
            <a:srgbClr val="9B813B"/>
          </a:solidFill>
          <a:ln>
            <a:noFill/>
          </a:ln>
        </p:spPr>
        <p:txBody>
          <a:bodyPr rtlCol="0" anchor="ctr"/>
          <a:lstStyle/>
          <a:p/>
        </p:txBody>
      </p:sp>
      <p:sp>
        <p:nvSpPr>
          <p:cNvPr id="14" name="Oval 13"/>
          <p:cNvSpPr/>
          <p:nvPr/>
        </p:nvSpPr>
        <p:spPr>
          <a:xfrm>
            <a:off x="6470416" y="604156"/>
            <a:ext cx="45720" cy="45720"/>
          </a:xfrm>
          <a:prstGeom prst="ellipse">
            <a:avLst/>
          </a:prstGeom>
          <a:solidFill>
            <a:srgbClr val="875823"/>
          </a:solidFill>
          <a:ln>
            <a:noFill/>
          </a:ln>
        </p:spPr>
        <p:txBody>
          <a:bodyPr rtlCol="0" anchor="ctr"/>
          <a:lstStyle/>
          <a:p/>
        </p:txBody>
      </p:sp>
      <p:sp>
        <p:nvSpPr>
          <p:cNvPr id="15" name="Oval 14"/>
          <p:cNvSpPr/>
          <p:nvPr/>
        </p:nvSpPr>
        <p:spPr>
          <a:xfrm>
            <a:off x="3348199" y="4705842"/>
            <a:ext cx="54864" cy="54864"/>
          </a:xfrm>
          <a:prstGeom prst="ellipse">
            <a:avLst/>
          </a:prstGeom>
          <a:solidFill>
            <a:srgbClr val="918053"/>
          </a:solidFill>
          <a:ln>
            <a:noFill/>
          </a:ln>
        </p:spPr>
        <p:txBody>
          <a:bodyPr rtlCol="0" anchor="ctr"/>
          <a:lstStyle/>
          <a:p/>
        </p:txBody>
      </p:sp>
      <p:sp>
        <p:nvSpPr>
          <p:cNvPr id="16" name="Oval 15"/>
          <p:cNvSpPr/>
          <p:nvPr/>
        </p:nvSpPr>
        <p:spPr>
          <a:xfrm>
            <a:off x="4719105" y="1870315"/>
            <a:ext cx="36576" cy="36576"/>
          </a:xfrm>
          <a:prstGeom prst="ellipse">
            <a:avLst/>
          </a:prstGeom>
          <a:solidFill>
            <a:srgbClr val="A2873D"/>
          </a:solidFill>
          <a:ln>
            <a:noFill/>
          </a:ln>
        </p:spPr>
        <p:txBody>
          <a:bodyPr rtlCol="0" anchor="ctr"/>
          <a:lstStyle/>
          <a:p/>
        </p:txBody>
      </p:sp>
      <p:sp>
        <p:nvSpPr>
          <p:cNvPr id="17" name="Oval 16"/>
          <p:cNvSpPr/>
          <p:nvPr/>
        </p:nvSpPr>
        <p:spPr>
          <a:xfrm>
            <a:off x="2075644" y="456044"/>
            <a:ext cx="73152" cy="73152"/>
          </a:xfrm>
          <a:prstGeom prst="ellipse">
            <a:avLst/>
          </a:prstGeom>
          <a:solidFill>
            <a:srgbClr val="8A794F"/>
          </a:solidFill>
          <a:ln>
            <a:noFill/>
          </a:ln>
        </p:spPr>
        <p:txBody>
          <a:bodyPr rtlCol="0" anchor="ctr"/>
          <a:lstStyle/>
          <a:p/>
        </p:txBody>
      </p:sp>
      <p:sp>
        <p:nvSpPr>
          <p:cNvPr id="18" name="Oval 17"/>
          <p:cNvSpPr/>
          <p:nvPr/>
        </p:nvSpPr>
        <p:spPr>
          <a:xfrm>
            <a:off x="1220743" y="3404335"/>
            <a:ext cx="27432" cy="27432"/>
          </a:xfrm>
          <a:prstGeom prst="ellipse">
            <a:avLst/>
          </a:prstGeom>
          <a:solidFill>
            <a:srgbClr val="74612D"/>
          </a:solidFill>
          <a:ln>
            <a:noFill/>
          </a:ln>
        </p:spPr>
        <p:txBody>
          <a:bodyPr rtlCol="0" anchor="ctr"/>
          <a:lstStyle/>
          <a:p/>
        </p:txBody>
      </p:sp>
      <p:sp>
        <p:nvSpPr>
          <p:cNvPr id="19" name="Oval 18"/>
          <p:cNvSpPr/>
          <p:nvPr/>
        </p:nvSpPr>
        <p:spPr>
          <a:xfrm>
            <a:off x="4555354" y="4878014"/>
            <a:ext cx="54864" cy="54864"/>
          </a:xfrm>
          <a:prstGeom prst="ellipse">
            <a:avLst/>
          </a:prstGeom>
          <a:solidFill>
            <a:srgbClr val="574822"/>
          </a:solidFill>
          <a:ln>
            <a:noFill/>
          </a:ln>
        </p:spPr>
        <p:txBody>
          <a:bodyPr rtlCol="0" anchor="ctr"/>
          <a:lstStyle/>
          <a:p/>
        </p:txBody>
      </p:sp>
      <p:sp>
        <p:nvSpPr>
          <p:cNvPr id="20" name="Oval 19"/>
          <p:cNvSpPr/>
          <p:nvPr/>
        </p:nvSpPr>
        <p:spPr>
          <a:xfrm>
            <a:off x="6290285" y="4372401"/>
            <a:ext cx="73152" cy="73152"/>
          </a:xfrm>
          <a:prstGeom prst="ellipse">
            <a:avLst/>
          </a:prstGeom>
          <a:solidFill>
            <a:srgbClr val="B2732D"/>
          </a:solidFill>
          <a:ln>
            <a:noFill/>
          </a:ln>
        </p:spPr>
        <p:txBody>
          <a:bodyPr rtlCol="0" anchor="ctr"/>
          <a:lstStyle/>
          <a:p/>
        </p:txBody>
      </p:sp>
      <p:sp>
        <p:nvSpPr>
          <p:cNvPr id="21" name="Oval 20"/>
          <p:cNvSpPr/>
          <p:nvPr/>
        </p:nvSpPr>
        <p:spPr>
          <a:xfrm>
            <a:off x="9872312" y="3794746"/>
            <a:ext cx="45720" cy="45720"/>
          </a:xfrm>
          <a:prstGeom prst="ellipse">
            <a:avLst/>
          </a:prstGeom>
          <a:solidFill>
            <a:srgbClr val="706340"/>
          </a:solidFill>
          <a:ln>
            <a:noFill/>
          </a:ln>
        </p:spPr>
        <p:txBody>
          <a:bodyPr rtlCol="0" anchor="ctr"/>
          <a:lstStyle/>
          <a:p/>
        </p:txBody>
      </p:sp>
      <p:sp>
        <p:nvSpPr>
          <p:cNvPr id="22" name="Oval 21"/>
          <p:cNvSpPr/>
          <p:nvPr/>
        </p:nvSpPr>
        <p:spPr>
          <a:xfrm>
            <a:off x="2390514" y="5839606"/>
            <a:ext cx="36576" cy="36576"/>
          </a:xfrm>
          <a:prstGeom prst="ellipse">
            <a:avLst/>
          </a:prstGeom>
          <a:solidFill>
            <a:srgbClr val="51472E"/>
          </a:solidFill>
          <a:ln>
            <a:noFill/>
          </a:ln>
        </p:spPr>
        <p:txBody>
          <a:bodyPr rtlCol="0" anchor="ctr"/>
          <a:lstStyle/>
          <a:p/>
        </p:txBody>
      </p:sp>
      <p:sp>
        <p:nvSpPr>
          <p:cNvPr id="23" name="Oval 22"/>
          <p:cNvSpPr/>
          <p:nvPr/>
        </p:nvSpPr>
        <p:spPr>
          <a:xfrm>
            <a:off x="4308690" y="2697794"/>
            <a:ext cx="73152" cy="73152"/>
          </a:xfrm>
          <a:prstGeom prst="ellipse">
            <a:avLst/>
          </a:prstGeom>
          <a:solidFill>
            <a:srgbClr val="794F20"/>
          </a:solidFill>
          <a:ln>
            <a:noFill/>
          </a:ln>
        </p:spPr>
        <p:txBody>
          <a:bodyPr rtlCol="0" anchor="ctr"/>
          <a:lstStyle/>
          <a:p/>
        </p:txBody>
      </p:sp>
      <p:sp>
        <p:nvSpPr>
          <p:cNvPr id="24" name="Oval 23"/>
          <p:cNvSpPr/>
          <p:nvPr/>
        </p:nvSpPr>
        <p:spPr>
          <a:xfrm>
            <a:off x="5111075" y="2560425"/>
            <a:ext cx="27432" cy="27432"/>
          </a:xfrm>
          <a:prstGeom prst="ellipse">
            <a:avLst/>
          </a:prstGeom>
          <a:solidFill>
            <a:srgbClr val="482F14"/>
          </a:solidFill>
          <a:ln>
            <a:noFill/>
          </a:ln>
        </p:spPr>
        <p:txBody>
          <a:bodyPr rtlCol="0" anchor="ctr"/>
          <a:lstStyle/>
          <a:p/>
        </p:txBody>
      </p:sp>
      <p:sp>
        <p:nvSpPr>
          <p:cNvPr id="25" name="Oval 24"/>
          <p:cNvSpPr/>
          <p:nvPr/>
        </p:nvSpPr>
        <p:spPr>
          <a:xfrm>
            <a:off x="8836493" y="5332064"/>
            <a:ext cx="36576" cy="36576"/>
          </a:xfrm>
          <a:prstGeom prst="ellipse">
            <a:avLst/>
          </a:prstGeom>
          <a:solidFill>
            <a:srgbClr val="A79460"/>
          </a:solidFill>
          <a:ln>
            <a:noFill/>
          </a:ln>
        </p:spPr>
        <p:txBody>
          <a:bodyPr rtlCol="0" anchor="ctr"/>
          <a:lstStyle/>
          <a:p/>
        </p:txBody>
      </p:sp>
      <p:sp>
        <p:nvSpPr>
          <p:cNvPr id="26" name="Oval 25"/>
          <p:cNvSpPr/>
          <p:nvPr/>
        </p:nvSpPr>
        <p:spPr>
          <a:xfrm>
            <a:off x="6419882" y="3715605"/>
            <a:ext cx="54864" cy="54864"/>
          </a:xfrm>
          <a:prstGeom prst="ellipse">
            <a:avLst/>
          </a:prstGeom>
          <a:solidFill>
            <a:srgbClr val="9C8A59"/>
          </a:solidFill>
          <a:ln>
            <a:noFill/>
          </a:ln>
        </p:spPr>
        <p:txBody>
          <a:bodyPr rtlCol="0" anchor="ctr"/>
          <a:lstStyle/>
          <a:p/>
        </p:txBody>
      </p:sp>
      <p:sp>
        <p:nvSpPr>
          <p:cNvPr id="27" name="Oval 26"/>
          <p:cNvSpPr/>
          <p:nvPr/>
        </p:nvSpPr>
        <p:spPr>
          <a:xfrm>
            <a:off x="9943864" y="5844909"/>
            <a:ext cx="36576" cy="36576"/>
          </a:xfrm>
          <a:prstGeom prst="ellipse">
            <a:avLst/>
          </a:prstGeom>
          <a:solidFill>
            <a:srgbClr val="905E25"/>
          </a:solidFill>
          <a:ln>
            <a:noFill/>
          </a:ln>
        </p:spPr>
        <p:txBody>
          <a:bodyPr rtlCol="0" anchor="ctr"/>
          <a:lstStyle/>
          <a:p/>
        </p:txBody>
      </p:sp>
      <p:sp>
        <p:nvSpPr>
          <p:cNvPr id="28" name="Oval 27"/>
          <p:cNvSpPr/>
          <p:nvPr/>
        </p:nvSpPr>
        <p:spPr>
          <a:xfrm>
            <a:off x="10422523" y="1759541"/>
            <a:ext cx="27432" cy="27432"/>
          </a:xfrm>
          <a:prstGeom prst="ellipse">
            <a:avLst/>
          </a:prstGeom>
          <a:solidFill>
            <a:srgbClr val="746642"/>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sp>
        <p:nvSpPr>
          <p:cNvPr id="49" name="TextBox 48"/>
          <p:cNvSpPr txBox="1"/>
          <p:nvPr/>
        </p:nvSpPr>
        <p:spPr>
          <a:xfrm>
            <a:off x="4758537" y="658368"/>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WHAT IT'S WORTH</a:t>
            </a:r>
          </a:p>
        </p:txBody>
      </p:sp>
      <p:cxnSp>
        <p:nvCxnSpPr>
          <p:cNvPr id="50" name="Connector 49"/>
          <p:cNvCxnSpPr/>
          <p:nvPr/>
        </p:nvCxnSpPr>
        <p:spPr>
          <a:xfrm>
            <a:off x="338693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336645"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57031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754465"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914400" y="1051560"/>
            <a:ext cx="10362895" cy="914400"/>
          </a:xfrm>
          <a:prstGeom prst="rect">
            <a:avLst/>
          </a:prstGeom>
          <a:noFill/>
        </p:spPr>
        <p:txBody>
          <a:bodyPr wrap="square" lIns="0" rIns="0" tIns="0" bIns="0" anchor="ctr">
            <a:spAutoFit/>
          </a:bodyPr>
          <a:lstStyle/>
          <a:p>
            <a:pPr algn="ctr">
              <a:lnSpc>
                <a:spcPct val="105000"/>
              </a:lnSpc>
            </a:pPr>
            <a:r>
              <a:rPr sz="4000" b="1" i="0">
                <a:solidFill>
                  <a:srgbClr val="F0D58A"/>
                </a:solidFill>
                <a:latin typeface="Cinzel"/>
              </a:rPr>
              <a:t>If you bought it separately</a:t>
            </a:r>
          </a:p>
        </p:txBody>
      </p:sp>
      <p:sp>
        <p:nvSpPr>
          <p:cNvPr id="55" name="Rounded Rectangle 54"/>
          <p:cNvSpPr/>
          <p:nvPr/>
        </p:nvSpPr>
        <p:spPr>
          <a:xfrm>
            <a:off x="2194560" y="2240280"/>
            <a:ext cx="7772400" cy="3246120"/>
          </a:xfrm>
          <a:prstGeom prst="roundRect">
            <a:avLst>
              <a:gd name="adj" fmla="val 6000"/>
            </a:avLst>
          </a:prstGeom>
          <a:solidFill>
            <a:srgbClr val="100D07"/>
          </a:solidFill>
          <a:ln w="15875">
            <a:solidFill>
              <a:srgbClr val="877034"/>
            </a:solidFill>
          </a:ln>
        </p:spPr>
        <p:txBody>
          <a:bodyPr rtlCol="0" anchor="ctr"/>
          <a:lstStyle/>
          <a:p/>
        </p:txBody>
      </p:sp>
      <p:sp>
        <p:nvSpPr>
          <p:cNvPr id="56" name="TextBox 55"/>
          <p:cNvSpPr txBox="1"/>
          <p:nvPr/>
        </p:nvSpPr>
        <p:spPr>
          <a:xfrm>
            <a:off x="2560320" y="2468880"/>
            <a:ext cx="5303520" cy="502920"/>
          </a:xfrm>
          <a:prstGeom prst="rect">
            <a:avLst/>
          </a:prstGeom>
          <a:noFill/>
        </p:spPr>
        <p:txBody>
          <a:bodyPr wrap="square" lIns="0" rIns="0" tIns="0" bIns="0" anchor="ctr">
            <a:spAutoFit/>
          </a:bodyPr>
          <a:lstStyle/>
          <a:p>
            <a:pPr algn="l">
              <a:lnSpc>
                <a:spcPct val="120000"/>
              </a:lnSpc>
            </a:pPr>
            <a:r>
              <a:rPr sz="2100" b="0" i="0">
                <a:solidFill>
                  <a:srgbClr val="EFE3C6"/>
                </a:solidFill>
                <a:latin typeface="Montserrat"/>
              </a:rPr>
              <a:t>File audit, every item labelled</a:t>
            </a:r>
          </a:p>
        </p:txBody>
      </p:sp>
      <p:sp>
        <p:nvSpPr>
          <p:cNvPr id="57" name="TextBox 56"/>
          <p:cNvSpPr txBox="1"/>
          <p:nvPr/>
        </p:nvSpPr>
        <p:spPr>
          <a:xfrm>
            <a:off x="7498079" y="2468880"/>
            <a:ext cx="2103120" cy="502920"/>
          </a:xfrm>
          <a:prstGeom prst="rect">
            <a:avLst/>
          </a:prstGeom>
          <a:noFill/>
        </p:spPr>
        <p:txBody>
          <a:bodyPr wrap="square" lIns="0" rIns="0" tIns="0" bIns="0" anchor="ctr">
            <a:spAutoFit/>
          </a:bodyPr>
          <a:lstStyle/>
          <a:p>
            <a:pPr algn="r">
              <a:lnSpc>
                <a:spcPct val="120000"/>
              </a:lnSpc>
            </a:pPr>
            <a:r>
              <a:rPr sz="2100" b="1" i="0">
                <a:solidFill>
                  <a:srgbClr val="F0D58A"/>
                </a:solidFill>
                <a:latin typeface="Montserrat"/>
              </a:rPr>
              <a:t>$150</a:t>
            </a:r>
          </a:p>
        </p:txBody>
      </p:sp>
      <p:cxnSp>
        <p:nvCxnSpPr>
          <p:cNvPr id="58" name="Connector 57"/>
          <p:cNvCxnSpPr/>
          <p:nvPr/>
        </p:nvCxnSpPr>
        <p:spPr>
          <a:xfrm>
            <a:off x="2560320" y="3017520"/>
            <a:ext cx="7040880" cy="0"/>
          </a:xfrm>
          <a:prstGeom prst="line">
            <a:avLst/>
          </a:prstGeom>
          <a:ln w="6350">
            <a:solidFill>
              <a:srgbClr val="4E411E"/>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2560320" y="3035808"/>
            <a:ext cx="5303520" cy="502920"/>
          </a:xfrm>
          <a:prstGeom prst="rect">
            <a:avLst/>
          </a:prstGeom>
          <a:noFill/>
        </p:spPr>
        <p:txBody>
          <a:bodyPr wrap="square" lIns="0" rIns="0" tIns="0" bIns="0" anchor="ctr">
            <a:spAutoFit/>
          </a:bodyPr>
          <a:lstStyle/>
          <a:p>
            <a:pPr algn="l">
              <a:lnSpc>
                <a:spcPct val="120000"/>
              </a:lnSpc>
            </a:pPr>
            <a:r>
              <a:rPr sz="2100" b="0" i="0">
                <a:solidFill>
                  <a:srgbClr val="EFE3C6"/>
                </a:solidFill>
                <a:latin typeface="Montserrat"/>
              </a:rPr>
              <a:t>Monthly dispute work</a:t>
            </a:r>
          </a:p>
        </p:txBody>
      </p:sp>
      <p:sp>
        <p:nvSpPr>
          <p:cNvPr id="60" name="TextBox 59"/>
          <p:cNvSpPr txBox="1"/>
          <p:nvPr/>
        </p:nvSpPr>
        <p:spPr>
          <a:xfrm>
            <a:off x="7498079" y="3035808"/>
            <a:ext cx="2103120" cy="502920"/>
          </a:xfrm>
          <a:prstGeom prst="rect">
            <a:avLst/>
          </a:prstGeom>
          <a:noFill/>
        </p:spPr>
        <p:txBody>
          <a:bodyPr wrap="square" lIns="0" rIns="0" tIns="0" bIns="0" anchor="ctr">
            <a:spAutoFit/>
          </a:bodyPr>
          <a:lstStyle/>
          <a:p>
            <a:pPr algn="r">
              <a:lnSpc>
                <a:spcPct val="120000"/>
              </a:lnSpc>
            </a:pPr>
            <a:r>
              <a:rPr sz="2100" b="1" i="0">
                <a:solidFill>
                  <a:srgbClr val="F0D58A"/>
                </a:solidFill>
                <a:latin typeface="Montserrat"/>
              </a:rPr>
              <a:t>$100 / mo</a:t>
            </a:r>
          </a:p>
        </p:txBody>
      </p:sp>
      <p:cxnSp>
        <p:nvCxnSpPr>
          <p:cNvPr id="61" name="Connector 60"/>
          <p:cNvCxnSpPr/>
          <p:nvPr/>
        </p:nvCxnSpPr>
        <p:spPr>
          <a:xfrm>
            <a:off x="2560320" y="3584448"/>
            <a:ext cx="7040880" cy="0"/>
          </a:xfrm>
          <a:prstGeom prst="line">
            <a:avLst/>
          </a:prstGeom>
          <a:ln w="6350">
            <a:solidFill>
              <a:srgbClr val="4E411E"/>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560320" y="3602736"/>
            <a:ext cx="5303520" cy="502920"/>
          </a:xfrm>
          <a:prstGeom prst="rect">
            <a:avLst/>
          </a:prstGeom>
          <a:noFill/>
        </p:spPr>
        <p:txBody>
          <a:bodyPr wrap="square" lIns="0" rIns="0" tIns="0" bIns="0" anchor="ctr">
            <a:spAutoFit/>
          </a:bodyPr>
          <a:lstStyle/>
          <a:p>
            <a:pPr algn="l">
              <a:lnSpc>
                <a:spcPct val="120000"/>
              </a:lnSpc>
            </a:pPr>
            <a:r>
              <a:rPr sz="2100" b="0" i="0">
                <a:solidFill>
                  <a:srgbClr val="EFE3C6"/>
                </a:solidFill>
                <a:latin typeface="Montserrat"/>
              </a:rPr>
              <a:t>Credit monitoring</a:t>
            </a:r>
          </a:p>
        </p:txBody>
      </p:sp>
      <p:sp>
        <p:nvSpPr>
          <p:cNvPr id="63" name="TextBox 62"/>
          <p:cNvSpPr txBox="1"/>
          <p:nvPr/>
        </p:nvSpPr>
        <p:spPr>
          <a:xfrm>
            <a:off x="7498079" y="3602736"/>
            <a:ext cx="2103120" cy="502920"/>
          </a:xfrm>
          <a:prstGeom prst="rect">
            <a:avLst/>
          </a:prstGeom>
          <a:noFill/>
        </p:spPr>
        <p:txBody>
          <a:bodyPr wrap="square" lIns="0" rIns="0" tIns="0" bIns="0" anchor="ctr">
            <a:spAutoFit/>
          </a:bodyPr>
          <a:lstStyle/>
          <a:p>
            <a:pPr algn="r">
              <a:lnSpc>
                <a:spcPct val="120000"/>
              </a:lnSpc>
            </a:pPr>
            <a:r>
              <a:rPr sz="2100" b="1" i="0">
                <a:solidFill>
                  <a:srgbClr val="F0D58A"/>
                </a:solidFill>
                <a:latin typeface="Montserrat"/>
              </a:rPr>
              <a:t>$32.86 / mo</a:t>
            </a:r>
          </a:p>
        </p:txBody>
      </p:sp>
      <p:cxnSp>
        <p:nvCxnSpPr>
          <p:cNvPr id="64" name="Connector 63"/>
          <p:cNvCxnSpPr/>
          <p:nvPr/>
        </p:nvCxnSpPr>
        <p:spPr>
          <a:xfrm>
            <a:off x="2560320" y="4151376"/>
            <a:ext cx="7040880" cy="0"/>
          </a:xfrm>
          <a:prstGeom prst="line">
            <a:avLst/>
          </a:prstGeom>
          <a:ln w="6350">
            <a:solidFill>
              <a:srgbClr val="4E411E"/>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2560320" y="4169664"/>
            <a:ext cx="5303520" cy="502920"/>
          </a:xfrm>
          <a:prstGeom prst="rect">
            <a:avLst/>
          </a:prstGeom>
          <a:noFill/>
        </p:spPr>
        <p:txBody>
          <a:bodyPr wrap="square" lIns="0" rIns="0" tIns="0" bIns="0" anchor="ctr">
            <a:spAutoFit/>
          </a:bodyPr>
          <a:lstStyle/>
          <a:p>
            <a:pPr algn="l">
              <a:lnSpc>
                <a:spcPct val="120000"/>
              </a:lnSpc>
            </a:pPr>
            <a:r>
              <a:rPr sz="2100" b="0" i="0">
                <a:solidFill>
                  <a:srgbClr val="EFE3C6"/>
                </a:solidFill>
                <a:latin typeface="Montserrat"/>
              </a:rPr>
              <a:t>Financial Literacy Academy</a:t>
            </a:r>
          </a:p>
        </p:txBody>
      </p:sp>
      <p:sp>
        <p:nvSpPr>
          <p:cNvPr id="66" name="TextBox 65"/>
          <p:cNvSpPr txBox="1"/>
          <p:nvPr/>
        </p:nvSpPr>
        <p:spPr>
          <a:xfrm>
            <a:off x="7498079" y="4169664"/>
            <a:ext cx="2103120" cy="502920"/>
          </a:xfrm>
          <a:prstGeom prst="rect">
            <a:avLst/>
          </a:prstGeom>
          <a:noFill/>
        </p:spPr>
        <p:txBody>
          <a:bodyPr wrap="square" lIns="0" rIns="0" tIns="0" bIns="0" anchor="ctr">
            <a:spAutoFit/>
          </a:bodyPr>
          <a:lstStyle/>
          <a:p>
            <a:pPr algn="r">
              <a:lnSpc>
                <a:spcPct val="120000"/>
              </a:lnSpc>
            </a:pPr>
            <a:r>
              <a:rPr sz="2100" b="1" i="0">
                <a:solidFill>
                  <a:srgbClr val="F0D58A"/>
                </a:solidFill>
                <a:latin typeface="Montserrat"/>
              </a:rPr>
              <a:t>$29 / mo</a:t>
            </a:r>
          </a:p>
        </p:txBody>
      </p:sp>
      <p:cxnSp>
        <p:nvCxnSpPr>
          <p:cNvPr id="67" name="Connector 66"/>
          <p:cNvCxnSpPr/>
          <p:nvPr/>
        </p:nvCxnSpPr>
        <p:spPr>
          <a:xfrm>
            <a:off x="2560320" y="4718304"/>
            <a:ext cx="7040880" cy="0"/>
          </a:xfrm>
          <a:prstGeom prst="line">
            <a:avLst/>
          </a:prstGeom>
          <a:ln w="6350">
            <a:solidFill>
              <a:srgbClr val="4E411E"/>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2560320" y="4800600"/>
            <a:ext cx="7040880" cy="548640"/>
          </a:xfrm>
          <a:prstGeom prst="rect">
            <a:avLst/>
          </a:prstGeom>
          <a:noFill/>
        </p:spPr>
        <p:txBody>
          <a:bodyPr wrap="square" lIns="0" rIns="0" tIns="0" bIns="0" anchor="ctr">
            <a:spAutoFit/>
          </a:bodyPr>
          <a:lstStyle/>
          <a:p>
            <a:pPr algn="ctr"/>
            <a:r>
              <a:rPr sz="2100" b="1" i="0">
                <a:solidFill>
                  <a:srgbClr val="F0D58A"/>
                </a:solidFill>
                <a:latin typeface="Cinzel"/>
              </a:rPr>
              <a:t>Stacked: $311.86 first month  ·  $161.86 / mo after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3980913" y="3675782"/>
            <a:ext cx="73152" cy="73152"/>
          </a:xfrm>
          <a:prstGeom prst="ellipse">
            <a:avLst/>
          </a:prstGeom>
          <a:solidFill>
            <a:srgbClr val="5B4B23"/>
          </a:solidFill>
          <a:ln>
            <a:noFill/>
          </a:ln>
        </p:spPr>
        <p:txBody>
          <a:bodyPr rtlCol="0" anchor="ctr"/>
          <a:lstStyle/>
          <a:p/>
        </p:txBody>
      </p:sp>
      <p:sp>
        <p:nvSpPr>
          <p:cNvPr id="4" name="Oval 3"/>
          <p:cNvSpPr/>
          <p:nvPr/>
        </p:nvSpPr>
        <p:spPr>
          <a:xfrm>
            <a:off x="2574346" y="4894694"/>
            <a:ext cx="73152" cy="73152"/>
          </a:xfrm>
          <a:prstGeom prst="ellipse">
            <a:avLst/>
          </a:prstGeom>
          <a:solidFill>
            <a:srgbClr val="584D32"/>
          </a:solidFill>
          <a:ln>
            <a:noFill/>
          </a:ln>
        </p:spPr>
        <p:txBody>
          <a:bodyPr rtlCol="0" anchor="ctr"/>
          <a:lstStyle/>
          <a:p/>
        </p:txBody>
      </p:sp>
      <p:sp>
        <p:nvSpPr>
          <p:cNvPr id="5" name="Oval 4"/>
          <p:cNvSpPr/>
          <p:nvPr/>
        </p:nvSpPr>
        <p:spPr>
          <a:xfrm>
            <a:off x="6016546" y="1675728"/>
            <a:ext cx="27432" cy="27432"/>
          </a:xfrm>
          <a:prstGeom prst="ellipse">
            <a:avLst/>
          </a:prstGeom>
          <a:solidFill>
            <a:srgbClr val="75612D"/>
          </a:solidFill>
          <a:ln>
            <a:noFill/>
          </a:ln>
        </p:spPr>
        <p:txBody>
          <a:bodyPr rtlCol="0" anchor="ctr"/>
          <a:lstStyle/>
          <a:p/>
        </p:txBody>
      </p:sp>
      <p:sp>
        <p:nvSpPr>
          <p:cNvPr id="6" name="Oval 5"/>
          <p:cNvSpPr/>
          <p:nvPr/>
        </p:nvSpPr>
        <p:spPr>
          <a:xfrm>
            <a:off x="2141119" y="1656142"/>
            <a:ext cx="73152" cy="73152"/>
          </a:xfrm>
          <a:prstGeom prst="ellipse">
            <a:avLst/>
          </a:prstGeom>
          <a:solidFill>
            <a:srgbClr val="7A6C46"/>
          </a:solidFill>
          <a:ln>
            <a:noFill/>
          </a:ln>
        </p:spPr>
        <p:txBody>
          <a:bodyPr rtlCol="0" anchor="ctr"/>
          <a:lstStyle/>
          <a:p/>
        </p:txBody>
      </p:sp>
      <p:sp>
        <p:nvSpPr>
          <p:cNvPr id="7" name="Oval 6"/>
          <p:cNvSpPr/>
          <p:nvPr/>
        </p:nvSpPr>
        <p:spPr>
          <a:xfrm>
            <a:off x="6083082" y="1334773"/>
            <a:ext cx="36576" cy="36576"/>
          </a:xfrm>
          <a:prstGeom prst="ellipse">
            <a:avLst/>
          </a:prstGeom>
          <a:solidFill>
            <a:srgbClr val="4C422B"/>
          </a:solidFill>
          <a:ln>
            <a:noFill/>
          </a:ln>
        </p:spPr>
        <p:txBody>
          <a:bodyPr rtlCol="0" anchor="ctr"/>
          <a:lstStyle/>
          <a:p/>
        </p:txBody>
      </p:sp>
      <p:sp>
        <p:nvSpPr>
          <p:cNvPr id="8" name="Oval 7"/>
          <p:cNvSpPr/>
          <p:nvPr/>
        </p:nvSpPr>
        <p:spPr>
          <a:xfrm>
            <a:off x="3709295" y="2381161"/>
            <a:ext cx="73152" cy="73152"/>
          </a:xfrm>
          <a:prstGeom prst="ellipse">
            <a:avLst/>
          </a:prstGeom>
          <a:solidFill>
            <a:srgbClr val="4E3416"/>
          </a:solidFill>
          <a:ln>
            <a:noFill/>
          </a:ln>
        </p:spPr>
        <p:txBody>
          <a:bodyPr rtlCol="0" anchor="ctr"/>
          <a:lstStyle/>
          <a:p/>
        </p:txBody>
      </p:sp>
      <p:sp>
        <p:nvSpPr>
          <p:cNvPr id="9" name="Oval 8"/>
          <p:cNvSpPr/>
          <p:nvPr/>
        </p:nvSpPr>
        <p:spPr>
          <a:xfrm>
            <a:off x="3481955" y="4217550"/>
            <a:ext cx="36576" cy="36576"/>
          </a:xfrm>
          <a:prstGeom prst="ellipse">
            <a:avLst/>
          </a:prstGeom>
          <a:solidFill>
            <a:srgbClr val="997F3A"/>
          </a:solidFill>
          <a:ln>
            <a:noFill/>
          </a:ln>
        </p:spPr>
        <p:txBody>
          <a:bodyPr rtlCol="0" anchor="ctr"/>
          <a:lstStyle/>
          <a:p/>
        </p:txBody>
      </p:sp>
      <p:sp>
        <p:nvSpPr>
          <p:cNvPr id="10" name="Oval 9"/>
          <p:cNvSpPr/>
          <p:nvPr/>
        </p:nvSpPr>
        <p:spPr>
          <a:xfrm>
            <a:off x="4404172" y="2966061"/>
            <a:ext cx="36576" cy="36576"/>
          </a:xfrm>
          <a:prstGeom prst="ellipse">
            <a:avLst/>
          </a:prstGeom>
          <a:solidFill>
            <a:srgbClr val="776944"/>
          </a:solidFill>
          <a:ln>
            <a:noFill/>
          </a:ln>
        </p:spPr>
        <p:txBody>
          <a:bodyPr rtlCol="0" anchor="ctr"/>
          <a:lstStyle/>
          <a:p/>
        </p:txBody>
      </p:sp>
      <p:sp>
        <p:nvSpPr>
          <p:cNvPr id="11" name="Oval 10"/>
          <p:cNvSpPr/>
          <p:nvPr/>
        </p:nvSpPr>
        <p:spPr>
          <a:xfrm>
            <a:off x="3543144" y="2543187"/>
            <a:ext cx="73152" cy="73152"/>
          </a:xfrm>
          <a:prstGeom prst="ellipse">
            <a:avLst/>
          </a:prstGeom>
          <a:solidFill>
            <a:srgbClr val="885923"/>
          </a:solidFill>
          <a:ln>
            <a:noFill/>
          </a:ln>
        </p:spPr>
        <p:txBody>
          <a:bodyPr rtlCol="0" anchor="ctr"/>
          <a:lstStyle/>
          <a:p/>
        </p:txBody>
      </p:sp>
      <p:sp>
        <p:nvSpPr>
          <p:cNvPr id="12" name="Oval 11"/>
          <p:cNvSpPr/>
          <p:nvPr/>
        </p:nvSpPr>
        <p:spPr>
          <a:xfrm>
            <a:off x="6060918" y="1057858"/>
            <a:ext cx="73152" cy="73152"/>
          </a:xfrm>
          <a:prstGeom prst="ellipse">
            <a:avLst/>
          </a:prstGeom>
          <a:solidFill>
            <a:srgbClr val="615537"/>
          </a:solidFill>
          <a:ln>
            <a:noFill/>
          </a:ln>
        </p:spPr>
        <p:txBody>
          <a:bodyPr rtlCol="0" anchor="ctr"/>
          <a:lstStyle/>
          <a:p/>
        </p:txBody>
      </p:sp>
      <p:sp>
        <p:nvSpPr>
          <p:cNvPr id="13" name="Oval 12"/>
          <p:cNvSpPr/>
          <p:nvPr/>
        </p:nvSpPr>
        <p:spPr>
          <a:xfrm>
            <a:off x="5771654" y="4307303"/>
            <a:ext cx="45720" cy="45720"/>
          </a:xfrm>
          <a:prstGeom prst="ellipse">
            <a:avLst/>
          </a:prstGeom>
          <a:solidFill>
            <a:srgbClr val="503516"/>
          </a:solidFill>
          <a:ln>
            <a:noFill/>
          </a:ln>
        </p:spPr>
        <p:txBody>
          <a:bodyPr rtlCol="0" anchor="ctr"/>
          <a:lstStyle/>
          <a:p/>
        </p:txBody>
      </p:sp>
      <p:sp>
        <p:nvSpPr>
          <p:cNvPr id="14" name="Oval 13"/>
          <p:cNvSpPr/>
          <p:nvPr/>
        </p:nvSpPr>
        <p:spPr>
          <a:xfrm>
            <a:off x="9322824" y="2875766"/>
            <a:ext cx="27432" cy="27432"/>
          </a:xfrm>
          <a:prstGeom prst="ellipse">
            <a:avLst/>
          </a:prstGeom>
          <a:solidFill>
            <a:srgbClr val="432C13"/>
          </a:solidFill>
          <a:ln>
            <a:noFill/>
          </a:ln>
        </p:spPr>
        <p:txBody>
          <a:bodyPr rtlCol="0" anchor="ctr"/>
          <a:lstStyle/>
          <a:p/>
        </p:txBody>
      </p:sp>
      <p:sp>
        <p:nvSpPr>
          <p:cNvPr id="15" name="Oval 14"/>
          <p:cNvSpPr/>
          <p:nvPr/>
        </p:nvSpPr>
        <p:spPr>
          <a:xfrm>
            <a:off x="10840316" y="4164144"/>
            <a:ext cx="73152" cy="73152"/>
          </a:xfrm>
          <a:prstGeom prst="ellipse">
            <a:avLst/>
          </a:prstGeom>
          <a:solidFill>
            <a:srgbClr val="774D1F"/>
          </a:solidFill>
          <a:ln>
            <a:noFill/>
          </a:ln>
        </p:spPr>
        <p:txBody>
          <a:bodyPr rtlCol="0" anchor="ctr"/>
          <a:lstStyle/>
          <a:p/>
        </p:txBody>
      </p:sp>
      <p:sp>
        <p:nvSpPr>
          <p:cNvPr id="16" name="Oval 15"/>
          <p:cNvSpPr/>
          <p:nvPr/>
        </p:nvSpPr>
        <p:spPr>
          <a:xfrm>
            <a:off x="2142951" y="2557482"/>
            <a:ext cx="45720" cy="45720"/>
          </a:xfrm>
          <a:prstGeom prst="ellipse">
            <a:avLst/>
          </a:prstGeom>
          <a:solidFill>
            <a:srgbClr val="875823"/>
          </a:solidFill>
          <a:ln>
            <a:noFill/>
          </a:ln>
        </p:spPr>
        <p:txBody>
          <a:bodyPr rtlCol="0" anchor="ctr"/>
          <a:lstStyle/>
          <a:p/>
        </p:txBody>
      </p:sp>
      <p:sp>
        <p:nvSpPr>
          <p:cNvPr id="17" name="Oval 16"/>
          <p:cNvSpPr/>
          <p:nvPr/>
        </p:nvSpPr>
        <p:spPr>
          <a:xfrm>
            <a:off x="9864270" y="5881433"/>
            <a:ext cx="36576" cy="36576"/>
          </a:xfrm>
          <a:prstGeom prst="ellipse">
            <a:avLst/>
          </a:prstGeom>
          <a:solidFill>
            <a:srgbClr val="615537"/>
          </a:solidFill>
          <a:ln>
            <a:noFill/>
          </a:ln>
        </p:spPr>
        <p:txBody>
          <a:bodyPr rtlCol="0" anchor="ctr"/>
          <a:lstStyle/>
          <a:p/>
        </p:txBody>
      </p:sp>
      <p:sp>
        <p:nvSpPr>
          <p:cNvPr id="18" name="Oval 17"/>
          <p:cNvSpPr/>
          <p:nvPr/>
        </p:nvSpPr>
        <p:spPr>
          <a:xfrm>
            <a:off x="3541312" y="5279553"/>
            <a:ext cx="36576" cy="36576"/>
          </a:xfrm>
          <a:prstGeom prst="ellipse">
            <a:avLst/>
          </a:prstGeom>
          <a:solidFill>
            <a:srgbClr val="907837"/>
          </a:solidFill>
          <a:ln>
            <a:noFill/>
          </a:ln>
        </p:spPr>
        <p:txBody>
          <a:bodyPr rtlCol="0" anchor="ctr"/>
          <a:lstStyle/>
          <a:p/>
        </p:txBody>
      </p:sp>
      <p:sp>
        <p:nvSpPr>
          <p:cNvPr id="19" name="Oval 18"/>
          <p:cNvSpPr/>
          <p:nvPr/>
        </p:nvSpPr>
        <p:spPr>
          <a:xfrm>
            <a:off x="6887754" y="3632736"/>
            <a:ext cx="54864" cy="54864"/>
          </a:xfrm>
          <a:prstGeom prst="ellipse">
            <a:avLst/>
          </a:prstGeom>
          <a:solidFill>
            <a:srgbClr val="895923"/>
          </a:solidFill>
          <a:ln>
            <a:noFill/>
          </a:ln>
        </p:spPr>
        <p:txBody>
          <a:bodyPr rtlCol="0" anchor="ctr"/>
          <a:lstStyle/>
          <a:p/>
        </p:txBody>
      </p:sp>
      <p:sp>
        <p:nvSpPr>
          <p:cNvPr id="20" name="Oval 19"/>
          <p:cNvSpPr/>
          <p:nvPr/>
        </p:nvSpPr>
        <p:spPr>
          <a:xfrm>
            <a:off x="10718618" y="3512824"/>
            <a:ext cx="27432" cy="27432"/>
          </a:xfrm>
          <a:prstGeom prst="ellipse">
            <a:avLst/>
          </a:prstGeom>
          <a:solidFill>
            <a:srgbClr val="958355"/>
          </a:solidFill>
          <a:ln>
            <a:noFill/>
          </a:ln>
        </p:spPr>
        <p:txBody>
          <a:bodyPr rtlCol="0" anchor="ctr"/>
          <a:lstStyle/>
          <a:p/>
        </p:txBody>
      </p:sp>
      <p:sp>
        <p:nvSpPr>
          <p:cNvPr id="21" name="Oval 20"/>
          <p:cNvSpPr/>
          <p:nvPr/>
        </p:nvSpPr>
        <p:spPr>
          <a:xfrm>
            <a:off x="682819" y="383007"/>
            <a:ext cx="27432" cy="27432"/>
          </a:xfrm>
          <a:prstGeom prst="ellipse">
            <a:avLst/>
          </a:prstGeom>
          <a:solidFill>
            <a:srgbClr val="5E4E24"/>
          </a:solidFill>
          <a:ln>
            <a:noFill/>
          </a:ln>
        </p:spPr>
        <p:txBody>
          <a:bodyPr rtlCol="0" anchor="ctr"/>
          <a:lstStyle/>
          <a:p/>
        </p:txBody>
      </p:sp>
      <p:sp>
        <p:nvSpPr>
          <p:cNvPr id="22" name="Oval 21"/>
          <p:cNvSpPr/>
          <p:nvPr/>
        </p:nvSpPr>
        <p:spPr>
          <a:xfrm>
            <a:off x="7794041" y="5477412"/>
            <a:ext cx="27432" cy="27432"/>
          </a:xfrm>
          <a:prstGeom prst="ellipse">
            <a:avLst/>
          </a:prstGeom>
          <a:solidFill>
            <a:srgbClr val="815422"/>
          </a:solidFill>
          <a:ln>
            <a:noFill/>
          </a:ln>
        </p:spPr>
        <p:txBody>
          <a:bodyPr rtlCol="0" anchor="ctr"/>
          <a:lstStyle/>
          <a:p/>
        </p:txBody>
      </p:sp>
      <p:sp>
        <p:nvSpPr>
          <p:cNvPr id="23" name="Oval 22"/>
          <p:cNvSpPr/>
          <p:nvPr/>
        </p:nvSpPr>
        <p:spPr>
          <a:xfrm>
            <a:off x="1472470" y="3043124"/>
            <a:ext cx="54864" cy="54864"/>
          </a:xfrm>
          <a:prstGeom prst="ellipse">
            <a:avLst/>
          </a:prstGeom>
          <a:solidFill>
            <a:srgbClr val="44381B"/>
          </a:solidFill>
          <a:ln>
            <a:noFill/>
          </a:ln>
        </p:spPr>
        <p:txBody>
          <a:bodyPr rtlCol="0" anchor="ctr"/>
          <a:lstStyle/>
          <a:p/>
        </p:txBody>
      </p:sp>
      <p:sp>
        <p:nvSpPr>
          <p:cNvPr id="24" name="Oval 23"/>
          <p:cNvSpPr/>
          <p:nvPr/>
        </p:nvSpPr>
        <p:spPr>
          <a:xfrm>
            <a:off x="2849978" y="4988214"/>
            <a:ext cx="36576" cy="36576"/>
          </a:xfrm>
          <a:prstGeom prst="ellipse">
            <a:avLst/>
          </a:prstGeom>
          <a:solidFill>
            <a:srgbClr val="7A662F"/>
          </a:solidFill>
          <a:ln>
            <a:noFill/>
          </a:ln>
        </p:spPr>
        <p:txBody>
          <a:bodyPr rtlCol="0" anchor="ctr"/>
          <a:lstStyle/>
          <a:p/>
        </p:txBody>
      </p:sp>
      <p:sp>
        <p:nvSpPr>
          <p:cNvPr id="25" name="Oval 24"/>
          <p:cNvSpPr/>
          <p:nvPr/>
        </p:nvSpPr>
        <p:spPr>
          <a:xfrm>
            <a:off x="10145806" y="2461285"/>
            <a:ext cx="36576" cy="36576"/>
          </a:xfrm>
          <a:prstGeom prst="ellipse">
            <a:avLst/>
          </a:prstGeom>
          <a:solidFill>
            <a:srgbClr val="BA792F"/>
          </a:solidFill>
          <a:ln>
            <a:noFill/>
          </a:ln>
        </p:spPr>
        <p:txBody>
          <a:bodyPr rtlCol="0" anchor="ctr"/>
          <a:lstStyle/>
          <a:p/>
        </p:txBody>
      </p:sp>
      <p:sp>
        <p:nvSpPr>
          <p:cNvPr id="26" name="Oval 25"/>
          <p:cNvSpPr/>
          <p:nvPr/>
        </p:nvSpPr>
        <p:spPr>
          <a:xfrm>
            <a:off x="780593" y="4018576"/>
            <a:ext cx="54864" cy="54864"/>
          </a:xfrm>
          <a:prstGeom prst="ellipse">
            <a:avLst/>
          </a:prstGeom>
          <a:solidFill>
            <a:srgbClr val="5C4C24"/>
          </a:solidFill>
          <a:ln>
            <a:noFill/>
          </a:ln>
        </p:spPr>
        <p:txBody>
          <a:bodyPr rtlCol="0" anchor="ctr"/>
          <a:lstStyle/>
          <a:p/>
        </p:txBody>
      </p:sp>
      <p:sp>
        <p:nvSpPr>
          <p:cNvPr id="27" name="Oval 26"/>
          <p:cNvSpPr/>
          <p:nvPr/>
        </p:nvSpPr>
        <p:spPr>
          <a:xfrm>
            <a:off x="7999370" y="877558"/>
            <a:ext cx="54864" cy="54864"/>
          </a:xfrm>
          <a:prstGeom prst="ellipse">
            <a:avLst/>
          </a:prstGeom>
          <a:solidFill>
            <a:srgbClr val="BDA76C"/>
          </a:solidFill>
          <a:ln>
            <a:noFill/>
          </a:ln>
        </p:spPr>
        <p:txBody>
          <a:bodyPr rtlCol="0" anchor="ctr"/>
          <a:lstStyle/>
          <a:p/>
        </p:txBody>
      </p:sp>
      <p:sp>
        <p:nvSpPr>
          <p:cNvPr id="28" name="Oval 27"/>
          <p:cNvSpPr/>
          <p:nvPr/>
        </p:nvSpPr>
        <p:spPr>
          <a:xfrm>
            <a:off x="4013929" y="4933579"/>
            <a:ext cx="54864" cy="54864"/>
          </a:xfrm>
          <a:prstGeom prst="ellipse">
            <a:avLst/>
          </a:prstGeom>
          <a:solidFill>
            <a:srgbClr val="403519"/>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sp>
        <p:nvSpPr>
          <p:cNvPr id="49" name="TextBox 48"/>
          <p:cNvSpPr txBox="1"/>
          <p:nvPr/>
        </p:nvSpPr>
        <p:spPr>
          <a:xfrm>
            <a:off x="4758537" y="658368"/>
            <a:ext cx="2674620" cy="329184"/>
          </a:xfrm>
          <a:prstGeom prst="rect">
            <a:avLst/>
          </a:prstGeom>
          <a:noFill/>
        </p:spPr>
        <p:txBody>
          <a:bodyPr wrap="square" lIns="0" rIns="0" tIns="0" bIns="0" anchor="ctr">
            <a:spAutoFit/>
          </a:bodyPr>
          <a:lstStyle/>
          <a:p>
            <a:pPr algn="ctr"/>
            <a:r>
              <a:rPr sz="1300" b="1" i="0" spc="400">
                <a:solidFill>
                  <a:srgbClr val="C9A84C"/>
                </a:solidFill>
                <a:latin typeface="Montserrat"/>
              </a:rPr>
              <a:t>YOUR TOTAL COST</a:t>
            </a:r>
          </a:p>
        </p:txBody>
      </p:sp>
      <p:cxnSp>
        <p:nvCxnSpPr>
          <p:cNvPr id="50" name="Connector 49"/>
          <p:cNvCxnSpPr/>
          <p:nvPr/>
        </p:nvCxnSpPr>
        <p:spPr>
          <a:xfrm>
            <a:off x="338693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336645"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57031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754465" y="772667"/>
            <a:ext cx="100584" cy="100584"/>
          </a:xfrm>
          <a:prstGeom prst="diamond">
            <a:avLst/>
          </a:prstGeom>
          <a:solidFill>
            <a:srgbClr val="C9A84C"/>
          </a:solidFill>
          <a:ln>
            <a:noFill/>
          </a:ln>
        </p:spPr>
        <p:txBody>
          <a:bodyPr rtlCol="0" anchor="ctr"/>
          <a:lstStyle/>
          <a:p/>
        </p:txBody>
      </p:sp>
      <p:pic>
        <p:nvPicPr>
          <p:cNvPr id="54" name="Picture 53" descr="glow_30.png"/>
          <p:cNvPicPr>
            <a:picLocks noChangeAspect="1"/>
          </p:cNvPicPr>
          <p:nvPr/>
        </p:nvPicPr>
        <p:blipFill>
          <a:blip r:embed="rId3"/>
          <a:stretch>
            <a:fillRect/>
          </a:stretch>
        </p:blipFill>
        <p:spPr>
          <a:xfrm>
            <a:off x="3901287" y="-182879"/>
            <a:ext cx="4389120" cy="4389120"/>
          </a:xfrm>
          <a:prstGeom prst="rect">
            <a:avLst/>
          </a:prstGeom>
        </p:spPr>
      </p:pic>
      <p:sp>
        <p:nvSpPr>
          <p:cNvPr id="55" name="TextBox 54"/>
          <p:cNvSpPr txBox="1"/>
          <p:nvPr/>
        </p:nvSpPr>
        <p:spPr>
          <a:xfrm>
            <a:off x="914400" y="1097280"/>
            <a:ext cx="10362895" cy="1371600"/>
          </a:xfrm>
          <a:prstGeom prst="rect">
            <a:avLst/>
          </a:prstGeom>
          <a:noFill/>
        </p:spPr>
        <p:txBody>
          <a:bodyPr wrap="square" lIns="0" rIns="0" tIns="0" bIns="0" anchor="ctr">
            <a:spAutoFit/>
          </a:bodyPr>
          <a:lstStyle/>
          <a:p>
            <a:pPr algn="ctr"/>
            <a:r>
              <a:rPr sz="7200" b="1" i="0">
                <a:solidFill>
                  <a:srgbClr val="F0D58A"/>
                </a:solidFill>
                <a:latin typeface="Cinzel"/>
              </a:rPr>
              <a:t>$152.86 / month</a:t>
            </a:r>
          </a:p>
        </p:txBody>
      </p:sp>
      <p:sp>
        <p:nvSpPr>
          <p:cNvPr id="56" name="Rounded Rectangle 55"/>
          <p:cNvSpPr/>
          <p:nvPr/>
        </p:nvSpPr>
        <p:spPr>
          <a:xfrm>
            <a:off x="2194560" y="2697480"/>
            <a:ext cx="7772400" cy="1828800"/>
          </a:xfrm>
          <a:prstGeom prst="roundRect">
            <a:avLst>
              <a:gd name="adj" fmla="val 6000"/>
            </a:avLst>
          </a:prstGeom>
          <a:solidFill>
            <a:srgbClr val="100D07"/>
          </a:solidFill>
          <a:ln w="15875">
            <a:solidFill>
              <a:srgbClr val="877034"/>
            </a:solidFill>
          </a:ln>
        </p:spPr>
        <p:txBody>
          <a:bodyPr rtlCol="0" anchor="ctr"/>
          <a:lstStyle/>
          <a:p/>
        </p:txBody>
      </p:sp>
      <p:sp>
        <p:nvSpPr>
          <p:cNvPr id="57" name="TextBox 56"/>
          <p:cNvSpPr txBox="1"/>
          <p:nvPr/>
        </p:nvSpPr>
        <p:spPr>
          <a:xfrm>
            <a:off x="2560320" y="2926080"/>
            <a:ext cx="1737360" cy="548640"/>
          </a:xfrm>
          <a:prstGeom prst="rect">
            <a:avLst/>
          </a:prstGeom>
          <a:noFill/>
        </p:spPr>
        <p:txBody>
          <a:bodyPr wrap="square" lIns="0" rIns="0" tIns="0" bIns="0" anchor="ctr">
            <a:spAutoFit/>
          </a:bodyPr>
          <a:lstStyle/>
          <a:p>
            <a:pPr algn="l">
              <a:lnSpc>
                <a:spcPct val="120000"/>
              </a:lnSpc>
            </a:pPr>
            <a:r>
              <a:rPr sz="2400" b="1" i="0">
                <a:solidFill>
                  <a:srgbClr val="F0D58A"/>
                </a:solidFill>
                <a:latin typeface="Montserrat"/>
              </a:rPr>
              <a:t>$120.00</a:t>
            </a:r>
          </a:p>
        </p:txBody>
      </p:sp>
      <p:sp>
        <p:nvSpPr>
          <p:cNvPr id="58" name="TextBox 57"/>
          <p:cNvSpPr txBox="1"/>
          <p:nvPr/>
        </p:nvSpPr>
        <p:spPr>
          <a:xfrm>
            <a:off x="4297680" y="2926080"/>
            <a:ext cx="5486400" cy="548640"/>
          </a:xfrm>
          <a:prstGeom prst="rect">
            <a:avLst/>
          </a:prstGeom>
          <a:noFill/>
        </p:spPr>
        <p:txBody>
          <a:bodyPr wrap="square" lIns="0" rIns="0" tIns="0" bIns="0" anchor="ctr">
            <a:spAutoFit/>
          </a:bodyPr>
          <a:lstStyle/>
          <a:p>
            <a:pPr algn="l">
              <a:lnSpc>
                <a:spcPct val="120000"/>
              </a:lnSpc>
            </a:pPr>
            <a:r>
              <a:rPr sz="2100" b="0" i="0">
                <a:solidFill>
                  <a:srgbClr val="EFE3C6"/>
                </a:solidFill>
                <a:latin typeface="Montserrat"/>
              </a:rPr>
              <a:t>Arise Credit Pro — for the dispute work</a:t>
            </a:r>
          </a:p>
        </p:txBody>
      </p:sp>
      <p:sp>
        <p:nvSpPr>
          <p:cNvPr id="59" name="TextBox 58"/>
          <p:cNvSpPr txBox="1"/>
          <p:nvPr/>
        </p:nvSpPr>
        <p:spPr>
          <a:xfrm>
            <a:off x="2560320" y="3657600"/>
            <a:ext cx="1737360" cy="548640"/>
          </a:xfrm>
          <a:prstGeom prst="rect">
            <a:avLst/>
          </a:prstGeom>
          <a:noFill/>
        </p:spPr>
        <p:txBody>
          <a:bodyPr wrap="square" lIns="0" rIns="0" tIns="0" bIns="0" anchor="ctr">
            <a:spAutoFit/>
          </a:bodyPr>
          <a:lstStyle/>
          <a:p>
            <a:pPr algn="l">
              <a:lnSpc>
                <a:spcPct val="120000"/>
              </a:lnSpc>
            </a:pPr>
            <a:r>
              <a:rPr sz="2400" b="1" i="0">
                <a:solidFill>
                  <a:srgbClr val="F0D58A"/>
                </a:solidFill>
                <a:latin typeface="Montserrat"/>
              </a:rPr>
              <a:t>$32.86</a:t>
            </a:r>
          </a:p>
        </p:txBody>
      </p:sp>
      <p:sp>
        <p:nvSpPr>
          <p:cNvPr id="60" name="TextBox 59"/>
          <p:cNvSpPr txBox="1"/>
          <p:nvPr/>
        </p:nvSpPr>
        <p:spPr>
          <a:xfrm>
            <a:off x="4297680" y="3657600"/>
            <a:ext cx="5486400" cy="548640"/>
          </a:xfrm>
          <a:prstGeom prst="rect">
            <a:avLst/>
          </a:prstGeom>
          <a:noFill/>
        </p:spPr>
        <p:txBody>
          <a:bodyPr wrap="square" lIns="0" rIns="0" tIns="0" bIns="0" anchor="ctr">
            <a:spAutoFit/>
          </a:bodyPr>
          <a:lstStyle/>
          <a:p>
            <a:pPr algn="l">
              <a:lnSpc>
                <a:spcPct val="120000"/>
              </a:lnSpc>
            </a:pPr>
            <a:r>
              <a:rPr sz="2100" b="0" i="0">
                <a:solidFill>
                  <a:srgbClr val="EFE3C6"/>
                </a:solidFill>
                <a:latin typeface="Montserrat"/>
              </a:rPr>
              <a:t>IdentityIQ credit monitoring — required</a:t>
            </a:r>
          </a:p>
        </p:txBody>
      </p:sp>
      <p:sp>
        <p:nvSpPr>
          <p:cNvPr id="61" name="TextBox 60"/>
          <p:cNvSpPr txBox="1"/>
          <p:nvPr/>
        </p:nvSpPr>
        <p:spPr>
          <a:xfrm>
            <a:off x="1371600" y="4709160"/>
            <a:ext cx="9448495" cy="914400"/>
          </a:xfrm>
          <a:prstGeom prst="rect">
            <a:avLst/>
          </a:prstGeom>
          <a:noFill/>
        </p:spPr>
        <p:txBody>
          <a:bodyPr wrap="square" lIns="0" rIns="0" tIns="0" bIns="0" anchor="t">
            <a:spAutoFit/>
          </a:bodyPr>
          <a:lstStyle/>
          <a:p>
            <a:pPr algn="ctr">
              <a:lnSpc>
                <a:spcPct val="120000"/>
              </a:lnSpc>
            </a:pPr>
            <a:r>
              <a:rPr sz="1800" b="0" i="1">
                <a:solidFill>
                  <a:srgbClr val="B9A57A"/>
                </a:solidFill>
                <a:latin typeface="Montserrat"/>
              </a:rPr>
              <a:t>IdentityIQ bills you directly  ·  7-day trial for $1  ·  I earn a commission when you enroll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1687074" y="1532172"/>
            <a:ext cx="27432" cy="27432"/>
          </a:xfrm>
          <a:prstGeom prst="ellipse">
            <a:avLst/>
          </a:prstGeom>
          <a:solidFill>
            <a:srgbClr val="5B4B23"/>
          </a:solidFill>
          <a:ln>
            <a:noFill/>
          </a:ln>
        </p:spPr>
        <p:txBody>
          <a:bodyPr rtlCol="0" anchor="ctr"/>
          <a:lstStyle/>
          <a:p/>
        </p:txBody>
      </p:sp>
      <p:sp>
        <p:nvSpPr>
          <p:cNvPr id="4" name="Oval 3"/>
          <p:cNvSpPr/>
          <p:nvPr/>
        </p:nvSpPr>
        <p:spPr>
          <a:xfrm>
            <a:off x="8928080" y="2160356"/>
            <a:ext cx="27432" cy="27432"/>
          </a:xfrm>
          <a:prstGeom prst="ellipse">
            <a:avLst/>
          </a:prstGeom>
          <a:solidFill>
            <a:srgbClr val="B2732D"/>
          </a:solidFill>
          <a:ln>
            <a:noFill/>
          </a:ln>
        </p:spPr>
        <p:txBody>
          <a:bodyPr rtlCol="0" anchor="ctr"/>
          <a:lstStyle/>
          <a:p/>
        </p:txBody>
      </p:sp>
      <p:sp>
        <p:nvSpPr>
          <p:cNvPr id="5" name="Oval 4"/>
          <p:cNvSpPr/>
          <p:nvPr/>
        </p:nvSpPr>
        <p:spPr>
          <a:xfrm>
            <a:off x="6560915" y="2671289"/>
            <a:ext cx="54864" cy="54864"/>
          </a:xfrm>
          <a:prstGeom prst="ellipse">
            <a:avLst/>
          </a:prstGeom>
          <a:solidFill>
            <a:srgbClr val="6A451C"/>
          </a:solidFill>
          <a:ln>
            <a:noFill/>
          </a:ln>
        </p:spPr>
        <p:txBody>
          <a:bodyPr rtlCol="0" anchor="ctr"/>
          <a:lstStyle/>
          <a:p/>
        </p:txBody>
      </p:sp>
      <p:sp>
        <p:nvSpPr>
          <p:cNvPr id="6" name="Oval 5"/>
          <p:cNvSpPr/>
          <p:nvPr/>
        </p:nvSpPr>
        <p:spPr>
          <a:xfrm>
            <a:off x="11705750" y="4959965"/>
            <a:ext cx="54864" cy="54864"/>
          </a:xfrm>
          <a:prstGeom prst="ellipse">
            <a:avLst/>
          </a:prstGeom>
          <a:solidFill>
            <a:srgbClr val="948355"/>
          </a:solidFill>
          <a:ln>
            <a:noFill/>
          </a:ln>
        </p:spPr>
        <p:txBody>
          <a:bodyPr rtlCol="0" anchor="ctr"/>
          <a:lstStyle/>
          <a:p/>
        </p:txBody>
      </p:sp>
      <p:sp>
        <p:nvSpPr>
          <p:cNvPr id="7" name="Oval 6"/>
          <p:cNvSpPr/>
          <p:nvPr/>
        </p:nvSpPr>
        <p:spPr>
          <a:xfrm>
            <a:off x="11332344" y="3414583"/>
            <a:ext cx="27432" cy="27432"/>
          </a:xfrm>
          <a:prstGeom prst="ellipse">
            <a:avLst/>
          </a:prstGeom>
          <a:solidFill>
            <a:srgbClr val="8D7C50"/>
          </a:solidFill>
          <a:ln>
            <a:noFill/>
          </a:ln>
        </p:spPr>
        <p:txBody>
          <a:bodyPr rtlCol="0" anchor="ctr"/>
          <a:lstStyle/>
          <a:p/>
        </p:txBody>
      </p:sp>
      <p:sp>
        <p:nvSpPr>
          <p:cNvPr id="8" name="Oval 7"/>
          <p:cNvSpPr/>
          <p:nvPr/>
        </p:nvSpPr>
        <p:spPr>
          <a:xfrm>
            <a:off x="967262" y="1743069"/>
            <a:ext cx="36576" cy="36576"/>
          </a:xfrm>
          <a:prstGeom prst="ellipse">
            <a:avLst/>
          </a:prstGeom>
          <a:solidFill>
            <a:srgbClr val="7E6930"/>
          </a:solidFill>
          <a:ln>
            <a:noFill/>
          </a:ln>
        </p:spPr>
        <p:txBody>
          <a:bodyPr rtlCol="0" anchor="ctr"/>
          <a:lstStyle/>
          <a:p/>
        </p:txBody>
      </p:sp>
      <p:sp>
        <p:nvSpPr>
          <p:cNvPr id="9" name="Oval 8"/>
          <p:cNvSpPr/>
          <p:nvPr/>
        </p:nvSpPr>
        <p:spPr>
          <a:xfrm>
            <a:off x="2601515" y="4910367"/>
            <a:ext cx="54864" cy="54864"/>
          </a:xfrm>
          <a:prstGeom prst="ellipse">
            <a:avLst/>
          </a:prstGeom>
          <a:solidFill>
            <a:srgbClr val="583918"/>
          </a:solidFill>
          <a:ln>
            <a:noFill/>
          </a:ln>
        </p:spPr>
        <p:txBody>
          <a:bodyPr rtlCol="0" anchor="ctr"/>
          <a:lstStyle/>
          <a:p/>
        </p:txBody>
      </p:sp>
      <p:sp>
        <p:nvSpPr>
          <p:cNvPr id="10" name="Oval 9"/>
          <p:cNvSpPr/>
          <p:nvPr/>
        </p:nvSpPr>
        <p:spPr>
          <a:xfrm>
            <a:off x="9871449" y="1002488"/>
            <a:ext cx="45720" cy="45720"/>
          </a:xfrm>
          <a:prstGeom prst="ellipse">
            <a:avLst/>
          </a:prstGeom>
          <a:solidFill>
            <a:srgbClr val="69441C"/>
          </a:solidFill>
          <a:ln>
            <a:noFill/>
          </a:ln>
        </p:spPr>
        <p:txBody>
          <a:bodyPr rtlCol="0" anchor="ctr"/>
          <a:lstStyle/>
          <a:p/>
        </p:txBody>
      </p:sp>
      <p:sp>
        <p:nvSpPr>
          <p:cNvPr id="11" name="Oval 10"/>
          <p:cNvSpPr/>
          <p:nvPr/>
        </p:nvSpPr>
        <p:spPr>
          <a:xfrm>
            <a:off x="7460441" y="1795043"/>
            <a:ext cx="45720" cy="45720"/>
          </a:xfrm>
          <a:prstGeom prst="ellipse">
            <a:avLst/>
          </a:prstGeom>
          <a:solidFill>
            <a:srgbClr val="AF9B64"/>
          </a:solidFill>
          <a:ln>
            <a:noFill/>
          </a:ln>
        </p:spPr>
        <p:txBody>
          <a:bodyPr rtlCol="0" anchor="ctr"/>
          <a:lstStyle/>
          <a:p/>
        </p:txBody>
      </p:sp>
      <p:sp>
        <p:nvSpPr>
          <p:cNvPr id="12" name="Oval 11"/>
          <p:cNvSpPr/>
          <p:nvPr/>
        </p:nvSpPr>
        <p:spPr>
          <a:xfrm>
            <a:off x="3907794" y="1328937"/>
            <a:ext cx="36576" cy="36576"/>
          </a:xfrm>
          <a:prstGeom prst="ellipse">
            <a:avLst/>
          </a:prstGeom>
          <a:solidFill>
            <a:srgbClr val="6B5E3D"/>
          </a:solidFill>
          <a:ln>
            <a:noFill/>
          </a:ln>
        </p:spPr>
        <p:txBody>
          <a:bodyPr rtlCol="0" anchor="ctr"/>
          <a:lstStyle/>
          <a:p/>
        </p:txBody>
      </p:sp>
      <p:sp>
        <p:nvSpPr>
          <p:cNvPr id="13" name="Oval 12"/>
          <p:cNvSpPr/>
          <p:nvPr/>
        </p:nvSpPr>
        <p:spPr>
          <a:xfrm>
            <a:off x="9846550" y="4635859"/>
            <a:ext cx="36576" cy="36576"/>
          </a:xfrm>
          <a:prstGeom prst="ellipse">
            <a:avLst/>
          </a:prstGeom>
          <a:solidFill>
            <a:srgbClr val="8A5A24"/>
          </a:solidFill>
          <a:ln>
            <a:noFill/>
          </a:ln>
        </p:spPr>
        <p:txBody>
          <a:bodyPr rtlCol="0" anchor="ctr"/>
          <a:lstStyle/>
          <a:p/>
        </p:txBody>
      </p:sp>
      <p:sp>
        <p:nvSpPr>
          <p:cNvPr id="14" name="Oval 13"/>
          <p:cNvSpPr/>
          <p:nvPr/>
        </p:nvSpPr>
        <p:spPr>
          <a:xfrm>
            <a:off x="4942889" y="4274112"/>
            <a:ext cx="27432" cy="27432"/>
          </a:xfrm>
          <a:prstGeom prst="ellipse">
            <a:avLst/>
          </a:prstGeom>
          <a:solidFill>
            <a:srgbClr val="655939"/>
          </a:solidFill>
          <a:ln>
            <a:noFill/>
          </a:ln>
        </p:spPr>
        <p:txBody>
          <a:bodyPr rtlCol="0" anchor="ctr"/>
          <a:lstStyle/>
          <a:p/>
        </p:txBody>
      </p:sp>
      <p:sp>
        <p:nvSpPr>
          <p:cNvPr id="15" name="Oval 14"/>
          <p:cNvSpPr/>
          <p:nvPr/>
        </p:nvSpPr>
        <p:spPr>
          <a:xfrm>
            <a:off x="3783766" y="1969613"/>
            <a:ext cx="45720" cy="45720"/>
          </a:xfrm>
          <a:prstGeom prst="ellipse">
            <a:avLst/>
          </a:prstGeom>
          <a:solidFill>
            <a:srgbClr val="907F53"/>
          </a:solidFill>
          <a:ln>
            <a:noFill/>
          </a:ln>
        </p:spPr>
        <p:txBody>
          <a:bodyPr rtlCol="0" anchor="ctr"/>
          <a:lstStyle/>
          <a:p/>
        </p:txBody>
      </p:sp>
      <p:sp>
        <p:nvSpPr>
          <p:cNvPr id="16" name="Oval 15"/>
          <p:cNvSpPr/>
          <p:nvPr/>
        </p:nvSpPr>
        <p:spPr>
          <a:xfrm>
            <a:off x="6058900" y="773330"/>
            <a:ext cx="54864" cy="54864"/>
          </a:xfrm>
          <a:prstGeom prst="ellipse">
            <a:avLst/>
          </a:prstGeom>
          <a:solidFill>
            <a:srgbClr val="855723"/>
          </a:solidFill>
          <a:ln>
            <a:noFill/>
          </a:ln>
        </p:spPr>
        <p:txBody>
          <a:bodyPr rtlCol="0" anchor="ctr"/>
          <a:lstStyle/>
          <a:p/>
        </p:txBody>
      </p:sp>
      <p:sp>
        <p:nvSpPr>
          <p:cNvPr id="17" name="Oval 16"/>
          <p:cNvSpPr/>
          <p:nvPr/>
        </p:nvSpPr>
        <p:spPr>
          <a:xfrm>
            <a:off x="3588351" y="2697306"/>
            <a:ext cx="27432" cy="27432"/>
          </a:xfrm>
          <a:prstGeom prst="ellipse">
            <a:avLst/>
          </a:prstGeom>
          <a:solidFill>
            <a:srgbClr val="7C5121"/>
          </a:solidFill>
          <a:ln>
            <a:noFill/>
          </a:ln>
        </p:spPr>
        <p:txBody>
          <a:bodyPr rtlCol="0" anchor="ctr"/>
          <a:lstStyle/>
          <a:p/>
        </p:txBody>
      </p:sp>
      <p:sp>
        <p:nvSpPr>
          <p:cNvPr id="18" name="Oval 17"/>
          <p:cNvSpPr/>
          <p:nvPr/>
        </p:nvSpPr>
        <p:spPr>
          <a:xfrm>
            <a:off x="7649789" y="705263"/>
            <a:ext cx="36576" cy="36576"/>
          </a:xfrm>
          <a:prstGeom prst="ellipse">
            <a:avLst/>
          </a:prstGeom>
          <a:solidFill>
            <a:srgbClr val="A99661"/>
          </a:solidFill>
          <a:ln>
            <a:noFill/>
          </a:ln>
        </p:spPr>
        <p:txBody>
          <a:bodyPr rtlCol="0" anchor="ctr"/>
          <a:lstStyle/>
          <a:p/>
        </p:txBody>
      </p:sp>
      <p:sp>
        <p:nvSpPr>
          <p:cNvPr id="19" name="Oval 18"/>
          <p:cNvSpPr/>
          <p:nvPr/>
        </p:nvSpPr>
        <p:spPr>
          <a:xfrm>
            <a:off x="9916402" y="2285278"/>
            <a:ext cx="45720" cy="45720"/>
          </a:xfrm>
          <a:prstGeom prst="ellipse">
            <a:avLst/>
          </a:prstGeom>
          <a:solidFill>
            <a:srgbClr val="875823"/>
          </a:solidFill>
          <a:ln>
            <a:noFill/>
          </a:ln>
        </p:spPr>
        <p:txBody>
          <a:bodyPr rtlCol="0" anchor="ctr"/>
          <a:lstStyle/>
          <a:p/>
        </p:txBody>
      </p:sp>
      <p:sp>
        <p:nvSpPr>
          <p:cNvPr id="20" name="Oval 19"/>
          <p:cNvSpPr/>
          <p:nvPr/>
        </p:nvSpPr>
        <p:spPr>
          <a:xfrm>
            <a:off x="773152" y="4601035"/>
            <a:ext cx="27432" cy="27432"/>
          </a:xfrm>
          <a:prstGeom prst="ellipse">
            <a:avLst/>
          </a:prstGeom>
          <a:solidFill>
            <a:srgbClr val="82734A"/>
          </a:solidFill>
          <a:ln>
            <a:noFill/>
          </a:ln>
        </p:spPr>
        <p:txBody>
          <a:bodyPr rtlCol="0" anchor="ctr"/>
          <a:lstStyle/>
          <a:p/>
        </p:txBody>
      </p:sp>
      <p:sp>
        <p:nvSpPr>
          <p:cNvPr id="21" name="Oval 20"/>
          <p:cNvSpPr/>
          <p:nvPr/>
        </p:nvSpPr>
        <p:spPr>
          <a:xfrm>
            <a:off x="6449056" y="6007366"/>
            <a:ext cx="54864" cy="54864"/>
          </a:xfrm>
          <a:prstGeom prst="ellipse">
            <a:avLst/>
          </a:prstGeom>
          <a:solidFill>
            <a:srgbClr val="63411B"/>
          </a:solidFill>
          <a:ln>
            <a:noFill/>
          </a:ln>
        </p:spPr>
        <p:txBody>
          <a:bodyPr rtlCol="0" anchor="ctr"/>
          <a:lstStyle/>
          <a:p/>
        </p:txBody>
      </p:sp>
      <p:sp>
        <p:nvSpPr>
          <p:cNvPr id="22" name="Oval 21"/>
          <p:cNvSpPr/>
          <p:nvPr/>
        </p:nvSpPr>
        <p:spPr>
          <a:xfrm>
            <a:off x="2756429" y="5949793"/>
            <a:ext cx="54864" cy="54864"/>
          </a:xfrm>
          <a:prstGeom prst="ellipse">
            <a:avLst/>
          </a:prstGeom>
          <a:solidFill>
            <a:srgbClr val="5C5134"/>
          </a:solidFill>
          <a:ln>
            <a:noFill/>
          </a:ln>
        </p:spPr>
        <p:txBody>
          <a:bodyPr rtlCol="0" anchor="ctr"/>
          <a:lstStyle/>
          <a:p/>
        </p:txBody>
      </p:sp>
      <p:sp>
        <p:nvSpPr>
          <p:cNvPr id="23" name="Oval 22"/>
          <p:cNvSpPr/>
          <p:nvPr/>
        </p:nvSpPr>
        <p:spPr>
          <a:xfrm>
            <a:off x="8167152" y="4520821"/>
            <a:ext cx="36576" cy="36576"/>
          </a:xfrm>
          <a:prstGeom prst="ellipse">
            <a:avLst/>
          </a:prstGeom>
          <a:solidFill>
            <a:srgbClr val="895924"/>
          </a:solidFill>
          <a:ln>
            <a:noFill/>
          </a:ln>
        </p:spPr>
        <p:txBody>
          <a:bodyPr rtlCol="0" anchor="ctr"/>
          <a:lstStyle/>
          <a:p/>
        </p:txBody>
      </p:sp>
      <p:sp>
        <p:nvSpPr>
          <p:cNvPr id="24" name="Oval 23"/>
          <p:cNvSpPr/>
          <p:nvPr/>
        </p:nvSpPr>
        <p:spPr>
          <a:xfrm>
            <a:off x="483141" y="6221583"/>
            <a:ext cx="54864" cy="54864"/>
          </a:xfrm>
          <a:prstGeom prst="ellipse">
            <a:avLst/>
          </a:prstGeom>
          <a:solidFill>
            <a:srgbClr val="45391B"/>
          </a:solidFill>
          <a:ln>
            <a:noFill/>
          </a:ln>
        </p:spPr>
        <p:txBody>
          <a:bodyPr rtlCol="0" anchor="ctr"/>
          <a:lstStyle/>
          <a:p/>
        </p:txBody>
      </p:sp>
      <p:sp>
        <p:nvSpPr>
          <p:cNvPr id="25" name="Oval 24"/>
          <p:cNvSpPr/>
          <p:nvPr/>
        </p:nvSpPr>
        <p:spPr>
          <a:xfrm>
            <a:off x="3281035" y="3219239"/>
            <a:ext cx="73152" cy="73152"/>
          </a:xfrm>
          <a:prstGeom prst="ellipse">
            <a:avLst/>
          </a:prstGeom>
          <a:solidFill>
            <a:srgbClr val="816B31"/>
          </a:solidFill>
          <a:ln>
            <a:noFill/>
          </a:ln>
        </p:spPr>
        <p:txBody>
          <a:bodyPr rtlCol="0" anchor="ctr"/>
          <a:lstStyle/>
          <a:p/>
        </p:txBody>
      </p:sp>
      <p:sp>
        <p:nvSpPr>
          <p:cNvPr id="26" name="Oval 25"/>
          <p:cNvSpPr/>
          <p:nvPr/>
        </p:nvSpPr>
        <p:spPr>
          <a:xfrm>
            <a:off x="5209648" y="2041037"/>
            <a:ext cx="27432" cy="27432"/>
          </a:xfrm>
          <a:prstGeom prst="ellipse">
            <a:avLst/>
          </a:prstGeom>
          <a:solidFill>
            <a:srgbClr val="A99561"/>
          </a:solidFill>
          <a:ln>
            <a:noFill/>
          </a:ln>
        </p:spPr>
        <p:txBody>
          <a:bodyPr rtlCol="0" anchor="ctr"/>
          <a:lstStyle/>
          <a:p/>
        </p:txBody>
      </p:sp>
      <p:sp>
        <p:nvSpPr>
          <p:cNvPr id="27" name="Oval 26"/>
          <p:cNvSpPr/>
          <p:nvPr/>
        </p:nvSpPr>
        <p:spPr>
          <a:xfrm>
            <a:off x="8514891" y="1680804"/>
            <a:ext cx="27432" cy="27432"/>
          </a:xfrm>
          <a:prstGeom prst="ellipse">
            <a:avLst/>
          </a:prstGeom>
          <a:solidFill>
            <a:srgbClr val="6D5A2A"/>
          </a:solidFill>
          <a:ln>
            <a:noFill/>
          </a:ln>
        </p:spPr>
        <p:txBody>
          <a:bodyPr rtlCol="0" anchor="ctr"/>
          <a:lstStyle/>
          <a:p/>
        </p:txBody>
      </p:sp>
      <p:sp>
        <p:nvSpPr>
          <p:cNvPr id="28" name="Oval 27"/>
          <p:cNvSpPr/>
          <p:nvPr/>
        </p:nvSpPr>
        <p:spPr>
          <a:xfrm>
            <a:off x="9350162" y="520901"/>
            <a:ext cx="36576" cy="36576"/>
          </a:xfrm>
          <a:prstGeom prst="ellipse">
            <a:avLst/>
          </a:prstGeom>
          <a:solidFill>
            <a:srgbClr val="64411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616805" y="1037844"/>
            <a:ext cx="2958084" cy="329184"/>
          </a:xfrm>
          <a:prstGeom prst="rect">
            <a:avLst/>
          </a:prstGeom>
          <a:noFill/>
        </p:spPr>
        <p:txBody>
          <a:bodyPr wrap="square" lIns="0" rIns="0" tIns="0" bIns="0" anchor="ctr">
            <a:spAutoFit/>
          </a:bodyPr>
          <a:lstStyle/>
          <a:p>
            <a:pPr algn="ctr"/>
            <a:r>
              <a:rPr sz="1300" b="1" i="0" spc="400">
                <a:solidFill>
                  <a:srgbClr val="C9A84C"/>
                </a:solidFill>
                <a:latin typeface="Montserrat"/>
              </a:rPr>
              <a:t>HOW BILLING WORKS</a:t>
            </a:r>
          </a:p>
        </p:txBody>
      </p:sp>
      <p:cxnSp>
        <p:nvCxnSpPr>
          <p:cNvPr id="51" name="Connector 50"/>
          <p:cNvCxnSpPr/>
          <p:nvPr/>
        </p:nvCxnSpPr>
        <p:spPr>
          <a:xfrm>
            <a:off x="3245205" y="120243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194913" y="1152144"/>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712049" y="120243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896197" y="1152144"/>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1604772"/>
            <a:ext cx="9814255" cy="1584960"/>
          </a:xfrm>
          <a:prstGeom prst="rect">
            <a:avLst/>
          </a:prstGeom>
          <a:noFill/>
        </p:spPr>
        <p:txBody>
          <a:bodyPr wrap="square" lIns="0" rIns="0" tIns="0" bIns="0" anchor="b">
            <a:spAutoFit/>
          </a:bodyPr>
          <a:lstStyle/>
          <a:p>
            <a:pPr algn="ctr">
              <a:lnSpc>
                <a:spcPct val="105000"/>
              </a:lnSpc>
            </a:pPr>
            <a:r>
              <a:rPr sz="5600" b="1" i="0">
                <a:solidFill>
                  <a:srgbClr val="F0D58A"/>
                </a:solidFill>
                <a:latin typeface="Cinzel"/>
              </a:rPr>
              <a:t>Nothing is charged today.</a:t>
            </a:r>
          </a:p>
        </p:txBody>
      </p:sp>
      <p:cxnSp>
        <p:nvCxnSpPr>
          <p:cNvPr id="56" name="Connector 55"/>
          <p:cNvCxnSpPr/>
          <p:nvPr/>
        </p:nvCxnSpPr>
        <p:spPr>
          <a:xfrm>
            <a:off x="4632807" y="337261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337261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308604"/>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3555492"/>
            <a:ext cx="9448495" cy="1743455"/>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You're billed at the end of each month — after the work is done.</a:t>
            </a:r>
          </a:p>
          <a:p>
            <a:pPr algn="ctr">
              <a:lnSpc>
                <a:spcPct val="120000"/>
              </a:lnSpc>
              <a:spcAft>
                <a:spcPts val="800"/>
              </a:spcAft>
            </a:pPr>
            <a:r>
              <a:rPr sz="2000" b="0" i="0">
                <a:solidFill>
                  <a:srgbClr val="B9A57A"/>
                </a:solidFill>
                <a:latin typeface="Montserrat"/>
              </a:rPr>
              <a:t>Written agreement + 3-business-day right to cancel before any work starts.</a:t>
            </a:r>
          </a:p>
        </p:txBody>
      </p:sp>
      <p:sp>
        <p:nvSpPr>
          <p:cNvPr id="60" name="Rounded Rectangle 59"/>
          <p:cNvSpPr/>
          <p:nvPr/>
        </p:nvSpPr>
        <p:spPr>
          <a:xfrm>
            <a:off x="2011680" y="5436108"/>
            <a:ext cx="2560320" cy="548640"/>
          </a:xfrm>
          <a:prstGeom prst="roundRect">
            <a:avLst>
              <a:gd name="adj" fmla="val 6000"/>
            </a:avLst>
          </a:prstGeom>
          <a:solidFill>
            <a:srgbClr val="100D07"/>
          </a:solidFill>
          <a:ln w="15875">
            <a:solidFill>
              <a:srgbClr val="877034"/>
            </a:solidFill>
          </a:ln>
        </p:spPr>
        <p:txBody>
          <a:bodyPr rtlCol="0" anchor="ctr"/>
          <a:lstStyle/>
          <a:p/>
        </p:txBody>
      </p:sp>
      <p:sp>
        <p:nvSpPr>
          <p:cNvPr id="61" name="TextBox 60"/>
          <p:cNvSpPr txBox="1"/>
          <p:nvPr/>
        </p:nvSpPr>
        <p:spPr>
          <a:xfrm>
            <a:off x="2011680" y="5436108"/>
            <a:ext cx="2560320" cy="548640"/>
          </a:xfrm>
          <a:prstGeom prst="rect">
            <a:avLst/>
          </a:prstGeom>
          <a:noFill/>
        </p:spPr>
        <p:txBody>
          <a:bodyPr wrap="square" lIns="0" rIns="0" tIns="0" bIns="0" anchor="ctr">
            <a:spAutoFit/>
          </a:bodyPr>
          <a:lstStyle/>
          <a:p>
            <a:pPr algn="ctr"/>
            <a:r>
              <a:rPr sz="1700" b="1" i="0">
                <a:solidFill>
                  <a:srgbClr val="F0D58A"/>
                </a:solidFill>
                <a:latin typeface="Cinzel"/>
              </a:rPr>
              <a:t>No setup fee</a:t>
            </a:r>
          </a:p>
        </p:txBody>
      </p:sp>
      <p:sp>
        <p:nvSpPr>
          <p:cNvPr id="62" name="Rounded Rectangle 61"/>
          <p:cNvSpPr/>
          <p:nvPr/>
        </p:nvSpPr>
        <p:spPr>
          <a:xfrm>
            <a:off x="4846320" y="5436108"/>
            <a:ext cx="2560320" cy="548640"/>
          </a:xfrm>
          <a:prstGeom prst="roundRect">
            <a:avLst>
              <a:gd name="adj" fmla="val 6000"/>
            </a:avLst>
          </a:prstGeom>
          <a:solidFill>
            <a:srgbClr val="100D07"/>
          </a:solidFill>
          <a:ln w="15875">
            <a:solidFill>
              <a:srgbClr val="877034"/>
            </a:solidFill>
          </a:ln>
        </p:spPr>
        <p:txBody>
          <a:bodyPr rtlCol="0" anchor="ctr"/>
          <a:lstStyle/>
          <a:p/>
        </p:txBody>
      </p:sp>
      <p:sp>
        <p:nvSpPr>
          <p:cNvPr id="63" name="TextBox 62"/>
          <p:cNvSpPr txBox="1"/>
          <p:nvPr/>
        </p:nvSpPr>
        <p:spPr>
          <a:xfrm>
            <a:off x="4846320" y="5436108"/>
            <a:ext cx="2560320" cy="548640"/>
          </a:xfrm>
          <a:prstGeom prst="rect">
            <a:avLst/>
          </a:prstGeom>
          <a:noFill/>
        </p:spPr>
        <p:txBody>
          <a:bodyPr wrap="square" lIns="0" rIns="0" tIns="0" bIns="0" anchor="ctr">
            <a:spAutoFit/>
          </a:bodyPr>
          <a:lstStyle/>
          <a:p>
            <a:pPr algn="ctr"/>
            <a:r>
              <a:rPr sz="1700" b="1" i="0">
                <a:solidFill>
                  <a:srgbClr val="F0D58A"/>
                </a:solidFill>
                <a:latin typeface="Cinzel"/>
              </a:rPr>
              <a:t>No contract</a:t>
            </a:r>
          </a:p>
        </p:txBody>
      </p:sp>
      <p:sp>
        <p:nvSpPr>
          <p:cNvPr id="64" name="Rounded Rectangle 63"/>
          <p:cNvSpPr/>
          <p:nvPr/>
        </p:nvSpPr>
        <p:spPr>
          <a:xfrm>
            <a:off x="7680960" y="5436108"/>
            <a:ext cx="2560320" cy="548640"/>
          </a:xfrm>
          <a:prstGeom prst="roundRect">
            <a:avLst>
              <a:gd name="adj" fmla="val 6000"/>
            </a:avLst>
          </a:prstGeom>
          <a:solidFill>
            <a:srgbClr val="100D07"/>
          </a:solidFill>
          <a:ln w="15875">
            <a:solidFill>
              <a:srgbClr val="877034"/>
            </a:solidFill>
          </a:ln>
        </p:spPr>
        <p:txBody>
          <a:bodyPr rtlCol="0" anchor="ctr"/>
          <a:lstStyle/>
          <a:p/>
        </p:txBody>
      </p:sp>
      <p:sp>
        <p:nvSpPr>
          <p:cNvPr id="65" name="TextBox 64"/>
          <p:cNvSpPr txBox="1"/>
          <p:nvPr/>
        </p:nvSpPr>
        <p:spPr>
          <a:xfrm>
            <a:off x="7680960" y="5436108"/>
            <a:ext cx="2560320" cy="548640"/>
          </a:xfrm>
          <a:prstGeom prst="rect">
            <a:avLst/>
          </a:prstGeom>
          <a:noFill/>
        </p:spPr>
        <p:txBody>
          <a:bodyPr wrap="square" lIns="0" rIns="0" tIns="0" bIns="0" anchor="ctr">
            <a:spAutoFit/>
          </a:bodyPr>
          <a:lstStyle/>
          <a:p>
            <a:pPr algn="ctr"/>
            <a:r>
              <a:rPr sz="1700" b="1" i="0">
                <a:solidFill>
                  <a:srgbClr val="F0D58A"/>
                </a:solidFill>
                <a:latin typeface="Cinzel"/>
              </a:rPr>
              <a:t>Cancel anytime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172179" y="2529810"/>
            <a:ext cx="54864" cy="54864"/>
          </a:xfrm>
          <a:prstGeom prst="ellipse">
            <a:avLst/>
          </a:prstGeom>
          <a:solidFill>
            <a:srgbClr val="9C8A59"/>
          </a:solidFill>
          <a:ln>
            <a:noFill/>
          </a:ln>
        </p:spPr>
        <p:txBody>
          <a:bodyPr rtlCol="0" anchor="ctr"/>
          <a:lstStyle/>
          <a:p/>
        </p:txBody>
      </p:sp>
      <p:sp>
        <p:nvSpPr>
          <p:cNvPr id="4" name="Oval 3"/>
          <p:cNvSpPr/>
          <p:nvPr/>
        </p:nvSpPr>
        <p:spPr>
          <a:xfrm>
            <a:off x="1342030" y="2252133"/>
            <a:ext cx="45720" cy="45720"/>
          </a:xfrm>
          <a:prstGeom prst="ellipse">
            <a:avLst/>
          </a:prstGeom>
          <a:solidFill>
            <a:srgbClr val="75612D"/>
          </a:solidFill>
          <a:ln>
            <a:noFill/>
          </a:ln>
        </p:spPr>
        <p:txBody>
          <a:bodyPr rtlCol="0" anchor="ctr"/>
          <a:lstStyle/>
          <a:p/>
        </p:txBody>
      </p:sp>
      <p:sp>
        <p:nvSpPr>
          <p:cNvPr id="5" name="Oval 4"/>
          <p:cNvSpPr/>
          <p:nvPr/>
        </p:nvSpPr>
        <p:spPr>
          <a:xfrm>
            <a:off x="4344485" y="951266"/>
            <a:ext cx="36576" cy="36576"/>
          </a:xfrm>
          <a:prstGeom prst="ellipse">
            <a:avLst/>
          </a:prstGeom>
          <a:solidFill>
            <a:srgbClr val="6A451C"/>
          </a:solidFill>
          <a:ln>
            <a:noFill/>
          </a:ln>
        </p:spPr>
        <p:txBody>
          <a:bodyPr rtlCol="0" anchor="ctr"/>
          <a:lstStyle/>
          <a:p/>
        </p:txBody>
      </p:sp>
      <p:sp>
        <p:nvSpPr>
          <p:cNvPr id="6" name="Oval 5"/>
          <p:cNvSpPr/>
          <p:nvPr/>
        </p:nvSpPr>
        <p:spPr>
          <a:xfrm>
            <a:off x="1153516" y="5502592"/>
            <a:ext cx="36576" cy="36576"/>
          </a:xfrm>
          <a:prstGeom prst="ellipse">
            <a:avLst/>
          </a:prstGeom>
          <a:solidFill>
            <a:srgbClr val="987F3A"/>
          </a:solidFill>
          <a:ln>
            <a:noFill/>
          </a:ln>
        </p:spPr>
        <p:txBody>
          <a:bodyPr rtlCol="0" anchor="ctr"/>
          <a:lstStyle/>
          <a:p/>
        </p:txBody>
      </p:sp>
      <p:sp>
        <p:nvSpPr>
          <p:cNvPr id="7" name="Oval 6"/>
          <p:cNvSpPr/>
          <p:nvPr/>
        </p:nvSpPr>
        <p:spPr>
          <a:xfrm>
            <a:off x="7642842" y="5806484"/>
            <a:ext cx="54864" cy="54864"/>
          </a:xfrm>
          <a:prstGeom prst="ellipse">
            <a:avLst/>
          </a:prstGeom>
          <a:solidFill>
            <a:srgbClr val="9C8A59"/>
          </a:solidFill>
          <a:ln>
            <a:noFill/>
          </a:ln>
        </p:spPr>
        <p:txBody>
          <a:bodyPr rtlCol="0" anchor="ctr"/>
          <a:lstStyle/>
          <a:p/>
        </p:txBody>
      </p:sp>
      <p:sp>
        <p:nvSpPr>
          <p:cNvPr id="8" name="Oval 7"/>
          <p:cNvSpPr/>
          <p:nvPr/>
        </p:nvSpPr>
        <p:spPr>
          <a:xfrm>
            <a:off x="9463174" y="4188229"/>
            <a:ext cx="45720" cy="45720"/>
          </a:xfrm>
          <a:prstGeom prst="ellipse">
            <a:avLst/>
          </a:prstGeom>
          <a:solidFill>
            <a:srgbClr val="442D13"/>
          </a:solidFill>
          <a:ln>
            <a:noFill/>
          </a:ln>
        </p:spPr>
        <p:txBody>
          <a:bodyPr rtlCol="0" anchor="ctr"/>
          <a:lstStyle/>
          <a:p/>
        </p:txBody>
      </p:sp>
      <p:sp>
        <p:nvSpPr>
          <p:cNvPr id="9" name="Oval 8"/>
          <p:cNvSpPr/>
          <p:nvPr/>
        </p:nvSpPr>
        <p:spPr>
          <a:xfrm>
            <a:off x="3416231" y="5893410"/>
            <a:ext cx="45720" cy="45720"/>
          </a:xfrm>
          <a:prstGeom prst="ellipse">
            <a:avLst/>
          </a:prstGeom>
          <a:solidFill>
            <a:srgbClr val="A2873D"/>
          </a:solidFill>
          <a:ln>
            <a:noFill/>
          </a:ln>
        </p:spPr>
        <p:txBody>
          <a:bodyPr rtlCol="0" anchor="ctr"/>
          <a:lstStyle/>
          <a:p/>
        </p:txBody>
      </p:sp>
      <p:sp>
        <p:nvSpPr>
          <p:cNvPr id="10" name="Oval 9"/>
          <p:cNvSpPr/>
          <p:nvPr/>
        </p:nvSpPr>
        <p:spPr>
          <a:xfrm>
            <a:off x="10803828" y="1976985"/>
            <a:ext cx="36576" cy="36576"/>
          </a:xfrm>
          <a:prstGeom prst="ellipse">
            <a:avLst/>
          </a:prstGeom>
          <a:solidFill>
            <a:srgbClr val="78642E"/>
          </a:solidFill>
          <a:ln>
            <a:noFill/>
          </a:ln>
        </p:spPr>
        <p:txBody>
          <a:bodyPr rtlCol="0" anchor="ctr"/>
          <a:lstStyle/>
          <a:p/>
        </p:txBody>
      </p:sp>
      <p:sp>
        <p:nvSpPr>
          <p:cNvPr id="11" name="Oval 10"/>
          <p:cNvSpPr/>
          <p:nvPr/>
        </p:nvSpPr>
        <p:spPr>
          <a:xfrm>
            <a:off x="3456152" y="1609481"/>
            <a:ext cx="36576" cy="36576"/>
          </a:xfrm>
          <a:prstGeom prst="ellipse">
            <a:avLst/>
          </a:prstGeom>
          <a:solidFill>
            <a:srgbClr val="483B1C"/>
          </a:solidFill>
          <a:ln>
            <a:noFill/>
          </a:ln>
        </p:spPr>
        <p:txBody>
          <a:bodyPr rtlCol="0" anchor="ctr"/>
          <a:lstStyle/>
          <a:p/>
        </p:txBody>
      </p:sp>
      <p:sp>
        <p:nvSpPr>
          <p:cNvPr id="12" name="Oval 11"/>
          <p:cNvSpPr/>
          <p:nvPr/>
        </p:nvSpPr>
        <p:spPr>
          <a:xfrm>
            <a:off x="10565253" y="6098866"/>
            <a:ext cx="73152" cy="73152"/>
          </a:xfrm>
          <a:prstGeom prst="ellipse">
            <a:avLst/>
          </a:prstGeom>
          <a:solidFill>
            <a:srgbClr val="B09C65"/>
          </a:solidFill>
          <a:ln>
            <a:noFill/>
          </a:ln>
        </p:spPr>
        <p:txBody>
          <a:bodyPr rtlCol="0" anchor="ctr"/>
          <a:lstStyle/>
          <a:p/>
        </p:txBody>
      </p:sp>
      <p:sp>
        <p:nvSpPr>
          <p:cNvPr id="13" name="Oval 12"/>
          <p:cNvSpPr/>
          <p:nvPr/>
        </p:nvSpPr>
        <p:spPr>
          <a:xfrm>
            <a:off x="6051209" y="5641003"/>
            <a:ext cx="73152" cy="73152"/>
          </a:xfrm>
          <a:prstGeom prst="ellipse">
            <a:avLst/>
          </a:prstGeom>
          <a:solidFill>
            <a:srgbClr val="907837"/>
          </a:solidFill>
          <a:ln>
            <a:noFill/>
          </a:ln>
        </p:spPr>
        <p:txBody>
          <a:bodyPr rtlCol="0" anchor="ctr"/>
          <a:lstStyle/>
          <a:p/>
        </p:txBody>
      </p:sp>
      <p:sp>
        <p:nvSpPr>
          <p:cNvPr id="14" name="Oval 13"/>
          <p:cNvSpPr/>
          <p:nvPr/>
        </p:nvSpPr>
        <p:spPr>
          <a:xfrm>
            <a:off x="6088951" y="5278506"/>
            <a:ext cx="36576" cy="36576"/>
          </a:xfrm>
          <a:prstGeom prst="ellipse">
            <a:avLst/>
          </a:prstGeom>
          <a:solidFill>
            <a:srgbClr val="4E3316"/>
          </a:solidFill>
          <a:ln>
            <a:noFill/>
          </a:ln>
        </p:spPr>
        <p:txBody>
          <a:bodyPr rtlCol="0" anchor="ctr"/>
          <a:lstStyle/>
          <a:p/>
        </p:txBody>
      </p:sp>
      <p:sp>
        <p:nvSpPr>
          <p:cNvPr id="15" name="Oval 14"/>
          <p:cNvSpPr/>
          <p:nvPr/>
        </p:nvSpPr>
        <p:spPr>
          <a:xfrm>
            <a:off x="9054577" y="1258699"/>
            <a:ext cx="45720" cy="45720"/>
          </a:xfrm>
          <a:prstGeom prst="ellipse">
            <a:avLst/>
          </a:prstGeom>
          <a:solidFill>
            <a:srgbClr val="442D13"/>
          </a:solidFill>
          <a:ln>
            <a:noFill/>
          </a:ln>
        </p:spPr>
        <p:txBody>
          <a:bodyPr rtlCol="0" anchor="ctr"/>
          <a:lstStyle/>
          <a:p/>
        </p:txBody>
      </p:sp>
      <p:sp>
        <p:nvSpPr>
          <p:cNvPr id="16" name="Oval 15"/>
          <p:cNvSpPr/>
          <p:nvPr/>
        </p:nvSpPr>
        <p:spPr>
          <a:xfrm>
            <a:off x="8169308" y="3175419"/>
            <a:ext cx="73152" cy="73152"/>
          </a:xfrm>
          <a:prstGeom prst="ellipse">
            <a:avLst/>
          </a:prstGeom>
          <a:solidFill>
            <a:srgbClr val="917937"/>
          </a:solidFill>
          <a:ln>
            <a:noFill/>
          </a:ln>
        </p:spPr>
        <p:txBody>
          <a:bodyPr rtlCol="0" anchor="ctr"/>
          <a:lstStyle/>
          <a:p/>
        </p:txBody>
      </p:sp>
      <p:sp>
        <p:nvSpPr>
          <p:cNvPr id="17" name="Oval 16"/>
          <p:cNvSpPr/>
          <p:nvPr/>
        </p:nvSpPr>
        <p:spPr>
          <a:xfrm>
            <a:off x="2225440" y="3771044"/>
            <a:ext cx="36576" cy="36576"/>
          </a:xfrm>
          <a:prstGeom prst="ellipse">
            <a:avLst/>
          </a:prstGeom>
          <a:solidFill>
            <a:srgbClr val="65593A"/>
          </a:solidFill>
          <a:ln>
            <a:noFill/>
          </a:ln>
        </p:spPr>
        <p:txBody>
          <a:bodyPr rtlCol="0" anchor="ctr"/>
          <a:lstStyle/>
          <a:p/>
        </p:txBody>
      </p:sp>
      <p:sp>
        <p:nvSpPr>
          <p:cNvPr id="18" name="Oval 17"/>
          <p:cNvSpPr/>
          <p:nvPr/>
        </p:nvSpPr>
        <p:spPr>
          <a:xfrm>
            <a:off x="4215671" y="4126818"/>
            <a:ext cx="36576" cy="36576"/>
          </a:xfrm>
          <a:prstGeom prst="ellipse">
            <a:avLst/>
          </a:prstGeom>
          <a:solidFill>
            <a:srgbClr val="BEA86D"/>
          </a:solidFill>
          <a:ln>
            <a:noFill/>
          </a:ln>
        </p:spPr>
        <p:txBody>
          <a:bodyPr rtlCol="0" anchor="ctr"/>
          <a:lstStyle/>
          <a:p/>
        </p:txBody>
      </p:sp>
      <p:sp>
        <p:nvSpPr>
          <p:cNvPr id="19" name="Oval 18"/>
          <p:cNvSpPr/>
          <p:nvPr/>
        </p:nvSpPr>
        <p:spPr>
          <a:xfrm>
            <a:off x="7791817" y="4420965"/>
            <a:ext cx="27432" cy="27432"/>
          </a:xfrm>
          <a:prstGeom prst="ellipse">
            <a:avLst/>
          </a:prstGeom>
          <a:solidFill>
            <a:srgbClr val="835522"/>
          </a:solidFill>
          <a:ln>
            <a:noFill/>
          </a:ln>
        </p:spPr>
        <p:txBody>
          <a:bodyPr rtlCol="0" anchor="ctr"/>
          <a:lstStyle/>
          <a:p/>
        </p:txBody>
      </p:sp>
      <p:sp>
        <p:nvSpPr>
          <p:cNvPr id="20" name="Oval 19"/>
          <p:cNvSpPr/>
          <p:nvPr/>
        </p:nvSpPr>
        <p:spPr>
          <a:xfrm>
            <a:off x="6984505" y="4931270"/>
            <a:ext cx="54864" cy="54864"/>
          </a:xfrm>
          <a:prstGeom prst="ellipse">
            <a:avLst/>
          </a:prstGeom>
          <a:solidFill>
            <a:srgbClr val="7C5120"/>
          </a:solidFill>
          <a:ln>
            <a:noFill/>
          </a:ln>
        </p:spPr>
        <p:txBody>
          <a:bodyPr rtlCol="0" anchor="ctr"/>
          <a:lstStyle/>
          <a:p/>
        </p:txBody>
      </p:sp>
      <p:sp>
        <p:nvSpPr>
          <p:cNvPr id="21" name="Oval 20"/>
          <p:cNvSpPr/>
          <p:nvPr/>
        </p:nvSpPr>
        <p:spPr>
          <a:xfrm>
            <a:off x="1754177" y="672446"/>
            <a:ext cx="54864" cy="54864"/>
          </a:xfrm>
          <a:prstGeom prst="ellipse">
            <a:avLst/>
          </a:prstGeom>
          <a:solidFill>
            <a:srgbClr val="4D442C"/>
          </a:solidFill>
          <a:ln>
            <a:noFill/>
          </a:ln>
        </p:spPr>
        <p:txBody>
          <a:bodyPr rtlCol="0" anchor="ctr"/>
          <a:lstStyle/>
          <a:p/>
        </p:txBody>
      </p:sp>
      <p:sp>
        <p:nvSpPr>
          <p:cNvPr id="22" name="Oval 21"/>
          <p:cNvSpPr/>
          <p:nvPr/>
        </p:nvSpPr>
        <p:spPr>
          <a:xfrm>
            <a:off x="467018" y="2248821"/>
            <a:ext cx="73152" cy="73152"/>
          </a:xfrm>
          <a:prstGeom prst="ellipse">
            <a:avLst/>
          </a:prstGeom>
          <a:solidFill>
            <a:srgbClr val="845622"/>
          </a:solidFill>
          <a:ln>
            <a:noFill/>
          </a:ln>
        </p:spPr>
        <p:txBody>
          <a:bodyPr rtlCol="0" anchor="ctr"/>
          <a:lstStyle/>
          <a:p/>
        </p:txBody>
      </p:sp>
      <p:sp>
        <p:nvSpPr>
          <p:cNvPr id="23" name="Oval 22"/>
          <p:cNvSpPr/>
          <p:nvPr/>
        </p:nvSpPr>
        <p:spPr>
          <a:xfrm>
            <a:off x="10577478" y="893670"/>
            <a:ext cx="73152" cy="73152"/>
          </a:xfrm>
          <a:prstGeom prst="ellipse">
            <a:avLst/>
          </a:prstGeom>
          <a:solidFill>
            <a:srgbClr val="7B6C46"/>
          </a:solidFill>
          <a:ln>
            <a:noFill/>
          </a:ln>
        </p:spPr>
        <p:txBody>
          <a:bodyPr rtlCol="0" anchor="ctr"/>
          <a:lstStyle/>
          <a:p/>
        </p:txBody>
      </p:sp>
      <p:sp>
        <p:nvSpPr>
          <p:cNvPr id="24" name="Oval 23"/>
          <p:cNvSpPr/>
          <p:nvPr/>
        </p:nvSpPr>
        <p:spPr>
          <a:xfrm>
            <a:off x="7919373" y="432485"/>
            <a:ext cx="27432" cy="27432"/>
          </a:xfrm>
          <a:prstGeom prst="ellipse">
            <a:avLst/>
          </a:prstGeom>
          <a:solidFill>
            <a:srgbClr val="4B422B"/>
          </a:solidFill>
          <a:ln>
            <a:noFill/>
          </a:ln>
        </p:spPr>
        <p:txBody>
          <a:bodyPr rtlCol="0" anchor="ctr"/>
          <a:lstStyle/>
          <a:p/>
        </p:txBody>
      </p:sp>
      <p:sp>
        <p:nvSpPr>
          <p:cNvPr id="25" name="Oval 24"/>
          <p:cNvSpPr/>
          <p:nvPr/>
        </p:nvSpPr>
        <p:spPr>
          <a:xfrm>
            <a:off x="702482" y="4443904"/>
            <a:ext cx="36576" cy="36576"/>
          </a:xfrm>
          <a:prstGeom prst="ellipse">
            <a:avLst/>
          </a:prstGeom>
          <a:solidFill>
            <a:srgbClr val="452D13"/>
          </a:solidFill>
          <a:ln>
            <a:noFill/>
          </a:ln>
        </p:spPr>
        <p:txBody>
          <a:bodyPr rtlCol="0" anchor="ctr"/>
          <a:lstStyle/>
          <a:p/>
        </p:txBody>
      </p:sp>
      <p:sp>
        <p:nvSpPr>
          <p:cNvPr id="26" name="Oval 25"/>
          <p:cNvSpPr/>
          <p:nvPr/>
        </p:nvSpPr>
        <p:spPr>
          <a:xfrm>
            <a:off x="971028" y="3807780"/>
            <a:ext cx="73152" cy="73152"/>
          </a:xfrm>
          <a:prstGeom prst="ellipse">
            <a:avLst/>
          </a:prstGeom>
          <a:solidFill>
            <a:srgbClr val="A3883E"/>
          </a:solidFill>
          <a:ln>
            <a:noFill/>
          </a:ln>
        </p:spPr>
        <p:txBody>
          <a:bodyPr rtlCol="0" anchor="ctr"/>
          <a:lstStyle/>
          <a:p/>
        </p:txBody>
      </p:sp>
      <p:sp>
        <p:nvSpPr>
          <p:cNvPr id="27" name="Oval 26"/>
          <p:cNvSpPr/>
          <p:nvPr/>
        </p:nvSpPr>
        <p:spPr>
          <a:xfrm>
            <a:off x="670387" y="3302251"/>
            <a:ext cx="73152" cy="73152"/>
          </a:xfrm>
          <a:prstGeom prst="ellipse">
            <a:avLst/>
          </a:prstGeom>
          <a:solidFill>
            <a:srgbClr val="6D471D"/>
          </a:solidFill>
          <a:ln>
            <a:noFill/>
          </a:ln>
        </p:spPr>
        <p:txBody>
          <a:bodyPr rtlCol="0" anchor="ctr"/>
          <a:lstStyle/>
          <a:p/>
        </p:txBody>
      </p:sp>
      <p:sp>
        <p:nvSpPr>
          <p:cNvPr id="28" name="Oval 27"/>
          <p:cNvSpPr/>
          <p:nvPr/>
        </p:nvSpPr>
        <p:spPr>
          <a:xfrm>
            <a:off x="2928464" y="524978"/>
            <a:ext cx="36576" cy="36576"/>
          </a:xfrm>
          <a:prstGeom prst="ellipse">
            <a:avLst/>
          </a:prstGeom>
          <a:solidFill>
            <a:srgbClr val="594A22"/>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sp>
        <p:nvSpPr>
          <p:cNvPr id="49" name="TextBox 48"/>
          <p:cNvSpPr txBox="1"/>
          <p:nvPr/>
        </p:nvSpPr>
        <p:spPr>
          <a:xfrm>
            <a:off x="4545939" y="658368"/>
            <a:ext cx="3099816" cy="329184"/>
          </a:xfrm>
          <a:prstGeom prst="rect">
            <a:avLst/>
          </a:prstGeom>
          <a:noFill/>
        </p:spPr>
        <p:txBody>
          <a:bodyPr wrap="square" lIns="0" rIns="0" tIns="0" bIns="0" anchor="ctr">
            <a:spAutoFit/>
          </a:bodyPr>
          <a:lstStyle/>
          <a:p>
            <a:pPr algn="ctr"/>
            <a:r>
              <a:rPr sz="1300" b="1" i="0" spc="400">
                <a:solidFill>
                  <a:srgbClr val="C9A84C"/>
                </a:solidFill>
                <a:latin typeface="Montserrat"/>
              </a:rPr>
              <a:t>THE WORK GUARANTEE</a:t>
            </a:r>
          </a:p>
        </p:txBody>
      </p:sp>
      <p:cxnSp>
        <p:nvCxnSpPr>
          <p:cNvPr id="50" name="Connector 49"/>
          <p:cNvCxnSpPr/>
          <p:nvPr/>
        </p:nvCxnSpPr>
        <p:spPr>
          <a:xfrm>
            <a:off x="3174339"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1" name="Diamond 50"/>
          <p:cNvSpPr/>
          <p:nvPr/>
        </p:nvSpPr>
        <p:spPr>
          <a:xfrm>
            <a:off x="3124047" y="772667"/>
            <a:ext cx="100584" cy="100584"/>
          </a:xfrm>
          <a:prstGeom prst="diamond">
            <a:avLst/>
          </a:prstGeom>
          <a:solidFill>
            <a:srgbClr val="C9A84C"/>
          </a:solidFill>
          <a:ln>
            <a:noFill/>
          </a:ln>
        </p:spPr>
        <p:txBody>
          <a:bodyPr rtlCol="0" anchor="ctr"/>
          <a:lstStyle/>
          <a:p/>
        </p:txBody>
      </p:sp>
      <p:cxnSp>
        <p:nvCxnSpPr>
          <p:cNvPr id="52" name="Connector 51"/>
          <p:cNvCxnSpPr/>
          <p:nvPr/>
        </p:nvCxnSpPr>
        <p:spPr>
          <a:xfrm>
            <a:off x="7782915"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8967063" y="772667"/>
            <a:ext cx="100584" cy="100584"/>
          </a:xfrm>
          <a:prstGeom prst="diamond">
            <a:avLst/>
          </a:prstGeom>
          <a:solidFill>
            <a:srgbClr val="C9A84C"/>
          </a:solidFill>
          <a:ln>
            <a:noFill/>
          </a:ln>
        </p:spPr>
        <p:txBody>
          <a:bodyPr rtlCol="0" anchor="ctr"/>
          <a:lstStyle/>
          <a:p/>
        </p:txBody>
      </p:sp>
      <p:sp>
        <p:nvSpPr>
          <p:cNvPr id="54" name="TextBox 53"/>
          <p:cNvSpPr txBox="1"/>
          <p:nvPr/>
        </p:nvSpPr>
        <p:spPr>
          <a:xfrm>
            <a:off x="1188720" y="1097280"/>
            <a:ext cx="9814255" cy="1828800"/>
          </a:xfrm>
          <a:prstGeom prst="rect">
            <a:avLst/>
          </a:prstGeom>
          <a:noFill/>
        </p:spPr>
        <p:txBody>
          <a:bodyPr wrap="square" lIns="0" rIns="0" tIns="0" bIns="0" anchor="ctr">
            <a:spAutoFit/>
          </a:bodyPr>
          <a:lstStyle/>
          <a:p>
            <a:pPr algn="ctr">
              <a:lnSpc>
                <a:spcPct val="105000"/>
              </a:lnSpc>
            </a:pPr>
            <a:r>
              <a:rPr sz="3400" b="1" i="0">
                <a:solidFill>
                  <a:srgbClr val="F0D58A"/>
                </a:solidFill>
                <a:latin typeface="Cinzel"/>
              </a:rPr>
              <a:t>Every month you're billed, you get a dispute round and a written report — or that month is free.</a:t>
            </a:r>
          </a:p>
        </p:txBody>
      </p:sp>
      <p:cxnSp>
        <p:nvCxnSpPr>
          <p:cNvPr id="55" name="Connector 54"/>
          <p:cNvCxnSpPr/>
          <p:nvPr/>
        </p:nvCxnSpPr>
        <p:spPr>
          <a:xfrm>
            <a:off x="4632807" y="3200400"/>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233007" y="3200400"/>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7" name="Diamond 56"/>
          <p:cNvSpPr/>
          <p:nvPr/>
        </p:nvSpPr>
        <p:spPr>
          <a:xfrm>
            <a:off x="6031839" y="3136392"/>
            <a:ext cx="128016" cy="128016"/>
          </a:xfrm>
          <a:prstGeom prst="diamond">
            <a:avLst/>
          </a:prstGeom>
          <a:solidFill>
            <a:srgbClr val="F0D58A"/>
          </a:solidFill>
          <a:ln>
            <a:noFill/>
          </a:ln>
        </p:spPr>
        <p:txBody>
          <a:bodyPr rtlCol="0" anchor="ctr"/>
          <a:lstStyle/>
          <a:p/>
        </p:txBody>
      </p:sp>
      <p:sp>
        <p:nvSpPr>
          <p:cNvPr id="58" name="Rounded Rectangle 57"/>
          <p:cNvSpPr/>
          <p:nvPr/>
        </p:nvSpPr>
        <p:spPr>
          <a:xfrm>
            <a:off x="2194560" y="3520440"/>
            <a:ext cx="7772400" cy="2103120"/>
          </a:xfrm>
          <a:prstGeom prst="roundRect">
            <a:avLst>
              <a:gd name="adj" fmla="val 6000"/>
            </a:avLst>
          </a:prstGeom>
          <a:solidFill>
            <a:srgbClr val="100D07"/>
          </a:solidFill>
          <a:ln w="15875">
            <a:solidFill>
              <a:srgbClr val="B0533C"/>
            </a:solidFill>
          </a:ln>
        </p:spPr>
        <p:txBody>
          <a:bodyPr rtlCol="0" anchor="ctr"/>
          <a:lstStyle/>
          <a:p/>
        </p:txBody>
      </p:sp>
      <p:sp>
        <p:nvSpPr>
          <p:cNvPr id="59" name="TextBox 58"/>
          <p:cNvSpPr txBox="1"/>
          <p:nvPr/>
        </p:nvSpPr>
        <p:spPr>
          <a:xfrm>
            <a:off x="2194560" y="3657600"/>
            <a:ext cx="7772400" cy="457200"/>
          </a:xfrm>
          <a:prstGeom prst="rect">
            <a:avLst/>
          </a:prstGeom>
          <a:noFill/>
        </p:spPr>
        <p:txBody>
          <a:bodyPr wrap="square" lIns="0" rIns="0" tIns="0" bIns="0" anchor="t">
            <a:spAutoFit/>
          </a:bodyPr>
          <a:lstStyle/>
          <a:p>
            <a:pPr algn="ctr"/>
            <a:r>
              <a:rPr sz="1400" b="1" i="0" spc="400">
                <a:solidFill>
                  <a:srgbClr val="D9654A"/>
                </a:solidFill>
                <a:latin typeface="Montserrat"/>
              </a:rPr>
              <a:t>WHAT I WILL NOT PROMISE</a:t>
            </a:r>
          </a:p>
        </p:txBody>
      </p:sp>
      <p:sp>
        <p:nvSpPr>
          <p:cNvPr id="60" name="TextBox 59"/>
          <p:cNvSpPr txBox="1"/>
          <p:nvPr/>
        </p:nvSpPr>
        <p:spPr>
          <a:xfrm>
            <a:off x="2514600" y="4251960"/>
            <a:ext cx="2377440" cy="1097280"/>
          </a:xfrm>
          <a:prstGeom prst="rect">
            <a:avLst/>
          </a:prstGeom>
          <a:noFill/>
        </p:spPr>
        <p:txBody>
          <a:bodyPr wrap="square" lIns="0" rIns="0" tIns="0" bIns="0" anchor="ctr">
            <a:spAutoFit/>
          </a:bodyPr>
          <a:lstStyle/>
          <a:p>
            <a:pPr algn="ctr">
              <a:lnSpc>
                <a:spcPct val="105000"/>
              </a:lnSpc>
            </a:pPr>
            <a:r>
              <a:rPr sz="2100" b="1" i="0">
                <a:solidFill>
                  <a:srgbClr val="EFE3C6"/>
                </a:solidFill>
                <a:latin typeface="Cinzel"/>
              </a:rPr>
              <a:t>A score</a:t>
            </a:r>
          </a:p>
        </p:txBody>
      </p:sp>
      <p:sp>
        <p:nvSpPr>
          <p:cNvPr id="61" name="TextBox 60"/>
          <p:cNvSpPr txBox="1"/>
          <p:nvPr/>
        </p:nvSpPr>
        <p:spPr>
          <a:xfrm>
            <a:off x="5029200" y="4251960"/>
            <a:ext cx="2377440" cy="1097280"/>
          </a:xfrm>
          <a:prstGeom prst="rect">
            <a:avLst/>
          </a:prstGeom>
          <a:noFill/>
        </p:spPr>
        <p:txBody>
          <a:bodyPr wrap="square" lIns="0" rIns="0" tIns="0" bIns="0" anchor="ctr">
            <a:spAutoFit/>
          </a:bodyPr>
          <a:lstStyle/>
          <a:p>
            <a:pPr algn="ctr">
              <a:lnSpc>
                <a:spcPct val="105000"/>
              </a:lnSpc>
            </a:pPr>
            <a:r>
              <a:rPr sz="2100" b="1" i="0">
                <a:solidFill>
                  <a:srgbClr val="EFE3C6"/>
                </a:solidFill>
                <a:latin typeface="Cinzel"/>
              </a:rPr>
              <a:t>A timeline</a:t>
            </a:r>
          </a:p>
        </p:txBody>
      </p:sp>
      <p:sp>
        <p:nvSpPr>
          <p:cNvPr id="62" name="TextBox 61"/>
          <p:cNvSpPr txBox="1"/>
          <p:nvPr/>
        </p:nvSpPr>
        <p:spPr>
          <a:xfrm>
            <a:off x="7543800" y="4251960"/>
            <a:ext cx="2377440" cy="1097280"/>
          </a:xfrm>
          <a:prstGeom prst="rect">
            <a:avLst/>
          </a:prstGeom>
          <a:noFill/>
        </p:spPr>
        <p:txBody>
          <a:bodyPr wrap="square" lIns="0" rIns="0" tIns="0" bIns="0" anchor="ctr">
            <a:spAutoFit/>
          </a:bodyPr>
          <a:lstStyle/>
          <a:p>
            <a:pPr algn="ctr">
              <a:lnSpc>
                <a:spcPct val="105000"/>
              </a:lnSpc>
            </a:pPr>
            <a:r>
              <a:rPr sz="2100" b="1" i="0">
                <a:solidFill>
                  <a:srgbClr val="EFE3C6"/>
                </a:solidFill>
                <a:latin typeface="Cinzel"/>
              </a:rPr>
              <a:t>Deleting accurate information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4580264" y="3963389"/>
            <a:ext cx="27432" cy="27432"/>
          </a:xfrm>
          <a:prstGeom prst="ellipse">
            <a:avLst/>
          </a:prstGeom>
          <a:solidFill>
            <a:srgbClr val="85764C"/>
          </a:solidFill>
          <a:ln>
            <a:noFill/>
          </a:ln>
        </p:spPr>
        <p:txBody>
          <a:bodyPr rtlCol="0" anchor="ctr"/>
          <a:lstStyle/>
          <a:p/>
        </p:txBody>
      </p:sp>
      <p:sp>
        <p:nvSpPr>
          <p:cNvPr id="4" name="Oval 3"/>
          <p:cNvSpPr/>
          <p:nvPr/>
        </p:nvSpPr>
        <p:spPr>
          <a:xfrm>
            <a:off x="3692039" y="6156133"/>
            <a:ext cx="54864" cy="54864"/>
          </a:xfrm>
          <a:prstGeom prst="ellipse">
            <a:avLst/>
          </a:prstGeom>
          <a:solidFill>
            <a:srgbClr val="927A38"/>
          </a:solidFill>
          <a:ln>
            <a:noFill/>
          </a:ln>
        </p:spPr>
        <p:txBody>
          <a:bodyPr rtlCol="0" anchor="ctr"/>
          <a:lstStyle/>
          <a:p/>
        </p:txBody>
      </p:sp>
      <p:sp>
        <p:nvSpPr>
          <p:cNvPr id="5" name="Oval 4"/>
          <p:cNvSpPr/>
          <p:nvPr/>
        </p:nvSpPr>
        <p:spPr>
          <a:xfrm>
            <a:off x="591188" y="4738133"/>
            <a:ext cx="54864" cy="54864"/>
          </a:xfrm>
          <a:prstGeom prst="ellipse">
            <a:avLst/>
          </a:prstGeom>
          <a:solidFill>
            <a:srgbClr val="9A813B"/>
          </a:solidFill>
          <a:ln>
            <a:noFill/>
          </a:ln>
        </p:spPr>
        <p:txBody>
          <a:bodyPr rtlCol="0" anchor="ctr"/>
          <a:lstStyle/>
          <a:p/>
        </p:txBody>
      </p:sp>
      <p:sp>
        <p:nvSpPr>
          <p:cNvPr id="6" name="Oval 5"/>
          <p:cNvSpPr/>
          <p:nvPr/>
        </p:nvSpPr>
        <p:spPr>
          <a:xfrm>
            <a:off x="4697472" y="6172499"/>
            <a:ext cx="45720" cy="45720"/>
          </a:xfrm>
          <a:prstGeom prst="ellipse">
            <a:avLst/>
          </a:prstGeom>
          <a:solidFill>
            <a:srgbClr val="977E39"/>
          </a:solidFill>
          <a:ln>
            <a:noFill/>
          </a:ln>
        </p:spPr>
        <p:txBody>
          <a:bodyPr rtlCol="0" anchor="ctr"/>
          <a:lstStyle/>
          <a:p/>
        </p:txBody>
      </p:sp>
      <p:sp>
        <p:nvSpPr>
          <p:cNvPr id="7" name="Oval 6"/>
          <p:cNvSpPr/>
          <p:nvPr/>
        </p:nvSpPr>
        <p:spPr>
          <a:xfrm>
            <a:off x="8195777" y="3613119"/>
            <a:ext cx="73152" cy="73152"/>
          </a:xfrm>
          <a:prstGeom prst="ellipse">
            <a:avLst/>
          </a:prstGeom>
          <a:solidFill>
            <a:srgbClr val="7B672F"/>
          </a:solidFill>
          <a:ln>
            <a:noFill/>
          </a:ln>
        </p:spPr>
        <p:txBody>
          <a:bodyPr rtlCol="0" anchor="ctr"/>
          <a:lstStyle/>
          <a:p/>
        </p:txBody>
      </p:sp>
      <p:sp>
        <p:nvSpPr>
          <p:cNvPr id="8" name="Oval 7"/>
          <p:cNvSpPr/>
          <p:nvPr/>
        </p:nvSpPr>
        <p:spPr>
          <a:xfrm>
            <a:off x="1999059" y="2626290"/>
            <a:ext cx="73152" cy="73152"/>
          </a:xfrm>
          <a:prstGeom prst="ellipse">
            <a:avLst/>
          </a:prstGeom>
          <a:solidFill>
            <a:srgbClr val="AB9762"/>
          </a:solidFill>
          <a:ln>
            <a:noFill/>
          </a:ln>
        </p:spPr>
        <p:txBody>
          <a:bodyPr rtlCol="0" anchor="ctr"/>
          <a:lstStyle/>
          <a:p/>
        </p:txBody>
      </p:sp>
      <p:sp>
        <p:nvSpPr>
          <p:cNvPr id="9" name="Oval 8"/>
          <p:cNvSpPr/>
          <p:nvPr/>
        </p:nvSpPr>
        <p:spPr>
          <a:xfrm>
            <a:off x="6221299" y="1416591"/>
            <a:ext cx="54864" cy="54864"/>
          </a:xfrm>
          <a:prstGeom prst="ellipse">
            <a:avLst/>
          </a:prstGeom>
          <a:solidFill>
            <a:srgbClr val="6F491D"/>
          </a:solidFill>
          <a:ln>
            <a:noFill/>
          </a:ln>
        </p:spPr>
        <p:txBody>
          <a:bodyPr rtlCol="0" anchor="ctr"/>
          <a:lstStyle/>
          <a:p/>
        </p:txBody>
      </p:sp>
      <p:sp>
        <p:nvSpPr>
          <p:cNvPr id="10" name="Oval 9"/>
          <p:cNvSpPr/>
          <p:nvPr/>
        </p:nvSpPr>
        <p:spPr>
          <a:xfrm>
            <a:off x="6272747" y="1776474"/>
            <a:ext cx="73152" cy="73152"/>
          </a:xfrm>
          <a:prstGeom prst="ellipse">
            <a:avLst/>
          </a:prstGeom>
          <a:solidFill>
            <a:srgbClr val="734B1E"/>
          </a:solidFill>
          <a:ln>
            <a:noFill/>
          </a:ln>
        </p:spPr>
        <p:txBody>
          <a:bodyPr rtlCol="0" anchor="ctr"/>
          <a:lstStyle/>
          <a:p/>
        </p:txBody>
      </p:sp>
      <p:sp>
        <p:nvSpPr>
          <p:cNvPr id="11" name="Oval 10"/>
          <p:cNvSpPr/>
          <p:nvPr/>
        </p:nvSpPr>
        <p:spPr>
          <a:xfrm>
            <a:off x="5124078" y="442059"/>
            <a:ext cx="36576" cy="36576"/>
          </a:xfrm>
          <a:prstGeom prst="ellipse">
            <a:avLst/>
          </a:prstGeom>
          <a:solidFill>
            <a:srgbClr val="794F20"/>
          </a:solidFill>
          <a:ln>
            <a:noFill/>
          </a:ln>
        </p:spPr>
        <p:txBody>
          <a:bodyPr rtlCol="0" anchor="ctr"/>
          <a:lstStyle/>
          <a:p/>
        </p:txBody>
      </p:sp>
      <p:sp>
        <p:nvSpPr>
          <p:cNvPr id="12" name="Oval 11"/>
          <p:cNvSpPr/>
          <p:nvPr/>
        </p:nvSpPr>
        <p:spPr>
          <a:xfrm>
            <a:off x="947127" y="2394796"/>
            <a:ext cx="54864" cy="54864"/>
          </a:xfrm>
          <a:prstGeom prst="ellipse">
            <a:avLst/>
          </a:prstGeom>
          <a:solidFill>
            <a:srgbClr val="8A7335"/>
          </a:solidFill>
          <a:ln>
            <a:noFill/>
          </a:ln>
        </p:spPr>
        <p:txBody>
          <a:bodyPr rtlCol="0" anchor="ctr"/>
          <a:lstStyle/>
          <a:p/>
        </p:txBody>
      </p:sp>
      <p:sp>
        <p:nvSpPr>
          <p:cNvPr id="13" name="Oval 12"/>
          <p:cNvSpPr/>
          <p:nvPr/>
        </p:nvSpPr>
        <p:spPr>
          <a:xfrm>
            <a:off x="6636624" y="503886"/>
            <a:ext cx="54864" cy="54864"/>
          </a:xfrm>
          <a:prstGeom prst="ellipse">
            <a:avLst/>
          </a:prstGeom>
          <a:solidFill>
            <a:srgbClr val="C2AC6F"/>
          </a:solidFill>
          <a:ln>
            <a:noFill/>
          </a:ln>
        </p:spPr>
        <p:txBody>
          <a:bodyPr rtlCol="0" anchor="ctr"/>
          <a:lstStyle/>
          <a:p/>
        </p:txBody>
      </p:sp>
      <p:sp>
        <p:nvSpPr>
          <p:cNvPr id="14" name="Oval 13"/>
          <p:cNvSpPr/>
          <p:nvPr/>
        </p:nvSpPr>
        <p:spPr>
          <a:xfrm>
            <a:off x="4554596" y="4197447"/>
            <a:ext cx="45720" cy="45720"/>
          </a:xfrm>
          <a:prstGeom prst="ellipse">
            <a:avLst/>
          </a:prstGeom>
          <a:solidFill>
            <a:srgbClr val="574822"/>
          </a:solidFill>
          <a:ln>
            <a:noFill/>
          </a:ln>
        </p:spPr>
        <p:txBody>
          <a:bodyPr rtlCol="0" anchor="ctr"/>
          <a:lstStyle/>
          <a:p/>
        </p:txBody>
      </p:sp>
      <p:sp>
        <p:nvSpPr>
          <p:cNvPr id="15" name="Oval 14"/>
          <p:cNvSpPr/>
          <p:nvPr/>
        </p:nvSpPr>
        <p:spPr>
          <a:xfrm>
            <a:off x="8098490" y="1184791"/>
            <a:ext cx="54864" cy="54864"/>
          </a:xfrm>
          <a:prstGeom prst="ellipse">
            <a:avLst/>
          </a:prstGeom>
          <a:solidFill>
            <a:srgbClr val="826D32"/>
          </a:solidFill>
          <a:ln>
            <a:noFill/>
          </a:ln>
        </p:spPr>
        <p:txBody>
          <a:bodyPr rtlCol="0" anchor="ctr"/>
          <a:lstStyle/>
          <a:p/>
        </p:txBody>
      </p:sp>
      <p:sp>
        <p:nvSpPr>
          <p:cNvPr id="16" name="Oval 15"/>
          <p:cNvSpPr/>
          <p:nvPr/>
        </p:nvSpPr>
        <p:spPr>
          <a:xfrm>
            <a:off x="8428162" y="377677"/>
            <a:ext cx="45720" cy="45720"/>
          </a:xfrm>
          <a:prstGeom prst="ellipse">
            <a:avLst/>
          </a:prstGeom>
          <a:solidFill>
            <a:srgbClr val="675528"/>
          </a:solidFill>
          <a:ln>
            <a:noFill/>
          </a:ln>
        </p:spPr>
        <p:txBody>
          <a:bodyPr rtlCol="0" anchor="ctr"/>
          <a:lstStyle/>
          <a:p/>
        </p:txBody>
      </p:sp>
      <p:sp>
        <p:nvSpPr>
          <p:cNvPr id="17" name="Oval 16"/>
          <p:cNvSpPr/>
          <p:nvPr/>
        </p:nvSpPr>
        <p:spPr>
          <a:xfrm>
            <a:off x="6833470" y="583074"/>
            <a:ext cx="36576" cy="36576"/>
          </a:xfrm>
          <a:prstGeom prst="ellipse">
            <a:avLst/>
          </a:prstGeom>
          <a:solidFill>
            <a:srgbClr val="BFA96D"/>
          </a:solidFill>
          <a:ln>
            <a:noFill/>
          </a:ln>
        </p:spPr>
        <p:txBody>
          <a:bodyPr rtlCol="0" anchor="ctr"/>
          <a:lstStyle/>
          <a:p/>
        </p:txBody>
      </p:sp>
      <p:sp>
        <p:nvSpPr>
          <p:cNvPr id="18" name="Oval 17"/>
          <p:cNvSpPr/>
          <p:nvPr/>
        </p:nvSpPr>
        <p:spPr>
          <a:xfrm>
            <a:off x="3483263" y="1595323"/>
            <a:ext cx="27432" cy="27432"/>
          </a:xfrm>
          <a:prstGeom prst="ellipse">
            <a:avLst/>
          </a:prstGeom>
          <a:solidFill>
            <a:srgbClr val="AF9B64"/>
          </a:solidFill>
          <a:ln>
            <a:noFill/>
          </a:ln>
        </p:spPr>
        <p:txBody>
          <a:bodyPr rtlCol="0" anchor="ctr"/>
          <a:lstStyle/>
          <a:p/>
        </p:txBody>
      </p:sp>
      <p:sp>
        <p:nvSpPr>
          <p:cNvPr id="19" name="Oval 18"/>
          <p:cNvSpPr/>
          <p:nvPr/>
        </p:nvSpPr>
        <p:spPr>
          <a:xfrm>
            <a:off x="8047294" y="5387121"/>
            <a:ext cx="36576" cy="36576"/>
          </a:xfrm>
          <a:prstGeom prst="ellipse">
            <a:avLst/>
          </a:prstGeom>
          <a:solidFill>
            <a:srgbClr val="74612D"/>
          </a:solidFill>
          <a:ln>
            <a:noFill/>
          </a:ln>
        </p:spPr>
        <p:txBody>
          <a:bodyPr rtlCol="0" anchor="ctr"/>
          <a:lstStyle/>
          <a:p/>
        </p:txBody>
      </p:sp>
      <p:sp>
        <p:nvSpPr>
          <p:cNvPr id="20" name="Oval 19"/>
          <p:cNvSpPr/>
          <p:nvPr/>
        </p:nvSpPr>
        <p:spPr>
          <a:xfrm>
            <a:off x="1595699" y="4906477"/>
            <a:ext cx="27432" cy="27432"/>
          </a:xfrm>
          <a:prstGeom prst="ellipse">
            <a:avLst/>
          </a:prstGeom>
          <a:solidFill>
            <a:srgbClr val="845622"/>
          </a:solidFill>
          <a:ln>
            <a:noFill/>
          </a:ln>
        </p:spPr>
        <p:txBody>
          <a:bodyPr rtlCol="0" anchor="ctr"/>
          <a:lstStyle/>
          <a:p/>
        </p:txBody>
      </p:sp>
      <p:sp>
        <p:nvSpPr>
          <p:cNvPr id="21" name="Oval 20"/>
          <p:cNvSpPr/>
          <p:nvPr/>
        </p:nvSpPr>
        <p:spPr>
          <a:xfrm>
            <a:off x="11123356" y="3019374"/>
            <a:ext cx="36576" cy="36576"/>
          </a:xfrm>
          <a:prstGeom prst="ellipse">
            <a:avLst/>
          </a:prstGeom>
          <a:solidFill>
            <a:srgbClr val="75612D"/>
          </a:solidFill>
          <a:ln>
            <a:noFill/>
          </a:ln>
        </p:spPr>
        <p:txBody>
          <a:bodyPr rtlCol="0" anchor="ctr"/>
          <a:lstStyle/>
          <a:p/>
        </p:txBody>
      </p:sp>
      <p:sp>
        <p:nvSpPr>
          <p:cNvPr id="22" name="Oval 21"/>
          <p:cNvSpPr/>
          <p:nvPr/>
        </p:nvSpPr>
        <p:spPr>
          <a:xfrm>
            <a:off x="7273830" y="3341388"/>
            <a:ext cx="36576" cy="36576"/>
          </a:xfrm>
          <a:prstGeom prst="ellipse">
            <a:avLst/>
          </a:prstGeom>
          <a:solidFill>
            <a:srgbClr val="603F1A"/>
          </a:solidFill>
          <a:ln>
            <a:noFill/>
          </a:ln>
        </p:spPr>
        <p:txBody>
          <a:bodyPr rtlCol="0" anchor="ctr"/>
          <a:lstStyle/>
          <a:p/>
        </p:txBody>
      </p:sp>
      <p:sp>
        <p:nvSpPr>
          <p:cNvPr id="23" name="Oval 22"/>
          <p:cNvSpPr/>
          <p:nvPr/>
        </p:nvSpPr>
        <p:spPr>
          <a:xfrm>
            <a:off x="1915719" y="1007944"/>
            <a:ext cx="54864" cy="54864"/>
          </a:xfrm>
          <a:prstGeom prst="ellipse">
            <a:avLst/>
          </a:prstGeom>
          <a:solidFill>
            <a:srgbClr val="625638"/>
          </a:solidFill>
          <a:ln>
            <a:noFill/>
          </a:ln>
        </p:spPr>
        <p:txBody>
          <a:bodyPr rtlCol="0" anchor="ctr"/>
          <a:lstStyle/>
          <a:p/>
        </p:txBody>
      </p:sp>
      <p:sp>
        <p:nvSpPr>
          <p:cNvPr id="24" name="Oval 23"/>
          <p:cNvSpPr/>
          <p:nvPr/>
        </p:nvSpPr>
        <p:spPr>
          <a:xfrm>
            <a:off x="713077" y="525040"/>
            <a:ext cx="36576" cy="36576"/>
          </a:xfrm>
          <a:prstGeom prst="ellipse">
            <a:avLst/>
          </a:prstGeom>
          <a:solidFill>
            <a:srgbClr val="AC6F2C"/>
          </a:solidFill>
          <a:ln>
            <a:noFill/>
          </a:ln>
        </p:spPr>
        <p:txBody>
          <a:bodyPr rtlCol="0" anchor="ctr"/>
          <a:lstStyle/>
          <a:p/>
        </p:txBody>
      </p:sp>
      <p:sp>
        <p:nvSpPr>
          <p:cNvPr id="25" name="Oval 24"/>
          <p:cNvSpPr/>
          <p:nvPr/>
        </p:nvSpPr>
        <p:spPr>
          <a:xfrm>
            <a:off x="606446" y="5409258"/>
            <a:ext cx="27432" cy="27432"/>
          </a:xfrm>
          <a:prstGeom prst="ellipse">
            <a:avLst/>
          </a:prstGeom>
          <a:solidFill>
            <a:srgbClr val="574822"/>
          </a:solidFill>
          <a:ln>
            <a:noFill/>
          </a:ln>
        </p:spPr>
        <p:txBody>
          <a:bodyPr rtlCol="0" anchor="ctr"/>
          <a:lstStyle/>
          <a:p/>
        </p:txBody>
      </p:sp>
      <p:sp>
        <p:nvSpPr>
          <p:cNvPr id="26" name="Oval 25"/>
          <p:cNvSpPr/>
          <p:nvPr/>
        </p:nvSpPr>
        <p:spPr>
          <a:xfrm>
            <a:off x="2537766" y="4483940"/>
            <a:ext cx="73152" cy="73152"/>
          </a:xfrm>
          <a:prstGeom prst="ellipse">
            <a:avLst/>
          </a:prstGeom>
          <a:solidFill>
            <a:srgbClr val="734B1E"/>
          </a:solidFill>
          <a:ln>
            <a:noFill/>
          </a:ln>
        </p:spPr>
        <p:txBody>
          <a:bodyPr rtlCol="0" anchor="ctr"/>
          <a:lstStyle/>
          <a:p/>
        </p:txBody>
      </p:sp>
      <p:sp>
        <p:nvSpPr>
          <p:cNvPr id="27" name="Oval 26"/>
          <p:cNvSpPr/>
          <p:nvPr/>
        </p:nvSpPr>
        <p:spPr>
          <a:xfrm>
            <a:off x="4882531" y="2642180"/>
            <a:ext cx="73152" cy="73152"/>
          </a:xfrm>
          <a:prstGeom prst="ellipse">
            <a:avLst/>
          </a:prstGeom>
          <a:solidFill>
            <a:srgbClr val="70491E"/>
          </a:solidFill>
          <a:ln>
            <a:noFill/>
          </a:ln>
        </p:spPr>
        <p:txBody>
          <a:bodyPr rtlCol="0" anchor="ctr"/>
          <a:lstStyle/>
          <a:p/>
        </p:txBody>
      </p:sp>
      <p:sp>
        <p:nvSpPr>
          <p:cNvPr id="28" name="Oval 27"/>
          <p:cNvSpPr/>
          <p:nvPr/>
        </p:nvSpPr>
        <p:spPr>
          <a:xfrm>
            <a:off x="2707104" y="4415595"/>
            <a:ext cx="54864" cy="54864"/>
          </a:xfrm>
          <a:prstGeom prst="ellipse">
            <a:avLst/>
          </a:prstGeom>
          <a:solidFill>
            <a:srgbClr val="BEA86D"/>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5181447" y="1731263"/>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CAPACITY</a:t>
            </a:r>
          </a:p>
        </p:txBody>
      </p:sp>
      <p:cxnSp>
        <p:nvCxnSpPr>
          <p:cNvPr id="51" name="Connector 50"/>
          <p:cNvCxnSpPr/>
          <p:nvPr/>
        </p:nvCxnSpPr>
        <p:spPr>
          <a:xfrm>
            <a:off x="3809847" y="189585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759555" y="1845563"/>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147407" y="1895856"/>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331555" y="1845563"/>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298192"/>
            <a:ext cx="9814255" cy="1691640"/>
          </a:xfrm>
          <a:prstGeom prst="rect">
            <a:avLst/>
          </a:prstGeom>
          <a:noFill/>
        </p:spPr>
        <p:txBody>
          <a:bodyPr wrap="square" lIns="0" rIns="0" tIns="0" bIns="0" anchor="b">
            <a:spAutoFit/>
          </a:bodyPr>
          <a:lstStyle/>
          <a:p>
            <a:pPr algn="ctr">
              <a:lnSpc>
                <a:spcPct val="105000"/>
              </a:lnSpc>
            </a:pPr>
            <a:r>
              <a:rPr sz="6000" b="1" i="0">
                <a:solidFill>
                  <a:srgbClr val="F0D58A"/>
                </a:solidFill>
                <a:latin typeface="Cinzel"/>
              </a:rPr>
              <a:t>Why only [25] files</a:t>
            </a:r>
          </a:p>
        </p:txBody>
      </p:sp>
      <p:cxnSp>
        <p:nvCxnSpPr>
          <p:cNvPr id="56" name="Connector 55"/>
          <p:cNvCxnSpPr/>
          <p:nvPr/>
        </p:nvCxnSpPr>
        <p:spPr>
          <a:xfrm>
            <a:off x="4632807" y="417271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4172712"/>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4108704"/>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4355592"/>
            <a:ext cx="9448495" cy="1072896"/>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Every file gets read by me, every month.</a:t>
            </a:r>
          </a:p>
          <a:p>
            <a:pPr algn="ctr">
              <a:lnSpc>
                <a:spcPct val="120000"/>
              </a:lnSpc>
              <a:spcAft>
                <a:spcPts val="800"/>
              </a:spcAft>
            </a:pPr>
            <a:r>
              <a:rPr sz="2000" b="0" i="0">
                <a:solidFill>
                  <a:srgbClr val="B9A57A"/>
                </a:solidFill>
                <a:latin typeface="Montserrat"/>
              </a:rPr>
              <a:t>When I'm full, you go on the waitlist.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2625213" y="4754008"/>
            <a:ext cx="73152" cy="73152"/>
          </a:xfrm>
          <a:prstGeom prst="ellipse">
            <a:avLst/>
          </a:prstGeom>
          <a:solidFill>
            <a:srgbClr val="4A412A"/>
          </a:solidFill>
          <a:ln>
            <a:noFill/>
          </a:ln>
        </p:spPr>
        <p:txBody>
          <a:bodyPr rtlCol="0" anchor="ctr"/>
          <a:lstStyle/>
          <a:p/>
        </p:txBody>
      </p:sp>
      <p:sp>
        <p:nvSpPr>
          <p:cNvPr id="4" name="Oval 3"/>
          <p:cNvSpPr/>
          <p:nvPr/>
        </p:nvSpPr>
        <p:spPr>
          <a:xfrm>
            <a:off x="5011710" y="5972878"/>
            <a:ext cx="54864" cy="54864"/>
          </a:xfrm>
          <a:prstGeom prst="ellipse">
            <a:avLst/>
          </a:prstGeom>
          <a:solidFill>
            <a:srgbClr val="B8772F"/>
          </a:solidFill>
          <a:ln>
            <a:noFill/>
          </a:ln>
        </p:spPr>
        <p:txBody>
          <a:bodyPr rtlCol="0" anchor="ctr"/>
          <a:lstStyle/>
          <a:p/>
        </p:txBody>
      </p:sp>
      <p:sp>
        <p:nvSpPr>
          <p:cNvPr id="5" name="Oval 4"/>
          <p:cNvSpPr/>
          <p:nvPr/>
        </p:nvSpPr>
        <p:spPr>
          <a:xfrm>
            <a:off x="5167924" y="5547611"/>
            <a:ext cx="73152" cy="73152"/>
          </a:xfrm>
          <a:prstGeom prst="ellipse">
            <a:avLst/>
          </a:prstGeom>
          <a:solidFill>
            <a:srgbClr val="473D28"/>
          </a:solidFill>
          <a:ln>
            <a:noFill/>
          </a:ln>
        </p:spPr>
        <p:txBody>
          <a:bodyPr rtlCol="0" anchor="ctr"/>
          <a:lstStyle/>
          <a:p/>
        </p:txBody>
      </p:sp>
      <p:sp>
        <p:nvSpPr>
          <p:cNvPr id="6" name="Oval 5"/>
          <p:cNvSpPr/>
          <p:nvPr/>
        </p:nvSpPr>
        <p:spPr>
          <a:xfrm>
            <a:off x="5751589" y="802263"/>
            <a:ext cx="36576" cy="36576"/>
          </a:xfrm>
          <a:prstGeom prst="ellipse">
            <a:avLst/>
          </a:prstGeom>
          <a:solidFill>
            <a:srgbClr val="806A31"/>
          </a:solidFill>
          <a:ln>
            <a:noFill/>
          </a:ln>
        </p:spPr>
        <p:txBody>
          <a:bodyPr rtlCol="0" anchor="ctr"/>
          <a:lstStyle/>
          <a:p/>
        </p:txBody>
      </p:sp>
      <p:sp>
        <p:nvSpPr>
          <p:cNvPr id="7" name="Oval 6"/>
          <p:cNvSpPr/>
          <p:nvPr/>
        </p:nvSpPr>
        <p:spPr>
          <a:xfrm>
            <a:off x="1074524" y="5021078"/>
            <a:ext cx="45720" cy="45720"/>
          </a:xfrm>
          <a:prstGeom prst="ellipse">
            <a:avLst/>
          </a:prstGeom>
          <a:solidFill>
            <a:srgbClr val="6B5E3D"/>
          </a:solidFill>
          <a:ln>
            <a:noFill/>
          </a:ln>
        </p:spPr>
        <p:txBody>
          <a:bodyPr rtlCol="0" anchor="ctr"/>
          <a:lstStyle/>
          <a:p/>
        </p:txBody>
      </p:sp>
      <p:sp>
        <p:nvSpPr>
          <p:cNvPr id="8" name="Oval 7"/>
          <p:cNvSpPr/>
          <p:nvPr/>
        </p:nvSpPr>
        <p:spPr>
          <a:xfrm>
            <a:off x="10314502" y="2209914"/>
            <a:ext cx="36576" cy="36576"/>
          </a:xfrm>
          <a:prstGeom prst="ellipse">
            <a:avLst/>
          </a:prstGeom>
          <a:solidFill>
            <a:srgbClr val="7A662F"/>
          </a:solidFill>
          <a:ln>
            <a:noFill/>
          </a:ln>
        </p:spPr>
        <p:txBody>
          <a:bodyPr rtlCol="0" anchor="ctr"/>
          <a:lstStyle/>
          <a:p/>
        </p:txBody>
      </p:sp>
      <p:sp>
        <p:nvSpPr>
          <p:cNvPr id="9" name="Oval 8"/>
          <p:cNvSpPr/>
          <p:nvPr/>
        </p:nvSpPr>
        <p:spPr>
          <a:xfrm>
            <a:off x="9089673" y="5794679"/>
            <a:ext cx="36576" cy="36576"/>
          </a:xfrm>
          <a:prstGeom prst="ellipse">
            <a:avLst/>
          </a:prstGeom>
          <a:solidFill>
            <a:srgbClr val="5E5336"/>
          </a:solidFill>
          <a:ln>
            <a:noFill/>
          </a:ln>
        </p:spPr>
        <p:txBody>
          <a:bodyPr rtlCol="0" anchor="ctr"/>
          <a:lstStyle/>
          <a:p/>
        </p:txBody>
      </p:sp>
      <p:sp>
        <p:nvSpPr>
          <p:cNvPr id="10" name="Oval 9"/>
          <p:cNvSpPr/>
          <p:nvPr/>
        </p:nvSpPr>
        <p:spPr>
          <a:xfrm>
            <a:off x="1856601" y="4639104"/>
            <a:ext cx="36576" cy="36576"/>
          </a:xfrm>
          <a:prstGeom prst="ellipse">
            <a:avLst/>
          </a:prstGeom>
          <a:solidFill>
            <a:srgbClr val="493F29"/>
          </a:solidFill>
          <a:ln>
            <a:noFill/>
          </a:ln>
        </p:spPr>
        <p:txBody>
          <a:bodyPr rtlCol="0" anchor="ctr"/>
          <a:lstStyle/>
          <a:p/>
        </p:txBody>
      </p:sp>
      <p:sp>
        <p:nvSpPr>
          <p:cNvPr id="11" name="Oval 10"/>
          <p:cNvSpPr/>
          <p:nvPr/>
        </p:nvSpPr>
        <p:spPr>
          <a:xfrm>
            <a:off x="8070426" y="957062"/>
            <a:ext cx="45720" cy="45720"/>
          </a:xfrm>
          <a:prstGeom prst="ellipse">
            <a:avLst/>
          </a:prstGeom>
          <a:solidFill>
            <a:srgbClr val="917937"/>
          </a:solidFill>
          <a:ln>
            <a:noFill/>
          </a:ln>
        </p:spPr>
        <p:txBody>
          <a:bodyPr rtlCol="0" anchor="ctr"/>
          <a:lstStyle/>
          <a:p/>
        </p:txBody>
      </p:sp>
      <p:sp>
        <p:nvSpPr>
          <p:cNvPr id="12" name="Oval 11"/>
          <p:cNvSpPr/>
          <p:nvPr/>
        </p:nvSpPr>
        <p:spPr>
          <a:xfrm>
            <a:off x="3450777" y="5996090"/>
            <a:ext cx="73152" cy="73152"/>
          </a:xfrm>
          <a:prstGeom prst="ellipse">
            <a:avLst/>
          </a:prstGeom>
          <a:solidFill>
            <a:srgbClr val="8A5A24"/>
          </a:solidFill>
          <a:ln>
            <a:noFill/>
          </a:ln>
        </p:spPr>
        <p:txBody>
          <a:bodyPr rtlCol="0" anchor="ctr"/>
          <a:lstStyle/>
          <a:p/>
        </p:txBody>
      </p:sp>
      <p:sp>
        <p:nvSpPr>
          <p:cNvPr id="13" name="Oval 12"/>
          <p:cNvSpPr/>
          <p:nvPr/>
        </p:nvSpPr>
        <p:spPr>
          <a:xfrm>
            <a:off x="3637042" y="1584134"/>
            <a:ext cx="36576" cy="36576"/>
          </a:xfrm>
          <a:prstGeom prst="ellipse">
            <a:avLst/>
          </a:prstGeom>
          <a:solidFill>
            <a:srgbClr val="918053"/>
          </a:solidFill>
          <a:ln>
            <a:noFill/>
          </a:ln>
        </p:spPr>
        <p:txBody>
          <a:bodyPr rtlCol="0" anchor="ctr"/>
          <a:lstStyle/>
          <a:p/>
        </p:txBody>
      </p:sp>
      <p:sp>
        <p:nvSpPr>
          <p:cNvPr id="14" name="Oval 13"/>
          <p:cNvSpPr/>
          <p:nvPr/>
        </p:nvSpPr>
        <p:spPr>
          <a:xfrm>
            <a:off x="7508807" y="912155"/>
            <a:ext cx="54864" cy="54864"/>
          </a:xfrm>
          <a:prstGeom prst="ellipse">
            <a:avLst/>
          </a:prstGeom>
          <a:solidFill>
            <a:srgbClr val="83734B"/>
          </a:solidFill>
          <a:ln>
            <a:noFill/>
          </a:ln>
        </p:spPr>
        <p:txBody>
          <a:bodyPr rtlCol="0" anchor="ctr"/>
          <a:lstStyle/>
          <a:p/>
        </p:txBody>
      </p:sp>
      <p:sp>
        <p:nvSpPr>
          <p:cNvPr id="15" name="Oval 14"/>
          <p:cNvSpPr/>
          <p:nvPr/>
        </p:nvSpPr>
        <p:spPr>
          <a:xfrm>
            <a:off x="4041043" y="3022478"/>
            <a:ext cx="45720" cy="45720"/>
          </a:xfrm>
          <a:prstGeom prst="ellipse">
            <a:avLst/>
          </a:prstGeom>
          <a:solidFill>
            <a:srgbClr val="986327"/>
          </a:solidFill>
          <a:ln>
            <a:noFill/>
          </a:ln>
        </p:spPr>
        <p:txBody>
          <a:bodyPr rtlCol="0" anchor="ctr"/>
          <a:lstStyle/>
          <a:p/>
        </p:txBody>
      </p:sp>
      <p:sp>
        <p:nvSpPr>
          <p:cNvPr id="16" name="Oval 15"/>
          <p:cNvSpPr/>
          <p:nvPr/>
        </p:nvSpPr>
        <p:spPr>
          <a:xfrm>
            <a:off x="9268582" y="4498815"/>
            <a:ext cx="36576" cy="36576"/>
          </a:xfrm>
          <a:prstGeom prst="ellipse">
            <a:avLst/>
          </a:prstGeom>
          <a:solidFill>
            <a:srgbClr val="554A30"/>
          </a:solidFill>
          <a:ln>
            <a:noFill/>
          </a:ln>
        </p:spPr>
        <p:txBody>
          <a:bodyPr rtlCol="0" anchor="ctr"/>
          <a:lstStyle/>
          <a:p/>
        </p:txBody>
      </p:sp>
      <p:sp>
        <p:nvSpPr>
          <p:cNvPr id="17" name="Oval 16"/>
          <p:cNvSpPr/>
          <p:nvPr/>
        </p:nvSpPr>
        <p:spPr>
          <a:xfrm>
            <a:off x="3046204" y="2070470"/>
            <a:ext cx="73152" cy="73152"/>
          </a:xfrm>
          <a:prstGeom prst="ellipse">
            <a:avLst/>
          </a:prstGeom>
          <a:solidFill>
            <a:srgbClr val="5F5336"/>
          </a:solidFill>
          <a:ln>
            <a:noFill/>
          </a:ln>
        </p:spPr>
        <p:txBody>
          <a:bodyPr rtlCol="0" anchor="ctr"/>
          <a:lstStyle/>
          <a:p/>
        </p:txBody>
      </p:sp>
      <p:sp>
        <p:nvSpPr>
          <p:cNvPr id="18" name="Oval 17"/>
          <p:cNvSpPr/>
          <p:nvPr/>
        </p:nvSpPr>
        <p:spPr>
          <a:xfrm>
            <a:off x="1787817" y="652005"/>
            <a:ext cx="27432" cy="27432"/>
          </a:xfrm>
          <a:prstGeom prst="ellipse">
            <a:avLst/>
          </a:prstGeom>
          <a:solidFill>
            <a:srgbClr val="8A7A4F"/>
          </a:solidFill>
          <a:ln>
            <a:noFill/>
          </a:ln>
        </p:spPr>
        <p:txBody>
          <a:bodyPr rtlCol="0" anchor="ctr"/>
          <a:lstStyle/>
          <a:p/>
        </p:txBody>
      </p:sp>
      <p:sp>
        <p:nvSpPr>
          <p:cNvPr id="19" name="Oval 18"/>
          <p:cNvSpPr/>
          <p:nvPr/>
        </p:nvSpPr>
        <p:spPr>
          <a:xfrm>
            <a:off x="7990053" y="5284103"/>
            <a:ext cx="45720" cy="45720"/>
          </a:xfrm>
          <a:prstGeom prst="ellipse">
            <a:avLst/>
          </a:prstGeom>
          <a:solidFill>
            <a:srgbClr val="5E4E24"/>
          </a:solidFill>
          <a:ln>
            <a:noFill/>
          </a:ln>
        </p:spPr>
        <p:txBody>
          <a:bodyPr rtlCol="0" anchor="ctr"/>
          <a:lstStyle/>
          <a:p/>
        </p:txBody>
      </p:sp>
      <p:sp>
        <p:nvSpPr>
          <p:cNvPr id="20" name="Oval 19"/>
          <p:cNvSpPr/>
          <p:nvPr/>
        </p:nvSpPr>
        <p:spPr>
          <a:xfrm>
            <a:off x="1053939" y="5677359"/>
            <a:ext cx="73152" cy="73152"/>
          </a:xfrm>
          <a:prstGeom prst="ellipse">
            <a:avLst/>
          </a:prstGeom>
          <a:solidFill>
            <a:srgbClr val="C0AA6E"/>
          </a:solidFill>
          <a:ln>
            <a:noFill/>
          </a:ln>
        </p:spPr>
        <p:txBody>
          <a:bodyPr rtlCol="0" anchor="ctr"/>
          <a:lstStyle/>
          <a:p/>
        </p:txBody>
      </p:sp>
      <p:sp>
        <p:nvSpPr>
          <p:cNvPr id="21" name="Oval 20"/>
          <p:cNvSpPr/>
          <p:nvPr/>
        </p:nvSpPr>
        <p:spPr>
          <a:xfrm>
            <a:off x="2049817" y="4292603"/>
            <a:ext cx="36576" cy="36576"/>
          </a:xfrm>
          <a:prstGeom prst="ellipse">
            <a:avLst/>
          </a:prstGeom>
          <a:solidFill>
            <a:srgbClr val="927A38"/>
          </a:solidFill>
          <a:ln>
            <a:noFill/>
          </a:ln>
        </p:spPr>
        <p:txBody>
          <a:bodyPr rtlCol="0" anchor="ctr"/>
          <a:lstStyle/>
          <a:p/>
        </p:txBody>
      </p:sp>
      <p:sp>
        <p:nvSpPr>
          <p:cNvPr id="22" name="Oval 21"/>
          <p:cNvSpPr/>
          <p:nvPr/>
        </p:nvSpPr>
        <p:spPr>
          <a:xfrm>
            <a:off x="1551404" y="5878212"/>
            <a:ext cx="54864" cy="54864"/>
          </a:xfrm>
          <a:prstGeom prst="ellipse">
            <a:avLst/>
          </a:prstGeom>
          <a:solidFill>
            <a:srgbClr val="553817"/>
          </a:solidFill>
          <a:ln>
            <a:noFill/>
          </a:ln>
        </p:spPr>
        <p:txBody>
          <a:bodyPr rtlCol="0" anchor="ctr"/>
          <a:lstStyle/>
          <a:p/>
        </p:txBody>
      </p:sp>
      <p:sp>
        <p:nvSpPr>
          <p:cNvPr id="23" name="Oval 22"/>
          <p:cNvSpPr/>
          <p:nvPr/>
        </p:nvSpPr>
        <p:spPr>
          <a:xfrm>
            <a:off x="2843535" y="519465"/>
            <a:ext cx="73152" cy="73152"/>
          </a:xfrm>
          <a:prstGeom prst="ellipse">
            <a:avLst/>
          </a:prstGeom>
          <a:solidFill>
            <a:srgbClr val="8D7C50"/>
          </a:solidFill>
          <a:ln>
            <a:noFill/>
          </a:ln>
        </p:spPr>
        <p:txBody>
          <a:bodyPr rtlCol="0" anchor="ctr"/>
          <a:lstStyle/>
          <a:p/>
        </p:txBody>
      </p:sp>
      <p:sp>
        <p:nvSpPr>
          <p:cNvPr id="24" name="Oval 23"/>
          <p:cNvSpPr/>
          <p:nvPr/>
        </p:nvSpPr>
        <p:spPr>
          <a:xfrm>
            <a:off x="4484761" y="2854005"/>
            <a:ext cx="27432" cy="27432"/>
          </a:xfrm>
          <a:prstGeom prst="ellipse">
            <a:avLst/>
          </a:prstGeom>
          <a:solidFill>
            <a:srgbClr val="4E3316"/>
          </a:solidFill>
          <a:ln>
            <a:noFill/>
          </a:ln>
        </p:spPr>
        <p:txBody>
          <a:bodyPr rtlCol="0" anchor="ctr"/>
          <a:lstStyle/>
          <a:p/>
        </p:txBody>
      </p:sp>
      <p:sp>
        <p:nvSpPr>
          <p:cNvPr id="25" name="Oval 24"/>
          <p:cNvSpPr/>
          <p:nvPr/>
        </p:nvSpPr>
        <p:spPr>
          <a:xfrm>
            <a:off x="10927495" y="5831605"/>
            <a:ext cx="45720" cy="45720"/>
          </a:xfrm>
          <a:prstGeom prst="ellipse">
            <a:avLst/>
          </a:prstGeom>
          <a:solidFill>
            <a:srgbClr val="8D5C25"/>
          </a:solidFill>
          <a:ln>
            <a:noFill/>
          </a:ln>
        </p:spPr>
        <p:txBody>
          <a:bodyPr rtlCol="0" anchor="ctr"/>
          <a:lstStyle/>
          <a:p/>
        </p:txBody>
      </p:sp>
      <p:sp>
        <p:nvSpPr>
          <p:cNvPr id="26" name="Oval 25"/>
          <p:cNvSpPr/>
          <p:nvPr/>
        </p:nvSpPr>
        <p:spPr>
          <a:xfrm>
            <a:off x="5604143" y="5087041"/>
            <a:ext cx="54864" cy="54864"/>
          </a:xfrm>
          <a:prstGeom prst="ellipse">
            <a:avLst/>
          </a:prstGeom>
          <a:solidFill>
            <a:srgbClr val="4D3315"/>
          </a:solidFill>
          <a:ln>
            <a:noFill/>
          </a:ln>
        </p:spPr>
        <p:txBody>
          <a:bodyPr rtlCol="0" anchor="ctr"/>
          <a:lstStyle/>
          <a:p/>
        </p:txBody>
      </p:sp>
      <p:sp>
        <p:nvSpPr>
          <p:cNvPr id="27" name="Oval 26"/>
          <p:cNvSpPr/>
          <p:nvPr/>
        </p:nvSpPr>
        <p:spPr>
          <a:xfrm>
            <a:off x="6950265" y="4219774"/>
            <a:ext cx="27432" cy="27432"/>
          </a:xfrm>
          <a:prstGeom prst="ellipse">
            <a:avLst/>
          </a:prstGeom>
          <a:solidFill>
            <a:srgbClr val="A89560"/>
          </a:solidFill>
          <a:ln>
            <a:noFill/>
          </a:ln>
        </p:spPr>
        <p:txBody>
          <a:bodyPr rtlCol="0" anchor="ctr"/>
          <a:lstStyle/>
          <a:p/>
        </p:txBody>
      </p:sp>
      <p:sp>
        <p:nvSpPr>
          <p:cNvPr id="28" name="Oval 27"/>
          <p:cNvSpPr/>
          <p:nvPr/>
        </p:nvSpPr>
        <p:spPr>
          <a:xfrm>
            <a:off x="7032096" y="5478382"/>
            <a:ext cx="36576" cy="36576"/>
          </a:xfrm>
          <a:prstGeom prst="ellipse">
            <a:avLst/>
          </a:prstGeom>
          <a:solidFill>
            <a:srgbClr val="B6A169"/>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pic>
        <p:nvPicPr>
          <p:cNvPr id="49" name="Picture 48" descr="glow_22.png"/>
          <p:cNvPicPr>
            <a:picLocks noChangeAspect="1"/>
          </p:cNvPicPr>
          <p:nvPr/>
        </p:nvPicPr>
        <p:blipFill>
          <a:blip r:embed="rId3"/>
          <a:stretch>
            <a:fillRect/>
          </a:stretch>
        </p:blipFill>
        <p:spPr>
          <a:xfrm>
            <a:off x="3169767" y="91439"/>
            <a:ext cx="5852160" cy="5852160"/>
          </a:xfrm>
          <a:prstGeom prst="rect">
            <a:avLst/>
          </a:prstGeom>
        </p:spPr>
      </p:pic>
      <p:sp>
        <p:nvSpPr>
          <p:cNvPr id="50" name="TextBox 49"/>
          <p:cNvSpPr txBox="1"/>
          <p:nvPr/>
        </p:nvSpPr>
        <p:spPr>
          <a:xfrm>
            <a:off x="4333341" y="1481328"/>
            <a:ext cx="3525012" cy="329184"/>
          </a:xfrm>
          <a:prstGeom prst="rect">
            <a:avLst/>
          </a:prstGeom>
          <a:noFill/>
        </p:spPr>
        <p:txBody>
          <a:bodyPr wrap="square" lIns="0" rIns="0" tIns="0" bIns="0" anchor="ctr">
            <a:spAutoFit/>
          </a:bodyPr>
          <a:lstStyle/>
          <a:p>
            <a:pPr algn="ctr"/>
            <a:r>
              <a:rPr sz="1300" b="1" i="0" spc="400">
                <a:solidFill>
                  <a:srgbClr val="C9A84C"/>
                </a:solidFill>
                <a:latin typeface="Montserrat"/>
              </a:rPr>
              <a:t>ALREADY PAST LEVEL 1?</a:t>
            </a:r>
          </a:p>
        </p:txBody>
      </p:sp>
      <p:cxnSp>
        <p:nvCxnSpPr>
          <p:cNvPr id="51" name="Connector 50"/>
          <p:cNvCxnSpPr/>
          <p:nvPr/>
        </p:nvCxnSpPr>
        <p:spPr>
          <a:xfrm>
            <a:off x="2961741" y="164592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2911449" y="1595628"/>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995513" y="1645920"/>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9179661" y="1595628"/>
            <a:ext cx="100584" cy="100584"/>
          </a:xfrm>
          <a:prstGeom prst="diamond">
            <a:avLst/>
          </a:prstGeom>
          <a:solidFill>
            <a:srgbClr val="C9A84C"/>
          </a:solidFill>
          <a:ln>
            <a:noFill/>
          </a:ln>
        </p:spPr>
        <p:txBody>
          <a:bodyPr rtlCol="0" anchor="ctr"/>
          <a:lstStyle/>
          <a:p/>
        </p:txBody>
      </p:sp>
      <p:sp>
        <p:nvSpPr>
          <p:cNvPr id="55" name="TextBox 54"/>
          <p:cNvSpPr txBox="1"/>
          <p:nvPr/>
        </p:nvSpPr>
        <p:spPr>
          <a:xfrm>
            <a:off x="1188720" y="2048256"/>
            <a:ext cx="9814255" cy="1371600"/>
          </a:xfrm>
          <a:prstGeom prst="rect">
            <a:avLst/>
          </a:prstGeom>
          <a:noFill/>
        </p:spPr>
        <p:txBody>
          <a:bodyPr wrap="square" lIns="0" rIns="0" tIns="0" bIns="0" anchor="b">
            <a:spAutoFit/>
          </a:bodyPr>
          <a:lstStyle/>
          <a:p>
            <a:pPr algn="ctr">
              <a:lnSpc>
                <a:spcPct val="105000"/>
              </a:lnSpc>
            </a:pPr>
            <a:r>
              <a:rPr sz="4800" b="1" i="0">
                <a:solidFill>
                  <a:srgbClr val="F0D58A"/>
                </a:solidFill>
                <a:latin typeface="Cinzel"/>
              </a:rPr>
              <a:t>Your next step is a free conversation.</a:t>
            </a:r>
          </a:p>
        </p:txBody>
      </p:sp>
      <p:cxnSp>
        <p:nvCxnSpPr>
          <p:cNvPr id="56" name="Connector 55"/>
          <p:cNvCxnSpPr/>
          <p:nvPr/>
        </p:nvCxnSpPr>
        <p:spPr>
          <a:xfrm>
            <a:off x="4632807" y="3602736"/>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233007" y="3602736"/>
            <a:ext cx="132588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6031839" y="3538728"/>
            <a:ext cx="128016" cy="128016"/>
          </a:xfrm>
          <a:prstGeom prst="diamond">
            <a:avLst/>
          </a:prstGeom>
          <a:solidFill>
            <a:srgbClr val="F0D58A"/>
          </a:solidFill>
          <a:ln>
            <a:noFill/>
          </a:ln>
        </p:spPr>
        <p:txBody>
          <a:bodyPr rtlCol="0" anchor="ctr"/>
          <a:lstStyle/>
          <a:p/>
        </p:txBody>
      </p:sp>
      <p:sp>
        <p:nvSpPr>
          <p:cNvPr id="59" name="TextBox 58"/>
          <p:cNvSpPr txBox="1"/>
          <p:nvPr/>
        </p:nvSpPr>
        <p:spPr>
          <a:xfrm>
            <a:off x="1371600" y="3785616"/>
            <a:ext cx="9448495" cy="1024127"/>
          </a:xfrm>
          <a:prstGeom prst="rect">
            <a:avLst/>
          </a:prstGeom>
          <a:noFill/>
        </p:spPr>
        <p:txBody>
          <a:bodyPr wrap="square" lIns="0" rIns="0" tIns="0" bIns="0" anchor="t">
            <a:spAutoFit/>
          </a:bodyPr>
          <a:lstStyle/>
          <a:p>
            <a:pPr algn="ctr">
              <a:lnSpc>
                <a:spcPct val="120000"/>
              </a:lnSpc>
              <a:spcAft>
                <a:spcPts val="800"/>
              </a:spcAft>
            </a:pPr>
            <a:r>
              <a:rPr sz="2400" b="0" i="0">
                <a:solidFill>
                  <a:srgbClr val="EFE3C6"/>
                </a:solidFill>
                <a:latin typeface="Montserrat"/>
              </a:rPr>
              <a:t>If your credit is already strong, let's talk about Levels 2–7.</a:t>
            </a:r>
          </a:p>
        </p:txBody>
      </p:sp>
      <p:sp>
        <p:nvSpPr>
          <p:cNvPr id="60" name="Rounded Rectangle 59"/>
          <p:cNvSpPr/>
          <p:nvPr/>
        </p:nvSpPr>
        <p:spPr>
          <a:xfrm>
            <a:off x="2926080" y="4946904"/>
            <a:ext cx="6339535" cy="594360"/>
          </a:xfrm>
          <a:prstGeom prst="roundRect">
            <a:avLst>
              <a:gd name="adj" fmla="val 6000"/>
            </a:avLst>
          </a:prstGeom>
          <a:solidFill>
            <a:srgbClr val="100D07"/>
          </a:solidFill>
          <a:ln w="15875">
            <a:solidFill>
              <a:srgbClr val="E5CB83"/>
            </a:solidFill>
          </a:ln>
        </p:spPr>
        <p:txBody>
          <a:bodyPr rtlCol="0" anchor="ctr"/>
          <a:lstStyle/>
          <a:p/>
        </p:txBody>
      </p:sp>
      <p:sp>
        <p:nvSpPr>
          <p:cNvPr id="61" name="TextBox 60"/>
          <p:cNvSpPr txBox="1"/>
          <p:nvPr/>
        </p:nvSpPr>
        <p:spPr>
          <a:xfrm>
            <a:off x="2926080" y="4946904"/>
            <a:ext cx="6339535" cy="594360"/>
          </a:xfrm>
          <a:prstGeom prst="rect">
            <a:avLst/>
          </a:prstGeom>
          <a:noFill/>
        </p:spPr>
        <p:txBody>
          <a:bodyPr wrap="square" lIns="0" rIns="0" tIns="0" bIns="0" anchor="ctr">
            <a:spAutoFit/>
          </a:bodyPr>
          <a:lstStyle/>
          <a:p>
            <a:pPr algn="ctr"/>
            <a:r>
              <a:rPr sz="1800" b="1" i="0">
                <a:solidFill>
                  <a:srgbClr val="F0D58A"/>
                </a:solidFill>
                <a:latin typeface="Cinzel"/>
              </a:rPr>
              <a:t>Book your free call  ·  7bandfinancialagency.com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143650" y="1649894"/>
            <a:ext cx="73152" cy="73152"/>
          </a:xfrm>
          <a:prstGeom prst="ellipse">
            <a:avLst/>
          </a:prstGeom>
          <a:solidFill>
            <a:srgbClr val="856F33"/>
          </a:solidFill>
          <a:ln>
            <a:noFill/>
          </a:ln>
        </p:spPr>
        <p:txBody>
          <a:bodyPr rtlCol="0" anchor="ctr"/>
          <a:lstStyle/>
          <a:p/>
        </p:txBody>
      </p:sp>
      <p:sp>
        <p:nvSpPr>
          <p:cNvPr id="4" name="Oval 3"/>
          <p:cNvSpPr/>
          <p:nvPr/>
        </p:nvSpPr>
        <p:spPr>
          <a:xfrm>
            <a:off x="4499510" y="3067970"/>
            <a:ext cx="73152" cy="73152"/>
          </a:xfrm>
          <a:prstGeom prst="ellipse">
            <a:avLst/>
          </a:prstGeom>
          <a:solidFill>
            <a:srgbClr val="B19C65"/>
          </a:solidFill>
          <a:ln>
            <a:noFill/>
          </a:ln>
        </p:spPr>
        <p:txBody>
          <a:bodyPr rtlCol="0" anchor="ctr"/>
          <a:lstStyle/>
          <a:p/>
        </p:txBody>
      </p:sp>
      <p:sp>
        <p:nvSpPr>
          <p:cNvPr id="5" name="Oval 4"/>
          <p:cNvSpPr/>
          <p:nvPr/>
        </p:nvSpPr>
        <p:spPr>
          <a:xfrm>
            <a:off x="10809625" y="6175897"/>
            <a:ext cx="27432" cy="27432"/>
          </a:xfrm>
          <a:prstGeom prst="ellipse">
            <a:avLst/>
          </a:prstGeom>
          <a:solidFill>
            <a:srgbClr val="9D6628"/>
          </a:solidFill>
          <a:ln>
            <a:noFill/>
          </a:ln>
        </p:spPr>
        <p:txBody>
          <a:bodyPr rtlCol="0" anchor="ctr"/>
          <a:lstStyle/>
          <a:p/>
        </p:txBody>
      </p:sp>
      <p:sp>
        <p:nvSpPr>
          <p:cNvPr id="6" name="Oval 5"/>
          <p:cNvSpPr/>
          <p:nvPr/>
        </p:nvSpPr>
        <p:spPr>
          <a:xfrm>
            <a:off x="10460740" y="699064"/>
            <a:ext cx="45720" cy="45720"/>
          </a:xfrm>
          <a:prstGeom prst="ellipse">
            <a:avLst/>
          </a:prstGeom>
          <a:solidFill>
            <a:srgbClr val="726441"/>
          </a:solidFill>
          <a:ln>
            <a:noFill/>
          </a:ln>
        </p:spPr>
        <p:txBody>
          <a:bodyPr rtlCol="0" anchor="ctr"/>
          <a:lstStyle/>
          <a:p/>
        </p:txBody>
      </p:sp>
      <p:sp>
        <p:nvSpPr>
          <p:cNvPr id="7" name="Oval 6"/>
          <p:cNvSpPr/>
          <p:nvPr/>
        </p:nvSpPr>
        <p:spPr>
          <a:xfrm>
            <a:off x="2637236" y="1117805"/>
            <a:ext cx="54864" cy="54864"/>
          </a:xfrm>
          <a:prstGeom prst="ellipse">
            <a:avLst/>
          </a:prstGeom>
          <a:solidFill>
            <a:srgbClr val="805422"/>
          </a:solidFill>
          <a:ln>
            <a:noFill/>
          </a:ln>
        </p:spPr>
        <p:txBody>
          <a:bodyPr rtlCol="0" anchor="ctr"/>
          <a:lstStyle/>
          <a:p/>
        </p:txBody>
      </p:sp>
      <p:sp>
        <p:nvSpPr>
          <p:cNvPr id="8" name="Oval 7"/>
          <p:cNvSpPr/>
          <p:nvPr/>
        </p:nvSpPr>
        <p:spPr>
          <a:xfrm>
            <a:off x="6228400" y="2762430"/>
            <a:ext cx="45720" cy="45720"/>
          </a:xfrm>
          <a:prstGeom prst="ellipse">
            <a:avLst/>
          </a:prstGeom>
          <a:solidFill>
            <a:srgbClr val="6F613F"/>
          </a:solidFill>
          <a:ln>
            <a:noFill/>
          </a:ln>
        </p:spPr>
        <p:txBody>
          <a:bodyPr rtlCol="0" anchor="ctr"/>
          <a:lstStyle/>
          <a:p/>
        </p:txBody>
      </p:sp>
      <p:sp>
        <p:nvSpPr>
          <p:cNvPr id="9" name="Oval 8"/>
          <p:cNvSpPr/>
          <p:nvPr/>
        </p:nvSpPr>
        <p:spPr>
          <a:xfrm>
            <a:off x="1403014" y="4391235"/>
            <a:ext cx="36576" cy="36576"/>
          </a:xfrm>
          <a:prstGeom prst="ellipse">
            <a:avLst/>
          </a:prstGeom>
          <a:solidFill>
            <a:srgbClr val="724A1E"/>
          </a:solidFill>
          <a:ln>
            <a:noFill/>
          </a:ln>
        </p:spPr>
        <p:txBody>
          <a:bodyPr rtlCol="0" anchor="ctr"/>
          <a:lstStyle/>
          <a:p/>
        </p:txBody>
      </p:sp>
      <p:sp>
        <p:nvSpPr>
          <p:cNvPr id="10" name="Oval 9"/>
          <p:cNvSpPr/>
          <p:nvPr/>
        </p:nvSpPr>
        <p:spPr>
          <a:xfrm>
            <a:off x="7895132" y="1288625"/>
            <a:ext cx="36576" cy="36576"/>
          </a:xfrm>
          <a:prstGeom prst="ellipse">
            <a:avLst/>
          </a:prstGeom>
          <a:solidFill>
            <a:srgbClr val="7D6E47"/>
          </a:solidFill>
          <a:ln>
            <a:noFill/>
          </a:ln>
        </p:spPr>
        <p:txBody>
          <a:bodyPr rtlCol="0" anchor="ctr"/>
          <a:lstStyle/>
          <a:p/>
        </p:txBody>
      </p:sp>
      <p:sp>
        <p:nvSpPr>
          <p:cNvPr id="11" name="Oval 10"/>
          <p:cNvSpPr/>
          <p:nvPr/>
        </p:nvSpPr>
        <p:spPr>
          <a:xfrm>
            <a:off x="3014737" y="2411638"/>
            <a:ext cx="54864" cy="54864"/>
          </a:xfrm>
          <a:prstGeom prst="ellipse">
            <a:avLst/>
          </a:prstGeom>
          <a:solidFill>
            <a:srgbClr val="B5A068"/>
          </a:solidFill>
          <a:ln>
            <a:noFill/>
          </a:ln>
        </p:spPr>
        <p:txBody>
          <a:bodyPr rtlCol="0" anchor="ctr"/>
          <a:lstStyle/>
          <a:p/>
        </p:txBody>
      </p:sp>
      <p:sp>
        <p:nvSpPr>
          <p:cNvPr id="12" name="Oval 11"/>
          <p:cNvSpPr/>
          <p:nvPr/>
        </p:nvSpPr>
        <p:spPr>
          <a:xfrm>
            <a:off x="734020" y="4361755"/>
            <a:ext cx="27432" cy="27432"/>
          </a:xfrm>
          <a:prstGeom prst="ellipse">
            <a:avLst/>
          </a:prstGeom>
          <a:solidFill>
            <a:srgbClr val="A6935F"/>
          </a:solidFill>
          <a:ln>
            <a:noFill/>
          </a:ln>
        </p:spPr>
        <p:txBody>
          <a:bodyPr rtlCol="0" anchor="ctr"/>
          <a:lstStyle/>
          <a:p/>
        </p:txBody>
      </p:sp>
      <p:sp>
        <p:nvSpPr>
          <p:cNvPr id="13" name="Oval 12"/>
          <p:cNvSpPr/>
          <p:nvPr/>
        </p:nvSpPr>
        <p:spPr>
          <a:xfrm>
            <a:off x="6648959" y="1893078"/>
            <a:ext cx="54864" cy="54864"/>
          </a:xfrm>
          <a:prstGeom prst="ellipse">
            <a:avLst/>
          </a:prstGeom>
          <a:solidFill>
            <a:srgbClr val="756743"/>
          </a:solidFill>
          <a:ln>
            <a:noFill/>
          </a:ln>
        </p:spPr>
        <p:txBody>
          <a:bodyPr rtlCol="0" anchor="ctr"/>
          <a:lstStyle/>
          <a:p/>
        </p:txBody>
      </p:sp>
      <p:sp>
        <p:nvSpPr>
          <p:cNvPr id="14" name="Oval 13"/>
          <p:cNvSpPr/>
          <p:nvPr/>
        </p:nvSpPr>
        <p:spPr>
          <a:xfrm>
            <a:off x="9767310" y="1471431"/>
            <a:ext cx="36576" cy="36576"/>
          </a:xfrm>
          <a:prstGeom prst="ellipse">
            <a:avLst/>
          </a:prstGeom>
          <a:solidFill>
            <a:srgbClr val="5D4E24"/>
          </a:solidFill>
          <a:ln>
            <a:noFill/>
          </a:ln>
        </p:spPr>
        <p:txBody>
          <a:bodyPr rtlCol="0" anchor="ctr"/>
          <a:lstStyle/>
          <a:p/>
        </p:txBody>
      </p:sp>
      <p:sp>
        <p:nvSpPr>
          <p:cNvPr id="15" name="Oval 14"/>
          <p:cNvSpPr/>
          <p:nvPr/>
        </p:nvSpPr>
        <p:spPr>
          <a:xfrm>
            <a:off x="7900012" y="3184868"/>
            <a:ext cx="45720" cy="45720"/>
          </a:xfrm>
          <a:prstGeom prst="ellipse">
            <a:avLst/>
          </a:prstGeom>
          <a:solidFill>
            <a:srgbClr val="6D5B2A"/>
          </a:solidFill>
          <a:ln>
            <a:noFill/>
          </a:ln>
        </p:spPr>
        <p:txBody>
          <a:bodyPr rtlCol="0" anchor="ctr"/>
          <a:lstStyle/>
          <a:p/>
        </p:txBody>
      </p:sp>
      <p:sp>
        <p:nvSpPr>
          <p:cNvPr id="16" name="Oval 15"/>
          <p:cNvSpPr/>
          <p:nvPr/>
        </p:nvSpPr>
        <p:spPr>
          <a:xfrm>
            <a:off x="2354531" y="1557993"/>
            <a:ext cx="45720" cy="45720"/>
          </a:xfrm>
          <a:prstGeom prst="ellipse">
            <a:avLst/>
          </a:prstGeom>
          <a:solidFill>
            <a:srgbClr val="4F3416"/>
          </a:solidFill>
          <a:ln>
            <a:noFill/>
          </a:ln>
        </p:spPr>
        <p:txBody>
          <a:bodyPr rtlCol="0" anchor="ctr"/>
          <a:lstStyle/>
          <a:p/>
        </p:txBody>
      </p:sp>
      <p:sp>
        <p:nvSpPr>
          <p:cNvPr id="17" name="Oval 16"/>
          <p:cNvSpPr/>
          <p:nvPr/>
        </p:nvSpPr>
        <p:spPr>
          <a:xfrm>
            <a:off x="1122345" y="2610654"/>
            <a:ext cx="54864" cy="54864"/>
          </a:xfrm>
          <a:prstGeom prst="ellipse">
            <a:avLst/>
          </a:prstGeom>
          <a:solidFill>
            <a:srgbClr val="523617"/>
          </a:solidFill>
          <a:ln>
            <a:noFill/>
          </a:ln>
        </p:spPr>
        <p:txBody>
          <a:bodyPr rtlCol="0" anchor="ctr"/>
          <a:lstStyle/>
          <a:p/>
        </p:txBody>
      </p:sp>
      <p:sp>
        <p:nvSpPr>
          <p:cNvPr id="18" name="Oval 17"/>
          <p:cNvSpPr/>
          <p:nvPr/>
        </p:nvSpPr>
        <p:spPr>
          <a:xfrm>
            <a:off x="2989037" y="3102810"/>
            <a:ext cx="54864" cy="54864"/>
          </a:xfrm>
          <a:prstGeom prst="ellipse">
            <a:avLst/>
          </a:prstGeom>
          <a:solidFill>
            <a:srgbClr val="B9A46A"/>
          </a:solidFill>
          <a:ln>
            <a:noFill/>
          </a:ln>
        </p:spPr>
        <p:txBody>
          <a:bodyPr rtlCol="0" anchor="ctr"/>
          <a:lstStyle/>
          <a:p/>
        </p:txBody>
      </p:sp>
      <p:sp>
        <p:nvSpPr>
          <p:cNvPr id="19" name="Oval 18"/>
          <p:cNvSpPr/>
          <p:nvPr/>
        </p:nvSpPr>
        <p:spPr>
          <a:xfrm>
            <a:off x="2558919" y="5762294"/>
            <a:ext cx="36576" cy="36576"/>
          </a:xfrm>
          <a:prstGeom prst="ellipse">
            <a:avLst/>
          </a:prstGeom>
          <a:solidFill>
            <a:srgbClr val="6C5A2A"/>
          </a:solidFill>
          <a:ln>
            <a:noFill/>
          </a:ln>
        </p:spPr>
        <p:txBody>
          <a:bodyPr rtlCol="0" anchor="ctr"/>
          <a:lstStyle/>
          <a:p/>
        </p:txBody>
      </p:sp>
      <p:sp>
        <p:nvSpPr>
          <p:cNvPr id="20" name="Oval 19"/>
          <p:cNvSpPr/>
          <p:nvPr/>
        </p:nvSpPr>
        <p:spPr>
          <a:xfrm>
            <a:off x="2989593" y="5338181"/>
            <a:ext cx="54864" cy="54864"/>
          </a:xfrm>
          <a:prstGeom prst="ellipse">
            <a:avLst/>
          </a:prstGeom>
          <a:solidFill>
            <a:srgbClr val="5E4E24"/>
          </a:solidFill>
          <a:ln>
            <a:noFill/>
          </a:ln>
        </p:spPr>
        <p:txBody>
          <a:bodyPr rtlCol="0" anchor="ctr"/>
          <a:lstStyle/>
          <a:p/>
        </p:txBody>
      </p:sp>
      <p:sp>
        <p:nvSpPr>
          <p:cNvPr id="21" name="Oval 20"/>
          <p:cNvSpPr/>
          <p:nvPr/>
        </p:nvSpPr>
        <p:spPr>
          <a:xfrm>
            <a:off x="3573140" y="2976846"/>
            <a:ext cx="36576" cy="36576"/>
          </a:xfrm>
          <a:prstGeom prst="ellipse">
            <a:avLst/>
          </a:prstGeom>
          <a:solidFill>
            <a:srgbClr val="665527"/>
          </a:solidFill>
          <a:ln>
            <a:noFill/>
          </a:ln>
        </p:spPr>
        <p:txBody>
          <a:bodyPr rtlCol="0" anchor="ctr"/>
          <a:lstStyle/>
          <a:p/>
        </p:txBody>
      </p:sp>
      <p:sp>
        <p:nvSpPr>
          <p:cNvPr id="22" name="Oval 21"/>
          <p:cNvSpPr/>
          <p:nvPr/>
        </p:nvSpPr>
        <p:spPr>
          <a:xfrm>
            <a:off x="11249995" y="434293"/>
            <a:ext cx="27432" cy="27432"/>
          </a:xfrm>
          <a:prstGeom prst="ellipse">
            <a:avLst/>
          </a:prstGeom>
          <a:solidFill>
            <a:srgbClr val="44381B"/>
          </a:solidFill>
          <a:ln>
            <a:noFill/>
          </a:ln>
        </p:spPr>
        <p:txBody>
          <a:bodyPr rtlCol="0" anchor="ctr"/>
          <a:lstStyle/>
          <a:p/>
        </p:txBody>
      </p:sp>
      <p:sp>
        <p:nvSpPr>
          <p:cNvPr id="23" name="Oval 22"/>
          <p:cNvSpPr/>
          <p:nvPr/>
        </p:nvSpPr>
        <p:spPr>
          <a:xfrm>
            <a:off x="9288349" y="2502488"/>
            <a:ext cx="73152" cy="73152"/>
          </a:xfrm>
          <a:prstGeom prst="ellipse">
            <a:avLst/>
          </a:prstGeom>
          <a:solidFill>
            <a:srgbClr val="9C8A59"/>
          </a:solidFill>
          <a:ln>
            <a:noFill/>
          </a:ln>
        </p:spPr>
        <p:txBody>
          <a:bodyPr rtlCol="0" anchor="ctr"/>
          <a:lstStyle/>
          <a:p/>
        </p:txBody>
      </p:sp>
      <p:sp>
        <p:nvSpPr>
          <p:cNvPr id="24" name="Oval 23"/>
          <p:cNvSpPr/>
          <p:nvPr/>
        </p:nvSpPr>
        <p:spPr>
          <a:xfrm>
            <a:off x="6895872" y="3175426"/>
            <a:ext cx="45720" cy="45720"/>
          </a:xfrm>
          <a:prstGeom prst="ellipse">
            <a:avLst/>
          </a:prstGeom>
          <a:solidFill>
            <a:srgbClr val="5E4E24"/>
          </a:solidFill>
          <a:ln>
            <a:noFill/>
          </a:ln>
        </p:spPr>
        <p:txBody>
          <a:bodyPr rtlCol="0" anchor="ctr"/>
          <a:lstStyle/>
          <a:p/>
        </p:txBody>
      </p:sp>
      <p:sp>
        <p:nvSpPr>
          <p:cNvPr id="25" name="Oval 24"/>
          <p:cNvSpPr/>
          <p:nvPr/>
        </p:nvSpPr>
        <p:spPr>
          <a:xfrm>
            <a:off x="2447050" y="3657496"/>
            <a:ext cx="36576" cy="36576"/>
          </a:xfrm>
          <a:prstGeom prst="ellipse">
            <a:avLst/>
          </a:prstGeom>
          <a:solidFill>
            <a:srgbClr val="5F4F25"/>
          </a:solidFill>
          <a:ln>
            <a:noFill/>
          </a:ln>
        </p:spPr>
        <p:txBody>
          <a:bodyPr rtlCol="0" anchor="ctr"/>
          <a:lstStyle/>
          <a:p/>
        </p:txBody>
      </p:sp>
      <p:sp>
        <p:nvSpPr>
          <p:cNvPr id="26" name="Oval 25"/>
          <p:cNvSpPr/>
          <p:nvPr/>
        </p:nvSpPr>
        <p:spPr>
          <a:xfrm>
            <a:off x="7731555" y="2616652"/>
            <a:ext cx="27432" cy="27432"/>
          </a:xfrm>
          <a:prstGeom prst="ellipse">
            <a:avLst/>
          </a:prstGeom>
          <a:solidFill>
            <a:srgbClr val="A3915E"/>
          </a:solidFill>
          <a:ln>
            <a:noFill/>
          </a:ln>
        </p:spPr>
        <p:txBody>
          <a:bodyPr rtlCol="0" anchor="ctr"/>
          <a:lstStyle/>
          <a:p/>
        </p:txBody>
      </p:sp>
      <p:sp>
        <p:nvSpPr>
          <p:cNvPr id="27" name="Oval 26"/>
          <p:cNvSpPr/>
          <p:nvPr/>
        </p:nvSpPr>
        <p:spPr>
          <a:xfrm>
            <a:off x="11263225" y="3112863"/>
            <a:ext cx="54864" cy="54864"/>
          </a:xfrm>
          <a:prstGeom prst="ellipse">
            <a:avLst/>
          </a:prstGeom>
          <a:solidFill>
            <a:srgbClr val="988657"/>
          </a:solidFill>
          <a:ln>
            <a:noFill/>
          </a:ln>
        </p:spPr>
        <p:txBody>
          <a:bodyPr rtlCol="0" anchor="ctr"/>
          <a:lstStyle/>
          <a:p/>
        </p:txBody>
      </p:sp>
      <p:sp>
        <p:nvSpPr>
          <p:cNvPr id="28" name="Oval 27"/>
          <p:cNvSpPr/>
          <p:nvPr/>
        </p:nvSpPr>
        <p:spPr>
          <a:xfrm>
            <a:off x="7923661" y="1660946"/>
            <a:ext cx="54864" cy="54864"/>
          </a:xfrm>
          <a:prstGeom prst="ellipse">
            <a:avLst/>
          </a:prstGeom>
          <a:solidFill>
            <a:srgbClr val="493015"/>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pic>
        <p:nvPicPr>
          <p:cNvPr id="49" name="Picture 48" descr="glow_35.png"/>
          <p:cNvPicPr>
            <a:picLocks noChangeAspect="1"/>
          </p:cNvPicPr>
          <p:nvPr/>
        </p:nvPicPr>
        <p:blipFill>
          <a:blip r:embed="rId3"/>
          <a:stretch>
            <a:fillRect/>
          </a:stretch>
        </p:blipFill>
        <p:spPr>
          <a:xfrm>
            <a:off x="3352647" y="-91440"/>
            <a:ext cx="5486400" cy="5486400"/>
          </a:xfrm>
          <a:prstGeom prst="rect">
            <a:avLst/>
          </a:prstGeom>
        </p:spPr>
      </p:pic>
      <p:sp>
        <p:nvSpPr>
          <p:cNvPr id="50" name="TextBox 49"/>
          <p:cNvSpPr txBox="1"/>
          <p:nvPr/>
        </p:nvSpPr>
        <p:spPr>
          <a:xfrm>
            <a:off x="4829403" y="658368"/>
            <a:ext cx="2532888" cy="329184"/>
          </a:xfrm>
          <a:prstGeom prst="rect">
            <a:avLst/>
          </a:prstGeom>
          <a:noFill/>
        </p:spPr>
        <p:txBody>
          <a:bodyPr wrap="square" lIns="0" rIns="0" tIns="0" bIns="0" anchor="ctr">
            <a:spAutoFit/>
          </a:bodyPr>
          <a:lstStyle/>
          <a:p>
            <a:pPr algn="ctr"/>
            <a:r>
              <a:rPr sz="1300" b="1" i="0" spc="400">
                <a:solidFill>
                  <a:srgbClr val="C9A84C"/>
                </a:solidFill>
                <a:latin typeface="Montserrat"/>
              </a:rPr>
              <a:t>YOUR NEXT STEP</a:t>
            </a:r>
          </a:p>
        </p:txBody>
      </p:sp>
      <p:cxnSp>
        <p:nvCxnSpPr>
          <p:cNvPr id="51" name="Connector 50"/>
          <p:cNvCxnSpPr/>
          <p:nvPr/>
        </p:nvCxnSpPr>
        <p:spPr>
          <a:xfrm>
            <a:off x="3457803"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407511" y="772667"/>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499451"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683599" y="772667"/>
            <a:ext cx="100584" cy="100584"/>
          </a:xfrm>
          <a:prstGeom prst="diamond">
            <a:avLst/>
          </a:prstGeom>
          <a:solidFill>
            <a:srgbClr val="C9A84C"/>
          </a:solidFill>
          <a:ln>
            <a:noFill/>
          </a:ln>
        </p:spPr>
        <p:txBody>
          <a:bodyPr rtlCol="0" anchor="ctr"/>
          <a:lstStyle/>
          <a:p/>
        </p:txBody>
      </p:sp>
      <p:sp>
        <p:nvSpPr>
          <p:cNvPr id="55" name="TextBox 54"/>
          <p:cNvSpPr txBox="1"/>
          <p:nvPr/>
        </p:nvSpPr>
        <p:spPr>
          <a:xfrm>
            <a:off x="914400" y="1051560"/>
            <a:ext cx="10362895" cy="914400"/>
          </a:xfrm>
          <a:prstGeom prst="rect">
            <a:avLst/>
          </a:prstGeom>
          <a:noFill/>
        </p:spPr>
        <p:txBody>
          <a:bodyPr wrap="square" lIns="0" rIns="0" tIns="0" bIns="0" anchor="ctr">
            <a:spAutoFit/>
          </a:bodyPr>
          <a:lstStyle/>
          <a:p>
            <a:pPr algn="ctr">
              <a:lnSpc>
                <a:spcPct val="105000"/>
              </a:lnSpc>
            </a:pPr>
            <a:r>
              <a:rPr sz="5000" b="1" i="0">
                <a:solidFill>
                  <a:srgbClr val="F0D58A"/>
                </a:solidFill>
                <a:latin typeface="Cinzel"/>
              </a:rPr>
              <a:t>The Restoration Program</a:t>
            </a:r>
          </a:p>
        </p:txBody>
      </p:sp>
      <p:sp>
        <p:nvSpPr>
          <p:cNvPr id="56" name="TextBox 55"/>
          <p:cNvSpPr txBox="1"/>
          <p:nvPr/>
        </p:nvSpPr>
        <p:spPr>
          <a:xfrm>
            <a:off x="914400" y="1965960"/>
            <a:ext cx="10362895" cy="822960"/>
          </a:xfrm>
          <a:prstGeom prst="rect">
            <a:avLst/>
          </a:prstGeom>
          <a:noFill/>
        </p:spPr>
        <p:txBody>
          <a:bodyPr wrap="square" lIns="0" rIns="0" tIns="0" bIns="0" anchor="ctr">
            <a:spAutoFit/>
          </a:bodyPr>
          <a:lstStyle/>
          <a:p>
            <a:pPr algn="ctr"/>
            <a:r>
              <a:rPr sz="3200" b="1" i="0">
                <a:solidFill>
                  <a:srgbClr val="EFE3C6"/>
                </a:solidFill>
                <a:latin typeface="Cinzel"/>
              </a:rPr>
              <a:t>Nothing charged today.</a:t>
            </a:r>
          </a:p>
        </p:txBody>
      </p:sp>
      <p:sp>
        <p:nvSpPr>
          <p:cNvPr id="57" name="Oval 56"/>
          <p:cNvSpPr/>
          <p:nvPr/>
        </p:nvSpPr>
        <p:spPr>
          <a:xfrm>
            <a:off x="2962656" y="3099816"/>
            <a:ext cx="658368" cy="658368"/>
          </a:xfrm>
          <a:prstGeom prst="ellipse">
            <a:avLst/>
          </a:prstGeom>
          <a:solidFill>
            <a:srgbClr val="1A1309"/>
          </a:solidFill>
          <a:ln w="25400">
            <a:solidFill>
              <a:srgbClr val="F0D58A"/>
            </a:solidFill>
          </a:ln>
        </p:spPr>
        <p:txBody>
          <a:bodyPr rtlCol="0" anchor="ctr"/>
          <a:lstStyle/>
          <a:p/>
        </p:txBody>
      </p:sp>
      <p:sp>
        <p:nvSpPr>
          <p:cNvPr id="58" name="Oval 57"/>
          <p:cNvSpPr/>
          <p:nvPr/>
        </p:nvSpPr>
        <p:spPr>
          <a:xfrm>
            <a:off x="3017520" y="3154680"/>
            <a:ext cx="548640" cy="548640"/>
          </a:xfrm>
          <a:prstGeom prst="ellipse">
            <a:avLst/>
          </a:prstGeom>
          <a:noFill/>
          <a:ln w="9525">
            <a:solidFill>
              <a:srgbClr val="7D6830"/>
            </a:solidFill>
          </a:ln>
        </p:spPr>
        <p:txBody>
          <a:bodyPr rtlCol="0" anchor="ctr"/>
          <a:lstStyle/>
          <a:p/>
        </p:txBody>
      </p:sp>
      <p:sp>
        <p:nvSpPr>
          <p:cNvPr id="59" name="TextBox 58"/>
          <p:cNvSpPr txBox="1"/>
          <p:nvPr/>
        </p:nvSpPr>
        <p:spPr>
          <a:xfrm>
            <a:off x="2962656" y="3099816"/>
            <a:ext cx="658368" cy="658368"/>
          </a:xfrm>
          <a:prstGeom prst="rect">
            <a:avLst/>
          </a:prstGeom>
          <a:noFill/>
        </p:spPr>
        <p:txBody>
          <a:bodyPr wrap="square" lIns="0" rIns="0" tIns="0" bIns="0" anchor="ctr">
            <a:spAutoFit/>
          </a:bodyPr>
          <a:lstStyle/>
          <a:p>
            <a:pPr algn="ctr"/>
            <a:r>
              <a:rPr sz="1800" b="1" i="0">
                <a:solidFill>
                  <a:srgbClr val="F0D58A"/>
                </a:solidFill>
                <a:latin typeface="Cinzel"/>
              </a:rPr>
              <a:t>I</a:t>
            </a:r>
          </a:p>
        </p:txBody>
      </p:sp>
      <p:sp>
        <p:nvSpPr>
          <p:cNvPr id="60" name="TextBox 59"/>
          <p:cNvSpPr txBox="1"/>
          <p:nvPr/>
        </p:nvSpPr>
        <p:spPr>
          <a:xfrm>
            <a:off x="2011680" y="3840480"/>
            <a:ext cx="2560320" cy="457200"/>
          </a:xfrm>
          <a:prstGeom prst="rect">
            <a:avLst/>
          </a:prstGeom>
          <a:noFill/>
        </p:spPr>
        <p:txBody>
          <a:bodyPr wrap="square" lIns="0" rIns="0" tIns="0" bIns="0" anchor="t">
            <a:spAutoFit/>
          </a:bodyPr>
          <a:lstStyle/>
          <a:p>
            <a:pPr algn="ctr"/>
            <a:r>
              <a:rPr sz="1900" b="1" i="0">
                <a:solidFill>
                  <a:srgbClr val="F0D58A"/>
                </a:solidFill>
                <a:latin typeface="Cinzel"/>
              </a:rPr>
              <a:t>The Order</a:t>
            </a:r>
          </a:p>
        </p:txBody>
      </p:sp>
      <p:sp>
        <p:nvSpPr>
          <p:cNvPr id="61" name="Oval 60"/>
          <p:cNvSpPr/>
          <p:nvPr/>
        </p:nvSpPr>
        <p:spPr>
          <a:xfrm>
            <a:off x="5797296" y="3099816"/>
            <a:ext cx="658368" cy="658368"/>
          </a:xfrm>
          <a:prstGeom prst="ellipse">
            <a:avLst/>
          </a:prstGeom>
          <a:solidFill>
            <a:srgbClr val="1A1309"/>
          </a:solidFill>
          <a:ln w="25400">
            <a:solidFill>
              <a:srgbClr val="F0D58A"/>
            </a:solidFill>
          </a:ln>
        </p:spPr>
        <p:txBody>
          <a:bodyPr rtlCol="0" anchor="ctr"/>
          <a:lstStyle/>
          <a:p/>
        </p:txBody>
      </p:sp>
      <p:sp>
        <p:nvSpPr>
          <p:cNvPr id="62" name="Oval 61"/>
          <p:cNvSpPr/>
          <p:nvPr/>
        </p:nvSpPr>
        <p:spPr>
          <a:xfrm>
            <a:off x="5852160" y="3154680"/>
            <a:ext cx="548640" cy="548640"/>
          </a:xfrm>
          <a:prstGeom prst="ellipse">
            <a:avLst/>
          </a:prstGeom>
          <a:noFill/>
          <a:ln w="9525">
            <a:solidFill>
              <a:srgbClr val="7D6830"/>
            </a:solidFill>
          </a:ln>
        </p:spPr>
        <p:txBody>
          <a:bodyPr rtlCol="0" anchor="ctr"/>
          <a:lstStyle/>
          <a:p/>
        </p:txBody>
      </p:sp>
      <p:sp>
        <p:nvSpPr>
          <p:cNvPr id="63" name="TextBox 62"/>
          <p:cNvSpPr txBox="1"/>
          <p:nvPr/>
        </p:nvSpPr>
        <p:spPr>
          <a:xfrm>
            <a:off x="5797296" y="3099816"/>
            <a:ext cx="658368" cy="658368"/>
          </a:xfrm>
          <a:prstGeom prst="rect">
            <a:avLst/>
          </a:prstGeom>
          <a:noFill/>
        </p:spPr>
        <p:txBody>
          <a:bodyPr wrap="square" lIns="0" rIns="0" tIns="0" bIns="0" anchor="ctr">
            <a:spAutoFit/>
          </a:bodyPr>
          <a:lstStyle/>
          <a:p>
            <a:pPr algn="ctr"/>
            <a:r>
              <a:rPr sz="1800" b="1" i="0">
                <a:solidFill>
                  <a:srgbClr val="F0D58A"/>
                </a:solidFill>
                <a:latin typeface="Cinzel"/>
              </a:rPr>
              <a:t>II</a:t>
            </a:r>
          </a:p>
        </p:txBody>
      </p:sp>
      <p:sp>
        <p:nvSpPr>
          <p:cNvPr id="64" name="TextBox 63"/>
          <p:cNvSpPr txBox="1"/>
          <p:nvPr/>
        </p:nvSpPr>
        <p:spPr>
          <a:xfrm>
            <a:off x="4846320" y="3840480"/>
            <a:ext cx="2560320" cy="457200"/>
          </a:xfrm>
          <a:prstGeom prst="rect">
            <a:avLst/>
          </a:prstGeom>
          <a:noFill/>
        </p:spPr>
        <p:txBody>
          <a:bodyPr wrap="square" lIns="0" rIns="0" tIns="0" bIns="0" anchor="t">
            <a:spAutoFit/>
          </a:bodyPr>
          <a:lstStyle/>
          <a:p>
            <a:pPr algn="ctr"/>
            <a:r>
              <a:rPr sz="1900" b="1" i="0">
                <a:solidFill>
                  <a:srgbClr val="F0D58A"/>
                </a:solidFill>
                <a:latin typeface="Cinzel"/>
              </a:rPr>
              <a:t>The Foundation</a:t>
            </a:r>
          </a:p>
        </p:txBody>
      </p:sp>
      <p:sp>
        <p:nvSpPr>
          <p:cNvPr id="65" name="Oval 64"/>
          <p:cNvSpPr/>
          <p:nvPr/>
        </p:nvSpPr>
        <p:spPr>
          <a:xfrm>
            <a:off x="8631936" y="3099816"/>
            <a:ext cx="658368" cy="658368"/>
          </a:xfrm>
          <a:prstGeom prst="ellipse">
            <a:avLst/>
          </a:prstGeom>
          <a:solidFill>
            <a:srgbClr val="1A1309"/>
          </a:solidFill>
          <a:ln w="25400">
            <a:solidFill>
              <a:srgbClr val="F0D58A"/>
            </a:solidFill>
          </a:ln>
        </p:spPr>
        <p:txBody>
          <a:bodyPr rtlCol="0" anchor="ctr"/>
          <a:lstStyle/>
          <a:p/>
        </p:txBody>
      </p:sp>
      <p:sp>
        <p:nvSpPr>
          <p:cNvPr id="66" name="Oval 65"/>
          <p:cNvSpPr/>
          <p:nvPr/>
        </p:nvSpPr>
        <p:spPr>
          <a:xfrm>
            <a:off x="8686800" y="3154680"/>
            <a:ext cx="548640" cy="548640"/>
          </a:xfrm>
          <a:prstGeom prst="ellipse">
            <a:avLst/>
          </a:prstGeom>
          <a:noFill/>
          <a:ln w="9525">
            <a:solidFill>
              <a:srgbClr val="7D6830"/>
            </a:solidFill>
          </a:ln>
        </p:spPr>
        <p:txBody>
          <a:bodyPr rtlCol="0" anchor="ctr"/>
          <a:lstStyle/>
          <a:p/>
        </p:txBody>
      </p:sp>
      <p:sp>
        <p:nvSpPr>
          <p:cNvPr id="67" name="TextBox 66"/>
          <p:cNvSpPr txBox="1"/>
          <p:nvPr/>
        </p:nvSpPr>
        <p:spPr>
          <a:xfrm>
            <a:off x="8631936" y="3099816"/>
            <a:ext cx="658368" cy="658368"/>
          </a:xfrm>
          <a:prstGeom prst="rect">
            <a:avLst/>
          </a:prstGeom>
          <a:noFill/>
        </p:spPr>
        <p:txBody>
          <a:bodyPr wrap="square" lIns="0" rIns="0" tIns="0" bIns="0" anchor="ctr">
            <a:spAutoFit/>
          </a:bodyPr>
          <a:lstStyle/>
          <a:p>
            <a:pPr algn="ctr"/>
            <a:r>
              <a:rPr sz="1800" b="1" i="0">
                <a:solidFill>
                  <a:srgbClr val="F0D58A"/>
                </a:solidFill>
                <a:latin typeface="Cinzel"/>
              </a:rPr>
              <a:t>III</a:t>
            </a:r>
          </a:p>
        </p:txBody>
      </p:sp>
      <p:sp>
        <p:nvSpPr>
          <p:cNvPr id="68" name="TextBox 67"/>
          <p:cNvSpPr txBox="1"/>
          <p:nvPr/>
        </p:nvSpPr>
        <p:spPr>
          <a:xfrm>
            <a:off x="7680960" y="3840480"/>
            <a:ext cx="2560320" cy="457200"/>
          </a:xfrm>
          <a:prstGeom prst="rect">
            <a:avLst/>
          </a:prstGeom>
          <a:noFill/>
        </p:spPr>
        <p:txBody>
          <a:bodyPr wrap="square" lIns="0" rIns="0" tIns="0" bIns="0" anchor="t">
            <a:spAutoFit/>
          </a:bodyPr>
          <a:lstStyle/>
          <a:p>
            <a:pPr algn="ctr"/>
            <a:r>
              <a:rPr sz="1900" b="1" i="0">
                <a:solidFill>
                  <a:srgbClr val="F0D58A"/>
                </a:solidFill>
                <a:latin typeface="Cinzel"/>
              </a:rPr>
              <a:t>The Engine</a:t>
            </a:r>
          </a:p>
        </p:txBody>
      </p:sp>
      <p:sp>
        <p:nvSpPr>
          <p:cNvPr id="69" name="TextBox 68"/>
          <p:cNvSpPr txBox="1"/>
          <p:nvPr/>
        </p:nvSpPr>
        <p:spPr>
          <a:xfrm>
            <a:off x="914400" y="4434840"/>
            <a:ext cx="10362895" cy="548640"/>
          </a:xfrm>
          <a:prstGeom prst="rect">
            <a:avLst/>
          </a:prstGeom>
          <a:noFill/>
        </p:spPr>
        <p:txBody>
          <a:bodyPr wrap="square" lIns="0" rIns="0" tIns="0" bIns="0" anchor="t">
            <a:spAutoFit/>
          </a:bodyPr>
          <a:lstStyle/>
          <a:p>
            <a:pPr algn="ctr">
              <a:lnSpc>
                <a:spcPct val="120000"/>
              </a:lnSpc>
            </a:pPr>
            <a:r>
              <a:rPr sz="2200" b="0" i="1">
                <a:solidFill>
                  <a:srgbClr val="EFE3C6"/>
                </a:solidFill>
                <a:latin typeface="Montserrat"/>
              </a:rPr>
              <a:t>Level 1 starts tonight.</a:t>
            </a:r>
          </a:p>
        </p:txBody>
      </p:sp>
      <p:sp>
        <p:nvSpPr>
          <p:cNvPr id="70" name="Rounded Rectangle 69"/>
          <p:cNvSpPr/>
          <p:nvPr/>
        </p:nvSpPr>
        <p:spPr>
          <a:xfrm>
            <a:off x="2834640" y="5212080"/>
            <a:ext cx="6522415" cy="731520"/>
          </a:xfrm>
          <a:prstGeom prst="roundRect">
            <a:avLst>
              <a:gd name="adj" fmla="val 30000"/>
            </a:avLst>
          </a:prstGeom>
          <a:solidFill>
            <a:srgbClr val="F0D58A"/>
          </a:solidFill>
          <a:ln w="25400">
            <a:solidFill>
              <a:srgbClr val="8A6A2A"/>
            </a:solidFill>
          </a:ln>
        </p:spPr>
        <p:txBody>
          <a:bodyPr rtlCol="0" anchor="ctr"/>
          <a:lstStyle/>
          <a:p/>
        </p:txBody>
      </p:sp>
      <p:sp>
        <p:nvSpPr>
          <p:cNvPr id="71" name="TextBox 70"/>
          <p:cNvSpPr txBox="1"/>
          <p:nvPr/>
        </p:nvSpPr>
        <p:spPr>
          <a:xfrm>
            <a:off x="2834640" y="5212080"/>
            <a:ext cx="6522415" cy="731520"/>
          </a:xfrm>
          <a:prstGeom prst="rect">
            <a:avLst/>
          </a:prstGeom>
          <a:noFill/>
        </p:spPr>
        <p:txBody>
          <a:bodyPr wrap="square" lIns="0" rIns="0" tIns="0" bIns="0" anchor="ctr">
            <a:spAutoFit/>
          </a:bodyPr>
          <a:lstStyle/>
          <a:p>
            <a:pPr algn="ctr"/>
            <a:r>
              <a:rPr sz="1900" b="1" i="0">
                <a:solidFill>
                  <a:srgbClr val="050400"/>
                </a:solidFill>
                <a:latin typeface="Cinzel"/>
              </a:rPr>
              <a:t>ENROLL  ·  arisecreditpro.com  ·  link in the chat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2.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5396062" y="2136511"/>
            <a:ext cx="36576" cy="36576"/>
          </a:xfrm>
          <a:prstGeom prst="ellipse">
            <a:avLst/>
          </a:prstGeom>
          <a:solidFill>
            <a:srgbClr val="714A1E"/>
          </a:solidFill>
          <a:ln>
            <a:noFill/>
          </a:ln>
        </p:spPr>
        <p:txBody>
          <a:bodyPr rtlCol="0" anchor="ctr"/>
          <a:lstStyle/>
          <a:p/>
        </p:txBody>
      </p:sp>
      <p:sp>
        <p:nvSpPr>
          <p:cNvPr id="4" name="Oval 3"/>
          <p:cNvSpPr/>
          <p:nvPr/>
        </p:nvSpPr>
        <p:spPr>
          <a:xfrm>
            <a:off x="4148437" y="4712277"/>
            <a:ext cx="54864" cy="54864"/>
          </a:xfrm>
          <a:prstGeom prst="ellipse">
            <a:avLst/>
          </a:prstGeom>
          <a:solidFill>
            <a:srgbClr val="A08D5C"/>
          </a:solidFill>
          <a:ln>
            <a:noFill/>
          </a:ln>
        </p:spPr>
        <p:txBody>
          <a:bodyPr rtlCol="0" anchor="ctr"/>
          <a:lstStyle/>
          <a:p/>
        </p:txBody>
      </p:sp>
      <p:sp>
        <p:nvSpPr>
          <p:cNvPr id="5" name="Oval 4"/>
          <p:cNvSpPr/>
          <p:nvPr/>
        </p:nvSpPr>
        <p:spPr>
          <a:xfrm>
            <a:off x="6046163" y="5118571"/>
            <a:ext cx="27432" cy="27432"/>
          </a:xfrm>
          <a:prstGeom prst="ellipse">
            <a:avLst/>
          </a:prstGeom>
          <a:solidFill>
            <a:srgbClr val="8B5B24"/>
          </a:solidFill>
          <a:ln>
            <a:noFill/>
          </a:ln>
        </p:spPr>
        <p:txBody>
          <a:bodyPr rtlCol="0" anchor="ctr"/>
          <a:lstStyle/>
          <a:p/>
        </p:txBody>
      </p:sp>
      <p:sp>
        <p:nvSpPr>
          <p:cNvPr id="6" name="Oval 5"/>
          <p:cNvSpPr/>
          <p:nvPr/>
        </p:nvSpPr>
        <p:spPr>
          <a:xfrm>
            <a:off x="4263452" y="2108844"/>
            <a:ext cx="73152" cy="73152"/>
          </a:xfrm>
          <a:prstGeom prst="ellipse">
            <a:avLst/>
          </a:prstGeom>
          <a:solidFill>
            <a:srgbClr val="64411B"/>
          </a:solidFill>
          <a:ln>
            <a:noFill/>
          </a:ln>
        </p:spPr>
        <p:txBody>
          <a:bodyPr rtlCol="0" anchor="ctr"/>
          <a:lstStyle/>
          <a:p/>
        </p:txBody>
      </p:sp>
      <p:sp>
        <p:nvSpPr>
          <p:cNvPr id="7" name="Oval 6"/>
          <p:cNvSpPr/>
          <p:nvPr/>
        </p:nvSpPr>
        <p:spPr>
          <a:xfrm>
            <a:off x="1474612" y="4202669"/>
            <a:ext cx="36576" cy="36576"/>
          </a:xfrm>
          <a:prstGeom prst="ellipse">
            <a:avLst/>
          </a:prstGeom>
          <a:solidFill>
            <a:srgbClr val="BA792F"/>
          </a:solidFill>
          <a:ln>
            <a:noFill/>
          </a:ln>
        </p:spPr>
        <p:txBody>
          <a:bodyPr rtlCol="0" anchor="ctr"/>
          <a:lstStyle/>
          <a:p/>
        </p:txBody>
      </p:sp>
      <p:sp>
        <p:nvSpPr>
          <p:cNvPr id="8" name="Oval 7"/>
          <p:cNvSpPr/>
          <p:nvPr/>
        </p:nvSpPr>
        <p:spPr>
          <a:xfrm>
            <a:off x="10652670" y="2600448"/>
            <a:ext cx="73152" cy="73152"/>
          </a:xfrm>
          <a:prstGeom prst="ellipse">
            <a:avLst/>
          </a:prstGeom>
          <a:solidFill>
            <a:srgbClr val="726541"/>
          </a:solidFill>
          <a:ln>
            <a:noFill/>
          </a:ln>
        </p:spPr>
        <p:txBody>
          <a:bodyPr rtlCol="0" anchor="ctr"/>
          <a:lstStyle/>
          <a:p/>
        </p:txBody>
      </p:sp>
      <p:sp>
        <p:nvSpPr>
          <p:cNvPr id="9" name="Oval 8"/>
          <p:cNvSpPr/>
          <p:nvPr/>
        </p:nvSpPr>
        <p:spPr>
          <a:xfrm>
            <a:off x="2993299" y="488028"/>
            <a:ext cx="27432" cy="27432"/>
          </a:xfrm>
          <a:prstGeom prst="ellipse">
            <a:avLst/>
          </a:prstGeom>
          <a:solidFill>
            <a:srgbClr val="977E39"/>
          </a:solidFill>
          <a:ln>
            <a:noFill/>
          </a:ln>
        </p:spPr>
        <p:txBody>
          <a:bodyPr rtlCol="0" anchor="ctr"/>
          <a:lstStyle/>
          <a:p/>
        </p:txBody>
      </p:sp>
      <p:sp>
        <p:nvSpPr>
          <p:cNvPr id="10" name="Oval 9"/>
          <p:cNvSpPr/>
          <p:nvPr/>
        </p:nvSpPr>
        <p:spPr>
          <a:xfrm>
            <a:off x="3147728" y="6194289"/>
            <a:ext cx="54864" cy="54864"/>
          </a:xfrm>
          <a:prstGeom prst="ellipse">
            <a:avLst/>
          </a:prstGeom>
          <a:solidFill>
            <a:srgbClr val="514320"/>
          </a:solidFill>
          <a:ln>
            <a:noFill/>
          </a:ln>
        </p:spPr>
        <p:txBody>
          <a:bodyPr rtlCol="0" anchor="ctr"/>
          <a:lstStyle/>
          <a:p/>
        </p:txBody>
      </p:sp>
      <p:sp>
        <p:nvSpPr>
          <p:cNvPr id="11" name="Oval 10"/>
          <p:cNvSpPr/>
          <p:nvPr/>
        </p:nvSpPr>
        <p:spPr>
          <a:xfrm>
            <a:off x="7002673" y="6207648"/>
            <a:ext cx="54864" cy="54864"/>
          </a:xfrm>
          <a:prstGeom prst="ellipse">
            <a:avLst/>
          </a:prstGeom>
          <a:solidFill>
            <a:srgbClr val="645739"/>
          </a:solidFill>
          <a:ln>
            <a:noFill/>
          </a:ln>
        </p:spPr>
        <p:txBody>
          <a:bodyPr rtlCol="0" anchor="ctr"/>
          <a:lstStyle/>
          <a:p/>
        </p:txBody>
      </p:sp>
      <p:sp>
        <p:nvSpPr>
          <p:cNvPr id="12" name="Oval 11"/>
          <p:cNvSpPr/>
          <p:nvPr/>
        </p:nvSpPr>
        <p:spPr>
          <a:xfrm>
            <a:off x="549489" y="3248330"/>
            <a:ext cx="73152" cy="73152"/>
          </a:xfrm>
          <a:prstGeom prst="ellipse">
            <a:avLst/>
          </a:prstGeom>
          <a:solidFill>
            <a:srgbClr val="AB9762"/>
          </a:solidFill>
          <a:ln>
            <a:noFill/>
          </a:ln>
        </p:spPr>
        <p:txBody>
          <a:bodyPr rtlCol="0" anchor="ctr"/>
          <a:lstStyle/>
          <a:p/>
        </p:txBody>
      </p:sp>
      <p:sp>
        <p:nvSpPr>
          <p:cNvPr id="13" name="Oval 12"/>
          <p:cNvSpPr/>
          <p:nvPr/>
        </p:nvSpPr>
        <p:spPr>
          <a:xfrm>
            <a:off x="5170788" y="2673630"/>
            <a:ext cx="54864" cy="54864"/>
          </a:xfrm>
          <a:prstGeom prst="ellipse">
            <a:avLst/>
          </a:prstGeom>
          <a:solidFill>
            <a:srgbClr val="865723"/>
          </a:solidFill>
          <a:ln>
            <a:noFill/>
          </a:ln>
        </p:spPr>
        <p:txBody>
          <a:bodyPr rtlCol="0" anchor="ctr"/>
          <a:lstStyle/>
          <a:p/>
        </p:txBody>
      </p:sp>
      <p:sp>
        <p:nvSpPr>
          <p:cNvPr id="14" name="Oval 13"/>
          <p:cNvSpPr/>
          <p:nvPr/>
        </p:nvSpPr>
        <p:spPr>
          <a:xfrm>
            <a:off x="10942552" y="5375053"/>
            <a:ext cx="54864" cy="54864"/>
          </a:xfrm>
          <a:prstGeom prst="ellipse">
            <a:avLst/>
          </a:prstGeom>
          <a:solidFill>
            <a:srgbClr val="5D3D19"/>
          </a:solidFill>
          <a:ln>
            <a:noFill/>
          </a:ln>
        </p:spPr>
        <p:txBody>
          <a:bodyPr rtlCol="0" anchor="ctr"/>
          <a:lstStyle/>
          <a:p/>
        </p:txBody>
      </p:sp>
      <p:sp>
        <p:nvSpPr>
          <p:cNvPr id="15" name="Oval 14"/>
          <p:cNvSpPr/>
          <p:nvPr/>
        </p:nvSpPr>
        <p:spPr>
          <a:xfrm>
            <a:off x="9145192" y="848528"/>
            <a:ext cx="54864" cy="54864"/>
          </a:xfrm>
          <a:prstGeom prst="ellipse">
            <a:avLst/>
          </a:prstGeom>
          <a:solidFill>
            <a:srgbClr val="978657"/>
          </a:solidFill>
          <a:ln>
            <a:noFill/>
          </a:ln>
        </p:spPr>
        <p:txBody>
          <a:bodyPr rtlCol="0" anchor="ctr"/>
          <a:lstStyle/>
          <a:p/>
        </p:txBody>
      </p:sp>
      <p:sp>
        <p:nvSpPr>
          <p:cNvPr id="16" name="Oval 15"/>
          <p:cNvSpPr/>
          <p:nvPr/>
        </p:nvSpPr>
        <p:spPr>
          <a:xfrm>
            <a:off x="3000615" y="3117945"/>
            <a:ext cx="54864" cy="54864"/>
          </a:xfrm>
          <a:prstGeom prst="ellipse">
            <a:avLst/>
          </a:prstGeom>
          <a:solidFill>
            <a:srgbClr val="BAA46A"/>
          </a:solidFill>
          <a:ln>
            <a:noFill/>
          </a:ln>
        </p:spPr>
        <p:txBody>
          <a:bodyPr rtlCol="0" anchor="ctr"/>
          <a:lstStyle/>
          <a:p/>
        </p:txBody>
      </p:sp>
      <p:sp>
        <p:nvSpPr>
          <p:cNvPr id="17" name="Oval 16"/>
          <p:cNvSpPr/>
          <p:nvPr/>
        </p:nvSpPr>
        <p:spPr>
          <a:xfrm>
            <a:off x="7142155" y="3350284"/>
            <a:ext cx="54864" cy="54864"/>
          </a:xfrm>
          <a:prstGeom prst="ellipse">
            <a:avLst/>
          </a:prstGeom>
          <a:solidFill>
            <a:srgbClr val="64421B"/>
          </a:solidFill>
          <a:ln>
            <a:noFill/>
          </a:ln>
        </p:spPr>
        <p:txBody>
          <a:bodyPr rtlCol="0" anchor="ctr"/>
          <a:lstStyle/>
          <a:p/>
        </p:txBody>
      </p:sp>
      <p:sp>
        <p:nvSpPr>
          <p:cNvPr id="18" name="Oval 17"/>
          <p:cNvSpPr/>
          <p:nvPr/>
        </p:nvSpPr>
        <p:spPr>
          <a:xfrm>
            <a:off x="11036582" y="3959380"/>
            <a:ext cx="27432" cy="27432"/>
          </a:xfrm>
          <a:prstGeom prst="ellipse">
            <a:avLst/>
          </a:prstGeom>
          <a:solidFill>
            <a:srgbClr val="744B1E"/>
          </a:solidFill>
          <a:ln>
            <a:noFill/>
          </a:ln>
        </p:spPr>
        <p:txBody>
          <a:bodyPr rtlCol="0" anchor="ctr"/>
          <a:lstStyle/>
          <a:p/>
        </p:txBody>
      </p:sp>
      <p:sp>
        <p:nvSpPr>
          <p:cNvPr id="19" name="Oval 18"/>
          <p:cNvSpPr/>
          <p:nvPr/>
        </p:nvSpPr>
        <p:spPr>
          <a:xfrm>
            <a:off x="1889132" y="2540534"/>
            <a:ext cx="54864" cy="54864"/>
          </a:xfrm>
          <a:prstGeom prst="ellipse">
            <a:avLst/>
          </a:prstGeom>
          <a:solidFill>
            <a:srgbClr val="784E1F"/>
          </a:solidFill>
          <a:ln>
            <a:noFill/>
          </a:ln>
        </p:spPr>
        <p:txBody>
          <a:bodyPr rtlCol="0" anchor="ctr"/>
          <a:lstStyle/>
          <a:p/>
        </p:txBody>
      </p:sp>
      <p:sp>
        <p:nvSpPr>
          <p:cNvPr id="20" name="Oval 19"/>
          <p:cNvSpPr/>
          <p:nvPr/>
        </p:nvSpPr>
        <p:spPr>
          <a:xfrm>
            <a:off x="9393557" y="1202722"/>
            <a:ext cx="73152" cy="73152"/>
          </a:xfrm>
          <a:prstGeom prst="ellipse">
            <a:avLst/>
          </a:prstGeom>
          <a:solidFill>
            <a:srgbClr val="5F4E25"/>
          </a:solidFill>
          <a:ln>
            <a:noFill/>
          </a:ln>
        </p:spPr>
        <p:txBody>
          <a:bodyPr rtlCol="0" anchor="ctr"/>
          <a:lstStyle/>
          <a:p/>
        </p:txBody>
      </p:sp>
      <p:sp>
        <p:nvSpPr>
          <p:cNvPr id="21" name="Oval 20"/>
          <p:cNvSpPr/>
          <p:nvPr/>
        </p:nvSpPr>
        <p:spPr>
          <a:xfrm>
            <a:off x="7188115" y="4277062"/>
            <a:ext cx="45720" cy="45720"/>
          </a:xfrm>
          <a:prstGeom prst="ellipse">
            <a:avLst/>
          </a:prstGeom>
          <a:solidFill>
            <a:srgbClr val="6D471D"/>
          </a:solidFill>
          <a:ln>
            <a:noFill/>
          </a:ln>
        </p:spPr>
        <p:txBody>
          <a:bodyPr rtlCol="0" anchor="ctr"/>
          <a:lstStyle/>
          <a:p/>
        </p:txBody>
      </p:sp>
      <p:sp>
        <p:nvSpPr>
          <p:cNvPr id="22" name="Oval 21"/>
          <p:cNvSpPr/>
          <p:nvPr/>
        </p:nvSpPr>
        <p:spPr>
          <a:xfrm>
            <a:off x="9224534" y="3675505"/>
            <a:ext cx="36576" cy="36576"/>
          </a:xfrm>
          <a:prstGeom prst="ellipse">
            <a:avLst/>
          </a:prstGeom>
          <a:solidFill>
            <a:srgbClr val="986227"/>
          </a:solidFill>
          <a:ln>
            <a:noFill/>
          </a:ln>
        </p:spPr>
        <p:txBody>
          <a:bodyPr rtlCol="0" anchor="ctr"/>
          <a:lstStyle/>
          <a:p/>
        </p:txBody>
      </p:sp>
      <p:sp>
        <p:nvSpPr>
          <p:cNvPr id="23" name="Oval 22"/>
          <p:cNvSpPr/>
          <p:nvPr/>
        </p:nvSpPr>
        <p:spPr>
          <a:xfrm>
            <a:off x="5707529" y="5066018"/>
            <a:ext cx="27432" cy="27432"/>
          </a:xfrm>
          <a:prstGeom prst="ellipse">
            <a:avLst/>
          </a:prstGeom>
          <a:solidFill>
            <a:srgbClr val="8F7E52"/>
          </a:solidFill>
          <a:ln>
            <a:noFill/>
          </a:ln>
        </p:spPr>
        <p:txBody>
          <a:bodyPr rtlCol="0" anchor="ctr"/>
          <a:lstStyle/>
          <a:p/>
        </p:txBody>
      </p:sp>
      <p:sp>
        <p:nvSpPr>
          <p:cNvPr id="24" name="Oval 23"/>
          <p:cNvSpPr/>
          <p:nvPr/>
        </p:nvSpPr>
        <p:spPr>
          <a:xfrm>
            <a:off x="2404502" y="4521929"/>
            <a:ext cx="36576" cy="36576"/>
          </a:xfrm>
          <a:prstGeom prst="ellipse">
            <a:avLst/>
          </a:prstGeom>
          <a:solidFill>
            <a:srgbClr val="584922"/>
          </a:solidFill>
          <a:ln>
            <a:noFill/>
          </a:ln>
        </p:spPr>
        <p:txBody>
          <a:bodyPr rtlCol="0" anchor="ctr"/>
          <a:lstStyle/>
          <a:p/>
        </p:txBody>
      </p:sp>
      <p:sp>
        <p:nvSpPr>
          <p:cNvPr id="25" name="Oval 24"/>
          <p:cNvSpPr/>
          <p:nvPr/>
        </p:nvSpPr>
        <p:spPr>
          <a:xfrm>
            <a:off x="2674185" y="4785272"/>
            <a:ext cx="36576" cy="36576"/>
          </a:xfrm>
          <a:prstGeom prst="ellipse">
            <a:avLst/>
          </a:prstGeom>
          <a:solidFill>
            <a:srgbClr val="6A451C"/>
          </a:solidFill>
          <a:ln>
            <a:noFill/>
          </a:ln>
        </p:spPr>
        <p:txBody>
          <a:bodyPr rtlCol="0" anchor="ctr"/>
          <a:lstStyle/>
          <a:p/>
        </p:txBody>
      </p:sp>
      <p:sp>
        <p:nvSpPr>
          <p:cNvPr id="26" name="Oval 25"/>
          <p:cNvSpPr/>
          <p:nvPr/>
        </p:nvSpPr>
        <p:spPr>
          <a:xfrm>
            <a:off x="9580885" y="1910339"/>
            <a:ext cx="36576" cy="36576"/>
          </a:xfrm>
          <a:prstGeom prst="ellipse">
            <a:avLst/>
          </a:prstGeom>
          <a:solidFill>
            <a:srgbClr val="BDA86D"/>
          </a:solidFill>
          <a:ln>
            <a:noFill/>
          </a:ln>
        </p:spPr>
        <p:txBody>
          <a:bodyPr rtlCol="0" anchor="ctr"/>
          <a:lstStyle/>
          <a:p/>
        </p:txBody>
      </p:sp>
      <p:sp>
        <p:nvSpPr>
          <p:cNvPr id="27" name="Oval 26"/>
          <p:cNvSpPr/>
          <p:nvPr/>
        </p:nvSpPr>
        <p:spPr>
          <a:xfrm>
            <a:off x="414359" y="4098721"/>
            <a:ext cx="27432" cy="27432"/>
          </a:xfrm>
          <a:prstGeom prst="ellipse">
            <a:avLst/>
          </a:prstGeom>
          <a:solidFill>
            <a:srgbClr val="6B5E3D"/>
          </a:solidFill>
          <a:ln>
            <a:noFill/>
          </a:ln>
        </p:spPr>
        <p:txBody>
          <a:bodyPr rtlCol="0" anchor="ctr"/>
          <a:lstStyle/>
          <a:p/>
        </p:txBody>
      </p:sp>
      <p:sp>
        <p:nvSpPr>
          <p:cNvPr id="28" name="Oval 27"/>
          <p:cNvSpPr/>
          <p:nvPr/>
        </p:nvSpPr>
        <p:spPr>
          <a:xfrm>
            <a:off x="5745364" y="2390868"/>
            <a:ext cx="54864" cy="54864"/>
          </a:xfrm>
          <a:prstGeom prst="ellipse">
            <a:avLst/>
          </a:prstGeom>
          <a:solidFill>
            <a:srgbClr val="A66C2A"/>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pic>
        <p:nvPicPr>
          <p:cNvPr id="49" name="Picture 48" descr="glow_35.png"/>
          <p:cNvPicPr>
            <a:picLocks noChangeAspect="1"/>
          </p:cNvPicPr>
          <p:nvPr/>
        </p:nvPicPr>
        <p:blipFill>
          <a:blip r:embed="rId3"/>
          <a:stretch>
            <a:fillRect/>
          </a:stretch>
        </p:blipFill>
        <p:spPr>
          <a:xfrm>
            <a:off x="3352647" y="-182880"/>
            <a:ext cx="5486400" cy="5486400"/>
          </a:xfrm>
          <a:prstGeom prst="rect">
            <a:avLst/>
          </a:prstGeom>
        </p:spPr>
      </p:pic>
      <p:sp>
        <p:nvSpPr>
          <p:cNvPr id="50" name="TextBox 49"/>
          <p:cNvSpPr txBox="1"/>
          <p:nvPr/>
        </p:nvSpPr>
        <p:spPr>
          <a:xfrm>
            <a:off x="5181447" y="658368"/>
            <a:ext cx="1828800" cy="329184"/>
          </a:xfrm>
          <a:prstGeom prst="rect">
            <a:avLst/>
          </a:prstGeom>
          <a:noFill/>
        </p:spPr>
        <p:txBody>
          <a:bodyPr wrap="square" lIns="0" rIns="0" tIns="0" bIns="0" anchor="ctr">
            <a:spAutoFit/>
          </a:bodyPr>
          <a:lstStyle/>
          <a:p>
            <a:pPr algn="ctr"/>
            <a:r>
              <a:rPr sz="1300" b="1" i="0" spc="400">
                <a:solidFill>
                  <a:srgbClr val="C9A84C"/>
                </a:solidFill>
                <a:latin typeface="Montserrat"/>
              </a:rPr>
              <a:t>Q &amp; A</a:t>
            </a:r>
          </a:p>
        </p:txBody>
      </p:sp>
      <p:cxnSp>
        <p:nvCxnSpPr>
          <p:cNvPr id="51" name="Connector 50"/>
          <p:cNvCxnSpPr/>
          <p:nvPr/>
        </p:nvCxnSpPr>
        <p:spPr>
          <a:xfrm>
            <a:off x="380984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2" name="Diamond 51"/>
          <p:cNvSpPr/>
          <p:nvPr/>
        </p:nvSpPr>
        <p:spPr>
          <a:xfrm>
            <a:off x="3759555" y="772667"/>
            <a:ext cx="100584" cy="100584"/>
          </a:xfrm>
          <a:prstGeom prst="diamond">
            <a:avLst/>
          </a:prstGeom>
          <a:solidFill>
            <a:srgbClr val="C9A84C"/>
          </a:solidFill>
          <a:ln>
            <a:noFill/>
          </a:ln>
        </p:spPr>
        <p:txBody>
          <a:bodyPr rtlCol="0" anchor="ctr"/>
          <a:lstStyle/>
          <a:p/>
        </p:txBody>
      </p:sp>
      <p:cxnSp>
        <p:nvCxnSpPr>
          <p:cNvPr id="53" name="Connector 52"/>
          <p:cNvCxnSpPr/>
          <p:nvPr/>
        </p:nvCxnSpPr>
        <p:spPr>
          <a:xfrm>
            <a:off x="7147407" y="822959"/>
            <a:ext cx="1234440" cy="0"/>
          </a:xfrm>
          <a:prstGeom prst="line">
            <a:avLst/>
          </a:prstGeom>
          <a:ln w="12700">
            <a:solidFill>
              <a:srgbClr val="907837"/>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8331555" y="772667"/>
            <a:ext cx="100584" cy="100584"/>
          </a:xfrm>
          <a:prstGeom prst="diamond">
            <a:avLst/>
          </a:prstGeom>
          <a:solidFill>
            <a:srgbClr val="C9A84C"/>
          </a:solidFill>
          <a:ln>
            <a:noFill/>
          </a:ln>
        </p:spPr>
        <p:txBody>
          <a:bodyPr rtlCol="0" anchor="ctr"/>
          <a:lstStyle/>
          <a:p/>
        </p:txBody>
      </p:sp>
      <p:sp>
        <p:nvSpPr>
          <p:cNvPr id="55" name="TextBox 54"/>
          <p:cNvSpPr txBox="1"/>
          <p:nvPr/>
        </p:nvSpPr>
        <p:spPr>
          <a:xfrm>
            <a:off x="914400" y="1371600"/>
            <a:ext cx="10362895" cy="1645920"/>
          </a:xfrm>
          <a:prstGeom prst="rect">
            <a:avLst/>
          </a:prstGeom>
          <a:noFill/>
        </p:spPr>
        <p:txBody>
          <a:bodyPr wrap="square" lIns="0" rIns="0" tIns="0" bIns="0" anchor="ctr">
            <a:spAutoFit/>
          </a:bodyPr>
          <a:lstStyle/>
          <a:p>
            <a:pPr algn="ctr">
              <a:lnSpc>
                <a:spcPct val="105000"/>
              </a:lnSpc>
            </a:pPr>
            <a:r>
              <a:rPr sz="8000" b="1" i="0">
                <a:solidFill>
                  <a:srgbClr val="F0D58A"/>
                </a:solidFill>
                <a:latin typeface="Cinzel"/>
              </a:rPr>
              <a:t>Questions?</a:t>
            </a:r>
          </a:p>
        </p:txBody>
      </p:sp>
      <p:sp>
        <p:nvSpPr>
          <p:cNvPr id="56" name="TextBox 55"/>
          <p:cNvSpPr txBox="1"/>
          <p:nvPr/>
        </p:nvSpPr>
        <p:spPr>
          <a:xfrm>
            <a:off x="914400" y="3200400"/>
            <a:ext cx="10362895" cy="1097280"/>
          </a:xfrm>
          <a:prstGeom prst="rect">
            <a:avLst/>
          </a:prstGeom>
          <a:noFill/>
        </p:spPr>
        <p:txBody>
          <a:bodyPr wrap="square" lIns="0" rIns="0" tIns="0" bIns="0" anchor="ctr">
            <a:spAutoFit/>
          </a:bodyPr>
          <a:lstStyle/>
          <a:p>
            <a:pPr algn="ctr">
              <a:lnSpc>
                <a:spcPct val="120000"/>
              </a:lnSpc>
            </a:pPr>
            <a:r>
              <a:rPr sz="2400" b="0" i="0">
                <a:solidFill>
                  <a:srgbClr val="EFE3C6"/>
                </a:solidFill>
                <a:latin typeface="Montserrat"/>
              </a:rPr>
              <a:t>The Restoration Program  ·  Nothing charged today</a:t>
            </a:r>
          </a:p>
        </p:txBody>
      </p:sp>
      <p:sp>
        <p:nvSpPr>
          <p:cNvPr id="57" name="Rounded Rectangle 56"/>
          <p:cNvSpPr/>
          <p:nvPr/>
        </p:nvSpPr>
        <p:spPr>
          <a:xfrm>
            <a:off x="2834640" y="4572000"/>
            <a:ext cx="6522415" cy="731520"/>
          </a:xfrm>
          <a:prstGeom prst="roundRect">
            <a:avLst>
              <a:gd name="adj" fmla="val 30000"/>
            </a:avLst>
          </a:prstGeom>
          <a:solidFill>
            <a:srgbClr val="F0D58A"/>
          </a:solidFill>
          <a:ln w="25400">
            <a:solidFill>
              <a:srgbClr val="8A6A2A"/>
            </a:solidFill>
          </a:ln>
        </p:spPr>
        <p:txBody>
          <a:bodyPr rtlCol="0" anchor="ctr"/>
          <a:lstStyle/>
          <a:p/>
        </p:txBody>
      </p:sp>
      <p:sp>
        <p:nvSpPr>
          <p:cNvPr id="58" name="TextBox 57"/>
          <p:cNvSpPr txBox="1"/>
          <p:nvPr/>
        </p:nvSpPr>
        <p:spPr>
          <a:xfrm>
            <a:off x="2834640" y="4572000"/>
            <a:ext cx="6522415" cy="731520"/>
          </a:xfrm>
          <a:prstGeom prst="rect">
            <a:avLst/>
          </a:prstGeom>
          <a:noFill/>
        </p:spPr>
        <p:txBody>
          <a:bodyPr wrap="square" lIns="0" rIns="0" tIns="0" bIns="0" anchor="ctr">
            <a:spAutoFit/>
          </a:bodyPr>
          <a:lstStyle/>
          <a:p>
            <a:pPr algn="ctr"/>
            <a:r>
              <a:rPr sz="1900" b="1" i="0">
                <a:solidFill>
                  <a:srgbClr val="050400"/>
                </a:solidFill>
                <a:latin typeface="Cinzel"/>
              </a:rPr>
              <a:t>ENROLL  ·  arisecreditpro.com  ·  link in the chat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50_48.jp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1687074" y="1532172"/>
            <a:ext cx="27432" cy="27432"/>
          </a:xfrm>
          <a:prstGeom prst="ellipse">
            <a:avLst/>
          </a:prstGeom>
          <a:solidFill>
            <a:srgbClr val="5B4B23"/>
          </a:solidFill>
          <a:ln>
            <a:noFill/>
          </a:ln>
        </p:spPr>
        <p:txBody>
          <a:bodyPr rtlCol="0" anchor="ctr"/>
          <a:lstStyle/>
          <a:p/>
        </p:txBody>
      </p:sp>
      <p:sp>
        <p:nvSpPr>
          <p:cNvPr id="4" name="Oval 3"/>
          <p:cNvSpPr/>
          <p:nvPr/>
        </p:nvSpPr>
        <p:spPr>
          <a:xfrm>
            <a:off x="8928080" y="2160356"/>
            <a:ext cx="27432" cy="27432"/>
          </a:xfrm>
          <a:prstGeom prst="ellipse">
            <a:avLst/>
          </a:prstGeom>
          <a:solidFill>
            <a:srgbClr val="B2732D"/>
          </a:solidFill>
          <a:ln>
            <a:noFill/>
          </a:ln>
        </p:spPr>
        <p:txBody>
          <a:bodyPr rtlCol="0" anchor="ctr"/>
          <a:lstStyle/>
          <a:p/>
        </p:txBody>
      </p:sp>
      <p:sp>
        <p:nvSpPr>
          <p:cNvPr id="5" name="Oval 4"/>
          <p:cNvSpPr/>
          <p:nvPr/>
        </p:nvSpPr>
        <p:spPr>
          <a:xfrm>
            <a:off x="6560915" y="2671289"/>
            <a:ext cx="54864" cy="54864"/>
          </a:xfrm>
          <a:prstGeom prst="ellipse">
            <a:avLst/>
          </a:prstGeom>
          <a:solidFill>
            <a:srgbClr val="6A451C"/>
          </a:solidFill>
          <a:ln>
            <a:noFill/>
          </a:ln>
        </p:spPr>
        <p:txBody>
          <a:bodyPr rtlCol="0" anchor="ctr"/>
          <a:lstStyle/>
          <a:p/>
        </p:txBody>
      </p:sp>
      <p:sp>
        <p:nvSpPr>
          <p:cNvPr id="6" name="Oval 5"/>
          <p:cNvSpPr/>
          <p:nvPr/>
        </p:nvSpPr>
        <p:spPr>
          <a:xfrm>
            <a:off x="11705750" y="4959965"/>
            <a:ext cx="54864" cy="54864"/>
          </a:xfrm>
          <a:prstGeom prst="ellipse">
            <a:avLst/>
          </a:prstGeom>
          <a:solidFill>
            <a:srgbClr val="948355"/>
          </a:solidFill>
          <a:ln>
            <a:noFill/>
          </a:ln>
        </p:spPr>
        <p:txBody>
          <a:bodyPr rtlCol="0" anchor="ctr"/>
          <a:lstStyle/>
          <a:p/>
        </p:txBody>
      </p:sp>
      <p:sp>
        <p:nvSpPr>
          <p:cNvPr id="7" name="Oval 6"/>
          <p:cNvSpPr/>
          <p:nvPr/>
        </p:nvSpPr>
        <p:spPr>
          <a:xfrm>
            <a:off x="11332344" y="3414583"/>
            <a:ext cx="27432" cy="27432"/>
          </a:xfrm>
          <a:prstGeom prst="ellipse">
            <a:avLst/>
          </a:prstGeom>
          <a:solidFill>
            <a:srgbClr val="8D7C50"/>
          </a:solidFill>
          <a:ln>
            <a:noFill/>
          </a:ln>
        </p:spPr>
        <p:txBody>
          <a:bodyPr rtlCol="0" anchor="ctr"/>
          <a:lstStyle/>
          <a:p/>
        </p:txBody>
      </p:sp>
      <p:sp>
        <p:nvSpPr>
          <p:cNvPr id="8" name="Oval 7"/>
          <p:cNvSpPr/>
          <p:nvPr/>
        </p:nvSpPr>
        <p:spPr>
          <a:xfrm>
            <a:off x="967262" y="1743069"/>
            <a:ext cx="36576" cy="36576"/>
          </a:xfrm>
          <a:prstGeom prst="ellipse">
            <a:avLst/>
          </a:prstGeom>
          <a:solidFill>
            <a:srgbClr val="7E6930"/>
          </a:solidFill>
          <a:ln>
            <a:noFill/>
          </a:ln>
        </p:spPr>
        <p:txBody>
          <a:bodyPr rtlCol="0" anchor="ctr"/>
          <a:lstStyle/>
          <a:p/>
        </p:txBody>
      </p:sp>
      <p:sp>
        <p:nvSpPr>
          <p:cNvPr id="9" name="Oval 8"/>
          <p:cNvSpPr/>
          <p:nvPr/>
        </p:nvSpPr>
        <p:spPr>
          <a:xfrm>
            <a:off x="2601515" y="4910367"/>
            <a:ext cx="54864" cy="54864"/>
          </a:xfrm>
          <a:prstGeom prst="ellipse">
            <a:avLst/>
          </a:prstGeom>
          <a:solidFill>
            <a:srgbClr val="583918"/>
          </a:solidFill>
          <a:ln>
            <a:noFill/>
          </a:ln>
        </p:spPr>
        <p:txBody>
          <a:bodyPr rtlCol="0" anchor="ctr"/>
          <a:lstStyle/>
          <a:p/>
        </p:txBody>
      </p:sp>
      <p:sp>
        <p:nvSpPr>
          <p:cNvPr id="10" name="Oval 9"/>
          <p:cNvSpPr/>
          <p:nvPr/>
        </p:nvSpPr>
        <p:spPr>
          <a:xfrm>
            <a:off x="9871449" y="1002488"/>
            <a:ext cx="45720" cy="45720"/>
          </a:xfrm>
          <a:prstGeom prst="ellipse">
            <a:avLst/>
          </a:prstGeom>
          <a:solidFill>
            <a:srgbClr val="69441C"/>
          </a:solidFill>
          <a:ln>
            <a:noFill/>
          </a:ln>
        </p:spPr>
        <p:txBody>
          <a:bodyPr rtlCol="0" anchor="ctr"/>
          <a:lstStyle/>
          <a:p/>
        </p:txBody>
      </p:sp>
      <p:sp>
        <p:nvSpPr>
          <p:cNvPr id="11" name="Oval 10"/>
          <p:cNvSpPr/>
          <p:nvPr/>
        </p:nvSpPr>
        <p:spPr>
          <a:xfrm>
            <a:off x="7460441" y="1795043"/>
            <a:ext cx="45720" cy="45720"/>
          </a:xfrm>
          <a:prstGeom prst="ellipse">
            <a:avLst/>
          </a:prstGeom>
          <a:solidFill>
            <a:srgbClr val="AF9B64"/>
          </a:solidFill>
          <a:ln>
            <a:noFill/>
          </a:ln>
        </p:spPr>
        <p:txBody>
          <a:bodyPr rtlCol="0" anchor="ctr"/>
          <a:lstStyle/>
          <a:p/>
        </p:txBody>
      </p:sp>
      <p:sp>
        <p:nvSpPr>
          <p:cNvPr id="12" name="Oval 11"/>
          <p:cNvSpPr/>
          <p:nvPr/>
        </p:nvSpPr>
        <p:spPr>
          <a:xfrm>
            <a:off x="3907794" y="1328937"/>
            <a:ext cx="36576" cy="36576"/>
          </a:xfrm>
          <a:prstGeom prst="ellipse">
            <a:avLst/>
          </a:prstGeom>
          <a:solidFill>
            <a:srgbClr val="6B5E3D"/>
          </a:solidFill>
          <a:ln>
            <a:noFill/>
          </a:ln>
        </p:spPr>
        <p:txBody>
          <a:bodyPr rtlCol="0" anchor="ctr"/>
          <a:lstStyle/>
          <a:p/>
        </p:txBody>
      </p:sp>
      <p:sp>
        <p:nvSpPr>
          <p:cNvPr id="13" name="Oval 12"/>
          <p:cNvSpPr/>
          <p:nvPr/>
        </p:nvSpPr>
        <p:spPr>
          <a:xfrm>
            <a:off x="9846550" y="4635859"/>
            <a:ext cx="36576" cy="36576"/>
          </a:xfrm>
          <a:prstGeom prst="ellipse">
            <a:avLst/>
          </a:prstGeom>
          <a:solidFill>
            <a:srgbClr val="8A5A24"/>
          </a:solidFill>
          <a:ln>
            <a:noFill/>
          </a:ln>
        </p:spPr>
        <p:txBody>
          <a:bodyPr rtlCol="0" anchor="ctr"/>
          <a:lstStyle/>
          <a:p/>
        </p:txBody>
      </p:sp>
      <p:sp>
        <p:nvSpPr>
          <p:cNvPr id="14" name="Oval 13"/>
          <p:cNvSpPr/>
          <p:nvPr/>
        </p:nvSpPr>
        <p:spPr>
          <a:xfrm>
            <a:off x="4942889" y="4274112"/>
            <a:ext cx="27432" cy="27432"/>
          </a:xfrm>
          <a:prstGeom prst="ellipse">
            <a:avLst/>
          </a:prstGeom>
          <a:solidFill>
            <a:srgbClr val="655939"/>
          </a:solidFill>
          <a:ln>
            <a:noFill/>
          </a:ln>
        </p:spPr>
        <p:txBody>
          <a:bodyPr rtlCol="0" anchor="ctr"/>
          <a:lstStyle/>
          <a:p/>
        </p:txBody>
      </p:sp>
      <p:sp>
        <p:nvSpPr>
          <p:cNvPr id="15" name="Oval 14"/>
          <p:cNvSpPr/>
          <p:nvPr/>
        </p:nvSpPr>
        <p:spPr>
          <a:xfrm>
            <a:off x="3783766" y="1969613"/>
            <a:ext cx="45720" cy="45720"/>
          </a:xfrm>
          <a:prstGeom prst="ellipse">
            <a:avLst/>
          </a:prstGeom>
          <a:solidFill>
            <a:srgbClr val="907F53"/>
          </a:solidFill>
          <a:ln>
            <a:noFill/>
          </a:ln>
        </p:spPr>
        <p:txBody>
          <a:bodyPr rtlCol="0" anchor="ctr"/>
          <a:lstStyle/>
          <a:p/>
        </p:txBody>
      </p:sp>
      <p:sp>
        <p:nvSpPr>
          <p:cNvPr id="16" name="Oval 15"/>
          <p:cNvSpPr/>
          <p:nvPr/>
        </p:nvSpPr>
        <p:spPr>
          <a:xfrm>
            <a:off x="6058900" y="773330"/>
            <a:ext cx="54864" cy="54864"/>
          </a:xfrm>
          <a:prstGeom prst="ellipse">
            <a:avLst/>
          </a:prstGeom>
          <a:solidFill>
            <a:srgbClr val="855723"/>
          </a:solidFill>
          <a:ln>
            <a:noFill/>
          </a:ln>
        </p:spPr>
        <p:txBody>
          <a:bodyPr rtlCol="0" anchor="ctr"/>
          <a:lstStyle/>
          <a:p/>
        </p:txBody>
      </p:sp>
      <p:sp>
        <p:nvSpPr>
          <p:cNvPr id="17" name="Oval 16"/>
          <p:cNvSpPr/>
          <p:nvPr/>
        </p:nvSpPr>
        <p:spPr>
          <a:xfrm>
            <a:off x="3588351" y="2697306"/>
            <a:ext cx="27432" cy="27432"/>
          </a:xfrm>
          <a:prstGeom prst="ellipse">
            <a:avLst/>
          </a:prstGeom>
          <a:solidFill>
            <a:srgbClr val="7C5121"/>
          </a:solidFill>
          <a:ln>
            <a:noFill/>
          </a:ln>
        </p:spPr>
        <p:txBody>
          <a:bodyPr rtlCol="0" anchor="ctr"/>
          <a:lstStyle/>
          <a:p/>
        </p:txBody>
      </p:sp>
      <p:sp>
        <p:nvSpPr>
          <p:cNvPr id="18" name="Oval 17"/>
          <p:cNvSpPr/>
          <p:nvPr/>
        </p:nvSpPr>
        <p:spPr>
          <a:xfrm>
            <a:off x="7649789" y="705263"/>
            <a:ext cx="36576" cy="36576"/>
          </a:xfrm>
          <a:prstGeom prst="ellipse">
            <a:avLst/>
          </a:prstGeom>
          <a:solidFill>
            <a:srgbClr val="A99661"/>
          </a:solidFill>
          <a:ln>
            <a:noFill/>
          </a:ln>
        </p:spPr>
        <p:txBody>
          <a:bodyPr rtlCol="0" anchor="ctr"/>
          <a:lstStyle/>
          <a:p/>
        </p:txBody>
      </p:sp>
      <p:sp>
        <p:nvSpPr>
          <p:cNvPr id="19" name="Oval 18"/>
          <p:cNvSpPr/>
          <p:nvPr/>
        </p:nvSpPr>
        <p:spPr>
          <a:xfrm>
            <a:off x="9916402" y="2285278"/>
            <a:ext cx="45720" cy="45720"/>
          </a:xfrm>
          <a:prstGeom prst="ellipse">
            <a:avLst/>
          </a:prstGeom>
          <a:solidFill>
            <a:srgbClr val="875823"/>
          </a:solidFill>
          <a:ln>
            <a:noFill/>
          </a:ln>
        </p:spPr>
        <p:txBody>
          <a:bodyPr rtlCol="0" anchor="ctr"/>
          <a:lstStyle/>
          <a:p/>
        </p:txBody>
      </p:sp>
      <p:sp>
        <p:nvSpPr>
          <p:cNvPr id="20" name="Oval 19"/>
          <p:cNvSpPr/>
          <p:nvPr/>
        </p:nvSpPr>
        <p:spPr>
          <a:xfrm>
            <a:off x="773152" y="4601035"/>
            <a:ext cx="27432" cy="27432"/>
          </a:xfrm>
          <a:prstGeom prst="ellipse">
            <a:avLst/>
          </a:prstGeom>
          <a:solidFill>
            <a:srgbClr val="82734A"/>
          </a:solidFill>
          <a:ln>
            <a:noFill/>
          </a:ln>
        </p:spPr>
        <p:txBody>
          <a:bodyPr rtlCol="0" anchor="ctr"/>
          <a:lstStyle/>
          <a:p/>
        </p:txBody>
      </p:sp>
      <p:sp>
        <p:nvSpPr>
          <p:cNvPr id="21" name="Oval 20"/>
          <p:cNvSpPr/>
          <p:nvPr/>
        </p:nvSpPr>
        <p:spPr>
          <a:xfrm>
            <a:off x="6449056" y="6007366"/>
            <a:ext cx="54864" cy="54864"/>
          </a:xfrm>
          <a:prstGeom prst="ellipse">
            <a:avLst/>
          </a:prstGeom>
          <a:solidFill>
            <a:srgbClr val="63411B"/>
          </a:solidFill>
          <a:ln>
            <a:noFill/>
          </a:ln>
        </p:spPr>
        <p:txBody>
          <a:bodyPr rtlCol="0" anchor="ctr"/>
          <a:lstStyle/>
          <a:p/>
        </p:txBody>
      </p:sp>
      <p:sp>
        <p:nvSpPr>
          <p:cNvPr id="22" name="Oval 21"/>
          <p:cNvSpPr/>
          <p:nvPr/>
        </p:nvSpPr>
        <p:spPr>
          <a:xfrm>
            <a:off x="2756429" y="5949793"/>
            <a:ext cx="54864" cy="54864"/>
          </a:xfrm>
          <a:prstGeom prst="ellipse">
            <a:avLst/>
          </a:prstGeom>
          <a:solidFill>
            <a:srgbClr val="5C5134"/>
          </a:solidFill>
          <a:ln>
            <a:noFill/>
          </a:ln>
        </p:spPr>
        <p:txBody>
          <a:bodyPr rtlCol="0" anchor="ctr"/>
          <a:lstStyle/>
          <a:p/>
        </p:txBody>
      </p:sp>
      <p:sp>
        <p:nvSpPr>
          <p:cNvPr id="23" name="Oval 22"/>
          <p:cNvSpPr/>
          <p:nvPr/>
        </p:nvSpPr>
        <p:spPr>
          <a:xfrm>
            <a:off x="8167152" y="4520821"/>
            <a:ext cx="36576" cy="36576"/>
          </a:xfrm>
          <a:prstGeom prst="ellipse">
            <a:avLst/>
          </a:prstGeom>
          <a:solidFill>
            <a:srgbClr val="895924"/>
          </a:solidFill>
          <a:ln>
            <a:noFill/>
          </a:ln>
        </p:spPr>
        <p:txBody>
          <a:bodyPr rtlCol="0" anchor="ctr"/>
          <a:lstStyle/>
          <a:p/>
        </p:txBody>
      </p:sp>
      <p:sp>
        <p:nvSpPr>
          <p:cNvPr id="24" name="Oval 23"/>
          <p:cNvSpPr/>
          <p:nvPr/>
        </p:nvSpPr>
        <p:spPr>
          <a:xfrm>
            <a:off x="483141" y="6221583"/>
            <a:ext cx="54864" cy="54864"/>
          </a:xfrm>
          <a:prstGeom prst="ellipse">
            <a:avLst/>
          </a:prstGeom>
          <a:solidFill>
            <a:srgbClr val="45391B"/>
          </a:solidFill>
          <a:ln>
            <a:noFill/>
          </a:ln>
        </p:spPr>
        <p:txBody>
          <a:bodyPr rtlCol="0" anchor="ctr"/>
          <a:lstStyle/>
          <a:p/>
        </p:txBody>
      </p:sp>
      <p:sp>
        <p:nvSpPr>
          <p:cNvPr id="25" name="Oval 24"/>
          <p:cNvSpPr/>
          <p:nvPr/>
        </p:nvSpPr>
        <p:spPr>
          <a:xfrm>
            <a:off x="3281035" y="3219239"/>
            <a:ext cx="73152" cy="73152"/>
          </a:xfrm>
          <a:prstGeom prst="ellipse">
            <a:avLst/>
          </a:prstGeom>
          <a:solidFill>
            <a:srgbClr val="816B31"/>
          </a:solidFill>
          <a:ln>
            <a:noFill/>
          </a:ln>
        </p:spPr>
        <p:txBody>
          <a:bodyPr rtlCol="0" anchor="ctr"/>
          <a:lstStyle/>
          <a:p/>
        </p:txBody>
      </p:sp>
      <p:sp>
        <p:nvSpPr>
          <p:cNvPr id="26" name="Oval 25"/>
          <p:cNvSpPr/>
          <p:nvPr/>
        </p:nvSpPr>
        <p:spPr>
          <a:xfrm>
            <a:off x="5209648" y="2041037"/>
            <a:ext cx="27432" cy="27432"/>
          </a:xfrm>
          <a:prstGeom prst="ellipse">
            <a:avLst/>
          </a:prstGeom>
          <a:solidFill>
            <a:srgbClr val="A99561"/>
          </a:solidFill>
          <a:ln>
            <a:noFill/>
          </a:ln>
        </p:spPr>
        <p:txBody>
          <a:bodyPr rtlCol="0" anchor="ctr"/>
          <a:lstStyle/>
          <a:p/>
        </p:txBody>
      </p:sp>
      <p:sp>
        <p:nvSpPr>
          <p:cNvPr id="27" name="Oval 26"/>
          <p:cNvSpPr/>
          <p:nvPr/>
        </p:nvSpPr>
        <p:spPr>
          <a:xfrm>
            <a:off x="8514891" y="1680804"/>
            <a:ext cx="27432" cy="27432"/>
          </a:xfrm>
          <a:prstGeom prst="ellipse">
            <a:avLst/>
          </a:prstGeom>
          <a:solidFill>
            <a:srgbClr val="6D5A2A"/>
          </a:solidFill>
          <a:ln>
            <a:noFill/>
          </a:ln>
        </p:spPr>
        <p:txBody>
          <a:bodyPr rtlCol="0" anchor="ctr"/>
          <a:lstStyle/>
          <a:p/>
        </p:txBody>
      </p:sp>
      <p:sp>
        <p:nvSpPr>
          <p:cNvPr id="28" name="Oval 27"/>
          <p:cNvSpPr/>
          <p:nvPr/>
        </p:nvSpPr>
        <p:spPr>
          <a:xfrm>
            <a:off x="9350162" y="520901"/>
            <a:ext cx="36576" cy="36576"/>
          </a:xfrm>
          <a:prstGeom prst="ellipse">
            <a:avLst/>
          </a:prstGeom>
          <a:solidFill>
            <a:srgbClr val="64411B"/>
          </a:solidFill>
          <a:ln>
            <a:noFill/>
          </a:ln>
        </p:spPr>
        <p:txBody>
          <a:bodyPr rtlCol="0" anchor="ctr"/>
          <a:lstStyle/>
          <a:p/>
        </p:txBody>
      </p:sp>
      <p:sp>
        <p:nvSpPr>
          <p:cNvPr id="29" name="Rectangle 28"/>
          <p:cNvSpPr/>
          <p:nvPr/>
        </p:nvSpPr>
        <p:spPr>
          <a:xfrm>
            <a:off x="256032" y="256032"/>
            <a:ext cx="11679631" cy="6345936"/>
          </a:xfrm>
          <a:prstGeom prst="rect">
            <a:avLst/>
          </a:prstGeom>
          <a:noFill/>
          <a:ln w="15875">
            <a:solidFill>
              <a:srgbClr val="74602D"/>
            </a:solidFill>
          </a:ln>
        </p:spPr>
        <p:txBody>
          <a:bodyPr rtlCol="0" anchor="ctr"/>
          <a:lstStyle/>
          <a:p/>
        </p:txBody>
      </p:sp>
      <p:sp>
        <p:nvSpPr>
          <p:cNvPr id="30" name="Rectangle 29"/>
          <p:cNvSpPr/>
          <p:nvPr/>
        </p:nvSpPr>
        <p:spPr>
          <a:xfrm>
            <a:off x="347472" y="347472"/>
            <a:ext cx="11496751" cy="6163056"/>
          </a:xfrm>
          <a:prstGeom prst="rect">
            <a:avLst/>
          </a:prstGeom>
          <a:noFill/>
          <a:ln w="6350">
            <a:solidFill>
              <a:srgbClr val="45391B"/>
            </a:solidFill>
          </a:ln>
        </p:spPr>
        <p:txBody>
          <a:bodyPr rtlCol="0" anchor="ctr"/>
          <a:lstStyle/>
          <a:p/>
        </p:txBody>
      </p:sp>
      <p:cxnSp>
        <p:nvCxnSpPr>
          <p:cNvPr id="31" name="Connector 30"/>
          <p:cNvCxnSpPr/>
          <p:nvPr/>
        </p:nvCxnSpPr>
        <p:spPr>
          <a:xfrm>
            <a:off x="256032"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6032"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274320" y="274320"/>
            <a:ext cx="146304" cy="146304"/>
          </a:xfrm>
          <a:prstGeom prst="diamond">
            <a:avLst/>
          </a:prstGeom>
          <a:solidFill>
            <a:srgbClr val="F0D58A"/>
          </a:solidFill>
          <a:ln>
            <a:noFill/>
          </a:ln>
        </p:spPr>
        <p:txBody>
          <a:bodyPr rtlCol="0" anchor="ctr"/>
          <a:lstStyle/>
          <a:p/>
        </p:txBody>
      </p:sp>
      <p:cxnSp>
        <p:nvCxnSpPr>
          <p:cNvPr id="34" name="Connector 33"/>
          <p:cNvCxnSpPr/>
          <p:nvPr/>
        </p:nvCxnSpPr>
        <p:spPr>
          <a:xfrm flipH="1">
            <a:off x="11432743" y="256032"/>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935663" y="256032"/>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6" name="Diamond 35"/>
          <p:cNvSpPr/>
          <p:nvPr/>
        </p:nvSpPr>
        <p:spPr>
          <a:xfrm>
            <a:off x="11771071" y="274320"/>
            <a:ext cx="146304" cy="146304"/>
          </a:xfrm>
          <a:prstGeom prst="diamond">
            <a:avLst/>
          </a:prstGeom>
          <a:solidFill>
            <a:srgbClr val="F0D58A"/>
          </a:solidFill>
          <a:ln>
            <a:noFill/>
          </a:ln>
        </p:spPr>
        <p:txBody>
          <a:bodyPr rtlCol="0" anchor="ctr"/>
          <a:lstStyle/>
          <a:p/>
        </p:txBody>
      </p:sp>
      <p:cxnSp>
        <p:nvCxnSpPr>
          <p:cNvPr id="37" name="Connector 36"/>
          <p:cNvCxnSpPr/>
          <p:nvPr/>
        </p:nvCxnSpPr>
        <p:spPr>
          <a:xfrm>
            <a:off x="256032"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56032"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274320" y="6437376"/>
            <a:ext cx="146304" cy="146304"/>
          </a:xfrm>
          <a:prstGeom prst="diamond">
            <a:avLst/>
          </a:prstGeom>
          <a:solidFill>
            <a:srgbClr val="F0D58A"/>
          </a:solidFill>
          <a:ln>
            <a:noFill/>
          </a:ln>
        </p:spPr>
        <p:txBody>
          <a:bodyPr rtlCol="0" anchor="ctr"/>
          <a:lstStyle/>
          <a:p/>
        </p:txBody>
      </p:sp>
      <p:cxnSp>
        <p:nvCxnSpPr>
          <p:cNvPr id="40" name="Connector 39"/>
          <p:cNvCxnSpPr/>
          <p:nvPr/>
        </p:nvCxnSpPr>
        <p:spPr>
          <a:xfrm flipH="1">
            <a:off x="11432743" y="6601968"/>
            <a:ext cx="502920" cy="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935663" y="6099048"/>
            <a:ext cx="0" cy="502920"/>
          </a:xfrm>
          <a:prstGeom prst="line">
            <a:avLst/>
          </a:prstGeom>
          <a:ln w="38100">
            <a:solidFill>
              <a:srgbClr val="F0D58A"/>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11771071" y="6437376"/>
            <a:ext cx="146304" cy="146304"/>
          </a:xfrm>
          <a:prstGeom prst="diamond">
            <a:avLst/>
          </a:prstGeom>
          <a:solidFill>
            <a:srgbClr val="F0D58A"/>
          </a:solidFill>
          <a:ln>
            <a:noFill/>
          </a:ln>
        </p:spPr>
        <p:txBody>
          <a:bodyPr rtlCol="0" anchor="ctr"/>
          <a:lstStyle/>
          <a:p/>
        </p:txBody>
      </p:sp>
      <p:sp>
        <p:nvSpPr>
          <p:cNvPr id="43" name="TextBox 42"/>
          <p:cNvSpPr txBox="1"/>
          <p:nvPr/>
        </p:nvSpPr>
        <p:spPr>
          <a:xfrm>
            <a:off x="566928" y="6272784"/>
            <a:ext cx="4114800" cy="274320"/>
          </a:xfrm>
          <a:prstGeom prst="rect">
            <a:avLst/>
          </a:prstGeom>
          <a:noFill/>
        </p:spPr>
        <p:txBody>
          <a:bodyPr wrap="square" lIns="0" rIns="0" tIns="0" bIns="0" anchor="t">
            <a:spAutoFit/>
          </a:bodyPr>
          <a:lstStyle/>
          <a:p>
            <a:pPr algn="l"/>
            <a:r>
              <a:rPr sz="1000" b="0" i="0" spc="200">
                <a:solidFill>
                  <a:srgbClr val="B9A57A"/>
                </a:solidFill>
                <a:latin typeface="Cinzel"/>
              </a:rPr>
              <a:t>THE FLOW  ·  MALIK EAST</a:t>
            </a:r>
          </a:p>
        </p:txBody>
      </p:sp>
      <p:sp>
        <p:nvSpPr>
          <p:cNvPr id="44" name="TextBox 43"/>
          <p:cNvSpPr txBox="1"/>
          <p:nvPr/>
        </p:nvSpPr>
        <p:spPr>
          <a:xfrm>
            <a:off x="6970471" y="6272784"/>
            <a:ext cx="2834640" cy="274320"/>
          </a:xfrm>
          <a:prstGeom prst="rect">
            <a:avLst/>
          </a:prstGeom>
          <a:noFill/>
        </p:spPr>
        <p:txBody>
          <a:bodyPr wrap="square" lIns="0" rIns="0" tIns="0" bIns="0" anchor="t">
            <a:spAutoFit/>
          </a:bodyPr>
          <a:lstStyle/>
          <a:p>
            <a:pPr algn="r"/>
            <a:r>
              <a:rPr sz="950" b="1" i="0" spc="200">
                <a:solidFill>
                  <a:srgbClr val="B9A57A"/>
                </a:solidFill>
                <a:latin typeface="Montserrat"/>
              </a:rPr>
              <a:t>IV · THE NEXT STEP</a:t>
            </a:r>
          </a:p>
        </p:txBody>
      </p:sp>
      <p:sp>
        <p:nvSpPr>
          <p:cNvPr id="45" name="Rectangle 44"/>
          <p:cNvSpPr/>
          <p:nvPr/>
        </p:nvSpPr>
        <p:spPr>
          <a:xfrm>
            <a:off x="9896551" y="6364224"/>
            <a:ext cx="384048" cy="64008"/>
          </a:xfrm>
          <a:prstGeom prst="rect">
            <a:avLst/>
          </a:prstGeom>
          <a:solidFill>
            <a:srgbClr val="7D6830"/>
          </a:solidFill>
          <a:ln>
            <a:noFill/>
          </a:ln>
        </p:spPr>
        <p:txBody>
          <a:bodyPr rtlCol="0" anchor="ctr"/>
          <a:lstStyle/>
          <a:p/>
        </p:txBody>
      </p:sp>
      <p:sp>
        <p:nvSpPr>
          <p:cNvPr id="46" name="Rectangle 45"/>
          <p:cNvSpPr/>
          <p:nvPr/>
        </p:nvSpPr>
        <p:spPr>
          <a:xfrm>
            <a:off x="10344607" y="6364224"/>
            <a:ext cx="384048" cy="64008"/>
          </a:xfrm>
          <a:prstGeom prst="rect">
            <a:avLst/>
          </a:prstGeom>
          <a:solidFill>
            <a:srgbClr val="7D6830"/>
          </a:solidFill>
          <a:ln>
            <a:noFill/>
          </a:ln>
        </p:spPr>
        <p:txBody>
          <a:bodyPr rtlCol="0" anchor="ctr"/>
          <a:lstStyle/>
          <a:p/>
        </p:txBody>
      </p:sp>
      <p:sp>
        <p:nvSpPr>
          <p:cNvPr id="47" name="Rectangle 46"/>
          <p:cNvSpPr/>
          <p:nvPr/>
        </p:nvSpPr>
        <p:spPr>
          <a:xfrm>
            <a:off x="10792663" y="6364224"/>
            <a:ext cx="384048" cy="64008"/>
          </a:xfrm>
          <a:prstGeom prst="rect">
            <a:avLst/>
          </a:prstGeom>
          <a:solidFill>
            <a:srgbClr val="7D6830"/>
          </a:solidFill>
          <a:ln>
            <a:noFill/>
          </a:ln>
        </p:spPr>
        <p:txBody>
          <a:bodyPr rtlCol="0" anchor="ctr"/>
          <a:lstStyle/>
          <a:p/>
        </p:txBody>
      </p:sp>
      <p:sp>
        <p:nvSpPr>
          <p:cNvPr id="48" name="Rectangle 47"/>
          <p:cNvSpPr/>
          <p:nvPr/>
        </p:nvSpPr>
        <p:spPr>
          <a:xfrm>
            <a:off x="11240719" y="6364224"/>
            <a:ext cx="384048" cy="64008"/>
          </a:xfrm>
          <a:prstGeom prst="rect">
            <a:avLst/>
          </a:prstGeom>
          <a:solidFill>
            <a:srgbClr val="F0D58A"/>
          </a:solidFill>
          <a:ln>
            <a:noFill/>
          </a:ln>
        </p:spPr>
        <p:txBody>
          <a:bodyPr rtlCol="0" anchor="ctr"/>
          <a:lstStyle/>
          <a:p/>
        </p:txBody>
      </p:sp>
      <p:pic>
        <p:nvPicPr>
          <p:cNvPr id="49" name="Picture 48" descr="glow_40.png"/>
          <p:cNvPicPr>
            <a:picLocks noChangeAspect="1"/>
          </p:cNvPicPr>
          <p:nvPr/>
        </p:nvPicPr>
        <p:blipFill>
          <a:blip r:embed="rId3"/>
          <a:stretch>
            <a:fillRect/>
          </a:stretch>
        </p:blipFill>
        <p:spPr>
          <a:xfrm>
            <a:off x="2986887" y="137159"/>
            <a:ext cx="6217920" cy="6217920"/>
          </a:xfrm>
          <a:prstGeom prst="rect">
            <a:avLst/>
          </a:prstGeom>
        </p:spPr>
      </p:pic>
      <p:sp>
        <p:nvSpPr>
          <p:cNvPr id="50" name="Oval 49"/>
          <p:cNvSpPr/>
          <p:nvPr/>
        </p:nvSpPr>
        <p:spPr>
          <a:xfrm>
            <a:off x="3489807" y="640079"/>
            <a:ext cx="5212080" cy="5212080"/>
          </a:xfrm>
          <a:prstGeom prst="ellipse">
            <a:avLst/>
          </a:prstGeom>
          <a:noFill/>
          <a:ln w="19050">
            <a:solidFill>
              <a:srgbClr val="7D6830"/>
            </a:solidFill>
          </a:ln>
        </p:spPr>
        <p:txBody>
          <a:bodyPr rtlCol="0" anchor="ctr"/>
          <a:lstStyle/>
          <a:p/>
        </p:txBody>
      </p:sp>
      <p:sp>
        <p:nvSpPr>
          <p:cNvPr id="51" name="Oval 50"/>
          <p:cNvSpPr/>
          <p:nvPr/>
        </p:nvSpPr>
        <p:spPr>
          <a:xfrm>
            <a:off x="3407511" y="557783"/>
            <a:ext cx="5376672" cy="5376672"/>
          </a:xfrm>
          <a:prstGeom prst="ellipse">
            <a:avLst/>
          </a:prstGeom>
          <a:noFill/>
          <a:ln w="6350">
            <a:solidFill>
              <a:srgbClr val="45391B"/>
            </a:solidFill>
          </a:ln>
        </p:spPr>
        <p:txBody>
          <a:bodyPr rtlCol="0" anchor="ctr"/>
          <a:lstStyle/>
          <a:p/>
        </p:txBody>
      </p:sp>
      <p:sp>
        <p:nvSpPr>
          <p:cNvPr id="52" name="Oval 51"/>
          <p:cNvSpPr/>
          <p:nvPr/>
        </p:nvSpPr>
        <p:spPr>
          <a:xfrm>
            <a:off x="5912967" y="457199"/>
            <a:ext cx="365760" cy="365760"/>
          </a:xfrm>
          <a:prstGeom prst="ellipse">
            <a:avLst/>
          </a:prstGeom>
          <a:solidFill>
            <a:srgbClr val="1A1309"/>
          </a:solidFill>
          <a:ln w="19050">
            <a:solidFill>
              <a:srgbClr val="F0D58A"/>
            </a:solidFill>
          </a:ln>
        </p:spPr>
        <p:txBody>
          <a:bodyPr rtlCol="0" anchor="ctr"/>
          <a:lstStyle/>
          <a:p/>
        </p:txBody>
      </p:sp>
      <p:sp>
        <p:nvSpPr>
          <p:cNvPr id="53" name="TextBox 52"/>
          <p:cNvSpPr txBox="1"/>
          <p:nvPr/>
        </p:nvSpPr>
        <p:spPr>
          <a:xfrm>
            <a:off x="5912967" y="457199"/>
            <a:ext cx="365760" cy="365760"/>
          </a:xfrm>
          <a:prstGeom prst="rect">
            <a:avLst/>
          </a:prstGeom>
          <a:noFill/>
        </p:spPr>
        <p:txBody>
          <a:bodyPr wrap="square" lIns="0" rIns="0" tIns="0" bIns="0" anchor="ctr">
            <a:spAutoFit/>
          </a:bodyPr>
          <a:lstStyle/>
          <a:p>
            <a:pPr algn="ctr"/>
            <a:r>
              <a:rPr sz="1200" b="1" i="0">
                <a:solidFill>
                  <a:srgbClr val="F0D58A"/>
                </a:solidFill>
                <a:latin typeface="Cinzel"/>
              </a:rPr>
              <a:t>1</a:t>
            </a:r>
          </a:p>
        </p:txBody>
      </p:sp>
      <p:sp>
        <p:nvSpPr>
          <p:cNvPr id="54" name="Oval 53"/>
          <p:cNvSpPr/>
          <p:nvPr/>
        </p:nvSpPr>
        <p:spPr>
          <a:xfrm>
            <a:off x="7950451" y="1438400"/>
            <a:ext cx="365760" cy="365760"/>
          </a:xfrm>
          <a:prstGeom prst="ellipse">
            <a:avLst/>
          </a:prstGeom>
          <a:solidFill>
            <a:srgbClr val="1A1309"/>
          </a:solidFill>
          <a:ln w="19050">
            <a:solidFill>
              <a:srgbClr val="F0D58A"/>
            </a:solidFill>
          </a:ln>
        </p:spPr>
        <p:txBody>
          <a:bodyPr rtlCol="0" anchor="ctr"/>
          <a:lstStyle/>
          <a:p/>
        </p:txBody>
      </p:sp>
      <p:sp>
        <p:nvSpPr>
          <p:cNvPr id="55" name="TextBox 54"/>
          <p:cNvSpPr txBox="1"/>
          <p:nvPr/>
        </p:nvSpPr>
        <p:spPr>
          <a:xfrm>
            <a:off x="7950451" y="1438400"/>
            <a:ext cx="365760" cy="365760"/>
          </a:xfrm>
          <a:prstGeom prst="rect">
            <a:avLst/>
          </a:prstGeom>
          <a:noFill/>
        </p:spPr>
        <p:txBody>
          <a:bodyPr wrap="square" lIns="0" rIns="0" tIns="0" bIns="0" anchor="ctr">
            <a:spAutoFit/>
          </a:bodyPr>
          <a:lstStyle/>
          <a:p>
            <a:pPr algn="ctr"/>
            <a:r>
              <a:rPr sz="1200" b="1" i="0">
                <a:solidFill>
                  <a:srgbClr val="F0D58A"/>
                </a:solidFill>
                <a:latin typeface="Cinzel"/>
              </a:rPr>
              <a:t>2</a:t>
            </a:r>
          </a:p>
        </p:txBody>
      </p:sp>
      <p:sp>
        <p:nvSpPr>
          <p:cNvPr id="56" name="Oval 55"/>
          <p:cNvSpPr/>
          <p:nvPr/>
        </p:nvSpPr>
        <p:spPr>
          <a:xfrm>
            <a:off x="8453668" y="3643138"/>
            <a:ext cx="365760" cy="365760"/>
          </a:xfrm>
          <a:prstGeom prst="ellipse">
            <a:avLst/>
          </a:prstGeom>
          <a:solidFill>
            <a:srgbClr val="1A1309"/>
          </a:solidFill>
          <a:ln w="19050">
            <a:solidFill>
              <a:srgbClr val="F0D58A"/>
            </a:solidFill>
          </a:ln>
        </p:spPr>
        <p:txBody>
          <a:bodyPr rtlCol="0" anchor="ctr"/>
          <a:lstStyle/>
          <a:p/>
        </p:txBody>
      </p:sp>
      <p:sp>
        <p:nvSpPr>
          <p:cNvPr id="57" name="TextBox 56"/>
          <p:cNvSpPr txBox="1"/>
          <p:nvPr/>
        </p:nvSpPr>
        <p:spPr>
          <a:xfrm>
            <a:off x="8453668" y="3643138"/>
            <a:ext cx="365760" cy="365760"/>
          </a:xfrm>
          <a:prstGeom prst="rect">
            <a:avLst/>
          </a:prstGeom>
          <a:noFill/>
        </p:spPr>
        <p:txBody>
          <a:bodyPr wrap="square" lIns="0" rIns="0" tIns="0" bIns="0" anchor="ctr">
            <a:spAutoFit/>
          </a:bodyPr>
          <a:lstStyle/>
          <a:p>
            <a:pPr algn="ctr"/>
            <a:r>
              <a:rPr sz="1200" b="1" i="0">
                <a:solidFill>
                  <a:srgbClr val="F0D58A"/>
                </a:solidFill>
                <a:latin typeface="Cinzel"/>
              </a:rPr>
              <a:t>3</a:t>
            </a:r>
          </a:p>
        </p:txBody>
      </p:sp>
      <p:sp>
        <p:nvSpPr>
          <p:cNvPr id="58" name="Oval 57"/>
          <p:cNvSpPr/>
          <p:nvPr/>
        </p:nvSpPr>
        <p:spPr>
          <a:xfrm>
            <a:off x="7043685" y="5411200"/>
            <a:ext cx="365760" cy="365760"/>
          </a:xfrm>
          <a:prstGeom prst="ellipse">
            <a:avLst/>
          </a:prstGeom>
          <a:solidFill>
            <a:srgbClr val="1A1309"/>
          </a:solidFill>
          <a:ln w="19050">
            <a:solidFill>
              <a:srgbClr val="F0D58A"/>
            </a:solidFill>
          </a:ln>
        </p:spPr>
        <p:txBody>
          <a:bodyPr rtlCol="0" anchor="ctr"/>
          <a:lstStyle/>
          <a:p/>
        </p:txBody>
      </p:sp>
      <p:sp>
        <p:nvSpPr>
          <p:cNvPr id="59" name="TextBox 58"/>
          <p:cNvSpPr txBox="1"/>
          <p:nvPr/>
        </p:nvSpPr>
        <p:spPr>
          <a:xfrm>
            <a:off x="7043685" y="5411200"/>
            <a:ext cx="365760" cy="365760"/>
          </a:xfrm>
          <a:prstGeom prst="rect">
            <a:avLst/>
          </a:prstGeom>
          <a:noFill/>
        </p:spPr>
        <p:txBody>
          <a:bodyPr wrap="square" lIns="0" rIns="0" tIns="0" bIns="0" anchor="ctr">
            <a:spAutoFit/>
          </a:bodyPr>
          <a:lstStyle/>
          <a:p>
            <a:pPr algn="ctr"/>
            <a:r>
              <a:rPr sz="1200" b="1" i="0">
                <a:solidFill>
                  <a:srgbClr val="F0D58A"/>
                </a:solidFill>
                <a:latin typeface="Cinzel"/>
              </a:rPr>
              <a:t>4</a:t>
            </a:r>
          </a:p>
        </p:txBody>
      </p:sp>
      <p:sp>
        <p:nvSpPr>
          <p:cNvPr id="60" name="Oval 59"/>
          <p:cNvSpPr/>
          <p:nvPr/>
        </p:nvSpPr>
        <p:spPr>
          <a:xfrm>
            <a:off x="4782249" y="5411200"/>
            <a:ext cx="365760" cy="365760"/>
          </a:xfrm>
          <a:prstGeom prst="ellipse">
            <a:avLst/>
          </a:prstGeom>
          <a:solidFill>
            <a:srgbClr val="1A1309"/>
          </a:solidFill>
          <a:ln w="19050">
            <a:solidFill>
              <a:srgbClr val="F0D58A"/>
            </a:solidFill>
          </a:ln>
        </p:spPr>
        <p:txBody>
          <a:bodyPr rtlCol="0" anchor="ctr"/>
          <a:lstStyle/>
          <a:p/>
        </p:txBody>
      </p:sp>
      <p:sp>
        <p:nvSpPr>
          <p:cNvPr id="61" name="TextBox 60"/>
          <p:cNvSpPr txBox="1"/>
          <p:nvPr/>
        </p:nvSpPr>
        <p:spPr>
          <a:xfrm>
            <a:off x="4782249" y="5411200"/>
            <a:ext cx="365760" cy="365760"/>
          </a:xfrm>
          <a:prstGeom prst="rect">
            <a:avLst/>
          </a:prstGeom>
          <a:noFill/>
        </p:spPr>
        <p:txBody>
          <a:bodyPr wrap="square" lIns="0" rIns="0" tIns="0" bIns="0" anchor="ctr">
            <a:spAutoFit/>
          </a:bodyPr>
          <a:lstStyle/>
          <a:p>
            <a:pPr algn="ctr"/>
            <a:r>
              <a:rPr sz="1200" b="1" i="0">
                <a:solidFill>
                  <a:srgbClr val="F0D58A"/>
                </a:solidFill>
                <a:latin typeface="Cinzel"/>
              </a:rPr>
              <a:t>5</a:t>
            </a:r>
          </a:p>
        </p:txBody>
      </p:sp>
      <p:sp>
        <p:nvSpPr>
          <p:cNvPr id="62" name="Oval 61"/>
          <p:cNvSpPr/>
          <p:nvPr/>
        </p:nvSpPr>
        <p:spPr>
          <a:xfrm>
            <a:off x="3372266" y="3643138"/>
            <a:ext cx="365760" cy="365760"/>
          </a:xfrm>
          <a:prstGeom prst="ellipse">
            <a:avLst/>
          </a:prstGeom>
          <a:solidFill>
            <a:srgbClr val="1A1309"/>
          </a:solidFill>
          <a:ln w="19050">
            <a:solidFill>
              <a:srgbClr val="F0D58A"/>
            </a:solidFill>
          </a:ln>
        </p:spPr>
        <p:txBody>
          <a:bodyPr rtlCol="0" anchor="ctr"/>
          <a:lstStyle/>
          <a:p/>
        </p:txBody>
      </p:sp>
      <p:sp>
        <p:nvSpPr>
          <p:cNvPr id="63" name="TextBox 62"/>
          <p:cNvSpPr txBox="1"/>
          <p:nvPr/>
        </p:nvSpPr>
        <p:spPr>
          <a:xfrm>
            <a:off x="3372266" y="3643138"/>
            <a:ext cx="365760" cy="365760"/>
          </a:xfrm>
          <a:prstGeom prst="rect">
            <a:avLst/>
          </a:prstGeom>
          <a:noFill/>
        </p:spPr>
        <p:txBody>
          <a:bodyPr wrap="square" lIns="0" rIns="0" tIns="0" bIns="0" anchor="ctr">
            <a:spAutoFit/>
          </a:bodyPr>
          <a:lstStyle/>
          <a:p>
            <a:pPr algn="ctr"/>
            <a:r>
              <a:rPr sz="1200" b="1" i="0">
                <a:solidFill>
                  <a:srgbClr val="F0D58A"/>
                </a:solidFill>
                <a:latin typeface="Cinzel"/>
              </a:rPr>
              <a:t>6</a:t>
            </a:r>
          </a:p>
        </p:txBody>
      </p:sp>
      <p:sp>
        <p:nvSpPr>
          <p:cNvPr id="64" name="Oval 63"/>
          <p:cNvSpPr/>
          <p:nvPr/>
        </p:nvSpPr>
        <p:spPr>
          <a:xfrm>
            <a:off x="3875483" y="1438400"/>
            <a:ext cx="365760" cy="365760"/>
          </a:xfrm>
          <a:prstGeom prst="ellipse">
            <a:avLst/>
          </a:prstGeom>
          <a:solidFill>
            <a:srgbClr val="1A1309"/>
          </a:solidFill>
          <a:ln w="19050">
            <a:solidFill>
              <a:srgbClr val="F0D58A"/>
            </a:solidFill>
          </a:ln>
        </p:spPr>
        <p:txBody>
          <a:bodyPr rtlCol="0" anchor="ctr"/>
          <a:lstStyle/>
          <a:p/>
        </p:txBody>
      </p:sp>
      <p:sp>
        <p:nvSpPr>
          <p:cNvPr id="65" name="TextBox 64"/>
          <p:cNvSpPr txBox="1"/>
          <p:nvPr/>
        </p:nvSpPr>
        <p:spPr>
          <a:xfrm>
            <a:off x="3875483" y="1438400"/>
            <a:ext cx="365760" cy="365760"/>
          </a:xfrm>
          <a:prstGeom prst="rect">
            <a:avLst/>
          </a:prstGeom>
          <a:noFill/>
        </p:spPr>
        <p:txBody>
          <a:bodyPr wrap="square" lIns="0" rIns="0" tIns="0" bIns="0" anchor="ctr">
            <a:spAutoFit/>
          </a:bodyPr>
          <a:lstStyle/>
          <a:p>
            <a:pPr algn="ctr"/>
            <a:r>
              <a:rPr sz="1200" b="1" i="0">
                <a:solidFill>
                  <a:srgbClr val="F0D58A"/>
                </a:solidFill>
                <a:latin typeface="Cinzel"/>
              </a:rPr>
              <a:t>7</a:t>
            </a:r>
          </a:p>
        </p:txBody>
      </p:sp>
      <p:pic>
        <p:nvPicPr>
          <p:cNvPr id="66" name="Picture 65" descr="7band-logo-clean_7b539e21.png"/>
          <p:cNvPicPr>
            <a:picLocks noChangeAspect="1"/>
          </p:cNvPicPr>
          <p:nvPr/>
        </p:nvPicPr>
        <p:blipFill>
          <a:blip r:embed="rId4"/>
          <a:stretch>
            <a:fillRect/>
          </a:stretch>
        </p:blipFill>
        <p:spPr>
          <a:xfrm>
            <a:off x="5730087" y="960120"/>
            <a:ext cx="731520" cy="731520"/>
          </a:xfrm>
          <a:prstGeom prst="rect">
            <a:avLst/>
          </a:prstGeom>
        </p:spPr>
      </p:pic>
      <p:sp>
        <p:nvSpPr>
          <p:cNvPr id="67" name="TextBox 66"/>
          <p:cNvSpPr txBox="1"/>
          <p:nvPr/>
        </p:nvSpPr>
        <p:spPr>
          <a:xfrm>
            <a:off x="3291840" y="1965960"/>
            <a:ext cx="5608015" cy="1005840"/>
          </a:xfrm>
          <a:prstGeom prst="rect">
            <a:avLst/>
          </a:prstGeom>
          <a:noFill/>
        </p:spPr>
        <p:txBody>
          <a:bodyPr wrap="square" lIns="0" rIns="0" tIns="0" bIns="0" anchor="ctr">
            <a:spAutoFit/>
          </a:bodyPr>
          <a:lstStyle/>
          <a:p>
            <a:pPr algn="ctr">
              <a:lnSpc>
                <a:spcPct val="105000"/>
              </a:lnSpc>
            </a:pPr>
            <a:r>
              <a:rPr sz="6400" b="1" i="0">
                <a:solidFill>
                  <a:srgbClr val="F0D58A"/>
                </a:solidFill>
                <a:latin typeface="Cinzel"/>
              </a:rPr>
              <a:t>THE FLOW</a:t>
            </a:r>
          </a:p>
        </p:txBody>
      </p:sp>
      <p:sp>
        <p:nvSpPr>
          <p:cNvPr id="68" name="TextBox 67"/>
          <p:cNvSpPr txBox="1"/>
          <p:nvPr/>
        </p:nvSpPr>
        <p:spPr>
          <a:xfrm>
            <a:off x="3566160" y="2971800"/>
            <a:ext cx="5059375" cy="365760"/>
          </a:xfrm>
          <a:prstGeom prst="rect">
            <a:avLst/>
          </a:prstGeom>
          <a:noFill/>
        </p:spPr>
        <p:txBody>
          <a:bodyPr wrap="square" lIns="0" rIns="0" tIns="0" bIns="0" anchor="t">
            <a:spAutoFit/>
          </a:bodyPr>
          <a:lstStyle/>
          <a:p>
            <a:pPr algn="ctr"/>
            <a:r>
              <a:rPr sz="1200" b="1" i="0" spc="400">
                <a:solidFill>
                  <a:srgbClr val="F0D58A"/>
                </a:solidFill>
                <a:latin typeface="Montserrat"/>
              </a:rPr>
              <a:t>WHERE VISION BECOMES LEGACY</a:t>
            </a:r>
          </a:p>
        </p:txBody>
      </p:sp>
      <p:cxnSp>
        <p:nvCxnSpPr>
          <p:cNvPr id="69" name="Connector 68"/>
          <p:cNvCxnSpPr/>
          <p:nvPr/>
        </p:nvCxnSpPr>
        <p:spPr>
          <a:xfrm>
            <a:off x="4541367" y="3474720"/>
            <a:ext cx="141732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233007" y="3474720"/>
            <a:ext cx="1417320" cy="0"/>
          </a:xfrm>
          <a:prstGeom prst="line">
            <a:avLst/>
          </a:prstGeom>
          <a:ln w="12700">
            <a:solidFill>
              <a:srgbClr val="A3883E"/>
            </a:solidFill>
          </a:ln>
        </p:spPr>
        <p:style>
          <a:lnRef idx="2">
            <a:schemeClr val="accent1"/>
          </a:lnRef>
          <a:fillRef idx="0">
            <a:schemeClr val="accent1"/>
          </a:fillRef>
          <a:effectRef idx="1">
            <a:schemeClr val="accent1"/>
          </a:effectRef>
          <a:fontRef idx="minor">
            <a:schemeClr val="tx1"/>
          </a:fontRef>
        </p:style>
      </p:cxnSp>
      <p:sp>
        <p:nvSpPr>
          <p:cNvPr id="71" name="Diamond 70"/>
          <p:cNvSpPr/>
          <p:nvPr/>
        </p:nvSpPr>
        <p:spPr>
          <a:xfrm>
            <a:off x="6031839" y="3410712"/>
            <a:ext cx="128016" cy="128016"/>
          </a:xfrm>
          <a:prstGeom prst="diamond">
            <a:avLst/>
          </a:prstGeom>
          <a:solidFill>
            <a:srgbClr val="F0D58A"/>
          </a:solidFill>
          <a:ln>
            <a:noFill/>
          </a:ln>
        </p:spPr>
        <p:txBody>
          <a:bodyPr rtlCol="0" anchor="ctr"/>
          <a:lstStyle/>
          <a:p/>
        </p:txBody>
      </p:sp>
      <p:sp>
        <p:nvSpPr>
          <p:cNvPr id="72" name="TextBox 71"/>
          <p:cNvSpPr txBox="1"/>
          <p:nvPr/>
        </p:nvSpPr>
        <p:spPr>
          <a:xfrm>
            <a:off x="3657600" y="3611880"/>
            <a:ext cx="4876495" cy="1097280"/>
          </a:xfrm>
          <a:prstGeom prst="rect">
            <a:avLst/>
          </a:prstGeom>
          <a:noFill/>
        </p:spPr>
        <p:txBody>
          <a:bodyPr wrap="square" lIns="0" rIns="0" tIns="0" bIns="0" anchor="t">
            <a:spAutoFit/>
          </a:bodyPr>
          <a:lstStyle/>
          <a:p>
            <a:pPr algn="ctr">
              <a:lnSpc>
                <a:spcPct val="120000"/>
              </a:lnSpc>
            </a:pPr>
            <a:r>
              <a:rPr sz="1800" b="1" i="0">
                <a:solidFill>
                  <a:srgbClr val="B9A57A"/>
                </a:solidFill>
                <a:latin typeface="Montserrat"/>
              </a:rPr>
              <a:t>Your free gift:</a:t>
            </a:r>
          </a:p>
          <a:p>
            <a:pPr algn="ctr">
              <a:lnSpc>
                <a:spcPct val="120000"/>
              </a:lnSpc>
            </a:pPr>
            <a:r>
              <a:rPr sz="2200" b="1" i="0">
                <a:solidFill>
                  <a:srgbClr val="EFE3C6"/>
                </a:solidFill>
                <a:latin typeface="Montserrat"/>
              </a:rPr>
              <a:t>The Ultimate Budget Guide</a:t>
            </a:r>
          </a:p>
          <a:p>
            <a:pPr algn="ctr">
              <a:lnSpc>
                <a:spcPct val="120000"/>
              </a:lnSpc>
            </a:pPr>
            <a:r>
              <a:rPr sz="1700" b="0" i="1">
                <a:solidFill>
                  <a:srgbClr val="B9A57A"/>
                </a:solidFill>
                <a:latin typeface="Montserrat"/>
              </a:rPr>
              <a:t>Link in the chat now.</a:t>
            </a:r>
          </a:p>
        </p:txBody>
      </p:sp>
      <p:sp>
        <p:nvSpPr>
          <p:cNvPr id="73" name="TextBox 72"/>
          <p:cNvSpPr txBox="1"/>
          <p:nvPr/>
        </p:nvSpPr>
        <p:spPr>
          <a:xfrm>
            <a:off x="3108960" y="4892040"/>
            <a:ext cx="5973775" cy="457200"/>
          </a:xfrm>
          <a:prstGeom prst="rect">
            <a:avLst/>
          </a:prstGeom>
          <a:noFill/>
        </p:spPr>
        <p:txBody>
          <a:bodyPr wrap="square" lIns="0" rIns="0" tIns="0" bIns="0" anchor="t">
            <a:spAutoFit/>
          </a:bodyPr>
          <a:lstStyle/>
          <a:p>
            <a:pPr algn="ctr"/>
            <a:r>
              <a:rPr sz="1900" b="1" i="0" spc="300">
                <a:solidFill>
                  <a:srgbClr val="F0D58A"/>
                </a:solidFill>
                <a:latin typeface="Cinzel"/>
              </a:rPr>
              <a:t>MALIK EAST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